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</c:v>
                </c:pt>
              </c:strCache>
            </c:strRef>
          </c:tx>
          <c:spPr>
            <a:solidFill>
              <a:srgbClr val="C44E5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43-1445-B0E0-9497103B578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43-1445-B0E0-9497103B5788}"/>
              </c:ext>
            </c:extLst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43-1445-B0E0-9497103B5788}"/>
              </c:ext>
            </c:extLst>
          </c:dPt>
          <c:dPt>
            <c:idx val="3"/>
            <c:invertIfNegative val="0"/>
            <c:bubble3D val="0"/>
            <c:spPr>
              <a:solidFill>
                <a:srgbClr val="4C72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43-1445-B0E0-9497103B5788}"/>
              </c:ext>
            </c:extLst>
          </c:dPt>
          <c:dPt>
            <c:idx val="4"/>
            <c:invertIfNegative val="0"/>
            <c:bubble3D val="0"/>
            <c:spPr>
              <a:solidFill>
                <a:srgbClr val="4C72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43-1445-B0E0-9497103B578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Wealth</c:v>
                </c:pt>
                <c:pt idx="1">
                  <c:v>Power</c:v>
                </c:pt>
                <c:pt idx="2">
                  <c:v>Civility</c:v>
                </c:pt>
                <c:pt idx="3">
                  <c:v>Morality</c:v>
                </c:pt>
                <c:pt idx="4">
                  <c:v>Intellect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0.77400000000000002</c:v>
                </c:pt>
                <c:pt idx="1">
                  <c:v>0.67200000000000004</c:v>
                </c:pt>
                <c:pt idx="2">
                  <c:v>0.53900000000000003</c:v>
                </c:pt>
                <c:pt idx="3">
                  <c:v>0.48699999999999999</c:v>
                </c:pt>
                <c:pt idx="4">
                  <c:v>0.47899999999999998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43-1445-B0E0-9497103B57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English</c:v>
                </c:pt>
              </c:strCache>
            </c:strRef>
          </c:tx>
          <c:spPr>
            <a:solidFill>
              <a:srgbClr val="1F293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Wealth</c:v>
                </c:pt>
                <c:pt idx="1">
                  <c:v>Power</c:v>
                </c:pt>
                <c:pt idx="2">
                  <c:v>Civility</c:v>
                </c:pt>
                <c:pt idx="3">
                  <c:v>Morality</c:v>
                </c:pt>
                <c:pt idx="4">
                  <c:v>Intellect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0.77400000000000002</c:v>
                </c:pt>
                <c:pt idx="1">
                  <c:v>0.70299999999999996</c:v>
                </c:pt>
                <c:pt idx="2">
                  <c:v>0.54700000000000004</c:v>
                </c:pt>
                <c:pt idx="3">
                  <c:v>0.47299999999999998</c:v>
                </c:pt>
                <c:pt idx="4">
                  <c:v>0.41699999999999998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B4-4D4B-BA57-6219A7FFBF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rgbClr val="C44E5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Wealth</c:v>
                </c:pt>
                <c:pt idx="1">
                  <c:v>Power</c:v>
                </c:pt>
                <c:pt idx="2">
                  <c:v>Civility</c:v>
                </c:pt>
                <c:pt idx="3">
                  <c:v>Morality</c:v>
                </c:pt>
                <c:pt idx="4">
                  <c:v>Intellect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0.77400000000000002</c:v>
                </c:pt>
                <c:pt idx="1">
                  <c:v>0.67200000000000004</c:v>
                </c:pt>
                <c:pt idx="2">
                  <c:v>0.48399999999999999</c:v>
                </c:pt>
                <c:pt idx="3">
                  <c:v>0.55900000000000005</c:v>
                </c:pt>
                <c:pt idx="4">
                  <c:v>0.47899999999999998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B4-4D4B-BA57-6219A7FFBF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Arabic</c:v>
                </c:pt>
              </c:strCache>
            </c:strRef>
          </c:tx>
          <c:spPr>
            <a:solidFill>
              <a:srgbClr val="5E81A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Wealth</c:v>
                </c:pt>
                <c:pt idx="1">
                  <c:v>Power</c:v>
                </c:pt>
                <c:pt idx="2">
                  <c:v>Civility</c:v>
                </c:pt>
                <c:pt idx="3">
                  <c:v>Morality</c:v>
                </c:pt>
                <c:pt idx="4">
                  <c:v>Intellect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0.83899999999999997</c:v>
                </c:pt>
                <c:pt idx="1">
                  <c:v>0.59399999999999997</c:v>
                </c:pt>
                <c:pt idx="2">
                  <c:v>0.54700000000000004</c:v>
                </c:pt>
                <c:pt idx="3">
                  <c:v>0.505</c:v>
                </c:pt>
                <c:pt idx="4">
                  <c:v>0.54200000000000004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B4-4D4B-BA57-6219A7FFBFC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Hindi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Wealth</c:v>
                </c:pt>
                <c:pt idx="1">
                  <c:v>Power</c:v>
                </c:pt>
                <c:pt idx="2">
                  <c:v>Civility</c:v>
                </c:pt>
                <c:pt idx="3">
                  <c:v>Morality</c:v>
                </c:pt>
                <c:pt idx="4">
                  <c:v>Intellect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0.71</c:v>
                </c:pt>
                <c:pt idx="1">
                  <c:v>0.71899999999999997</c:v>
                </c:pt>
                <c:pt idx="2">
                  <c:v>0.57799999999999996</c:v>
                </c:pt>
                <c:pt idx="3">
                  <c:v>0.40899999999999997</c:v>
                </c:pt>
                <c:pt idx="4">
                  <c:v>0.47899999999999998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4B4-4D4B-BA57-6219A7FFBF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850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EXTENSION OF PROTOBIAS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Prototypicality Bias in MLLM Judges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bias depend on the language we ask in?  English · Chinese · Arabic · Hindi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Xiaochuan Li  ·</a:t>
            </a:r>
            <a:r>
              <a:rPr lang="zh-CN" alt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Rishav Chandra Mentor: </a:t>
            </a:r>
            <a:r>
              <a:rPr lang="en-US" altLang="zh-CN" sz="1300" dirty="0" err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Subhadeep</a:t>
            </a:r>
            <a:r>
              <a:rPr lang="en-US" altLang="zh-CN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0975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prototypicality bias?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669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metrics (CLIPScore, VQAScore, GPT-judges) increasingly replace humans for evaluating text-to-image models.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they reward images that LOOK typical or stereotypical — even when the image is semantically WRONG for the prompt.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ProtoBias pits a Semantically-Correct but non-prototypical image (SC) against a Prototypical but wrong Adversarial image (PA).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4754880" cy="402336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766560" y="1828800"/>
            <a:ext cx="109728" cy="402336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04088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(Animals)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2423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animal stands near a pond with exactly two bamboo stalks in the background."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338328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two bamboo stalks, no typical scene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prototypical dog by a pond — violates the prompt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5120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Many metrics still prefer PA.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4992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assignment: the multilingual axis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ProtoBias paper is ENGLISH-ONLY and studies evaluation metrics.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(assigned by the authors): add the MULTILINGUAL axis.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RQ: Does prototypicality bias persist — or worsen — when the judge is prompted in other languages, including low-resource ones?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547" y="4297680"/>
            <a:ext cx="2468880" cy="100584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9707" y="446227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pair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vs PA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98859" y="42976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7B87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374347" y="4297680"/>
            <a:ext cx="2468880" cy="100584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511507" y="446227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 language 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zh / ar / hi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70659" y="42976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7B87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346147" y="4297680"/>
            <a:ext cx="2468880" cy="100584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83307" y="446227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Qwen2.5-VL-7B judge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2-AFC choice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42459" y="42976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7B87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317947" y="4297680"/>
            <a:ext cx="2468880" cy="100584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455107" y="446227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 or 2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= bias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0975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 1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in judges &amp; in measurement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394960" cy="393192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09728" cy="393192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AL., 2024 · EMNLP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or LLMs as the Judge?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on Judgement Bias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carries its own biases (gender, authority, beauty). We use an MLLM as judge — its biases are exactly what we must watch.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5394960" cy="393192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63640" y="1920240"/>
            <a:ext cx="109728" cy="393192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3796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AKYUREK ET AL., 2022 · GEBNLP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in Measuring Bias via Open-Ended Generation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on Gender Bias in NLP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estimates flip with the choice of prompts / metrics / sampling. Motivates our finding that HOW you aggregate decides the conclusion.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09751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 2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bias &amp; prompt sensitivity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394960" cy="32004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09728" cy="320040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 ET AL., 2025 · ACL FINDINGS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Bias Benchmark for Generation (BBG)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Korean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social-bias eval; generation vs QA give inconsistent results. A precedent for evaluating social bias across languages.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5394960" cy="32004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63640" y="1920240"/>
            <a:ext cx="109728" cy="320040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3796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HIDA, KANEKO &amp; OKAZAKI, 2025 · EMNLP FINDINGS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Bias Evaluation Requires Prompt Variations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Findings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bias rankings fluctuate across prompts. Our cross-lingual prompts ARE prompt variation — flags translation quality as a confound.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sit:  </a:t>
            </a:r>
            <a:r>
              <a:rPr lang="en-US" sz="15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of judge-bias and multilingual bias evaluation — the first cross-lingual test of visual prototypicality bias.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0975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Method: 2-alternative forced choice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two images: SC (correct, non-prototypical) vs PA (prototypical, wrong).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in the target language: "Which image matches this description?"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position randomized — controls for position bias.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2743200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3957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rate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0" y="2971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fraction of times the judge picks the prototypical-but-wrong image (PA)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chance / no bias        </a:t>
            </a:r>
            <a:r>
              <a:rPr lang="en-US" sz="14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0.50</a:t>
            </a: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bias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0975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experimental setup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6583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ProtoBias test set — domains Animals / Objects / Demography.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Demography rows carry a socio_attr label: Wealth, Power, Civility, Morality, Intellect — the social-hierarchy axis the paper designed in.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300 rows/domain × 3 = 900 items  ×  4 languages = 3,600 judgments.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Qwen2.5-VL-7B-Instruct.   Translation: Google (deep-translator).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NHR@FAU Alex, 1× A40 GPU (SLURM job 3687960).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80960" y="1920240"/>
            <a:ext cx="3840480" cy="11430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863840" y="202996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509760" y="20299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3246120"/>
            <a:ext cx="3840480" cy="11430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863840" y="33558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509760" y="33558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4572000"/>
            <a:ext cx="3840480" cy="11430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863840" y="468172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509760" y="46817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socio-attributes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0975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THE SETUP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pass: aggregate by domain × language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6766560" cy="2423160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2011680"/>
            <a:ext cx="3749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hug 0.5; cross-language gaps ≈ 0.05 with overlapping CIs.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granularity: bias looks WEAK, no clear language effect.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stopped here, the story would be "nothing". We didn't stop here.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0975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MOVE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aggregate was misleading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Demography row is tagged with WHICH stereotype it probes (socio_attr).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analysis averaged over socio_attr — Demography collapsed to one number.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averaging masks structure. So we split by socio_attr.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3931920"/>
            <a:ext cx="2743200" cy="146304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63040" y="4114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87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Demography
</a:t>
            </a:r>
            <a:endParaRPr lang="en-US" sz="14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7B87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.56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931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socio_attr  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3931920"/>
            <a:ext cx="47548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858000" y="41148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Wealth .77  ·  Power .67
</a:t>
            </a:r>
            <a:endParaRPr lang="en-US" sz="18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C72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Civility .54  ·  Morality .49  ·  Intellect .48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20261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bias is attribute-specific</a:t>
            </a:r>
            <a:endParaRPr lang="en-US" sz="3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82880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201168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= 0.50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06640" y="2011680"/>
            <a:ext cx="4114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.56 average hid a 0.30 spread.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judge-by-looks bias for SOCIAL-STATUS attributes (wealth, power).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none for moral / cognitive ones (morality, intellect).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web data encodes what rich / powerful people look like — no stable visual prototype for moral or intelligent.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20261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CONSISTENCY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 is the same in every language</a:t>
            </a:r>
            <a:endParaRPr lang="en-US" sz="3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828800"/>
          <a:ext cx="7498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321040" y="2011680"/>
            <a:ext cx="3200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&amp; Power high, Morality &amp; Intellect ≈ chance — in all four languages.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Per-language differences are small and within noise at current cell sizes.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bias is baked into the VISUAL representation, not produced by any one language's prompt.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276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Prototypicality bias is attribute-specific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concentrated on social-status attributes (wealth, power)
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It is largely language-invariant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the same pattern across English, Chinese, Arabic, Hindi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4937760"/>
            <a:ext cx="10972800" cy="1188720"/>
          </a:xfrm>
          <a:prstGeom prst="rect">
            <a:avLst/>
          </a:prstGeom>
          <a:solidFill>
            <a:srgbClr val="2B394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"language doesn't move it" result is a valid multilingual finding — </a:t>
            </a:r>
            <a:r>
              <a:rPr lang="en-US" sz="1600" b="1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strengthens the paper's claim that the failure is structural.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09751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are small relative to CIs; underpowered for cross-language contrasts (Wealth has only ~31 items per language).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model, single seed, single translation backend.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quality for Arabic / Hindi not yet validated — a confound for any language claim.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bias and per-language parse-failure rates not yet audited.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50975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(Exp2)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statistically   </a:t>
            </a: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Mixed-effects logistic regression: picked_adv ~ socio_attr * lang + gender + (1|item). No GPU needed.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640080" cy="640080"/>
          </a:xfrm>
          <a:prstGeom prst="ellipse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2944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89864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estimates   </a:t>
            </a: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/ balance Demography sampling to ≥150 per cell — narrows Wealth / Power CIs.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640080" cy="640080"/>
          </a:xfrm>
          <a:prstGeom prst="ellipse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9684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392277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low-resource   </a:t>
            </a: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languages across the resource spectrum to directly test the "low-resource = worse" hypothesis.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992624"/>
            <a:ext cx="640080" cy="640080"/>
          </a:xfrm>
          <a:prstGeom prst="ellipse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0080" y="4992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946904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translation   </a:t>
            </a: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Back-translation drift + per-language parse-failure rates.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outcome wins:  </a:t>
            </a: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confirms language-invariance; a low-resource spike recovers the original hypothesis.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" cy="105156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 the first multilingual ProtoBias pipeline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judgments across 4 languages on Qwen2.5-VL-7B.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9728" cy="105156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60120" y="3337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bias is attribute-specific &amp; language-consistent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3840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/ Power dominate; same pattern in every language — by catching that the standard aggregation hid the signal.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9728" cy="105156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012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 a concrete, powered Exp2 plan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0120" y="5166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confirmation, balanced sampling, low-resource extension.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repo: P5_Multi_linguistic_histoBias  ·  experiments/exp1_900x4lang, exp2_attribute_bias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backup slides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up only during Q&amp;A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Prototypicality Bias  ·  Progress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32688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by socio-attribute (pooled languages)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socio_attr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[.69, .84]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[.61, .73]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[.48, .60]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[.44, .54]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[.41, .55]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(not yet tested): male .573 (n=648) · female .558 (n=552).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1443</Words>
  <Application>Microsoft Macintosh PowerPoint</Application>
  <PresentationFormat>宽屏</PresentationFormat>
  <Paragraphs>231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Prototypicality Bias in MLLM Judges</dc:title>
  <dc:subject>PptxGenJS Presentation</dc:subject>
  <dc:creator>Xiaochuan Li</dc:creator>
  <cp:lastModifiedBy>a64123</cp:lastModifiedBy>
  <cp:revision>2</cp:revision>
  <dcterms:created xsi:type="dcterms:W3CDTF">2026-06-01T09:49:42Z</dcterms:created>
  <dcterms:modified xsi:type="dcterms:W3CDTF">2026-06-01T10:39:24Z</dcterms:modified>
</cp:coreProperties>
</file>