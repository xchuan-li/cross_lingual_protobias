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146304" cy="237744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1F2933"/>
                </a:solidFill>
                <a:latin typeface="Georgia"/>
              </a:rPr>
              <a:t>Supplement — additions to the deck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7B8494"/>
                </a:solidFill>
                <a:latin typeface="Calibri"/>
              </a:rPr>
              <a:t>Five slides that fill the gaps in ProgressReport_1.pptx — review, then fold into the main deck / appendix.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3832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</a:rPr>
              <a:t>1 · Real SC vs PA examples   </a:t>
            </a:r>
            <a:r>
              <a:rPr sz="1400" b="0" i="1">
                <a:solidFill>
                  <a:srgbClr val="7B8494"/>
                </a:solidFill>
                <a:latin typeface="Calibri"/>
              </a:rPr>
              <a:t>the missing illustration — a vision project with no images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</a:rPr>
              <a:t>2 · Translation sanity check   </a:t>
            </a:r>
            <a:r>
              <a:rPr sz="1400" b="0" i="1">
                <a:solidFill>
                  <a:srgbClr val="7B8494"/>
                </a:solidFill>
                <a:latin typeface="Calibri"/>
              </a:rPr>
              <a:t>one item in en / zh / ar / hi — answers the inevitable QA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</a:rPr>
              <a:t>3 · Full socio_attr × language table   </a:t>
            </a:r>
            <a:r>
              <a:rPr sz="1400" b="0" i="1">
                <a:solidFill>
                  <a:srgbClr val="7B8494"/>
                </a:solidFill>
                <a:latin typeface="Calibri"/>
              </a:rPr>
              <a:t>backup B2 — attribute-specific &amp; language-consistent in one view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</a:rPr>
              <a:t>4 · The one low-resource signal   </a:t>
            </a:r>
            <a:r>
              <a:rPr sz="1400" b="0" i="1">
                <a:solidFill>
                  <a:srgbClr val="7B8494"/>
                </a:solidFill>
                <a:latin typeface="Calibri"/>
              </a:rPr>
              <a:t>object × Hindi = .553 — motivates the Exp2 low-resource test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1F2933"/>
                </a:solidFill>
                <a:latin typeface="Calibri"/>
              </a:rPr>
              <a:t>5 · Confounds &amp; ethics   </a:t>
            </a:r>
            <a:r>
              <a:rPr sz="1400" b="0" i="1">
                <a:solidFill>
                  <a:srgbClr val="7B8494"/>
                </a:solidFill>
                <a:latin typeface="Calibri"/>
              </a:rPr>
              <a:t>the adversarial-knob confound + handling of demography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40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alibri"/>
              </a:rPr>
              <a:t>Supplement to Progress Report  ·  Multilingual ProtoBias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B8494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44E52"/>
                </a:solidFill>
                <a:latin typeface="Calibri"/>
              </a:rPr>
              <a:t>ILLUSTRATION  (insert after slide 2 /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Georgia"/>
              </a:rPr>
              <a:t>What the judge actually sees: SC vs PA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080" y="1774080"/>
            <a:ext cx="6784560" cy="4702037"/>
          </a:xfrm>
          <a:prstGeom prst="rect">
            <a:avLst/>
          </a:prstGeom>
          <a:noFill/>
          <a:ln w="1270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bias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766560" cy="46838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783080"/>
            <a:ext cx="3688080" cy="46840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Each row is one trial: a Semantically-Correct image (SC) vs a Prototypical-but-wrong Adversarial image (PA).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The prompt is deliberately neutral — it never names the object, only the scene.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Check marks: which automatic metrics still prefer the WRONG-but-typical PA image.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7B8494"/>
                </a:solidFill>
                <a:latin typeface="Calibri"/>
              </a:rPr>
              <a:t>•  Animals / Objects shown here are safe to present; demography images stay schematic.</a:t>
            </a:r>
          </a:p>
          <a:p>
            <a:pPr>
              <a:spcBef>
                <a:spcPts val="1000"/>
              </a:spcBef>
            </a:pPr>
            <a:r>
              <a:rPr sz="1100" b="0" i="1">
                <a:solidFill>
                  <a:srgbClr val="7B8494"/>
                </a:solidFill>
                <a:latin typeface="Calibri"/>
              </a:rPr>
              <a:t>Source: ProtoBias (Roy, Bhatia &amp; Eger, 2026), Fig.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40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alibri"/>
              </a:rPr>
              <a:t>Supplement to Progress Report  ·  Multilingual ProtoBias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B8494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44E52"/>
                </a:solidFill>
                <a:latin typeface="Calibri"/>
              </a:rPr>
              <a:t>BACKUP  ·  QA: “how good are the translations?”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Georgia"/>
              </a:rPr>
              <a:t>Translation sanity check — same item, four languages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911840" cy="84124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4C72B0"/>
                </a:solidFill>
                <a:latin typeface="Calibri"/>
              </a:rPr>
              <a:t>EN  (source)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874519"/>
            <a:ext cx="8900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A bird sits on the ground with a small stone in the background near a large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25495"/>
            <a:ext cx="109118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25495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C44E52"/>
                </a:solidFill>
                <a:latin typeface="Calibri"/>
              </a:rPr>
              <a:t>ZH  中文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825495"/>
            <a:ext cx="8900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一只鸟坐在地上，背景中靠近一根大圆木的地方有一块小石头。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76471"/>
            <a:ext cx="10911840" cy="84124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76471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C44E52"/>
                </a:solidFill>
                <a:latin typeface="Calibri"/>
              </a:rPr>
              <a:t>AR  العربية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76471"/>
            <a:ext cx="8900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F2933"/>
                </a:solidFill>
                <a:latin typeface="Calibri"/>
              </a:rPr>
              <a:t>طائر يجلس على الأرض مع حجر صغير في الخلفية بالقرب من جذع شجرة كبير.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27447"/>
            <a:ext cx="109118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27447"/>
            <a:ext cx="15544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C44E52"/>
                </a:solidFill>
                <a:latin typeface="Calibri"/>
              </a:rPr>
              <a:t>HI  हिन्दी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727447"/>
            <a:ext cx="8900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0" i="0">
                <a:solidFill>
                  <a:srgbClr val="1F2933"/>
                </a:solidFill>
                <a:latin typeface="Calibri"/>
              </a:rPr>
              <a:t>एक पक्षी एक बड़े लट्ठे के पास पृष्ठभूमि में एक छोटे पथ्थर के साथ जमीन पर बैठी है।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24143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7B8494"/>
                </a:solidFill>
                <a:latin typeface="Calibri"/>
              </a:rPr>
              <a:t>Backend: Google (deep-translator). ZH human-verified (native). AR/HI back-translation check is queued for Exp2 (see Limitations).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40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alibri"/>
              </a:rPr>
              <a:t>Supplement to Progress Report  ·  Multilingual ProtoBias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B8494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44E52"/>
                </a:solidFill>
                <a:latin typeface="Calibri"/>
              </a:rPr>
              <a:t>BACKUP  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Georgia"/>
              </a:rPr>
              <a:t>Full socio_attr × language error rates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377440" cy="56692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3774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socio_attr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828800"/>
            <a:ext cx="1554480" cy="56692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1554480" cy="56692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zh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1554480" cy="56692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28800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1828800"/>
            <a:ext cx="1554480" cy="56692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828800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828800"/>
            <a:ext cx="1463040" cy="56692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828800"/>
            <a:ext cx="14630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 / lang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395728"/>
            <a:ext cx="237744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95728"/>
            <a:ext cx="23774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Wealth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395728"/>
            <a:ext cx="155448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2395728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C44E52"/>
                </a:solidFill>
                <a:latin typeface="Calibri"/>
              </a:rPr>
              <a:t>.774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395728"/>
            <a:ext cx="155448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395728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C44E52"/>
                </a:solidFill>
                <a:latin typeface="Calibri"/>
              </a:rPr>
              <a:t>.774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395728"/>
            <a:ext cx="155448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395728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C44E52"/>
                </a:solidFill>
                <a:latin typeface="Calibri"/>
              </a:rPr>
              <a:t>.839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2395728"/>
            <a:ext cx="155448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2395728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C44E52"/>
                </a:solidFill>
                <a:latin typeface="Calibri"/>
              </a:rPr>
              <a:t>.710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395728"/>
            <a:ext cx="146304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2395728"/>
            <a:ext cx="14630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2962656"/>
            <a:ext cx="237744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962656"/>
            <a:ext cx="23774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Power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2962656"/>
            <a:ext cx="155448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2962656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C44E52"/>
                </a:solidFill>
                <a:latin typeface="Calibri"/>
              </a:rPr>
              <a:t>.703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962656"/>
            <a:ext cx="155448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2962656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C44E52"/>
                </a:solidFill>
                <a:latin typeface="Calibri"/>
              </a:rPr>
              <a:t>.672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962656"/>
            <a:ext cx="155448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2962656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C44E52"/>
                </a:solidFill>
                <a:latin typeface="Calibri"/>
              </a:rPr>
              <a:t>.594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2962656"/>
            <a:ext cx="155448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2962656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C44E52"/>
                </a:solidFill>
                <a:latin typeface="Calibri"/>
              </a:rPr>
              <a:t>.719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2962656"/>
            <a:ext cx="1463040" cy="566928"/>
          </a:xfrm>
          <a:prstGeom prst="rect">
            <a:avLst/>
          </a:prstGeom>
          <a:solidFill>
            <a:srgbClr val="F5F3F0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2962656"/>
            <a:ext cx="14630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64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958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529584"/>
            <a:ext cx="23774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Civility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3529584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0" y="3529584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.547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529584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3529584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.484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529584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529584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.547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3529584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3529584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.578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3529584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3529584"/>
            <a:ext cx="14630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64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4096512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096512"/>
            <a:ext cx="23774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Morality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17520" y="4096512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096512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.473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4096512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4096512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.559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4096512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4096512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.505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4096512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4096512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.409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4096512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35440" y="4096512"/>
            <a:ext cx="14630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93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466344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4663440"/>
            <a:ext cx="23774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Intellect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663440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17520" y="4663440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4663440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0" y="4663440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.479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4663440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0" y="4663440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.542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80960" y="4663440"/>
            <a:ext cx="1554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80960" y="4663440"/>
            <a:ext cx="155448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.479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35440" y="4663440"/>
            <a:ext cx="14630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35440" y="4663440"/>
            <a:ext cx="1463040" cy="566928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48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5367528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Wealth &amp; Power (shaded) sit well above chance in every language; Morality &amp; Intellect hover at .50 everywhere.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C72B0"/>
                </a:solidFill>
                <a:latin typeface="Calibri"/>
              </a:rPr>
              <a:t>•  The attribute ordering is preserved across en/zh/ar/hi — the effect is the attribute, not the language.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6236208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7B8494"/>
                </a:solidFill>
                <a:latin typeface="Calibri"/>
              </a:rPr>
              <a:t>Source: exp2_attribute_bias/exp1_attribute_breakdown.csv  ·  chance = 0.50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40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alibri"/>
              </a:rPr>
              <a:t>Supplement to Progress Report  ·  Multilingual ProtoBias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B8494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44E52"/>
                </a:solidFill>
                <a:latin typeface="Calibri"/>
              </a:rPr>
              <a:t>BACKUP  ·  motivates Outlook 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Georgia"/>
              </a:rPr>
              <a:t>The one low-resource signal: object × Hindi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377440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37744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828800"/>
            <a:ext cx="1371600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1371600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zh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828800"/>
            <a:ext cx="1371600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82880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828800"/>
            <a:ext cx="1371600" cy="54864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82880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7744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77440"/>
            <a:ext cx="237744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animal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37744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237744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37744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37744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37744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37744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.570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37744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37744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.573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92608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926080"/>
            <a:ext cx="237744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demography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292608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292608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92608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292608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.577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292608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292608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.573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292608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292608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.553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474720"/>
            <a:ext cx="2377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474720"/>
            <a:ext cx="237744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object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47472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347472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.467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347472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347472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.470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347472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47472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0" i="0">
                <a:solidFill>
                  <a:srgbClr val="1F2933"/>
                </a:solidFill>
                <a:latin typeface="Calibri"/>
              </a:rPr>
              <a:t>.463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3474720"/>
            <a:ext cx="1371600" cy="548640"/>
          </a:xfrm>
          <a:prstGeom prst="rect">
            <a:avLst/>
          </a:prstGeom>
          <a:solidFill>
            <a:srgbClr val="C44E52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3474720"/>
            <a:ext cx="1371600" cy="548640"/>
          </a:xfrm>
          <a:prstGeom prst="rect">
            <a:avLst/>
          </a:prstGeom>
          <a:noFill/>
        </p:spPr>
        <p:txBody>
          <a:bodyPr wrap="square" anchor="ctr" lIns="109728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.553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1828800"/>
            <a:ext cx="2499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On Objects, en/zh/ar all read .46–.47 (no bias) — but Hindi alone jumps to .553.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</a:rPr>
              <a:t>•  It is the only cell where the low-resource language behaves differently.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4C72B0"/>
                </a:solidFill>
                <a:latin typeface="Calibri"/>
              </a:rPr>
              <a:t>•  Locally consistent with “low-resource = more biased” — the hypothesis Exp2 will test directly.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526280"/>
            <a:ext cx="10911840" cy="914400"/>
          </a:xfrm>
          <a:prstGeom prst="rect">
            <a:avLst/>
          </a:prstGeom>
          <a:solidFill>
            <a:srgbClr val="F5F3F0"/>
          </a:solidFill>
          <a:ln w="12700">
            <a:solidFill>
              <a:srgbClr val="C44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4526280"/>
            <a:ext cx="10454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1F2933"/>
                </a:solidFill>
                <a:latin typeface="Calibri"/>
              </a:rPr>
              <a:t>Do NOT over-claim: n = 300, 95% CI [.497, .609] still touches 0.50. One cell, one model, one seed — a lead to confirm, not a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8400" y="292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alibri"/>
              </a:rPr>
              <a:t>Supplement to Progress Report  ·  Multilingual ProtoBias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B8494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44E52"/>
                </a:solidFill>
                <a:latin typeface="Calibri"/>
              </a:rPr>
              <a:t>HONESTY  ·  add to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Georgia"/>
              </a:rPr>
              <a:t>Confounds we own &amp; how we handle the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029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029200" cy="50292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Georgia"/>
              </a:rPr>
              <a:t>The adversarial-knob confound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19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 The PA image is built by turning ONE visual knob: count, colour/tone, layout, spatial, or scale.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 So a wrong pick may track that low-level change, not 'prototypicality' per se.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4C72B0"/>
                </a:solidFill>
                <a:latin typeface="Calibri"/>
              </a:rPr>
              <a:t>•  We flag it openly; Exp2's mixed-effects model adds knob as a control term.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74519"/>
            <a:ext cx="5029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5029200" cy="50292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Georgia"/>
              </a:rPr>
              <a:t>Handling the demography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19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 500 demography pairs encode race / religion / orientation stereotypes — sensitive material.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</a:rPr>
              <a:t>•  Public slides use only Animal / Object images; demography stays as labels &amp; numbers.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C44E52"/>
                </a:solidFill>
                <a:latin typeface="Calibri"/>
              </a:rPr>
              <a:t>•  We study the stereotype to measure it, never to endorse it — stated up front.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79"/>
            <a:ext cx="1091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1">
                <a:solidFill>
                  <a:srgbClr val="7B8494"/>
                </a:solidFill>
                <a:latin typeface="Calibri"/>
              </a:rPr>
              <a:t>Naming these first turns the obvious QA attacks into points in our favour.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