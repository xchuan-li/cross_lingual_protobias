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Wealth</c:v>
                  </c:pt>
                  <c:pt idx="1">
                    <c:v>Power</c:v>
                  </c:pt>
                  <c:pt idx="2">
                    <c:v>Civility</c:v>
                  </c:pt>
                  <c:pt idx="3">
                    <c:v>Morality</c:v>
                  </c:pt>
                  <c:pt idx="4">
                    <c:v>Intellect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0.774</c:v>
                </c:pt>
                <c:pt idx="1">
                  <c:v>0.672</c:v>
                </c:pt>
                <c:pt idx="2">
                  <c:v>0.539</c:v>
                </c:pt>
                <c:pt idx="3">
                  <c:v>0.487</c:v>
                </c:pt>
                <c:pt idx="4">
                  <c:v>0.479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English</c:v>
                </c:pt>
              </c:strCache>
            </c:strRef>
          </c:tx>
          <c:spPr>
            <a:solidFill>
              <a:srgbClr val="1A24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Wealth</c:v>
                  </c:pt>
                  <c:pt idx="1">
                    <c:v>Power</c:v>
                  </c:pt>
                  <c:pt idx="2">
                    <c:v>Civility</c:v>
                  </c:pt>
                  <c:pt idx="3">
                    <c:v>Morality</c:v>
                  </c:pt>
                  <c:pt idx="4">
                    <c:v>Intellect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0.774</c:v>
                </c:pt>
                <c:pt idx="1">
                  <c:v>0.703</c:v>
                </c:pt>
                <c:pt idx="2">
                  <c:v>0.547</c:v>
                </c:pt>
                <c:pt idx="3">
                  <c:v>0.473</c:v>
                </c:pt>
                <c:pt idx="4">
                  <c:v>0.417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Wealth</c:v>
                  </c:pt>
                  <c:pt idx="1">
                    <c:v>Power</c:v>
                  </c:pt>
                  <c:pt idx="2">
                    <c:v>Civility</c:v>
                  </c:pt>
                  <c:pt idx="3">
                    <c:v>Morality</c:v>
                  </c:pt>
                  <c:pt idx="4">
                    <c:v>Intellect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0.774</c:v>
                </c:pt>
                <c:pt idx="1">
                  <c:v>0.672</c:v>
                </c:pt>
                <c:pt idx="2">
                  <c:v>0.484</c:v>
                </c:pt>
                <c:pt idx="3">
                  <c:v>0.559</c:v>
                </c:pt>
                <c:pt idx="4">
                  <c:v>0.479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Arabic</c:v>
                </c:pt>
              </c:strCache>
            </c:strRef>
          </c:tx>
          <c:spPr>
            <a:solidFill>
              <a:srgbClr val="3F7C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Wealth</c:v>
                  </c:pt>
                  <c:pt idx="1">
                    <c:v>Power</c:v>
                  </c:pt>
                  <c:pt idx="2">
                    <c:v>Civility</c:v>
                  </c:pt>
                  <c:pt idx="3">
                    <c:v>Morality</c:v>
                  </c:pt>
                  <c:pt idx="4">
                    <c:v>Intellect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0.839</c:v>
                </c:pt>
                <c:pt idx="1">
                  <c:v>0.594</c:v>
                </c:pt>
                <c:pt idx="2">
                  <c:v>0.547</c:v>
                </c:pt>
                <c:pt idx="3">
                  <c:v>0.505</c:v>
                </c:pt>
                <c:pt idx="4">
                  <c:v>0.542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Hindi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Wealth</c:v>
                  </c:pt>
                  <c:pt idx="1">
                    <c:v>Power</c:v>
                  </c:pt>
                  <c:pt idx="2">
                    <c:v>Civility</c:v>
                  </c:pt>
                  <c:pt idx="3">
                    <c:v>Morality</c:v>
                  </c:pt>
                  <c:pt idx="4">
                    <c:v>Intellect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0.71</c:v>
                </c:pt>
                <c:pt idx="1">
                  <c:v>0.719</c:v>
                </c:pt>
                <c:pt idx="2">
                  <c:v>0.578</c:v>
                </c:pt>
                <c:pt idx="3">
                  <c:v>0.409</c:v>
                </c:pt>
                <c:pt idx="4">
                  <c:v>0.479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Cross-lingual SD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Animals</c:v>
                  </c:pt>
                  <c:pt idx="1">
                    <c:v>Objects</c:v>
                  </c:pt>
                  <c:pt idx="2">
                    <c:v>Demogr.
(avg)</c:v>
                  </c:pt>
                  <c:pt idx="3">
                    <c:v>Wealth</c:v>
                  </c:pt>
                  <c:pt idx="4">
                    <c:v>Power</c:v>
                  </c:pt>
                  <c:pt idx="5">
                    <c:v>Morality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0.022</c:v>
                </c:pt>
                <c:pt idx="1">
                  <c:v>0.038</c:v>
                </c:pt>
                <c:pt idx="2">
                  <c:v>0.01</c:v>
                </c:pt>
                <c:pt idx="3">
                  <c:v>0.046</c:v>
                </c:pt>
                <c:pt idx="4">
                  <c:v>0.048</c:v>
                </c:pt>
                <c:pt idx="5">
                  <c:v>0.054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0"/>
        </c:scaling>
        <c:delete val="0"/>
        <c:axPos val="l"/>
        <c:majorGridlines>
          <c:spPr>
            <a:ln w="6350" cap="flat">
              <a:solidFill>
                <a:srgbClr val="E8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PROTOTYPICALITY BIAS IN MULTIMODAL AI EVALUATION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vision–language judge change its mind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switch the language?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· Chinese · Arabic · Hindi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212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Xiaochuan Li   ·   Mentor: Subhadeep Roy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 can prefer a wrong image just because it looks typical</a:t>
            </a:r>
            <a:endParaRPr lang="en-US" sz="2400" dirty="0"/>
          </a:p>
        </p:txBody>
      </p:sp>
      <p:pic>
        <p:nvPicPr>
          <p:cNvPr id="7" name="Image 0" descr="/Users/xiaochuan/Desktop/Projects/P5_Multi_linguistic_histoBias/code/experiments/assets/protobias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6309360" cy="4370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1996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ProtoBias (Roy et al., 2026), Fig. 1 — three domains, each pairing SC vs PA.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23774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semantically correct, but non-prototypical
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prototypical / stereotypical, but wrong
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column: most metrics (CLIP, Pick, VQA, GPT) rank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above SC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failure we study.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whether this bias is consistent across languages — and where it is strongest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395728" cy="9144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5681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pair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vs PA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2167128"/>
            <a:ext cx="310896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75888" y="1828800"/>
            <a:ext cx="2395728" cy="9144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1" name="Text 8"/>
          <p:cNvSpPr/>
          <p:nvPr/>
        </p:nvSpPr>
        <p:spPr>
          <a:xfrm>
            <a:off x="3767328" y="195681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 language 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zh / ar / hi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167128"/>
            <a:ext cx="310896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28816" y="1828800"/>
            <a:ext cx="2395728" cy="9144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Text 10"/>
          <p:cNvSpPr/>
          <p:nvPr/>
        </p:nvSpPr>
        <p:spPr>
          <a:xfrm>
            <a:off x="6620256" y="195681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Qwen2.5-VL-7B judge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2-AFC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2167128"/>
            <a:ext cx="310896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81744" y="1828800"/>
            <a:ext cx="2395728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2"/>
          <p:cNvSpPr/>
          <p:nvPr/>
        </p:nvSpPr>
        <p:spPr>
          <a:xfrm>
            <a:off x="9473184" y="195681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1 or 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= bias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85800" y="3246120"/>
            <a:ext cx="5257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3246120"/>
            <a:ext cx="5257800" cy="5669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3246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— Consistency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14400" y="3977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prototypicality bias persist, or do the judge's decisions change, when the same prompt is asked in another language?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245352" y="3246120"/>
            <a:ext cx="5257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45352" y="3246120"/>
            <a:ext cx="5257800" cy="5669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4" name="Text 19"/>
          <p:cNvSpPr/>
          <p:nvPr/>
        </p:nvSpPr>
        <p:spPr>
          <a:xfrm>
            <a:off x="6473952" y="3246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— Sensitivity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473952" y="3977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cross-lingual differences stronger in socially sensitive contexts (wealth, intellect, …) than in neutral domains (animals, objects)?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 ·  1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judges and the way we measure bias are known to be fragile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349240" cy="35661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20240"/>
            <a:ext cx="91440" cy="35661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ET AL., 2024 · EMNLP [2]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or LLMs as the Judge?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Study on Judgement Bias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38328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judges carry gender, authority and beauty biases. We use an MLLM as judge — its biases are exactly what we probe.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49240" cy="35661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920240"/>
            <a:ext cx="91440" cy="35661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AKYUREK ET AL., 2022 · GEBNLP [3]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95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in Measuring Bias via Open-Ended Generation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on Gender Bias in NLP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38328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estimates flip with the prompts, metrics and sampling chosen. Motivates our finding that how you aggregate decides the result.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 ·  2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bias also shifts with the language and the exact prompt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349240" cy="3108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20240"/>
            <a:ext cx="91440" cy="3108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 ET AL., 2025 · ACL FINDINGS [1]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Bias Benchmark for Generation (BBG)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Korean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38328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social-bias evaluation; generation vs QA disagree. A precedent for evaluating bias across languages.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49240" cy="3108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920240"/>
            <a:ext cx="91440" cy="3108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HIDA, KANEKO &amp; OKAZAKI, 2025 · EMNLP FINDINGS [4]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95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Bias Evaluation Requires Prompt Variations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EMNLP Findings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38328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rankings fluctuate across prompts. Our cross-lingual prompts ARE prompt variation — and flag translation quality as a confound.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3492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gap:  </a:t>
            </a:r>
            <a:pPr indent="0" marL="0">
              <a:buNone/>
            </a:pPr>
            <a:r>
              <a:rPr lang="en-US" sz="1500" i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work tests visual prototypicality bias across languages. That is RQ1–RQ2.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score bias as how often the judge picks the prototypical-but-wrong image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F2F4F7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201168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F2F4F7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39776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image matches the description?  Answer 1 or 2."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85800" y="4800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Left/right order randomized — controls for position bias.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766560" y="2011680"/>
            <a:ext cx="4754880" cy="3200400"/>
          </a:xfrm>
          <a:prstGeom prst="rect">
            <a:avLst/>
          </a:prstGeom>
          <a:solidFill>
            <a:srgbClr val="1A24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3317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2668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08660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trials where the judge chooses the prototypical-but-wrong image (PA)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08660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pPr indent="0" marL="0">
              <a:buNone/>
            </a:pPr>
            <a:r>
              <a:rPr lang="en-US" sz="16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bias        </a:t>
            </a:r>
            <a:pPr indent="0" marL="0">
              <a:buNone/>
            </a:pPr>
            <a:r>
              <a:rPr lang="en-US" sz="1600" b="1" dirty="0">
                <a:solidFill>
                  <a:srgbClr val="E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0.50</a:t>
            </a:r>
            <a:pPr indent="0" marL="0">
              <a:buNone/>
            </a:pPr>
            <a:r>
              <a:rPr lang="en-US" sz="16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bias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SETUP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collected 3,600 judgments across four languages and three domains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1783080"/>
            <a:ext cx="868680" cy="868680"/>
          </a:xfrm>
          <a:prstGeom prst="ellipse">
            <a:avLst/>
          </a:prstGeom>
          <a:solidFill>
            <a:srgbClr val="F2F4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99339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7432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1783080"/>
            <a:ext cx="868680" cy="868680"/>
          </a:xfrm>
          <a:prstGeom prst="ellipse">
            <a:avLst/>
          </a:prstGeom>
          <a:solidFill>
            <a:srgbClr val="F2F4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9933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27432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01752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783080"/>
            <a:ext cx="868680" cy="868680"/>
          </a:xfrm>
          <a:prstGeom prst="ellipse">
            <a:avLst/>
          </a:prstGeom>
          <a:solidFill>
            <a:srgbClr val="F2F4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99339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27432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4924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socially sensitive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6758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languages: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3154680" y="3675888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1F4E79"/>
          </a:solidFill>
          <a:ln/>
        </p:spPr>
      </p:sp>
      <p:sp>
        <p:nvSpPr>
          <p:cNvPr id="22" name="Text 16"/>
          <p:cNvSpPr/>
          <p:nvPr/>
        </p:nvSpPr>
        <p:spPr>
          <a:xfrm>
            <a:off x="3154680" y="36758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89120" y="3675888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1F4E79"/>
          </a:solidFill>
          <a:ln/>
        </p:spPr>
      </p:sp>
      <p:sp>
        <p:nvSpPr>
          <p:cNvPr id="24" name="Text 18"/>
          <p:cNvSpPr/>
          <p:nvPr/>
        </p:nvSpPr>
        <p:spPr>
          <a:xfrm>
            <a:off x="4389120" y="36758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623560" y="3675888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1F4E79"/>
          </a:solidFill>
          <a:ln/>
        </p:spPr>
      </p:sp>
      <p:sp>
        <p:nvSpPr>
          <p:cNvPr id="26" name="Text 20"/>
          <p:cNvSpPr/>
          <p:nvPr/>
        </p:nvSpPr>
        <p:spPr>
          <a:xfrm>
            <a:off x="5623560" y="36758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858000" y="3675888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1F4E79"/>
          </a:solidFill>
          <a:ln/>
        </p:spPr>
      </p:sp>
      <p:sp>
        <p:nvSpPr>
          <p:cNvPr id="28" name="Text 22"/>
          <p:cNvSpPr/>
          <p:nvPr/>
        </p:nvSpPr>
        <p:spPr>
          <a:xfrm>
            <a:off x="6858000" y="36758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85800" y="443484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rows/domain × 3 × 4 languages = 3,600 2-AFC judgments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Qwen2.5-VL-7B-Instruct   ·   Translation: Google (deep-translator)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Demography rows carry a socio_attr label: wealth · power · civility · morality · intellect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Compute: NHR@FAU Alex, 1× A40 GPU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—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by language, the bias barely moves: the judge is language-stable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73152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Chinese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Arabic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Hindi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Animals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.573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.463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.553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.09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Demography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.573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.553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210312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every domain, the four languages differ by only ~0.02–0.09.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RQ1: switching language does not flip the judge. The bias is largely language-invariant.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CLOSER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over the stereotype label hides the real structure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80160" y="3108960"/>
            <a:ext cx="2743200" cy="155448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246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Demography
</a:t>
            </a:r>
            <a:endParaRPr lang="en-US" sz="14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.56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703320"/>
            <a:ext cx="64008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7764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socio_attr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3108960"/>
            <a:ext cx="58521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32461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.77   Power .67
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Civility .54    Morality .49    Intellect .48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.56 number hides a 0.30 spread between attributes.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FINDING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 is concentrated on social-status attributes: wealth and power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87452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 = chance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9520" y="21031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&amp; power: a strong judge-by-looks effect.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Morality &amp; intellect: essentially no bias.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data encodes what rich/powerful people look like — but has no stable visual prototype for moral or intelligent.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— REFINED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attribute pattern appears in all four languages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874520"/>
          <a:ext cx="75895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503920" y="2194560"/>
            <a:ext cx="3017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&amp; power high, morality &amp; intellect near chance — in every language.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bias lives in the visual representation, not in the language of the prompt.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—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matters more for sensitive attributes than for neutral domains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87452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6035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of error rate across the 4 languages (higher = language matters more).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21031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domains (gray) vary little across languages.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attributes (red) vary 2–3× more.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RQ2: suggestive YES — but n = 31–93/cell, so part of this is noise. Exp2 must confirm it.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"/>
            <a:ext cx="146304" cy="146304"/>
          </a:xfrm>
          <a:prstGeom prst="rect">
            <a:avLst/>
          </a:prstGeom>
          <a:solidFill>
            <a:srgbClr val="E8918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10972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E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  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 is largely language-invariant.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          Switching language does not flip the judge's decisions.
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E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  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little variation exists concentrates in sensitive attributes.</a:t>
            </a:r>
            <a:pPr indent="0" marL="0">
              <a:lnSpc>
                <a:spcPct val="105000"/>
              </a:lnSpc>
              <a:buNone/>
            </a:pP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Wealth, power, morality vary 2–3× more across languages than neutral domains.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5120640"/>
            <a:ext cx="10817352" cy="1005840"/>
          </a:xfrm>
          <a:prstGeom prst="rect">
            <a:avLst/>
          </a:prstGeom>
          <a:solidFill>
            <a:srgbClr val="26344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1206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is structural and cross-lingual — </a:t>
            </a:r>
            <a:pPr indent="0" marL="0">
              <a:buNone/>
            </a:pPr>
            <a:r>
              <a:rPr lang="en-US" sz="1600" b="1" i="1" dirty="0">
                <a:solidFill>
                  <a:srgbClr val="E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multilingual result that reinforces the original paper.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cross-lingual conclusions are still underpowered and unvalidated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effects vs. confidence intervals; sensitive-attribute cells hold only ~31–93 items per language.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model, single seed, single translation backend.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/ Hindi translation quality not yet validated — a confound for any language claim.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bias and per-language answer-parse failures not yet audited.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Exp2 will confirm the effect statistically and widen the language spectrum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statistically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Mixed-effects logistic regression (no GPU): is the attribute effect significantly larger than the language effect?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603504" cy="603504"/>
          </a:xfrm>
          <a:prstGeom prst="ellipse">
            <a:avLst/>
          </a:prstGeom>
          <a:solidFill>
            <a:srgbClr val="F2F4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44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898648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estimates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 / balance Demography sampling to ≥150 per cell.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922776"/>
            <a:ext cx="603504" cy="603504"/>
          </a:xfrm>
          <a:prstGeom prst="ellipse">
            <a:avLst/>
          </a:prstGeom>
          <a:solidFill>
            <a:srgbClr val="F2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22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8770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low-resource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languages across the resource spectrum to test the “low-resource = worse” hypothesis head-on.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901184"/>
            <a:ext cx="603504" cy="603504"/>
          </a:xfrm>
          <a:prstGeom prst="ellipse">
            <a:avLst/>
          </a:prstGeom>
          <a:solidFill>
            <a:srgbClr val="F2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011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85546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translation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Back-translation drift + per-language parse-failure rates.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outcome is a result:  </a:t>
            </a:r>
            <a:pPr indent="0" marL="0">
              <a:buNone/>
            </a:pPr>
            <a:r>
              <a:rPr lang="en-US" sz="1400" i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confirms language-invariance; a low-resource spike recovers the original hypothesis.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first multilingual ProtoBias study and found an attribute-specific, language-stable bias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9144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148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8408" y="2606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multilingual ProtoBias run — 3,600 judgments, 4 languages, on Qwen2.5-VL-7B.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9144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83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3840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is concentrated on wealth &amp; power and is consistent across languages — the standard aggregation had hidden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9144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4617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78408" y="5074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concrete, powered Exp2: statistical confirmation, balanced sampling, low-resource languages.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P5_Multi_linguistic_histoBias  ·  experiments/exp1_900x4lang · exp2_attribute_bias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backup slides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up only during Q&amp;A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Prototypicality Bias  ·  Progress Report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"/>
            <a:ext cx="146304" cy="14630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65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by socio-attribute, pooled over languages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socio_attr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CI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Wealth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.774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[.69, .84]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.672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[.61, .73]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.539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[.48, .60]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Morality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[.44, .54]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Intellect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.479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[.41, .55]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(not yet tested): male .573 (n=648) · female .558 (n=552).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Prototypicality Bias in MLLM Judges</dc:title>
  <dc:subject>PptxGenJS Presentation</dc:subject>
  <dc:creator>Xiaochuan Li</dc:creator>
  <cp:lastModifiedBy>Xiaochuan Li</cp:lastModifiedBy>
  <cp:revision>1</cp:revision>
  <dcterms:created xsi:type="dcterms:W3CDTF">2026-06-01T10:09:42Z</dcterms:created>
  <dcterms:modified xsi:type="dcterms:W3CDTF">2026-06-01T10:09:42Z</dcterms:modified>
</cp:coreProperties>
</file>