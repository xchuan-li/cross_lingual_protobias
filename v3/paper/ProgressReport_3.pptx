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1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23262F"/>
                </a:solidFill>
                <a:latin typeface="Arial"/>
              </a:defRPr>
            </a:pPr>
            <a:r>
              <a:rPr sz="1200" b="0" i="0" u="none" strike="noStrike">
                <a:solidFill>
                  <a:srgbClr val="23262F"/>
                </a:solidFill>
                <a:latin typeface="Arial"/>
              </a:rPr>
              <a:t>Odds ratio of bias vs English  (1.0 = same as English)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Qwen2.5-VL-7B</c:v>
                </c:pt>
              </c:strCache>
            </c:strRef>
          </c:tx>
          <c:spPr>
            <a:solidFill>
              <a:srgbClr val="4C72B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zh</c:v>
                  </c:pt>
                  <c:pt idx="1">
                    <c:v>ru</c:v>
                  </c:pt>
                  <c:pt idx="2">
                    <c:v>ar</c:v>
                  </c:pt>
                  <c:pt idx="3">
                    <c:v>hi</c:v>
                  </c:pt>
                  <c:pt idx="4">
                    <c:v>bn</c:v>
                  </c:pt>
                  <c:pt idx="5">
                    <c:v>el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1.13</c:v>
                </c:pt>
                <c:pt idx="1">
                  <c:v>1.06</c:v>
                </c:pt>
                <c:pt idx="2">
                  <c:v>1.31</c:v>
                </c:pt>
                <c:pt idx="3">
                  <c:v>1.04</c:v>
                </c:pt>
                <c:pt idx="4">
                  <c:v>1.6</c:v>
                </c:pt>
                <c:pt idx="5">
                  <c:v>1.49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InternVL3-8B</c:v>
                </c:pt>
              </c:strCache>
            </c:strRef>
          </c:tx>
          <c:spPr>
            <a:solidFill>
              <a:srgbClr val="C44E5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zh</c:v>
                  </c:pt>
                  <c:pt idx="1">
                    <c:v>ru</c:v>
                  </c:pt>
                  <c:pt idx="2">
                    <c:v>ar</c:v>
                  </c:pt>
                  <c:pt idx="3">
                    <c:v>hi</c:v>
                  </c:pt>
                  <c:pt idx="4">
                    <c:v>bn</c:v>
                  </c:pt>
                  <c:pt idx="5">
                    <c:v>el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0.96</c:v>
                </c:pt>
                <c:pt idx="1">
                  <c:v>1.17</c:v>
                </c:pt>
                <c:pt idx="2">
                  <c:v>1.12</c:v>
                </c:pt>
                <c:pt idx="3">
                  <c:v>1.33</c:v>
                </c:pt>
                <c:pt idx="4">
                  <c:v>1.41</c:v>
                </c:pt>
                <c:pt idx="5">
                  <c:v>1.72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072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"/>
          <c:min val="0"/>
        </c:scaling>
        <c:delete val="0"/>
        <c:axPos val="l"/>
        <c:majorGridlines>
          <c:spPr>
            <a:ln w="6350" cap="flat">
              <a:solidFill>
                <a:srgbClr val="ECEEF5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072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100">
              <a:solidFill>
                <a:srgbClr val="5A6072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slide" Target="slide26.xml"/><Relationship Id="rId3" Type="http://schemas.openxmlformats.org/officeDocument/2006/relationships/slide" Target="slide27.xml"/><Relationship Id="rId1" Type="http://schemas.openxmlformats.org/officeDocument/2006/relationships/image" Target="../media/image-25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slide" Target="slide25.xml"/><Relationship Id="rId3" Type="http://schemas.openxmlformats.org/officeDocument/2006/relationships/slide" Target="slide27.xml"/><Relationship Id="rId1" Type="http://schemas.openxmlformats.org/officeDocument/2006/relationships/image" Target="../media/image-26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slide" Target="slide25.xml"/><Relationship Id="rId3" Type="http://schemas.openxmlformats.org/officeDocument/2006/relationships/slide" Target="slide26.xml"/><Relationship Id="rId1" Type="http://schemas.openxmlformats.org/officeDocument/2006/relationships/image" Target="../media/image-27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1F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1554480"/>
            <a:ext cx="109728" cy="109728"/>
          </a:xfrm>
          <a:prstGeom prst="ellipse">
            <a:avLst/>
          </a:prstGeom>
          <a:solidFill>
            <a:srgbClr val="C44E52"/>
          </a:solidFill>
          <a:ln/>
        </p:spPr>
      </p:sp>
      <p:sp>
        <p:nvSpPr>
          <p:cNvPr id="3" name="Shape 1"/>
          <p:cNvSpPr/>
          <p:nvPr/>
        </p:nvSpPr>
        <p:spPr>
          <a:xfrm>
            <a:off x="886968" y="1554480"/>
            <a:ext cx="109728" cy="109728"/>
          </a:xfrm>
          <a:prstGeom prst="ellipse">
            <a:avLst/>
          </a:prstGeom>
          <a:solidFill>
            <a:srgbClr val="4C72B0"/>
          </a:solidFill>
          <a:ln/>
        </p:spPr>
      </p:sp>
      <p:sp>
        <p:nvSpPr>
          <p:cNvPr id="4" name="Shape 2"/>
          <p:cNvSpPr/>
          <p:nvPr/>
        </p:nvSpPr>
        <p:spPr>
          <a:xfrm>
            <a:off x="1088136" y="1554480"/>
            <a:ext cx="109728" cy="109728"/>
          </a:xfrm>
          <a:prstGeom prst="ellipse">
            <a:avLst/>
          </a:prstGeom>
          <a:solidFill>
            <a:srgbClr val="55A868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18745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C9D2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PROGRESS REPORT III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85800" y="2286000"/>
            <a:ext cx="106070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Cross-lingual Prototypicality Bias</a:t>
            </a:r>
            <a:endParaRPr lang="en-US" sz="4400" dirty="0"/>
          </a:p>
          <a:p>
            <a:pPr indent="0" marL="0">
              <a:lnSpc>
                <a:spcPts val="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 Vision-Language Models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685800" y="4160520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C9D2E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behavioural bias that turns out to live in the image–text representation itself.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85800" y="5715000"/>
            <a:ext cx="10789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Xiaochuan Li · Rishav Chandra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9A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Mentor: Subhadeep Roy   ·   Extending ProtoBias (Roy, Bhatia &amp; Eger 2026)   ·   July 2026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0292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44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841248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456"/>
              </a:lnSpc>
              <a:buNone/>
            </a:pPr>
            <a:r>
              <a:rPr lang="en-US" sz="3200" b="1" dirty="0">
                <a:solidFill>
                  <a:srgbClr val="2326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Prototypicality bias: judging by looks, not meaning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85800" y="1965960"/>
            <a:ext cx="594360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00000"/>
              </a:lnSpc>
              <a:spcAft>
                <a:spcPts val="1100"/>
              </a:spcAft>
              <a:buSzPct val="100000"/>
              <a:buChar char="•"/>
            </a:pPr>
            <a:r>
              <a:rPr lang="en-US" sz="175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Automatic metrics and VLMs increasingly replace humans for image–text evaluation.</a:t>
            </a:r>
            <a:endParaRPr lang="en-US" sz="1750" dirty="0"/>
          </a:p>
          <a:p>
            <a:pPr marL="203200" indent="-203200">
              <a:lnSpc>
                <a:spcPct val="100000"/>
              </a:lnSpc>
              <a:spcAft>
                <a:spcPts val="1100"/>
              </a:spcAft>
              <a:buSzPct val="100000"/>
              <a:buChar char="•"/>
            </a:pPr>
            <a:r>
              <a:rPr lang="en-US" sz="175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Failure mode: they reward the image that looks typical — even when it is wrong for the prompt.</a:t>
            </a:r>
            <a:endParaRPr lang="en-US" sz="1750" dirty="0"/>
          </a:p>
          <a:p>
            <a:pPr marL="203200" indent="-203200">
              <a:lnSpc>
                <a:spcPct val="100000"/>
              </a:lnSpc>
              <a:spcAft>
                <a:spcPts val="1100"/>
              </a:spcAft>
              <a:buSzPct val="100000"/>
              <a:buChar char="•"/>
            </a:pPr>
            <a:r>
              <a:rPr lang="en-US" sz="175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ProtoBias pairs a semantically-correct but atypical image with a prototypical but wrong one.</a:t>
            </a:r>
            <a:endParaRPr lang="en-US" sz="1750" dirty="0"/>
          </a:p>
          <a:p>
            <a:pPr marL="203200" indent="-203200">
              <a:lnSpc>
                <a:spcPct val="100000"/>
              </a:lnSpc>
              <a:spcAft>
                <a:spcPts val="1100"/>
              </a:spcAft>
              <a:buSzPct val="100000"/>
              <a:buChar char="•"/>
            </a:pPr>
            <a:r>
              <a:rPr lang="en-US" sz="175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judge that prefers the typical-but-wrong image is riding a shortcut, not the meaning.</a:t>
            </a:r>
            <a:endParaRPr lang="en-US" sz="1750" dirty="0"/>
          </a:p>
        </p:txBody>
      </p:sp>
      <p:pic>
        <p:nvPicPr>
          <p:cNvPr id="5" name="Image 0" descr="/Users/xiaochuan/Desktop/Projects/_Archive-2026-07/ProtoBias/v1/paper/assets/protobias_examples_animals_objec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20840" y="2514600"/>
            <a:ext cx="4983480" cy="2416819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720840" y="5074920"/>
            <a:ext cx="4983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9A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Correct-but-atypical (left) vs prototypical-but-wrong (right).</a:t>
            </a:r>
            <a:endParaRPr lang="en-US" sz="1050" dirty="0"/>
          </a:p>
        </p:txBody>
      </p:sp>
      <p:sp>
        <p:nvSpPr>
          <p:cNvPr id="7" name="Text 4"/>
          <p:cNvSpPr/>
          <p:nvPr/>
        </p:nvSpPr>
        <p:spPr>
          <a:xfrm>
            <a:off x="11551615" y="6400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0292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44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EXTENSION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841248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456"/>
              </a:lnSpc>
              <a:buNone/>
            </a:pPr>
            <a:r>
              <a:rPr lang="en-US" sz="3200" b="1" dirty="0">
                <a:solidFill>
                  <a:srgbClr val="2326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Does the bias depend on the language you ask in?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85800" y="1965960"/>
            <a:ext cx="612648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00000"/>
              </a:lnSpc>
              <a:spcAft>
                <a:spcPts val="1100"/>
              </a:spcAft>
              <a:buSzPct val="100000"/>
              <a:buChar char="•"/>
            </a:pPr>
            <a:r>
              <a:rPr lang="en-US" sz="175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ProtoBias is English-only and studies evaluation metrics.</a:t>
            </a:r>
            <a:endParaRPr lang="en-US" sz="1750" dirty="0"/>
          </a:p>
          <a:p>
            <a:pPr marL="203200" indent="-203200">
              <a:lnSpc>
                <a:spcPct val="100000"/>
              </a:lnSpc>
              <a:spcAft>
                <a:spcPts val="1100"/>
              </a:spcAft>
              <a:buSzPct val="100000"/>
              <a:buChar char="•"/>
            </a:pPr>
            <a:r>
              <a:rPr lang="en-US" sz="175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turn: translate only the prompt, hold the image pair fixed.</a:t>
            </a:r>
            <a:endParaRPr lang="en-US" sz="1750" dirty="0"/>
          </a:p>
          <a:p>
            <a:pPr marL="203200" indent="-203200">
              <a:lnSpc>
                <a:spcPct val="100000"/>
              </a:lnSpc>
              <a:spcAft>
                <a:spcPts val="1100"/>
              </a:spcAft>
              <a:buSzPct val="100000"/>
              <a:buChar char="•"/>
            </a:pPr>
            <a:r>
              <a:rPr lang="en-US" sz="175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the verdict moves with language, the model is importing language-specific expectations.</a:t>
            </a:r>
            <a:endParaRPr lang="en-US" sz="1750" dirty="0"/>
          </a:p>
          <a:p>
            <a:pPr marL="203200" indent="-203200">
              <a:lnSpc>
                <a:spcPct val="100000"/>
              </a:lnSpc>
              <a:spcAft>
                <a:spcPts val="1100"/>
              </a:spcAft>
              <a:buSzPct val="100000"/>
              <a:buChar char="•"/>
            </a:pPr>
            <a:r>
              <a:rPr lang="en-US" sz="175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RQ1 — is the bias consistent across languages?   RQ2 — worse in socially sensitive domains?</a:t>
            </a:r>
            <a:endParaRPr lang="en-US" sz="1750" dirty="0"/>
          </a:p>
        </p:txBody>
      </p:sp>
      <p:sp>
        <p:nvSpPr>
          <p:cNvPr id="5" name="Shape 3"/>
          <p:cNvSpPr/>
          <p:nvPr/>
        </p:nvSpPr>
        <p:spPr>
          <a:xfrm>
            <a:off x="7040880" y="2286000"/>
            <a:ext cx="4480560" cy="777240"/>
          </a:xfrm>
          <a:prstGeom prst="roundRect">
            <a:avLst>
              <a:gd name="adj" fmla="val 9412"/>
            </a:avLst>
          </a:prstGeom>
          <a:solidFill>
            <a:srgbClr val="F5F6FA"/>
          </a:solidFill>
          <a:ln w="12700">
            <a:solidFill>
              <a:srgbClr val="E4E6E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040880" y="2286000"/>
            <a:ext cx="4480560" cy="7772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 pair  +  prompt in language L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9281160" y="3063240"/>
            <a:ext cx="0" cy="457200"/>
          </a:xfrm>
          <a:prstGeom prst="line">
            <a:avLst/>
          </a:prstGeom>
          <a:noFill/>
          <a:ln w="25400">
            <a:solidFill>
              <a:srgbClr val="C44E52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7680960" y="3611880"/>
            <a:ext cx="3200400" cy="777240"/>
          </a:xfrm>
          <a:prstGeom prst="roundRect">
            <a:avLst>
              <a:gd name="adj" fmla="val 9412"/>
            </a:avLst>
          </a:prstGeom>
          <a:solidFill>
            <a:srgbClr val="1B1F3B"/>
          </a:solidFill>
          <a:ln w="12700">
            <a:solidFill>
              <a:srgbClr val="E4E6E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680960" y="3611880"/>
            <a:ext cx="3200400" cy="7772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VLM judge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9281160" y="4389120"/>
            <a:ext cx="0" cy="457200"/>
          </a:xfrm>
          <a:prstGeom prst="line">
            <a:avLst/>
          </a:prstGeom>
          <a:noFill/>
          <a:ln w="25400">
            <a:solidFill>
              <a:srgbClr val="C44E52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7040880" y="4937760"/>
            <a:ext cx="4480560" cy="777240"/>
          </a:xfrm>
          <a:prstGeom prst="roundRect">
            <a:avLst>
              <a:gd name="adj" fmla="val 9412"/>
            </a:avLst>
          </a:prstGeom>
          <a:solidFill>
            <a:srgbClr val="F5F6FA"/>
          </a:solidFill>
          <a:ln w="12700">
            <a:solidFill>
              <a:srgbClr val="E4E6E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040880" y="4937760"/>
            <a:ext cx="4480560" cy="7772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picks image 1 or 2  →  error rate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7040880" y="580644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9A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images, language swapped — a controlled cross-lingual probe.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11551615" y="6400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0292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44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STORY SO FAR  ·  REPORTS I–II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841248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456"/>
              </a:lnSpc>
              <a:buNone/>
            </a:pPr>
            <a:r>
              <a:rPr lang="en-US" sz="3200" b="1" dirty="0">
                <a:solidFill>
                  <a:srgbClr val="2326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Where we were after Report II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85800" y="2148840"/>
            <a:ext cx="640080" cy="640080"/>
          </a:xfrm>
          <a:prstGeom prst="ellipse">
            <a:avLst/>
          </a:prstGeom>
          <a:solidFill>
            <a:srgbClr val="9AA0B0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21488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600200" y="2084832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326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Looked flat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600200" y="2578608"/>
            <a:ext cx="10241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Overall error hugged 0.50 — bias seemed weak and language-invariant.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85800" y="3429000"/>
            <a:ext cx="640080" cy="640080"/>
          </a:xfrm>
          <a:prstGeom prst="ellipse">
            <a:avLst/>
          </a:prstGeom>
          <a:solidFill>
            <a:srgbClr val="C44E52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34290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II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600200" y="3364992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326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average was hiding it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600200" y="3858768"/>
            <a:ext cx="10241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Split by socio-attribute, bias is strong for wealth/power, near-chance for morality/intellect.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85800" y="4709160"/>
            <a:ext cx="640080" cy="640080"/>
          </a:xfrm>
          <a:prstGeom prst="ellipse">
            <a:avLst/>
          </a:prstGeom>
          <a:solidFill>
            <a:srgbClr val="4C72B0"/>
          </a:solidFill>
          <a:ln/>
        </p:spPr>
      </p:sp>
      <p:sp>
        <p:nvSpPr>
          <p:cNvPr id="13" name="Text 11"/>
          <p:cNvSpPr/>
          <p:nvPr/>
        </p:nvSpPr>
        <p:spPr>
          <a:xfrm>
            <a:off x="685800" y="47091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II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600200" y="4645152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326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Two model families, 7 languages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600200" y="5138928"/>
            <a:ext cx="10241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attribute pattern replicates across Qwen &amp; InternVL (p≈2×10⁻¹⁴); Bengali/Greek lift the level.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85800" y="603504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44E5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Report III asks the next question: WHERE does this bias live — in the model's answer, or deeper?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1551615" y="6400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0292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44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ACTING ON REPORT II FEEDBACK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841248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456"/>
              </a:lnSpc>
              <a:buNone/>
            </a:pPr>
            <a:r>
              <a:rPr lang="en-US" sz="3200" b="1" dirty="0">
                <a:solidFill>
                  <a:srgbClr val="2326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the mentor asked for — and where it is</a:t>
            </a:r>
            <a:endParaRPr lang="en-US" sz="3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103120"/>
          <a:ext cx="10820095" cy="914400"/>
        </p:xfrm>
        <a:graphic>
          <a:graphicData uri="http://schemas.openxmlformats.org/drawingml/2006/table">
            <a:tbl>
              <a:tblPr/>
              <a:tblGrid>
                <a:gridCol w="3931920"/>
                <a:gridCol w="5166360"/>
                <a:gridCol w="17373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Feedback on Report II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we did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Slide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</a:tr>
              <a:tr h="1005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23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“Check the other categories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23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(animal &amp; object)”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5A60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Broke both down by subcategory + visual knob — they are structured too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C44E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005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23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“Add T2I metrics —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23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VQAScore, CLIPScore, PickScore”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5A60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Scored every pair with CLIPScore &amp; PickScore → the bias is in the representation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C44E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9–10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23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“Add animation for readability”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5A60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Progressive builds + the click-through model explorer (backup)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5A60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85800" y="5989320"/>
            <a:ext cx="108200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two substantive asks became the two new results in this report.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11551615" y="6400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0292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44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· ANSWERING “CHECK ANIMAL &amp; OBJECT”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841248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456"/>
              </a:lnSpc>
              <a:buNone/>
            </a:pPr>
            <a:r>
              <a:rPr lang="en-US" sz="3200" b="1" dirty="0">
                <a:solidFill>
                  <a:srgbClr val="2326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Animals &amp; objects are structured too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85800" y="1965960"/>
            <a:ext cx="484632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00000"/>
              </a:lnSpc>
              <a:spcAft>
                <a:spcPts val="1100"/>
              </a:spcAft>
              <a:buSzPct val="100000"/>
              <a:buChar char="•"/>
            </a:pPr>
            <a:r>
              <a:rPr lang="en-US" sz="155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Their flat ~0.5 average hid the same kind of structure demography showed.</a:t>
            </a:r>
            <a:endParaRPr lang="en-US" sz="1550" dirty="0"/>
          </a:p>
          <a:p>
            <a:pPr marL="203200" indent="-203200">
              <a:lnSpc>
                <a:spcPct val="100000"/>
              </a:lnSpc>
              <a:spcAft>
                <a:spcPts val="1100"/>
              </a:spcAft>
              <a:buSzPct val="100000"/>
              <a:buChar char="•"/>
            </a:pPr>
            <a:r>
              <a:rPr lang="en-US" sz="155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Biased: birds &amp; the generic-animal class; vehicles.</a:t>
            </a:r>
            <a:endParaRPr lang="en-US" sz="1550" dirty="0"/>
          </a:p>
          <a:p>
            <a:pPr marL="203200" indent="-203200">
              <a:lnSpc>
                <a:spcPct val="100000"/>
              </a:lnSpc>
              <a:spcAft>
                <a:spcPts val="1100"/>
              </a:spcAft>
              <a:buSzPct val="100000"/>
              <a:buChar char="•"/>
            </a:pPr>
            <a:r>
              <a:rPr lang="en-US" sz="155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 / below chance: mammals; furniture.</a:t>
            </a:r>
            <a:endParaRPr lang="en-US" sz="1550" dirty="0"/>
          </a:p>
          <a:p>
            <a:pPr marL="203200" indent="-203200">
              <a:lnSpc>
                <a:spcPct val="100000"/>
              </a:lnSpc>
              <a:spcAft>
                <a:spcPts val="1100"/>
              </a:spcAft>
              <a:buSzPct val="100000"/>
              <a:buChar char="•"/>
            </a:pPr>
            <a:r>
              <a:rPr lang="en-US" sz="155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ordering replicates across BOTH model families — so “structural, not uniform” holds in every domain, not just demography.</a:t>
            </a:r>
            <a:endParaRPr lang="en-US" sz="1550" dirty="0"/>
          </a:p>
        </p:txBody>
      </p:sp>
      <p:pic>
        <p:nvPicPr>
          <p:cNvPr id="5" name="Image 0" descr="/Users/xiaochuan/Desktop/Projects/_Archive-2026-07/ProtoBias/v3/experiments/exp3g_domain_breakdown/figures/figH_subcategory_breakdow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06440" y="2468880"/>
            <a:ext cx="5852160" cy="234086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806440" y="5029200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9A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rate by subcategory — animal &amp; object, both models (Wilson 95% CIs).</a:t>
            </a:r>
            <a:endParaRPr lang="en-US" sz="1050" dirty="0"/>
          </a:p>
        </p:txBody>
      </p:sp>
      <p:sp>
        <p:nvSpPr>
          <p:cNvPr id="7" name="Text 4"/>
          <p:cNvSpPr/>
          <p:nvPr/>
        </p:nvSpPr>
        <p:spPr>
          <a:xfrm>
            <a:off x="11551615" y="6400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0292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44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RECAP RESULT · THE ATTRIBUTE AXIS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841248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456"/>
              </a:lnSpc>
              <a:buNone/>
            </a:pPr>
            <a:r>
              <a:rPr lang="en-US" sz="3200" b="1" dirty="0">
                <a:solidFill>
                  <a:srgbClr val="2326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bias follows the attribute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85800" y="1965960"/>
            <a:ext cx="521208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00000"/>
              </a:lnSpc>
              <a:spcAft>
                <a:spcPts val="1100"/>
              </a:spcAft>
              <a:buSzPct val="100000"/>
              <a:buChar char="•"/>
            </a:pPr>
            <a:r>
              <a:rPr lang="en-US" sz="170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Demography's flat ~0.58 average hides a ~0.28 spread across attributes.</a:t>
            </a:r>
            <a:endParaRPr lang="en-US" sz="1700" dirty="0"/>
          </a:p>
          <a:p>
            <a:pPr marL="203200" indent="-203200">
              <a:lnSpc>
                <a:spcPct val="100000"/>
              </a:lnSpc>
              <a:spcAft>
                <a:spcPts val="1100"/>
              </a:spcAft>
              <a:buSzPct val="100000"/>
              <a:buChar char="•"/>
            </a:pPr>
            <a:r>
              <a:rPr lang="en-US" sz="170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 bias for social-status attributes — Wealth, Power.</a:t>
            </a:r>
            <a:endParaRPr lang="en-US" sz="1700" dirty="0"/>
          </a:p>
          <a:p>
            <a:pPr marL="203200" indent="-203200">
              <a:lnSpc>
                <a:spcPct val="100000"/>
              </a:lnSpc>
              <a:spcAft>
                <a:spcPts val="1100"/>
              </a:spcAft>
              <a:buSzPct val="100000"/>
              <a:buChar char="•"/>
            </a:pPr>
            <a:r>
              <a:rPr lang="en-US" sz="170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Near-chance for Morality and Intellect.</a:t>
            </a:r>
            <a:endParaRPr lang="en-US" sz="1700" dirty="0"/>
          </a:p>
          <a:p>
            <a:pPr marL="203200" indent="-203200">
              <a:lnSpc>
                <a:spcPct val="100000"/>
              </a:lnSpc>
              <a:spcAft>
                <a:spcPts val="1100"/>
              </a:spcAft>
              <a:buSzPct val="100000"/>
              <a:buChar char="•"/>
            </a:pPr>
            <a:r>
              <a:rPr lang="en-US" sz="170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data encodes what “rich / powerful” looks like; there is no stable visual prototype for “moral” or “smart.”</a:t>
            </a:r>
            <a:endParaRPr lang="en-US" sz="1700" dirty="0"/>
          </a:p>
        </p:txBody>
      </p:sp>
      <p:pic>
        <p:nvPicPr>
          <p:cNvPr id="5" name="Image 0" descr="/Users/xiaochuan/Desktop/Projects/_Archive-2026-07/ProtoBias/v3/experiments/exp3a_mixed_effects/figures/figA7_attribute_qwen7la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55080" y="2103120"/>
            <a:ext cx="5120640" cy="3151163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355080" y="544068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9A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Prototypicality error rate by socio-attribute — Qwen2.5-VL-7B, all 7 languages.</a:t>
            </a:r>
            <a:endParaRPr lang="en-US" sz="1050" dirty="0"/>
          </a:p>
        </p:txBody>
      </p:sp>
      <p:sp>
        <p:nvSpPr>
          <p:cNvPr id="7" name="Text 4"/>
          <p:cNvSpPr/>
          <p:nvPr/>
        </p:nvSpPr>
        <p:spPr>
          <a:xfrm>
            <a:off x="11551615" y="6400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0292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44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RECAP RESULT · REPLICATION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841248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456"/>
              </a:lnSpc>
              <a:buNone/>
            </a:pPr>
            <a:r>
              <a:rPr lang="en-US" sz="3200" b="1" dirty="0">
                <a:solidFill>
                  <a:srgbClr val="2326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…and it replicates across model families</a:t>
            </a:r>
            <a:endParaRPr lang="en-US" sz="3200" dirty="0"/>
          </a:p>
        </p:txBody>
      </p:sp>
      <p:pic>
        <p:nvPicPr>
          <p:cNvPr id="4" name="Image 0" descr="/Users/xiaochuan/Desktop/Projects/_Archive-2026-07/ProtoBias/v3/experiments/exp3a_mixed_effects/figures/figE_cross_model_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84248" y="1783080"/>
            <a:ext cx="8229600" cy="315431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77240" y="5166360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C44E5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OR ≈ 3.7 / 3.1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777240" y="580644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Wealth bias vs morality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Qwen / InternVL</a:t>
            </a:r>
            <a:endParaRPr lang="en-US" sz="1250" dirty="0"/>
          </a:p>
        </p:txBody>
      </p:sp>
      <p:sp>
        <p:nvSpPr>
          <p:cNvPr id="7" name="Text 4"/>
          <p:cNvSpPr/>
          <p:nvPr/>
        </p:nvSpPr>
        <p:spPr>
          <a:xfrm>
            <a:off x="4434840" y="5166360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C44E5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 ≈ 2×10⁻¹⁴</a:t>
            </a:r>
            <a:endParaRPr lang="en-US" sz="3000" dirty="0"/>
          </a:p>
        </p:txBody>
      </p:sp>
      <p:sp>
        <p:nvSpPr>
          <p:cNvPr id="8" name="Text 5"/>
          <p:cNvSpPr/>
          <p:nvPr/>
        </p:nvSpPr>
        <p:spPr>
          <a:xfrm>
            <a:off x="4434840" y="580644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attribute effect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both families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955280" y="5166360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C44E5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not a quirk</a:t>
            </a:r>
            <a:endParaRPr lang="en-US" sz="3000" dirty="0"/>
          </a:p>
        </p:txBody>
      </p:sp>
      <p:sp>
        <p:nvSpPr>
          <p:cNvPr id="10" name="Text 7"/>
          <p:cNvSpPr/>
          <p:nvPr/>
        </p:nvSpPr>
        <p:spPr>
          <a:xfrm>
            <a:off x="7955280" y="580644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structure across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independent VLMs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11551615" y="6400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0292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44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HEADLINE · ANSWERING “ADD T2I METRICS”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841248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456"/>
              </a:lnSpc>
              <a:buNone/>
            </a:pPr>
            <a:r>
              <a:rPr lang="en-US" sz="3200" b="1" dirty="0">
                <a:solidFill>
                  <a:srgbClr val="2326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bias lives in the representation, not the answer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85800" y="1920240"/>
            <a:ext cx="484632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00000"/>
              </a:lnSpc>
              <a:spcAft>
                <a:spcPts val="1100"/>
              </a:spcAft>
              <a:buSzPct val="100000"/>
              <a:buChar char="•"/>
            </a:pPr>
            <a:r>
              <a:rPr lang="en-US" sz="155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angle: score each pair with CLIPScore &amp; PickScore — no VLM asked, just image–text alignment.</a:t>
            </a:r>
            <a:endParaRPr lang="en-US" sz="1550" dirty="0"/>
          </a:p>
          <a:p>
            <a:pPr marL="203200" indent="-203200">
              <a:lnSpc>
                <a:spcPct val="100000"/>
              </a:lnSpc>
              <a:spcAft>
                <a:spcPts val="1100"/>
              </a:spcAft>
              <a:buSzPct val="100000"/>
              <a:buChar char="•"/>
            </a:pPr>
            <a:r>
              <a:rPr lang="en-US" sz="155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metrics prefer the typical-but-wrong image on ~70% of items (CLIP 0.71, Pick 0.67).</a:t>
            </a:r>
            <a:endParaRPr lang="en-US" sz="1550" dirty="0"/>
          </a:p>
          <a:p>
            <a:pPr marL="203200" indent="-203200">
              <a:lnSpc>
                <a:spcPct val="100000"/>
              </a:lnSpc>
              <a:spcAft>
                <a:spcPts val="1100"/>
              </a:spcAft>
              <a:buSzPct val="100000"/>
              <a:buChar char="•"/>
            </a:pPr>
            <a:r>
              <a:rPr lang="en-US" sz="155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they show the SAME attribute signature: strongest on wealth/power, fading to morality/intellect.</a:t>
            </a:r>
            <a:endParaRPr lang="en-US" sz="1550" dirty="0"/>
          </a:p>
          <a:p>
            <a:pPr marL="203200" indent="-203200">
              <a:lnSpc>
                <a:spcPct val="100000"/>
              </a:lnSpc>
              <a:spcAft>
                <a:spcPts val="1100"/>
              </a:spcAft>
              <a:buSzPct val="100000"/>
              <a:buChar char="•"/>
            </a:pPr>
            <a:r>
              <a:rPr lang="en-US" sz="155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the shortcut is baked into the image–text embedding — not produced at answer time.</a:t>
            </a:r>
            <a:endParaRPr lang="en-US" sz="1550" dirty="0"/>
          </a:p>
        </p:txBody>
      </p:sp>
      <p:pic>
        <p:nvPicPr>
          <p:cNvPr id="5" name="Image 0" descr="/Users/xiaochuan/Desktop/Projects/_Archive-2026-07/ProtoBias/v3/experiments/exp3h_t2i_metrics/figures/figI_metric_bias_by_att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0" y="2148840"/>
            <a:ext cx="5669280" cy="3386667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943600" y="5577840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9A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 bias rate by socio-attribute — CLIPScore &amp; PickScore (0.5 = no representational bias).</a:t>
            </a:r>
            <a:endParaRPr lang="en-US" sz="1050" dirty="0"/>
          </a:p>
        </p:txBody>
      </p:sp>
      <p:sp>
        <p:nvSpPr>
          <p:cNvPr id="7" name="Text 4"/>
          <p:cNvSpPr/>
          <p:nvPr/>
        </p:nvSpPr>
        <p:spPr>
          <a:xfrm>
            <a:off x="11551615" y="6400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0292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44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HEADLINE · THE LINK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841248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456"/>
              </a:lnSpc>
              <a:buNone/>
            </a:pPr>
            <a:r>
              <a:rPr lang="en-US" sz="3200" b="1" dirty="0">
                <a:solidFill>
                  <a:srgbClr val="2326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VLM's choice tracks the metric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85800" y="1920240"/>
            <a:ext cx="484632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00000"/>
              </a:lnSpc>
              <a:spcAft>
                <a:spcPts val="1100"/>
              </a:spcAft>
              <a:buSzPct val="100000"/>
              <a:buChar char="•"/>
            </a:pPr>
            <a:r>
              <a:rPr lang="en-US" sz="150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each pair: does the VLM pick the image the metric also scores higher?</a:t>
            </a:r>
            <a:endParaRPr lang="en-US" sz="1500" dirty="0"/>
          </a:p>
          <a:p>
            <a:pPr marL="203200" indent="-203200">
              <a:lnSpc>
                <a:spcPct val="100000"/>
              </a:lnSpc>
              <a:spcAft>
                <a:spcPts val="1100"/>
              </a:spcAft>
              <a:buSzPct val="100000"/>
              <a:buChar char="•"/>
            </a:pPr>
            <a:r>
              <a:rPr lang="en-US" sz="150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the metric prefers the correct image, the VLM picks it ~0.65–0.70 of the time.</a:t>
            </a:r>
            <a:endParaRPr lang="en-US" sz="1500" dirty="0"/>
          </a:p>
          <a:p>
            <a:pPr marL="203200" indent="-203200">
              <a:lnSpc>
                <a:spcPct val="100000"/>
              </a:lnSpc>
              <a:spcAft>
                <a:spcPts val="1100"/>
              </a:spcAft>
              <a:buSzPct val="100000"/>
              <a:buChar char="•"/>
            </a:pPr>
            <a:r>
              <a:rPr lang="en-US" sz="150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the metric prefers the typical image, the VLM picks correct only ~0.35–0.40.</a:t>
            </a:r>
            <a:endParaRPr lang="en-US" sz="1500" dirty="0"/>
          </a:p>
          <a:p>
            <a:pPr marL="203200" indent="-203200">
              <a:lnSpc>
                <a:spcPct val="100000"/>
              </a:lnSpc>
              <a:spcAft>
                <a:spcPts val="1100"/>
              </a:spcAft>
              <a:buSzPct val="100000"/>
              <a:buChar char="•"/>
            </a:pPr>
            <a:r>
              <a:rPr lang="en-US" sz="150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+0.26 to +0.34 gap, consistent across both models × both metrics — behaviour and representation are one phenomenon at two levels.</a:t>
            </a:r>
            <a:endParaRPr lang="en-US" sz="1500" dirty="0"/>
          </a:p>
        </p:txBody>
      </p:sp>
      <p:pic>
        <p:nvPicPr>
          <p:cNvPr id="5" name="Image 0" descr="/Users/xiaochuan/Desktop/Projects/_Archive-2026-07/ProtoBias/v3/experiments/exp3h_t2i_metrics/figures/figJ_vlm_tracks_metri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72200" y="2286000"/>
            <a:ext cx="5349240" cy="3594919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172200" y="6035040"/>
            <a:ext cx="5349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9A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VLM correct-pick rate, split by which image the T2I metric scores higher.</a:t>
            </a:r>
            <a:endParaRPr lang="en-US" sz="1050" dirty="0"/>
          </a:p>
        </p:txBody>
      </p:sp>
      <p:sp>
        <p:nvSpPr>
          <p:cNvPr id="7" name="Text 4"/>
          <p:cNvSpPr/>
          <p:nvPr/>
        </p:nvSpPr>
        <p:spPr>
          <a:xfrm>
            <a:off x="11551615" y="6400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0292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44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RECAP RESULT · THE LANGUAGE AXIS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841248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456"/>
              </a:lnSpc>
              <a:buNone/>
            </a:pPr>
            <a:r>
              <a:rPr lang="en-US" sz="3200" b="1" dirty="0">
                <a:solidFill>
                  <a:srgbClr val="2326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Language is not flat after all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85800" y="1920240"/>
            <a:ext cx="502920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00000"/>
              </a:lnSpc>
              <a:spcAft>
                <a:spcPts val="1100"/>
              </a:spcAft>
              <a:buSzPct val="100000"/>
              <a:buChar char="•"/>
            </a:pPr>
            <a:r>
              <a:rPr lang="en-US" sz="165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languages looked invariant; adding Bengali &amp; Greek revealed a real effect.</a:t>
            </a:r>
            <a:endParaRPr lang="en-US" sz="1650" dirty="0"/>
          </a:p>
          <a:p>
            <a:pPr marL="203200" indent="-203200">
              <a:lnSpc>
                <a:spcPct val="100000"/>
              </a:lnSpc>
              <a:spcAft>
                <a:spcPts val="1100"/>
              </a:spcAft>
              <a:buSzPct val="100000"/>
              <a:buChar char="•"/>
            </a:pPr>
            <a:r>
              <a:rPr lang="en-US" sz="165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Bengali and Greek prompts → significantly more bias than English, in both models.</a:t>
            </a:r>
            <a:endParaRPr lang="en-US" sz="1650" dirty="0"/>
          </a:p>
          <a:p>
            <a:pPr marL="203200" indent="-203200">
              <a:lnSpc>
                <a:spcPct val="100000"/>
              </a:lnSpc>
              <a:spcAft>
                <a:spcPts val="1100"/>
              </a:spcAft>
              <a:buSzPct val="100000"/>
              <a:buChar char="•"/>
            </a:pPr>
            <a:r>
              <a:rPr lang="en-US" sz="165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attribute pattern stays the same; the overall level shifts up (no interaction).</a:t>
            </a:r>
            <a:endParaRPr lang="en-US" sz="165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943600" y="1828800"/>
          <a:ext cx="566928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/>
          <p:nvPr/>
        </p:nvSpPr>
        <p:spPr>
          <a:xfrm>
            <a:off x="11551615" y="6400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0292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44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LANGUAGE RESULT · RIGOR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841248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456"/>
              </a:lnSpc>
              <a:buNone/>
            </a:pPr>
            <a:r>
              <a:rPr lang="en-US" sz="3200" b="1" dirty="0">
                <a:solidFill>
                  <a:srgbClr val="2326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Is it just bad translation? No.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85800" y="1920240"/>
            <a:ext cx="521208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00000"/>
              </a:lnSpc>
              <a:spcAft>
                <a:spcPts val="1100"/>
              </a:spcAft>
              <a:buSzPct val="100000"/>
              <a:buChar char="•"/>
            </a:pPr>
            <a:r>
              <a:rPr lang="en-US" sz="165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back-translated every non-English prompt and measured drift.</a:t>
            </a:r>
            <a:endParaRPr lang="en-US" sz="1650" dirty="0"/>
          </a:p>
          <a:p>
            <a:pPr marL="203200" indent="-203200">
              <a:lnSpc>
                <a:spcPct val="100000"/>
              </a:lnSpc>
              <a:spcAft>
                <a:spcPts val="1100"/>
              </a:spcAft>
              <a:buSzPct val="100000"/>
              <a:buChar char="•"/>
            </a:pPr>
            <a:r>
              <a:rPr lang="en-US" sz="165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most-biased languages (Greek, Bengali) have the highest translation fidelity.</a:t>
            </a:r>
            <a:endParaRPr lang="en-US" sz="1650" dirty="0"/>
          </a:p>
          <a:p>
            <a:pPr marL="203200" indent="-203200">
              <a:lnSpc>
                <a:spcPct val="100000"/>
              </a:lnSpc>
              <a:spcAft>
                <a:spcPts val="1100"/>
              </a:spcAft>
              <a:buSzPct val="100000"/>
              <a:buChar char="•"/>
            </a:pPr>
            <a:r>
              <a:rPr lang="en-US" sz="165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least-biased (Hindi, Russian) have the lowest — the opposite of a translation artifact.</a:t>
            </a:r>
            <a:endParaRPr lang="en-US" sz="165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1965960"/>
          <a:ext cx="539496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1737360"/>
                <a:gridCol w="192024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Language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Bias vs English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Back-translation fidelity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C44E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Greek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C44E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+49%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C44E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  (highest)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C44E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Bengali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C44E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+60%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C44E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C44E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Arabic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C44E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+31%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C44E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A60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Chinese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A60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A60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A60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Hindi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A60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A60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A60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Russian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A60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A60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  (lowest)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11551615" y="6400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0292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44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GOING DEEPER · THE CONFOUND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841248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456"/>
              </a:lnSpc>
              <a:buNone/>
            </a:pPr>
            <a:r>
              <a:rPr lang="en-US" sz="3200" b="1" dirty="0">
                <a:solidFill>
                  <a:srgbClr val="2326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Is it just a low-level visual cue? No.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85800" y="1920240"/>
            <a:ext cx="512064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00000"/>
              </a:lnSpc>
              <a:spcAft>
                <a:spcPts val="1100"/>
              </a:spcAft>
              <a:buSzPct val="100000"/>
              <a:buChar char="•"/>
            </a:pPr>
            <a:r>
              <a:rPr lang="en-US" sz="160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adversarial image also tweaks one visual knob — count / colour / scale / layout / spatial.</a:t>
            </a:r>
            <a:endParaRPr lang="en-US" sz="1600" dirty="0"/>
          </a:p>
          <a:p>
            <a:pPr marL="203200" indent="-203200">
              <a:lnSpc>
                <a:spcPct val="100000"/>
              </a:lnSpc>
              <a:spcAft>
                <a:spcPts val="1100"/>
              </a:spcAft>
              <a:buSzPct val="100000"/>
              <a:buChar char="•"/>
            </a:pPr>
            <a:r>
              <a:rPr lang="en-US" sz="160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the bias were a colour artifact, colour would spike. Instead colour is the LOWEST (≈0.40).</a:t>
            </a:r>
            <a:endParaRPr lang="en-US" sz="1600" dirty="0"/>
          </a:p>
          <a:p>
            <a:pPr marL="203200" indent="-203200">
              <a:lnSpc>
                <a:spcPct val="100000"/>
              </a:lnSpc>
              <a:spcAft>
                <a:spcPts val="1100"/>
              </a:spcAft>
              <a:buSzPct val="100000"/>
              <a:buChar char="•"/>
            </a:pPr>
            <a:r>
              <a:rPr lang="en-US" sz="160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Bias is highest when the cue is hard to perceive (count, scale) — a fallback when the detail can't be grounded.</a:t>
            </a:r>
            <a:endParaRPr lang="en-US" sz="1600" dirty="0"/>
          </a:p>
          <a:p>
            <a:pPr marL="203200" indent="-203200">
              <a:lnSpc>
                <a:spcPct val="100000"/>
              </a:lnSpc>
              <a:spcAft>
                <a:spcPts val="1100"/>
              </a:spcAft>
              <a:buSzPct val="100000"/>
              <a:buChar char="•"/>
            </a:pPr>
            <a:r>
              <a:rPr lang="en-US" sz="160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Wealth &gt; morality holds within every knob — the attribute effect is not a knob artifact.</a:t>
            </a:r>
            <a:endParaRPr lang="en-US" sz="1600" dirty="0"/>
          </a:p>
        </p:txBody>
      </p:sp>
      <p:pic>
        <p:nvPicPr>
          <p:cNvPr id="5" name="Image 0" descr="/Users/xiaochuan/Desktop/Projects/_Archive-2026-07/ProtoBias/v3/experiments/exp3e_knob_confound/figures/figF_error_by_knob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26480" y="2377440"/>
            <a:ext cx="5532120" cy="2993571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1551615" y="6400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0292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44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GOING DEEPER · IS THE TRAP OBJECTIVE?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841248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456"/>
              </a:lnSpc>
              <a:buNone/>
            </a:pPr>
            <a:r>
              <a:rPr lang="en-US" sz="3200" b="1" dirty="0">
                <a:solidFill>
                  <a:srgbClr val="2326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same items fool both model families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85800" y="1920240"/>
            <a:ext cx="548640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00000"/>
              </a:lnSpc>
              <a:spcAft>
                <a:spcPts val="1100"/>
              </a:spcAft>
              <a:buSzPct val="100000"/>
              <a:buChar char="•"/>
            </a:pPr>
            <a:r>
              <a:rPr lang="en-US" sz="160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families judge the same 900 image pairs — do they err on the SAME ones?</a:t>
            </a:r>
            <a:endParaRPr lang="en-US" sz="1600" dirty="0"/>
          </a:p>
          <a:p>
            <a:pPr marL="203200" indent="-203200">
              <a:lnSpc>
                <a:spcPct val="100000"/>
              </a:lnSpc>
              <a:spcAft>
                <a:spcPts val="1100"/>
              </a:spcAft>
              <a:buSzPct val="100000"/>
              <a:buChar char="•"/>
            </a:pPr>
            <a:r>
              <a:rPr lang="en-US" sz="160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Per-item error rates correlate at r = 0.68 (Cohen's κ = 0.39).</a:t>
            </a:r>
            <a:endParaRPr lang="en-US" sz="1600" dirty="0"/>
          </a:p>
          <a:p>
            <a:pPr marL="203200" indent="-203200">
              <a:lnSpc>
                <a:spcPct val="100000"/>
              </a:lnSpc>
              <a:spcAft>
                <a:spcPts val="1100"/>
              </a:spcAft>
              <a:buSzPct val="100000"/>
              <a:buChar char="•"/>
            </a:pPr>
            <a:r>
              <a:rPr lang="en-US" sz="160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the prototype trap is largely item-intrinsic — an objective property of the image pair, not a model quirk.</a:t>
            </a:r>
            <a:endParaRPr lang="en-US" sz="1600" dirty="0"/>
          </a:p>
          <a:p>
            <a:pPr marL="203200" indent="-203200">
              <a:lnSpc>
                <a:spcPct val="100000"/>
              </a:lnSpc>
              <a:spcAft>
                <a:spcPts val="1100"/>
              </a:spcAft>
              <a:buSzPct val="100000"/>
              <a:buChar char="•"/>
            </a:pPr>
            <a:r>
              <a:rPr lang="en-US" sz="160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(r is not 1.0: about half is still model-specific — strongest agreement on demography, weakest on objects.)</a:t>
            </a:r>
            <a:endParaRPr lang="en-US" sz="1600" dirty="0"/>
          </a:p>
        </p:txBody>
      </p:sp>
      <p:pic>
        <p:nvPicPr>
          <p:cNvPr id="5" name="Image 0" descr="/Users/xiaochuan/Desktop/Projects/_Archive-2026-07/ProtoBias/v3/experiments/exp3f_cross_model_agreement/figures/figG_item_agreem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0" y="1874520"/>
            <a:ext cx="4114800" cy="396416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1551615" y="6400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B1F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0292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44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FOUND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shortcut with a source, a trigger, and a home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85800" y="1783080"/>
            <a:ext cx="731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44E5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1554480" y="1801368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Source — the attribute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554480" y="2258568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9D2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visual prototype exists for wealth and status, not for morality or intellect. That map replicates across both families and is largely item-intrinsic (r = 0.68).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85800" y="3200400"/>
            <a:ext cx="731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4C72B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1554480" y="3218688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Trigger — signal weakness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554480" y="3675888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9D2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falls back on the prototype when the discriminating cue is hard to perceive (count, scale) OR the prompt language is unfamiliar (Bengali, Greek).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85800" y="4617720"/>
            <a:ext cx="731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55A86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4000" dirty="0"/>
          </a:p>
        </p:txBody>
      </p:sp>
      <p:sp>
        <p:nvSpPr>
          <p:cNvPr id="11" name="Text 9"/>
          <p:cNvSpPr/>
          <p:nvPr/>
        </p:nvSpPr>
        <p:spPr>
          <a:xfrm>
            <a:off x="1554480" y="4636008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 — the representation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554480" y="5093208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9D2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CLIPScore &amp; PickScore carry the same attribute signature, and the VLM's choice tracks them. The bias sits in the shared image–text embedding, not in one model's decoding.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85800" y="59893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44E5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Attribute sets whether a shortcut exists · weakness sets how much it's taken · the representation is where it lives.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1551615" y="6400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0292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44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841248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456"/>
              </a:lnSpc>
              <a:buNone/>
            </a:pPr>
            <a:r>
              <a:rPr lang="en-US" sz="3200" b="1" dirty="0">
                <a:solidFill>
                  <a:srgbClr val="2326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we are not yet claiming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85800" y="1965960"/>
            <a:ext cx="1060704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00000"/>
              </a:lnSpc>
              <a:spcAft>
                <a:spcPts val="1100"/>
              </a:spcAft>
              <a:buSzPct val="100000"/>
              <a:buChar char="•"/>
            </a:pPr>
            <a:r>
              <a:rPr lang="en-US" sz="170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seed, single translation backend; the adversarial “knob” (color / scale) is a co-varying confound.</a:t>
            </a:r>
            <a:endParaRPr lang="en-US" sz="1700" dirty="0"/>
          </a:p>
          <a:p>
            <a:pPr marL="203200" indent="-203200">
              <a:lnSpc>
                <a:spcPct val="100000"/>
              </a:lnSpc>
              <a:spcAft>
                <a:spcPts val="1100"/>
              </a:spcAft>
              <a:buSzPct val="100000"/>
              <a:buChar char="•"/>
            </a:pPr>
            <a:r>
              <a:rPr lang="en-US" sz="170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Demography cells are small (Wealth ≈ 31 / language) — mixed-effects pools, but power is limited.</a:t>
            </a:r>
            <a:endParaRPr lang="en-US" sz="1700" dirty="0"/>
          </a:p>
          <a:p>
            <a:pPr marL="203200" indent="-203200">
              <a:lnSpc>
                <a:spcPct val="100000"/>
              </a:lnSpc>
              <a:spcAft>
                <a:spcPts val="1100"/>
              </a:spcAft>
              <a:buSzPct val="100000"/>
              <a:buChar char="•"/>
            </a:pPr>
            <a:r>
              <a:rPr lang="en-US" sz="170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T2I metrics are scored on English text only — a clean representation probe, but not yet cross-lingual.</a:t>
            </a:r>
            <a:endParaRPr lang="en-US" sz="1700" dirty="0"/>
          </a:p>
          <a:p>
            <a:pPr marL="203200" indent="-203200">
              <a:lnSpc>
                <a:spcPct val="100000"/>
              </a:lnSpc>
              <a:spcAft>
                <a:spcPts val="1100"/>
              </a:spcAft>
              <a:buSzPct val="100000"/>
              <a:buChar char="•"/>
            </a:pPr>
            <a:r>
              <a:rPr lang="en-US" sz="170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Qwen-32B was dropped — infeasible runtime (≈280 s/item) on the available 2×A40 sharding.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11551615" y="6400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0292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44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OUTLOOK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841248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456"/>
              </a:lnSpc>
              <a:buNone/>
            </a:pPr>
            <a:r>
              <a:rPr lang="en-US" sz="3200" b="1" dirty="0">
                <a:solidFill>
                  <a:srgbClr val="2326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Next steps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85800" y="2103120"/>
            <a:ext cx="384048" cy="384048"/>
          </a:xfrm>
          <a:prstGeom prst="ellipse">
            <a:avLst/>
          </a:prstGeom>
          <a:solidFill>
            <a:srgbClr val="1B1F3B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2103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325880" y="2039112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44E5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Add VQAScore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4343400" y="2039112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Third T2I metric (VQA-model based) — does a generative scorer show the same signature?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85800" y="3127248"/>
            <a:ext cx="384048" cy="384048"/>
          </a:xfrm>
          <a:prstGeom prst="ellipse">
            <a:avLst/>
          </a:prstGeom>
          <a:solidFill>
            <a:srgbClr val="1B1F3B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31272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325880" y="306324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44E5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Multilingual CLIP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4343400" y="306324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the translated prompts — does the representation carry the language effect too?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85800" y="4151376"/>
            <a:ext cx="384048" cy="384048"/>
          </a:xfrm>
          <a:prstGeom prst="ellipse">
            <a:avLst/>
          </a:prstGeom>
          <a:solidFill>
            <a:srgbClr val="1B1F3B"/>
          </a:solidFill>
          <a:ln/>
        </p:spPr>
      </p:sp>
      <p:sp>
        <p:nvSpPr>
          <p:cNvPr id="13" name="Text 11"/>
          <p:cNvSpPr/>
          <p:nvPr/>
        </p:nvSpPr>
        <p:spPr>
          <a:xfrm>
            <a:off x="685800" y="41513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325880" y="4087368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44E5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Scale axis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4343400" y="4087368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Qwen-32B in 4-bit on a single GPU — does the bias shrink with model size?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85800" y="5175504"/>
            <a:ext cx="384048" cy="384048"/>
          </a:xfrm>
          <a:prstGeom prst="ellipse">
            <a:avLst/>
          </a:prstGeom>
          <a:solidFill>
            <a:srgbClr val="1B1F3B"/>
          </a:solidFill>
          <a:ln/>
        </p:spPr>
      </p:sp>
      <p:sp>
        <p:nvSpPr>
          <p:cNvPr id="17" name="Text 15"/>
          <p:cNvSpPr/>
          <p:nvPr/>
        </p:nvSpPr>
        <p:spPr>
          <a:xfrm>
            <a:off x="685800" y="51755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325880" y="5111496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44E5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Pin down language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4343400" y="5111496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Disentangle resource vs script vs cultural loading behind the ar / bn / el spike.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551615" y="6400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B1F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2286000"/>
            <a:ext cx="109728" cy="109728"/>
          </a:xfrm>
          <a:prstGeom prst="ellipse">
            <a:avLst/>
          </a:prstGeom>
          <a:solidFill>
            <a:srgbClr val="C44E52"/>
          </a:solidFill>
          <a:ln/>
        </p:spPr>
      </p:sp>
      <p:sp>
        <p:nvSpPr>
          <p:cNvPr id="3" name="Shape 1"/>
          <p:cNvSpPr/>
          <p:nvPr/>
        </p:nvSpPr>
        <p:spPr>
          <a:xfrm>
            <a:off x="886968" y="2286000"/>
            <a:ext cx="109728" cy="109728"/>
          </a:xfrm>
          <a:prstGeom prst="ellipse">
            <a:avLst/>
          </a:prstGeom>
          <a:solidFill>
            <a:srgbClr val="4C72B0"/>
          </a:solidFill>
          <a:ln/>
        </p:spPr>
      </p:sp>
      <p:sp>
        <p:nvSpPr>
          <p:cNvPr id="4" name="Shape 2"/>
          <p:cNvSpPr/>
          <p:nvPr/>
        </p:nvSpPr>
        <p:spPr>
          <a:xfrm>
            <a:off x="1088136" y="2286000"/>
            <a:ext cx="109728" cy="109728"/>
          </a:xfrm>
          <a:prstGeom prst="ellipse">
            <a:avLst/>
          </a:prstGeom>
          <a:solidFill>
            <a:srgbClr val="55A868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2651760"/>
            <a:ext cx="10789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Thank you — questions?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685800" y="4114800"/>
            <a:ext cx="10789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C9D2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behavioural bias, traced to the shared image–text representation — across 7 languages &amp; 2 model families.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b="1" dirty="0">
                <a:solidFill>
                  <a:srgbClr val="C44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github.com/xchuan-li/cross_lingual_protobias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1551615" y="6400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0292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A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841248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808"/>
              </a:lnSpc>
              <a:buNone/>
            </a:pPr>
            <a:r>
              <a:rPr lang="en-US" sz="2600" b="1" dirty="0">
                <a:solidFill>
                  <a:srgbClr val="2326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Full cross-model summary</a:t>
            </a:r>
            <a:endParaRPr lang="en-US" sz="26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11680" y="1874520"/>
          <a:ext cx="8138160" cy="914400"/>
        </p:xfrm>
        <a:graphic>
          <a:graphicData uri="http://schemas.openxmlformats.org/drawingml/2006/table">
            <a:tbl>
              <a:tblPr/>
              <a:tblGrid>
                <a:gridCol w="3383280"/>
                <a:gridCol w="2377440"/>
                <a:gridCol w="2377440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Qwen2.5-VL-7B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InternVL3-8B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23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overall error rate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3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0.547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3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23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attribute effect (LRT p)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C44E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2.1×10⁻¹⁴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C44E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2.7×10⁻¹⁴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23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Wealth odds ratio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3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3.67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3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3.09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23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language effect (LRT p)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C44E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0.024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C44E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0.0085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23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Greek / Bengali OR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3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1.49 / 1.60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3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1.72 / 1.41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23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T2I metric bias (CLIP / Pick)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55A8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0.71 / 0.67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55A8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shared backbone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23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VLM–metric tracking gap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3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+0.28 / +0.31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3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+0.26 / +0.34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2011680" y="594360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9A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Item-clustered mixed-effects logistic regression; back-translation QA; CLIPScore/PickScore; numpy/scipy.</a:t>
            </a:r>
            <a:endParaRPr lang="en-US" sz="1050" dirty="0"/>
          </a:p>
        </p:txBody>
      </p:sp>
      <p:sp>
        <p:nvSpPr>
          <p:cNvPr id="6" name="Text 3"/>
          <p:cNvSpPr/>
          <p:nvPr/>
        </p:nvSpPr>
        <p:spPr>
          <a:xfrm>
            <a:off x="11551615" y="6400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0292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A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 · METHODS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841248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808"/>
              </a:lnSpc>
              <a:buNone/>
            </a:pPr>
            <a:r>
              <a:rPr lang="en-US" sz="2600" b="1" dirty="0">
                <a:solidFill>
                  <a:srgbClr val="2326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T2I metrics, defined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85800" y="1645920"/>
            <a:ext cx="108200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metric scores how well an image matches the text. We score BOTH images and take the margin.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85800" y="2148840"/>
            <a:ext cx="10820095" cy="868680"/>
          </a:xfrm>
          <a:prstGeom prst="roundRect">
            <a:avLst>
              <a:gd name="adj" fmla="val 8421"/>
            </a:avLst>
          </a:prstGeom>
          <a:solidFill>
            <a:srgbClr val="1B1F3B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2148840"/>
            <a:ext cx="10820095" cy="86868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margin = score(correct image, text) − score(typical image, text)</a:t>
            </a:r>
            <a:endParaRPr lang="en-US" sz="12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margin &lt; 0  →  the metric itself is prototypicality-biased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85800" y="3319272"/>
            <a:ext cx="146304" cy="146304"/>
          </a:xfrm>
          <a:prstGeom prst="ellipse">
            <a:avLst/>
          </a:prstGeom>
          <a:solidFill>
            <a:srgbClr val="C44E52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246120"/>
            <a:ext cx="105000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C44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CLIPScore  </a:t>
            </a:r>
            <a:pPr indent="0" marL="0">
              <a:buNone/>
            </a:pPr>
            <a:r>
              <a:rPr lang="en-US" sz="150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cosine(image, text) in CLIP's embedding space — the standard image–text alignment score.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85800" y="4069080"/>
            <a:ext cx="146304" cy="146304"/>
          </a:xfrm>
          <a:prstGeom prst="ellipse">
            <a:avLst/>
          </a:prstGeom>
          <a:solidFill>
            <a:srgbClr val="4C72B0"/>
          </a:solidFill>
          <a:ln/>
        </p:spPr>
      </p:sp>
      <p:sp>
        <p:nvSpPr>
          <p:cNvPr id="10" name="Text 8"/>
          <p:cNvSpPr/>
          <p:nvPr/>
        </p:nvSpPr>
        <p:spPr>
          <a:xfrm>
            <a:off x="1005840" y="3995928"/>
            <a:ext cx="105000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4C7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PickScore  </a:t>
            </a:r>
            <a:pPr indent="0" marL="0">
              <a:buNone/>
            </a:pPr>
            <a:r>
              <a:rPr lang="en-US" sz="150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a CLIP fine-tuned on human image-preference data — “which image would a person pick?”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85800" y="4818888"/>
            <a:ext cx="146304" cy="146304"/>
          </a:xfrm>
          <a:prstGeom prst="ellipse">
            <a:avLst/>
          </a:prstGeom>
          <a:solidFill>
            <a:srgbClr val="55A868"/>
          </a:solidFill>
          <a:ln/>
        </p:spPr>
      </p:sp>
      <p:sp>
        <p:nvSpPr>
          <p:cNvPr id="12" name="Text 10"/>
          <p:cNvSpPr/>
          <p:nvPr/>
        </p:nvSpPr>
        <p:spPr>
          <a:xfrm>
            <a:off x="1005840" y="4745736"/>
            <a:ext cx="105000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55A8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VQAScore (outlook)  </a:t>
            </a:r>
            <a:pPr indent="0" marL="0">
              <a:buNone/>
            </a:pPr>
            <a:r>
              <a:rPr lang="en-US" sz="150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P(“yes” | image, “does this show &lt;text&gt;?”) from a VQA model — a generative scorer.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85800" y="5669280"/>
            <a:ext cx="108200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Scored on the English prompt to isolate the representation question; run on the same 900 items as the VLM eval, so scores join 1:1 to model choices.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1551615" y="6400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0292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A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 · METHODS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841248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916"/>
              </a:lnSpc>
              <a:buNone/>
            </a:pPr>
            <a:r>
              <a:rPr lang="en-US" sz="2700" b="1" dirty="0">
                <a:solidFill>
                  <a:srgbClr val="2326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Why InternVL3-8B as the second model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685800" y="1645920"/>
            <a:ext cx="108200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Goal: rule out “it's just a Qwen quirk.” A second, independent family tests whether the finding generalizes.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85800" y="2450592"/>
            <a:ext cx="384048" cy="384048"/>
          </a:xfrm>
          <a:prstGeom prst="ellipse">
            <a:avLst/>
          </a:prstGeom>
          <a:solidFill>
            <a:srgbClr val="C44E52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24505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280160" y="2404872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326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 family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754880" y="2404872"/>
            <a:ext cx="7406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OpenGVLab, not Alibaba — independent architecture and training, not a Qwen variant.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85800" y="3383280"/>
            <a:ext cx="384048" cy="384048"/>
          </a:xfrm>
          <a:prstGeom prst="ellipse">
            <a:avLst/>
          </a:prstGeom>
          <a:solidFill>
            <a:srgbClr val="4C72B0"/>
          </a:solidFill>
          <a:ln/>
        </p:spPr>
      </p:sp>
      <p:sp>
        <p:nvSpPr>
          <p:cNvPr id="10" name="Text 8"/>
          <p:cNvSpPr/>
          <p:nvPr/>
        </p:nvSpPr>
        <p:spPr>
          <a:xfrm>
            <a:off x="685800" y="33832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280160" y="333756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326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Size-matched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754880" y="3337560"/>
            <a:ext cx="7406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≈8B vs Qwen's 7B — controls for scale, so a difference isn't “one is far bigger.”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85800" y="4315968"/>
            <a:ext cx="384048" cy="384048"/>
          </a:xfrm>
          <a:prstGeom prst="ellipse">
            <a:avLst/>
          </a:prstGeom>
          <a:solidFill>
            <a:srgbClr val="55A868"/>
          </a:solidFill>
          <a:ln/>
        </p:spPr>
      </p:sp>
      <p:sp>
        <p:nvSpPr>
          <p:cNvPr id="14" name="Text 12"/>
          <p:cNvSpPr/>
          <p:nvPr/>
        </p:nvSpPr>
        <p:spPr>
          <a:xfrm>
            <a:off x="685800" y="43159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280160" y="4270248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326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Strong, standard baseline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4754880" y="4270248"/>
            <a:ext cx="7406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top open VLM family widely used in papers — credible and representative.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685800" y="5248656"/>
            <a:ext cx="384048" cy="384048"/>
          </a:xfrm>
          <a:prstGeom prst="ellipse">
            <a:avLst/>
          </a:prstGeom>
          <a:solidFill>
            <a:srgbClr val="1B1F3B"/>
          </a:solidFill>
          <a:ln/>
        </p:spPr>
      </p:sp>
      <p:sp>
        <p:nvSpPr>
          <p:cNvPr id="18" name="Text 16"/>
          <p:cNvSpPr/>
          <p:nvPr/>
        </p:nvSpPr>
        <p:spPr>
          <a:xfrm>
            <a:off x="685800" y="52486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280160" y="5202936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326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Fits the pipeline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4754880" y="5202936"/>
            <a:ext cx="7406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Multi-image and multilingual; the HF-native checkpoint loads via the standard API.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1551615" y="6400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0292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A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 · METHODS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841248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808"/>
              </a:lnSpc>
              <a:buNone/>
            </a:pPr>
            <a:r>
              <a:rPr lang="en-US" sz="2600" b="1" dirty="0">
                <a:solidFill>
                  <a:srgbClr val="2326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Mixed-effects logistic regression &amp; the LRT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85800" y="169164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44E5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model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85800" y="2103120"/>
            <a:ext cx="5349240" cy="640080"/>
          </a:xfrm>
          <a:prstGeom prst="roundRect">
            <a:avLst>
              <a:gd name="adj" fmla="val 11429"/>
            </a:avLst>
          </a:prstGeom>
          <a:solidFill>
            <a:srgbClr val="1B1F3B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2103120"/>
            <a:ext cx="5349240" cy="64008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picked_adv ~ socio_attr + lang + gender + (1 | item)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685800" y="2971800"/>
            <a:ext cx="53492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00000"/>
              </a:lnSpc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Logistic → models P(pick prototype); coefficients exponentiate to odds ratios (OR).</a:t>
            </a:r>
            <a:endParaRPr lang="en-US" sz="1350" dirty="0"/>
          </a:p>
          <a:p>
            <a:pPr marL="203200" indent="-203200">
              <a:lnSpc>
                <a:spcPct val="100000"/>
              </a:lnSpc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 effects (socio_attr, lang, gender) = what we estimate.</a:t>
            </a:r>
            <a:endParaRPr lang="en-US" sz="1350" dirty="0"/>
          </a:p>
          <a:p>
            <a:pPr marL="203200" indent="-203200">
              <a:lnSpc>
                <a:spcPct val="100000"/>
              </a:lnSpc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intercept (1 | item) = each image-pair gets its own baseline — the same item repeats in 7 languages, so those 7 views are not independent.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6583680" y="169164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C72B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test  ·  LRT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583680" y="2103120"/>
            <a:ext cx="49377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00000"/>
              </a:lnSpc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 two nested models (with vs without a factor); compare fit by likelihood.</a:t>
            </a:r>
            <a:endParaRPr lang="en-US" sz="1350" dirty="0"/>
          </a:p>
          <a:p>
            <a:pPr marL="203200" indent="-203200">
              <a:lnSpc>
                <a:spcPct val="100000"/>
              </a:lnSpc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χ² = 2×(LL_big − LL_small); p from chi-squared → one p-value per whole factor.</a:t>
            </a:r>
            <a:endParaRPr lang="en-US" sz="135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0" y="3794760"/>
          <a:ext cx="493776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914400"/>
                <a:gridCol w="1280160"/>
                <a:gridCol w="1188720"/>
              </a:tblGrid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factor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χ²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verdict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3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socio_attr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C44E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2×10⁻¹⁴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C44E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significant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3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language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C44E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C44E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significant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3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attr × lang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A60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n.s.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Text 8"/>
          <p:cNvSpPr/>
          <p:nvPr/>
        </p:nvSpPr>
        <p:spPr>
          <a:xfrm>
            <a:off x="6583680" y="580644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9A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Qwen-7B; same pattern in InternVL3-8B. Implemented with item-clustered robust SEs (no statsmodels on the cluster).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11551615" y="6400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0292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A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 · METHODS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841248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808"/>
              </a:lnSpc>
              <a:buNone/>
            </a:pPr>
            <a:r>
              <a:rPr lang="en-US" sz="2600" b="1" dirty="0">
                <a:solidFill>
                  <a:srgbClr val="2326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Back-translation translation-quality check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85800" y="1645920"/>
            <a:ext cx="108200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can't read all 7 languages — so we round-trip each prompt back to English and measure how much it drifted.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85800" y="2286000"/>
            <a:ext cx="2468880" cy="868680"/>
          </a:xfrm>
          <a:prstGeom prst="roundRect">
            <a:avLst>
              <a:gd name="adj" fmla="val 8421"/>
            </a:avLst>
          </a:prstGeom>
          <a:solidFill>
            <a:srgbClr val="F5F6FA"/>
          </a:solidFill>
          <a:ln w="12700">
            <a:solidFill>
              <a:srgbClr val="E4E6E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2286000"/>
            <a:ext cx="2468880" cy="8686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English prompt</a:t>
            </a:r>
            <a:endParaRPr lang="en-US" sz="13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 E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246120" y="2715768"/>
            <a:ext cx="502920" cy="0"/>
          </a:xfrm>
          <a:prstGeom prst="line">
            <a:avLst/>
          </a:prstGeom>
          <a:noFill/>
          <a:ln w="25400">
            <a:solidFill>
              <a:srgbClr val="C44E52"/>
            </a:solidFill>
            <a:prstDash val="solid"/>
            <a:tailEnd type="triangle"/>
          </a:ln>
        </p:spPr>
      </p:sp>
      <p:sp>
        <p:nvSpPr>
          <p:cNvPr id="8" name="Text 6"/>
          <p:cNvSpPr/>
          <p:nvPr/>
        </p:nvSpPr>
        <p:spPr>
          <a:xfrm>
            <a:off x="3017520" y="2331720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C44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translate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886200" y="2286000"/>
            <a:ext cx="2468880" cy="868680"/>
          </a:xfrm>
          <a:prstGeom prst="roundRect">
            <a:avLst>
              <a:gd name="adj" fmla="val 8421"/>
            </a:avLst>
          </a:prstGeom>
          <a:solidFill>
            <a:srgbClr val="F5F6FA"/>
          </a:solidFill>
          <a:ln w="12700">
            <a:solidFill>
              <a:srgbClr val="E4E6E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886200" y="2286000"/>
            <a:ext cx="2468880" cy="8686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Greek text</a:t>
            </a:r>
            <a:endParaRPr lang="en-US" sz="13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shown to the model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446520" y="2715768"/>
            <a:ext cx="502920" cy="0"/>
          </a:xfrm>
          <a:prstGeom prst="line">
            <a:avLst/>
          </a:prstGeom>
          <a:noFill/>
          <a:ln w="25400">
            <a:solidFill>
              <a:srgbClr val="C44E52"/>
            </a:solidFill>
            <a:prstDash val="solid"/>
            <a:tailEnd type="triangle"/>
          </a:ln>
        </p:spPr>
      </p:sp>
      <p:sp>
        <p:nvSpPr>
          <p:cNvPr id="12" name="Text 10"/>
          <p:cNvSpPr/>
          <p:nvPr/>
        </p:nvSpPr>
        <p:spPr>
          <a:xfrm>
            <a:off x="6217920" y="2331720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C44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back-translate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7086600" y="2286000"/>
            <a:ext cx="2468880" cy="868680"/>
          </a:xfrm>
          <a:prstGeom prst="roundRect">
            <a:avLst>
              <a:gd name="adj" fmla="val 8421"/>
            </a:avLst>
          </a:prstGeom>
          <a:solidFill>
            <a:srgbClr val="F5F6FA"/>
          </a:solidFill>
          <a:ln w="12700">
            <a:solidFill>
              <a:srgbClr val="E4E6E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086600" y="2286000"/>
            <a:ext cx="2468880" cy="8686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English again</a:t>
            </a:r>
            <a:endParaRPr lang="en-US" sz="13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E′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9738360" y="2286000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compare  E vs E′  →  token-F1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85800" y="3657600"/>
            <a:ext cx="10820095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00000"/>
              </a:lnSpc>
              <a:spcAft>
                <a:spcPts val="1100"/>
              </a:spcAft>
              <a:buSzPct val="100000"/>
              <a:buChar char="•"/>
            </a:pPr>
            <a:r>
              <a:rPr lang="en-US" sz="145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the language effect were a translation artifact, the most-biased languages would drift the MOST.</a:t>
            </a:r>
            <a:endParaRPr lang="en-US" sz="1450" dirty="0"/>
          </a:p>
          <a:p>
            <a:pPr marL="203200" indent="-203200">
              <a:lnSpc>
                <a:spcPct val="100000"/>
              </a:lnSpc>
              <a:spcAft>
                <a:spcPts val="1100"/>
              </a:spcAft>
              <a:buSzPct val="100000"/>
              <a:buChar char="•"/>
            </a:pPr>
            <a:r>
              <a:rPr lang="en-US" sz="145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Instead the opposite: Greek (0.88) and Bengali (0.86) — the most biased — have the HIGHEST fidelity; Hindi / Russian (0.79) — not biased — the lowest.</a:t>
            </a:r>
            <a:endParaRPr lang="en-US" sz="1450" dirty="0"/>
          </a:p>
          <a:p>
            <a:pPr marL="203200" indent="-203200">
              <a:lnSpc>
                <a:spcPct val="100000"/>
              </a:lnSpc>
              <a:spcAft>
                <a:spcPts val="1100"/>
              </a:spcAft>
              <a:buSzPct val="100000"/>
              <a:buChar char="•"/>
            </a:pPr>
            <a:r>
              <a:rPr lang="en-US" sz="145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Caveat: a lexical check using the same MT system — a sanity check that rules out the obvious confound, not a proof.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11551615" y="6400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0292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A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 · METHODS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841248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808"/>
              </a:lnSpc>
              <a:buNone/>
            </a:pPr>
            <a:r>
              <a:rPr lang="en-US" sz="2600" b="1" dirty="0">
                <a:solidFill>
                  <a:srgbClr val="2326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cross-lingual metrics, defined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85800" y="1645920"/>
            <a:ext cx="108200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each image-pair we summarise its behaviour across all its languages (items judged in ≥ 2 languages).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85800" y="2148840"/>
            <a:ext cx="10820095" cy="822960"/>
          </a:xfrm>
          <a:prstGeom prst="roundRect">
            <a:avLst>
              <a:gd name="adj" fmla="val 8889"/>
            </a:avLst>
          </a:prstGeom>
          <a:solidFill>
            <a:srgbClr val="1B1F3B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2148840"/>
            <a:ext cx="10820095" cy="82296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per item, across languages:   all-wrong → SBR   ·   all-right → SCR   ·   mixed → CFR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CFR + SBR + SCR = 1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85800" y="3319272"/>
            <a:ext cx="146304" cy="146304"/>
          </a:xfrm>
          <a:prstGeom prst="ellipse">
            <a:avLst/>
          </a:prstGeom>
          <a:solidFill>
            <a:srgbClr val="C44E52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246120"/>
            <a:ext cx="105000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C44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Cross-lingual Flip Rate (CFR)  </a:t>
            </a:r>
            <a:pPr indent="0" marL="0">
              <a:buNone/>
            </a:pPr>
            <a:r>
              <a:rPr lang="en-US" sz="155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the model's choice changes across languages — the item is not stable.</a:t>
            </a:r>
            <a:endParaRPr lang="en-US" sz="1550" dirty="0"/>
          </a:p>
        </p:txBody>
      </p:sp>
      <p:sp>
        <p:nvSpPr>
          <p:cNvPr id="9" name="Shape 7"/>
          <p:cNvSpPr/>
          <p:nvPr/>
        </p:nvSpPr>
        <p:spPr>
          <a:xfrm>
            <a:off x="685800" y="4069080"/>
            <a:ext cx="146304" cy="146304"/>
          </a:xfrm>
          <a:prstGeom prst="ellipse">
            <a:avLst/>
          </a:prstGeom>
          <a:solidFill>
            <a:srgbClr val="4C72B0"/>
          </a:solidFill>
          <a:ln/>
        </p:spPr>
      </p:sp>
      <p:sp>
        <p:nvSpPr>
          <p:cNvPr id="10" name="Text 8"/>
          <p:cNvSpPr/>
          <p:nvPr/>
        </p:nvSpPr>
        <p:spPr>
          <a:xfrm>
            <a:off x="1005840" y="3995928"/>
            <a:ext cx="105000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4C7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 Bias Rate (SBR)  </a:t>
            </a:r>
            <a:pPr indent="0" marL="0">
              <a:buNone/>
            </a:pPr>
            <a:r>
              <a:rPr lang="en-US" sz="155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the model picks the prototypical-but-wrong image in every language.</a:t>
            </a:r>
            <a:endParaRPr lang="en-US" sz="1550" dirty="0"/>
          </a:p>
        </p:txBody>
      </p:sp>
      <p:sp>
        <p:nvSpPr>
          <p:cNvPr id="11" name="Shape 9"/>
          <p:cNvSpPr/>
          <p:nvPr/>
        </p:nvSpPr>
        <p:spPr>
          <a:xfrm>
            <a:off x="685800" y="4818888"/>
            <a:ext cx="146304" cy="146304"/>
          </a:xfrm>
          <a:prstGeom prst="ellipse">
            <a:avLst/>
          </a:prstGeom>
          <a:solidFill>
            <a:srgbClr val="55A868"/>
          </a:solidFill>
          <a:ln/>
        </p:spPr>
      </p:sp>
      <p:sp>
        <p:nvSpPr>
          <p:cNvPr id="12" name="Text 10"/>
          <p:cNvSpPr/>
          <p:nvPr/>
        </p:nvSpPr>
        <p:spPr>
          <a:xfrm>
            <a:off x="1005840" y="4745736"/>
            <a:ext cx="105000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55A8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 Correct Rate (SCR)  </a:t>
            </a:r>
            <a:pPr indent="0" marL="0">
              <a:buNone/>
            </a:pPr>
            <a:r>
              <a:rPr lang="en-US" sz="155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the model picks the correct image in every language.</a:t>
            </a:r>
            <a:endParaRPr lang="en-US" sz="1550" dirty="0"/>
          </a:p>
        </p:txBody>
      </p:sp>
      <p:sp>
        <p:nvSpPr>
          <p:cNvPr id="13" name="Text 11"/>
          <p:cNvSpPr/>
          <p:nvPr/>
        </p:nvSpPr>
        <p:spPr>
          <a:xfrm>
            <a:off x="685800" y="5669280"/>
            <a:ext cx="108200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Item-level summaries across languages, not per-judgment — which is why a flat aggregate error rate can still hide heavy item-level flipping (overall CFR ≈ 0.65).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1551615" y="6400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1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0292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44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INTERACTIVE · MODEL EXPLORER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841248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700"/>
              </a:lnSpc>
              <a:buNone/>
            </a:pPr>
            <a:r>
              <a:rPr lang="en-US" sz="2500" b="1" dirty="0">
                <a:solidFill>
                  <a:srgbClr val="2326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Does it hold across models?  ▸ click a button</a:t>
            </a:r>
            <a:endParaRPr lang="en-US" sz="2500" dirty="0"/>
          </a:p>
        </p:txBody>
      </p:sp>
      <p:pic>
        <p:nvPicPr>
          <p:cNvPr id="4" name="Image 0" descr="/Users/xiaochuan/Desktop/Projects/_Archive-2026-07/ProtoBias/v3/experiments/exp3a_mixed_effects/figures/figC_attribute_OR_qwen7b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09928" y="1737360"/>
            <a:ext cx="8778240" cy="3351753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1325880" y="5943600"/>
            <a:ext cx="3108960" cy="603504"/>
          </a:xfrm>
          <a:prstGeom prst="roundRect">
            <a:avLst>
              <a:gd name="adj" fmla="val 12121"/>
            </a:avLst>
          </a:prstGeom>
          <a:solidFill>
            <a:srgbClr val="1B1F3B"/>
          </a:solidFill>
          <a:ln w="12700">
            <a:solidFill>
              <a:srgbClr val="1B1F3B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1325880" y="5943600"/>
            <a:ext cx="3108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Qwen-7B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4544568" y="5943600"/>
            <a:ext cx="3108960" cy="603504"/>
          </a:xfrm>
          <a:prstGeom prst="roundRect">
            <a:avLst>
              <a:gd name="adj" fmla="val 12121"/>
            </a:avLst>
          </a:prstGeom>
          <a:solidFill>
            <a:srgbClr val="F5F6FA"/>
          </a:solidFill>
          <a:ln w="12700">
            <a:solidFill>
              <a:srgbClr val="E4E6EF"/>
            </a:solidFill>
            <a:prstDash val="solid"/>
          </a:ln>
        </p:spPr>
      </p:sp>
      <p:sp>
        <p:nvSpPr>
          <p:cNvPr id="8" name="Text 5">
            <a:hlinkClick r:id="rId2" tooltip="" action="ppaction://hlinksldjump"/>
          </p:cNvPr>
          <p:cNvSpPr/>
          <p:nvPr/>
        </p:nvSpPr>
        <p:spPr>
          <a:xfrm>
            <a:off x="4544568" y="5943600"/>
            <a:ext cx="3108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u="sng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InternVL3-8B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7763256" y="5943600"/>
            <a:ext cx="3108960" cy="603504"/>
          </a:xfrm>
          <a:prstGeom prst="roundRect">
            <a:avLst>
              <a:gd name="adj" fmla="val 12121"/>
            </a:avLst>
          </a:prstGeom>
          <a:solidFill>
            <a:srgbClr val="F5F6FA"/>
          </a:solidFill>
          <a:ln w="12700">
            <a:solidFill>
              <a:srgbClr val="E4E6EF"/>
            </a:solidFill>
            <a:prstDash val="solid"/>
          </a:ln>
        </p:spPr>
      </p:sp>
      <p:sp>
        <p:nvSpPr>
          <p:cNvPr id="10" name="Text 7">
            <a:hlinkClick r:id="rId3" tooltip="" action="ppaction://hlinksldjump"/>
          </p:cNvPr>
          <p:cNvSpPr/>
          <p:nvPr/>
        </p:nvSpPr>
        <p:spPr>
          <a:xfrm>
            <a:off x="7763256" y="5943600"/>
            <a:ext cx="3108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u="sng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Both overlaid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11551615" y="6400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0292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44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INTERACTIVE · MODEL EXPLORER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841248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700"/>
              </a:lnSpc>
              <a:buNone/>
            </a:pPr>
            <a:r>
              <a:rPr lang="en-US" sz="2500" b="1" dirty="0">
                <a:solidFill>
                  <a:srgbClr val="2326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Does it hold across models?  ▸ click a button</a:t>
            </a:r>
            <a:endParaRPr lang="en-US" sz="2500" dirty="0"/>
          </a:p>
        </p:txBody>
      </p:sp>
      <p:pic>
        <p:nvPicPr>
          <p:cNvPr id="4" name="Image 0" descr="/Users/xiaochuan/Desktop/Projects/_Archive-2026-07/ProtoBias/v3/experiments/exp3a_mixed_effects/figures/figC_attribute_OR_internvl8b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09928" y="1737360"/>
            <a:ext cx="8778240" cy="3351753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1325880" y="5943600"/>
            <a:ext cx="3108960" cy="603504"/>
          </a:xfrm>
          <a:prstGeom prst="roundRect">
            <a:avLst>
              <a:gd name="adj" fmla="val 12121"/>
            </a:avLst>
          </a:prstGeom>
          <a:solidFill>
            <a:srgbClr val="F5F6FA"/>
          </a:solidFill>
          <a:ln w="12700">
            <a:solidFill>
              <a:srgbClr val="E4E6EF"/>
            </a:solidFill>
            <a:prstDash val="solid"/>
          </a:ln>
        </p:spPr>
      </p:sp>
      <p:sp>
        <p:nvSpPr>
          <p:cNvPr id="6" name="Text 3">
            <a:hlinkClick r:id="rId2" tooltip="" action="ppaction://hlinksldjump"/>
          </p:cNvPr>
          <p:cNvSpPr/>
          <p:nvPr/>
        </p:nvSpPr>
        <p:spPr>
          <a:xfrm>
            <a:off x="1325880" y="5943600"/>
            <a:ext cx="3108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u="sng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Qwen-7B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4544568" y="5943600"/>
            <a:ext cx="3108960" cy="603504"/>
          </a:xfrm>
          <a:prstGeom prst="roundRect">
            <a:avLst>
              <a:gd name="adj" fmla="val 12121"/>
            </a:avLst>
          </a:prstGeom>
          <a:solidFill>
            <a:srgbClr val="1B1F3B"/>
          </a:solidFill>
          <a:ln w="12700">
            <a:solidFill>
              <a:srgbClr val="1B1F3B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4544568" y="5943600"/>
            <a:ext cx="3108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InternVL3-8B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7763256" y="5943600"/>
            <a:ext cx="3108960" cy="603504"/>
          </a:xfrm>
          <a:prstGeom prst="roundRect">
            <a:avLst>
              <a:gd name="adj" fmla="val 12121"/>
            </a:avLst>
          </a:prstGeom>
          <a:solidFill>
            <a:srgbClr val="F5F6FA"/>
          </a:solidFill>
          <a:ln w="12700">
            <a:solidFill>
              <a:srgbClr val="E4E6EF"/>
            </a:solidFill>
            <a:prstDash val="solid"/>
          </a:ln>
        </p:spPr>
      </p:sp>
      <p:sp>
        <p:nvSpPr>
          <p:cNvPr id="10" name="Text 7">
            <a:hlinkClick r:id="rId3" tooltip="" action="ppaction://hlinksldjump"/>
          </p:cNvPr>
          <p:cNvSpPr/>
          <p:nvPr/>
        </p:nvSpPr>
        <p:spPr>
          <a:xfrm>
            <a:off x="7763256" y="5943600"/>
            <a:ext cx="3108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u="sng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Both overlaid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11551615" y="6400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10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0292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44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INTERACTIVE · MODEL EXPLORER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841248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700"/>
              </a:lnSpc>
              <a:buNone/>
            </a:pPr>
            <a:r>
              <a:rPr lang="en-US" sz="2500" b="1" dirty="0">
                <a:solidFill>
                  <a:srgbClr val="2326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Does it hold across models?  ▸ click a button</a:t>
            </a:r>
            <a:endParaRPr lang="en-US" sz="2500" dirty="0"/>
          </a:p>
        </p:txBody>
      </p:sp>
      <p:pic>
        <p:nvPicPr>
          <p:cNvPr id="4" name="Image 0" descr="/Users/xiaochuan/Desktop/Projects/_Archive-2026-07/ProtoBias/v3/experiments/exp3a_mixed_effects/figures/figE_cross_model_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09928" y="1737360"/>
            <a:ext cx="8778240" cy="3364599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1325880" y="5943600"/>
            <a:ext cx="3108960" cy="603504"/>
          </a:xfrm>
          <a:prstGeom prst="roundRect">
            <a:avLst>
              <a:gd name="adj" fmla="val 12121"/>
            </a:avLst>
          </a:prstGeom>
          <a:solidFill>
            <a:srgbClr val="F5F6FA"/>
          </a:solidFill>
          <a:ln w="12700">
            <a:solidFill>
              <a:srgbClr val="E4E6EF"/>
            </a:solidFill>
            <a:prstDash val="solid"/>
          </a:ln>
        </p:spPr>
      </p:sp>
      <p:sp>
        <p:nvSpPr>
          <p:cNvPr id="6" name="Text 3">
            <a:hlinkClick r:id="rId2" tooltip="" action="ppaction://hlinksldjump"/>
          </p:cNvPr>
          <p:cNvSpPr/>
          <p:nvPr/>
        </p:nvSpPr>
        <p:spPr>
          <a:xfrm>
            <a:off x="1325880" y="5943600"/>
            <a:ext cx="3108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u="sng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Qwen-7B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4544568" y="5943600"/>
            <a:ext cx="3108960" cy="603504"/>
          </a:xfrm>
          <a:prstGeom prst="roundRect">
            <a:avLst>
              <a:gd name="adj" fmla="val 12121"/>
            </a:avLst>
          </a:prstGeom>
          <a:solidFill>
            <a:srgbClr val="F5F6FA"/>
          </a:solidFill>
          <a:ln w="12700">
            <a:solidFill>
              <a:srgbClr val="E4E6EF"/>
            </a:solidFill>
            <a:prstDash val="solid"/>
          </a:ln>
        </p:spPr>
      </p:sp>
      <p:sp>
        <p:nvSpPr>
          <p:cNvPr id="8" name="Text 5">
            <a:hlinkClick r:id="rId3" tooltip="" action="ppaction://hlinksldjump"/>
          </p:cNvPr>
          <p:cNvSpPr/>
          <p:nvPr/>
        </p:nvSpPr>
        <p:spPr>
          <a:xfrm>
            <a:off x="4544568" y="5943600"/>
            <a:ext cx="3108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u="sng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InternVL3-8B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7763256" y="5943600"/>
            <a:ext cx="3108960" cy="603504"/>
          </a:xfrm>
          <a:prstGeom prst="roundRect">
            <a:avLst>
              <a:gd name="adj" fmla="val 12121"/>
            </a:avLst>
          </a:prstGeom>
          <a:solidFill>
            <a:srgbClr val="1B1F3B"/>
          </a:solidFill>
          <a:ln w="12700">
            <a:solidFill>
              <a:srgbClr val="1B1F3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763256" y="5943600"/>
            <a:ext cx="3108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overlaid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11551615" y="6400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Cross-lingual Prototypicality Bias — Progress Report III</dc:title>
  <dc:subject>PptxGenJS Presentation</dc:subject>
  <dc:creator>Xiaochuan Li</dc:creator>
  <cp:lastModifiedBy>Xiaochuan Li</cp:lastModifiedBy>
  <cp:revision>1</cp:revision>
  <dcterms:created xsi:type="dcterms:W3CDTF">2026-07-07T19:49:39Z</dcterms:created>
  <dcterms:modified xsi:type="dcterms:W3CDTF">2026-07-07T19:49:39Z</dcterms:modified>
</cp:coreProperties>
</file>