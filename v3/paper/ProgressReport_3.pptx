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62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3262F"/>
                </a:solidFill>
                <a:latin typeface="Arial"/>
              </a:rPr>
              <a:t>Odds ratio of bias vs English  (1.0 = same as English)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Qwen2.5-VL-7B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zh</c:v>
                  </c:pt>
                  <c:pt idx="1">
                    <c:v>ru</c:v>
                  </c:pt>
                  <c:pt idx="2">
                    <c:v>ar</c:v>
                  </c:pt>
                  <c:pt idx="3">
                    <c:v>hi</c:v>
                  </c:pt>
                  <c:pt idx="4">
                    <c:v>bn</c:v>
                  </c:pt>
                  <c:pt idx="5">
                    <c:v>el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1.13</c:v>
                </c:pt>
                <c:pt idx="1">
                  <c:v>1.06</c:v>
                </c:pt>
                <c:pt idx="2">
                  <c:v>1.31</c:v>
                </c:pt>
                <c:pt idx="3">
                  <c:v>1.04</c:v>
                </c:pt>
                <c:pt idx="4">
                  <c:v>1.6</c:v>
                </c:pt>
                <c:pt idx="5">
                  <c:v>1.49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InternVL3-8B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zh</c:v>
                  </c:pt>
                  <c:pt idx="1">
                    <c:v>ru</c:v>
                  </c:pt>
                  <c:pt idx="2">
                    <c:v>ar</c:v>
                  </c:pt>
                  <c:pt idx="3">
                    <c:v>hi</c:v>
                  </c:pt>
                  <c:pt idx="4">
                    <c:v>bn</c:v>
                  </c:pt>
                  <c:pt idx="5">
                    <c:v>el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0.96</c:v>
                </c:pt>
                <c:pt idx="1">
                  <c:v>1.17</c:v>
                </c:pt>
                <c:pt idx="2">
                  <c:v>1.12</c:v>
                </c:pt>
                <c:pt idx="3">
                  <c:v>1.33</c:v>
                </c:pt>
                <c:pt idx="4">
                  <c:v>1.41</c:v>
                </c:pt>
                <c:pt idx="5">
                  <c:v>1.72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EC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A60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3" Type="http://schemas.openxmlformats.org/officeDocument/2006/relationships/slide" Target="slide29.xml"/><Relationship Id="rId1" Type="http://schemas.openxmlformats.org/officeDocument/2006/relationships/image" Target="../media/image-2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3" Type="http://schemas.openxmlformats.org/officeDocument/2006/relationships/slide" Target="slide29.xml"/><Relationship Id="rId1" Type="http://schemas.openxmlformats.org/officeDocument/2006/relationships/image" Target="../media/image-2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3" Type="http://schemas.openxmlformats.org/officeDocument/2006/relationships/slide" Target="slide28.xml"/><Relationship Id="rId1" Type="http://schemas.openxmlformats.org/officeDocument/2006/relationships/image" Target="../media/image-2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554480"/>
            <a:ext cx="109728" cy="109728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" y="1554480"/>
            <a:ext cx="109728" cy="109728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1554480"/>
            <a:ext cx="109728" cy="109728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III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Cross-lingual Prototypicality Bias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Vision-Language Models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behavioural bias that turns out to live in the image–text representation itself.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57150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Xiaochuan Li · Rishav Chandra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Subhadeep Roy   ·   Extending ProtoBias (Roy, Bhatia &amp; Eger 2026)   · 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Prototypicality bias: judging by looks, not meaning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metrics and VLMs increasingly replace humans for image–text evaluation.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they reward the image that looks typical — even when it is wrong for the prompt.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ProtoBias pairs a semantically-correct but atypical image with a prototypical but wrong one.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that prefers the typical-but-wrong image is riding a shortcut, not the meaning.</a:t>
            </a:r>
            <a:endParaRPr lang="en-US" sz="1750" dirty="0"/>
          </a:p>
        </p:txBody>
      </p:sp>
      <p:pic>
        <p:nvPicPr>
          <p:cNvPr id="5" name="Image 0" descr="/Users/xiaochuan/Desktop/Projects/ProtoBias/v1/paper/assets/protobias_examples_animals_ob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514600"/>
            <a:ext cx="4983480" cy="2416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0" y="5074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Correct-but-atypical (left) vs prototypical-but-wrong (right).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· ONE PAIR PER DOMAIN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Semantically-correct (SC) vs prototypical-adversarial (PA)</a:t>
            </a:r>
            <a:endParaRPr lang="en-US" sz="2700" dirty="0"/>
          </a:p>
        </p:txBody>
      </p:sp>
      <p:pic>
        <p:nvPicPr>
          <p:cNvPr id="4" name="Image 0" descr="/Users/xiaochuan/Desktop/Projects/ProtoBias/v1/paper/assets/protobias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463040"/>
            <a:ext cx="6080760" cy="4208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126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pairs a correct-but-atypical (SC) image with a typical-but-wrong (PA) one. Most automatic judges (CLIP / Pick / VQA / GPT-4o) fall for PA; humans and ProtoScore prefer SC.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bias depend on the language you ask in?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ProtoBias is English-only and studies evaluation metrics.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turn: translate only the prompt, hold the image pair fixed.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verdict moves with language, the model is importing language-specific expectations.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is the bias consistent across languages?   RQ2 — worse in socially sensitive domains?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040880" y="228600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286000"/>
            <a:ext cx="4480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pair  +  prompt in language 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281160" y="3063240"/>
            <a:ext cx="0" cy="457200"/>
          </a:xfrm>
          <a:prstGeom prst="line">
            <a:avLst/>
          </a:prstGeom>
          <a:noFill/>
          <a:ln w="25400">
            <a:solidFill>
              <a:srgbClr val="C44E5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80960" y="36118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1B1F3B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3611880"/>
            <a:ext cx="32004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judge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281160" y="4389120"/>
            <a:ext cx="0" cy="457200"/>
          </a:xfrm>
          <a:prstGeom prst="line">
            <a:avLst/>
          </a:prstGeom>
          <a:noFill/>
          <a:ln w="25400">
            <a:solidFill>
              <a:srgbClr val="C44E5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40880" y="493776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937760"/>
            <a:ext cx="4480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image 1 or 2  →  error rate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0" y="5806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images, language swapped — a controlled cross-lingual probe.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SO FAR  ·  REPORTS I–II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were after Report 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40080" cy="640080"/>
          </a:xfrm>
          <a:prstGeom prst="ellipse">
            <a:avLst/>
          </a:prstGeom>
          <a:solidFill>
            <a:srgbClr val="9AA0B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20848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Looked flat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5786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error hugged 0.50 — bias seemed weak and language-invariant.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33649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average was hiding it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8587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socio-attribute, bias is strong for wealth/power, near-chance for morality/intellect.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709160"/>
            <a:ext cx="640080" cy="64008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6451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model families, 7 languages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51389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 pattern replicates across Qwen &amp; InternVL (p≈2×10⁻¹⁴); Bengali/Greek lift the level.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6035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III asks the next question: WHERE does this bias live — in the model's answer, or deeper?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REPORT II FEEDBACK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mentor asked for — and where it is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03120"/>
          <a:ext cx="1082009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166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on Report II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“Check the other categories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(animal &amp; object)”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 both down by subcategory + visual knob — they are structured too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“Add T2I metrics 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VQAScore, CLIPScore, PickScore”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CLIPScore &amp; PickScore done (10–11); also on the translated prompts (13). VQAScore pending the cluster.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“Add image examples &amp; animation”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pairs added (3); click-through explorer in backup; click-builds noted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9893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substantive asks became the two new results in this report.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ANSWERING “CHECK ANIMAL &amp; OBJECT”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Animals &amp; objects are structured too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flat ~0.5 average hid the same kind of structure demography showed.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Biased: birds &amp; the generic-animal class; vehicles.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/ below chance: mammals; furniture.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replicates across BOTH model families — so “structural, not uniform” holds in every domain, not just demography.</a:t>
            </a:r>
            <a:endParaRPr lang="en-US" sz="1550" dirty="0"/>
          </a:p>
        </p:txBody>
      </p:sp>
      <p:pic>
        <p:nvPicPr>
          <p:cNvPr id="5" name="Image 0" descr="/Users/xiaochuan/Desktop/Projects/ProtoBias/v3/experiments/exp3g_domain_breakdown/figures/figH_subcategory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468880"/>
            <a:ext cx="5852160" cy="2340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06440" y="5029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by subcategory — animal &amp; object, both models (Wilson 95% CIs).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RESULT · THE ATTRIBUTE AXIS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bias follows the attribute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Demography's flat ~0.58 average hides a ~0.28 spread across attributes.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bias for social-status attributes — Wealth, Power.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Near-chance for Morality and Intellect.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 encodes what “rich / powerful” looks like; there is no stable visual prototype for “moral” or “smart.”</a:t>
            </a:r>
            <a:endParaRPr lang="en-US" sz="1700" dirty="0"/>
          </a:p>
        </p:txBody>
      </p:sp>
      <p:pic>
        <p:nvPicPr>
          <p:cNvPr id="5" name="Image 0" descr="/Users/xiaochuan/Desktop/Projects/ProtoBias/v3/experiments/exp3a_mixed_effects/figures/figA7_attribute_qwen7l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103120"/>
            <a:ext cx="5120640" cy="3151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0" y="5440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Prototypicality error rate by socio-attribute — Qwen2.5-VL-7B, all 7 languages.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RESULT · REPLICATION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it replicates across model families</a:t>
            </a:r>
            <a:endParaRPr lang="en-US" sz="3200" dirty="0"/>
          </a:p>
        </p:txBody>
      </p:sp>
      <p:pic>
        <p:nvPicPr>
          <p:cNvPr id="4" name="Image 0" descr="/Users/xiaochuan/Desktop/Projects/ProtoBias/v3/experiments/exp3a_mixed_effects/figures/figE_cross_model_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783080"/>
            <a:ext cx="8229600" cy="3154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166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≈ 3.7 / 3.1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" y="5806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bias vs morality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/ InternVL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34840" y="5166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≈ 2×10⁻¹⁴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434840" y="5806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effect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families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55280" y="5166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quirk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955280" y="5806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across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VLMs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HEADLINE · ANSWERING “ADD T2I METRICS”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bias lives in the representation, not the answer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angle: score each pair with CLIPScore &amp; PickScore — no VLM asked, just image–text alignment.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prefer the typical-but-wrong image on ~70% of items (CLIP 0.71, Pick 0.67).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 show the SAME attribute signature: strongest on wealth/power, fading to morality/intellect.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shortcut is baked into the image–text embedding — not produced at answer time.</a:t>
            </a:r>
            <a:endParaRPr lang="en-US" sz="1550" dirty="0"/>
          </a:p>
        </p:txBody>
      </p:sp>
      <p:pic>
        <p:nvPicPr>
          <p:cNvPr id="5" name="Image 0" descr="/Users/xiaochuan/Desktop/Projects/ProtoBias/v3/experiments/exp3h_t2i_metrics/figures/figI_metric_bias_by_at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148840"/>
            <a:ext cx="5669280" cy="3386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5577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bias rate by socio-attribute — CLIPScore &amp; PickScore (0.5 = no representational bias).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HEADLINE · THE LINK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VLM's choice tracks the metric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pair: does the VLM pick the image the metric also scores higher?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metric prefers the correct image, the VLM picks it ~0.65–0.70 of the time.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metric prefers the typical image, the VLM picks correct only ~0.35–0.40.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+0.26 to +0.34 gap, consistent across both models × both metrics — behaviour and representation are one phenomenon at two levels.</a:t>
            </a:r>
            <a:endParaRPr lang="en-US" sz="1500" dirty="0"/>
          </a:p>
        </p:txBody>
      </p:sp>
      <p:pic>
        <p:nvPicPr>
          <p:cNvPr id="5" name="Image 0" descr="/Users/xiaochuan/Desktop/Projects/ProtoBias/v3/experiments/exp3h_t2i_metrics/figures/figJ_vlm_tracks_met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286000"/>
            <a:ext cx="5349240" cy="3594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60350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correct-pick rate, split by which image the T2I metric scores higher.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RESULT · THE LANGUAGE AXIS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is not flat after 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languages looked invariant; adding Bengali &amp; Greek revealed a real effect.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and Greek prompts → significantly more bias than English, in both models.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 pattern stays the same; the overall level shifts up (no interaction).</a:t>
            </a:r>
            <a:endParaRPr lang="en-US" sz="16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0" y="18288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T2I METRICS ON THE TRANSLATED PROMPTS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language effect is NOT in the representation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scored the translated prompts with a multilingual CLIP (mentor request).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representation is biased in every language (0.58–0.66, all above chance).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flat across languages — no Bengali/Greek lift (Bengali is if anything lower).</a:t>
            </a:r>
            <a:endParaRPr lang="en-US" sz="15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split: the attribute bias is representational; the language effect comes from the VLM's own language handling, not image–text alignment.</a:t>
            </a:r>
            <a:endParaRPr lang="en-US" sz="1550" dirty="0"/>
          </a:p>
        </p:txBody>
      </p:sp>
      <p:pic>
        <p:nvPicPr>
          <p:cNvPr id="5" name="Image 0" descr="/Users/xiaochuan/Desktop/Projects/ProtoBias/v3/experiments/exp3h_t2i_metrics/figures/figK_xlingual_bias_mc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286000"/>
            <a:ext cx="5760720" cy="32601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06440" y="5669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Multilingual-CLIP bias rate by language; grey = English reference.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RESULT ·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just bad translation? No.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back-translated every non-English prompt and measured drift.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most-biased languages (Greek, Bengali) have the highest translation fidelity.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least-biased (Hindi, Russian) have the lowest — the opposite of a translation artifact.</a:t>
            </a:r>
            <a:endParaRPr lang="en-US" sz="16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vs 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Back-translation fidelity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  (highest)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  (lowest)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· THE CONFOUND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just a low-level visual cue? No.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adversarial image also tweaks one visual knob — count / colour / scale / layout / spatial.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bias were a colour artifact, colour would spike. Instead colour is the LOWEST (≈0.40).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is highest when the cue is hard to perceive (count, scale) — a fallback when the detail can't be grounded.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&gt; morality holds within every knob — the attribute effect is not a knob artifact.</a:t>
            </a:r>
            <a:endParaRPr lang="en-US" sz="1600" dirty="0"/>
          </a:p>
        </p:txBody>
      </p:sp>
      <p:pic>
        <p:nvPicPr>
          <p:cNvPr id="5" name="Image 0" descr="/Users/xiaochuan/Desktop/Projects/ProtoBias/v3/experiments/exp3e_knob_confound/figures/figF_error_by_kn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377440"/>
            <a:ext cx="5532120" cy="29935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· IS THE TRAP OBJECTIVE?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items fool both model families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 judge the same 900 image pairs — do they err on the SAME ones?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error rates correlate at r = 0.68 (Cohen's κ = 0.39).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prototype trap is largely item-intrinsic — an objective property of the image pair, not a model quirk.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is not 1.0: about half is still model-specific — strongest agreement on demography, weakest on objects.)</a:t>
            </a:r>
            <a:endParaRPr lang="en-US" sz="1600" dirty="0"/>
          </a:p>
        </p:txBody>
      </p:sp>
      <p:pic>
        <p:nvPicPr>
          <p:cNvPr id="5" name="Image 0" descr="/Users/xiaochuan/Desktop/Projects/ProtoBias/v3/experiments/exp3f_cross_model_agreement/figures/figG_item_agre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874520"/>
            <a:ext cx="4114800" cy="3964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shortcut with a source, a trigger, and a home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18013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— the attribute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2585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prototype exists for wealth and status, not for morality or intellect. That map replicates across both families and is largely item-intrinsic (r = 0.68).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C72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32186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— signal weakness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6758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falls back on the prototype when the discriminating cue is hard to perceive (count, scale) OR the prompt language is unfamiliar (Bengali, Greek).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6177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5A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554480" y="46360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— the representation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509320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CLIPScore &amp; PickScore carry the same attribute signature, and the VLM's choice tracks them. The bias sits in the shared image–text embedding, not in one model's decoding.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 sets whether a shortcut exists · weakness sets how much it's taken · the representation is where it lives.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not yet claiming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seed, single translation backend; the adversarial “knob” (color / scale) is a co-varying confound.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Demography cells are small (Wealth ≈ 31 / language) — mixed-effects pools, but power is limited.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T2I metrics are scored on English text only — a clean representation probe, but not yet cross-lingual.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Qwen-32B was dropped — infeasible runtime (≈280 s/item) on the available 2×A40 sharding.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039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VQAScore — pending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20391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clip-flant5-xxl is set up; the FAU GPU cluster (Alex) has been offline ~1 week for a kernel security patch. Adds as the third T2I metric once it returns.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127248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axis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43400" y="3063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Qwen-32B in 4-bit on a single GPU — does the bias shrink with model size?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151376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087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model families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4087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Gemma-3, LLaVA-OneVision — how general is the language effect?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175504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114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 down language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43400" y="511149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Disentangle resource vs script vs cultural loading behind the ar / bn / el spike.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286000"/>
            <a:ext cx="109728" cy="109728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" y="2286000"/>
            <a:ext cx="109728" cy="109728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2286000"/>
            <a:ext cx="109728" cy="109728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6517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behavioural bias, traced to the shared image–text representation — across 7 languages &amp; 2 model families.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github.com/xchuan-li/cross_lingual_protobias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cross-model summary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874520"/>
          <a:ext cx="81381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377440"/>
                <a:gridCol w="2377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error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effect (LRT 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2.1×10⁻¹⁴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2.7×10⁻¹⁴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odds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effect (LRT 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Greek / Bengali 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 / 1.60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 / 1.41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T2I metric bias (CLIP / Pick)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5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/ 0.67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5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backbone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VLM–metric tracking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+0.28 / +0.31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+0.26 / +0.34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011680" y="5943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Item-clustered mixed-effects logistic regression; back-translation QA; CLIPScore/PickScore; numpy/scipy.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T2I metrics, defined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scores how well an image matches the text. We score BOTH images and take the margin.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20095" cy="868680"/>
          </a:xfrm>
          <a:prstGeom prst="roundRect">
            <a:avLst>
              <a:gd name="adj" fmla="val 8421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10820095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= score(correct image, text) − score(typical image, text)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&lt; 0  →  the metric itself is prototypicality-biased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319272"/>
            <a:ext cx="146304" cy="146304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4612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CLIPScore  </a:t>
            </a:r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cosine(image, text) in CLIP's embedding space — the standard image–text alignment score.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069080"/>
            <a:ext cx="146304" cy="146304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95928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PickScore  </a:t>
            </a:r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CLIP fine-tuned on human image-preference data — “which image would a person pick?”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818888"/>
            <a:ext cx="146304" cy="146304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745736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VQAScore (outlook)  </a:t>
            </a:r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P(“yes” | image, “does this show &lt;text&gt;?”) from a VQA model — a generative scorer.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6692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the English prompt to isolate the representation question; run on the same 900 items as the VLM eval, so scores join 1:1 to model choices.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InternVL3-8B as the second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rule out “it's just a Qwen quirk.” A second, independent family tests whether the finding generalizes.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50592"/>
            <a:ext cx="384048" cy="384048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family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404872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OpenGVLab, not Alibaba — independent architecture and training, not a Qwen variant.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383280"/>
            <a:ext cx="384048" cy="384048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Size-matched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≈8B vs Qwen's 7B — controls for scale, so a difference isn't “one is far bigger.”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315968"/>
            <a:ext cx="384048" cy="384048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Strong, standard baseline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4270248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 open VLM family widely used in papers — credible and representative.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248656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2029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Fits the pipeline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520293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 and multilingual; the HF-native checkpoint loads via the standard API.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Mixed-effects logistic regression &amp; the LRT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5349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picked_adv ~ socio_attr + lang + gender + (1 | item)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→ models P(pick prototype); coefficients exponentiate to odds ratios (OR).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 (socio_attr, lang, gender) = what we estimate.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intercept (1 | item) = each image-pair gets its own baseline — the same item repeats in 7 languages, so those 7 views are not independent.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72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test  ·  LRT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two nested models (with vs without a factor); compare fit by likelihood.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2×(LL_big − LL_small); p from chi-squared → one p-value per whole factor.</a:t>
            </a:r>
            <a:endParaRPr lang="en-US" sz="13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79476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280160"/>
                <a:gridCol w="1188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socio_attr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2×10⁻¹⁴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 × lang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583680" y="5806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Qwen-7B; same pattern in InternVL3-8B. Implemented with item-clustered robust SEs (no statsmodels on the cluster).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Back-translation translation-quality check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read all 7 languages — so we round-trip each prompt back to English and measure how much it drifted.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2715768"/>
            <a:ext cx="502920" cy="0"/>
          </a:xfrm>
          <a:prstGeom prst="line">
            <a:avLst/>
          </a:prstGeom>
          <a:noFill/>
          <a:ln w="25400">
            <a:solidFill>
              <a:srgbClr val="C44E5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17520" y="2331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86200" y="22860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286000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text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the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2715768"/>
            <a:ext cx="502920" cy="0"/>
          </a:xfrm>
          <a:prstGeom prst="line">
            <a:avLst/>
          </a:prstGeom>
          <a:noFill/>
          <a:ln w="25400">
            <a:solidFill>
              <a:srgbClr val="C44E5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217920" y="23317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back-translate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22860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286000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again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38360" y="2286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 E vs E′  →  token-F1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8200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language effect were a translation artifact, the most-biased languages would drift the MOST.</a:t>
            </a:r>
            <a:endParaRPr lang="en-US" sz="14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the opposite: Greek (0.88) and Bengali (0.86) — the most biased — have the HIGHEST fidelity; Hindi / Russian (0.79) — not biased — the lowest.</a:t>
            </a:r>
            <a:endParaRPr lang="en-US" sz="14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a lexical check using the same MT system — a sanity check that rules out the obvious confound, not a proof.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cross-lingual metrics, defined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image-pair we summarise its behaviour across all its languages (items judged in ≥ 2 languages).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820095" cy="822960"/>
          </a:xfrm>
          <a:prstGeom prst="roundRect">
            <a:avLst>
              <a:gd name="adj" fmla="val 8889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10820095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item, across languages:   all-wrong → SBR   ·   all-right → SCR   ·   mixed → CFR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CFR + SBR + SCR = 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319272"/>
            <a:ext cx="146304" cy="146304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46120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Flip Rate (CFR)  </a:t>
            </a:r>
            <a:pPr indent="0" marL="0">
              <a:buNone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model's choice changes across languages — the item is not stable.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4069080"/>
            <a:ext cx="146304" cy="146304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95928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Bias Rate (SBR)  </a:t>
            </a:r>
            <a:pPr indent="0" marL="0">
              <a:buNone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model picks the prototypical-but-wrong image in every language.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" y="4818888"/>
            <a:ext cx="146304" cy="146304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745736"/>
            <a:ext cx="10500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Correct Rate (SCR)  </a:t>
            </a:r>
            <a:pPr indent="0" marL="0">
              <a:buNone/>
            </a:pPr>
            <a:r>
              <a:rPr lang="en-US" sz="15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model picks the correct image in every language.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5800" y="56692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summaries across languages, not per-judgment — which is why a flat aggregate error rate can still hide heavy item-level flipping (overall CFR ≈ 0.65).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MODEL EXPLORER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hold across models?  ▸ click a button</a:t>
            </a:r>
            <a:endParaRPr lang="en-US" sz="2500" dirty="0"/>
          </a:p>
        </p:txBody>
      </p:sp>
      <p:pic>
        <p:nvPicPr>
          <p:cNvPr id="4" name="Image 0" descr="/Users/xiaochuan/Desktop/Projects/ProtoBias/v3/experiments/exp3a_mixed_effects/figures/figC_attribute_OR_qwen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737360"/>
            <a:ext cx="8778240" cy="33517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25880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Qwen-7B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44568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8" name="Text 5">
            <a:hlinkClick r:id="rId2" tooltip="" action="ppaction://hlinksldjump"/>
          </p:cNvPr>
          <p:cNvSpPr/>
          <p:nvPr/>
        </p:nvSpPr>
        <p:spPr>
          <a:xfrm>
            <a:off x="4544568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InternVL3-8B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63256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0" name="Text 7">
            <a:hlinkClick r:id="rId3" tooltip="" action="ppaction://hlinksldjump"/>
          </p:cNvPr>
          <p:cNvSpPr/>
          <p:nvPr/>
        </p:nvSpPr>
        <p:spPr>
          <a:xfrm>
            <a:off x="7763256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Both overlaid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MODEL EXPLORER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hold across models?  ▸ click a button</a:t>
            </a:r>
            <a:endParaRPr lang="en-US" sz="2500" dirty="0"/>
          </a:p>
        </p:txBody>
      </p:sp>
      <p:pic>
        <p:nvPicPr>
          <p:cNvPr id="4" name="Image 0" descr="/Users/xiaochuan/Desktop/Projects/ProtoBias/v3/experiments/exp3a_mixed_effects/figures/figC_attribute_OR_internvl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737360"/>
            <a:ext cx="8778240" cy="33517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Text 3">
            <a:hlinkClick r:id="rId2" tooltip="" action="ppaction://hlinksldjump"/>
          </p:cNvPr>
          <p:cNvSpPr/>
          <p:nvPr/>
        </p:nvSpPr>
        <p:spPr>
          <a:xfrm>
            <a:off x="1325880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Qwen-7B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44568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44568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InternVL3-8B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63256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0" name="Text 7">
            <a:hlinkClick r:id="rId3" tooltip="" action="ppaction://hlinksldjump"/>
          </p:cNvPr>
          <p:cNvSpPr/>
          <p:nvPr/>
        </p:nvSpPr>
        <p:spPr>
          <a:xfrm>
            <a:off x="7763256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Both overlaid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MODEL EXPLORER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hold across models?  ▸ click a button</a:t>
            </a:r>
            <a:endParaRPr lang="en-US" sz="2500" dirty="0"/>
          </a:p>
        </p:txBody>
      </p:sp>
      <p:pic>
        <p:nvPicPr>
          <p:cNvPr id="4" name="Image 0" descr="/Users/xiaochuan/Desktop/Projects/ProtoBias/v3/experiments/exp3a_mixed_effects/figures/figE_cross_model_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737360"/>
            <a:ext cx="8778240" cy="33645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Text 3">
            <a:hlinkClick r:id="rId2" tooltip="" action="ppaction://hlinksldjump"/>
          </p:cNvPr>
          <p:cNvSpPr/>
          <p:nvPr/>
        </p:nvSpPr>
        <p:spPr>
          <a:xfrm>
            <a:off x="1325880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Qwen-7B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44568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8" name="Text 5">
            <a:hlinkClick r:id="rId3" tooltip="" action="ppaction://hlinksldjump"/>
          </p:cNvPr>
          <p:cNvSpPr/>
          <p:nvPr/>
        </p:nvSpPr>
        <p:spPr>
          <a:xfrm>
            <a:off x="4544568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InternVL3-8B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63256" y="5943600"/>
            <a:ext cx="3108960" cy="603504"/>
          </a:xfrm>
          <a:prstGeom prst="roundRect">
            <a:avLst>
              <a:gd name="adj" fmla="val 12121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63256" y="59436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overlaid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Cross-lingual Prototypicality Bias — Progress Report III</dc:title>
  <dc:subject>PptxGenJS Presentation</dc:subject>
  <dc:creator>Xiaochuan Li</dc:creator>
  <cp:lastModifiedBy>Xiaochuan Li</cp:lastModifiedBy>
  <cp:revision>1</cp:revision>
  <dcterms:created xsi:type="dcterms:W3CDTF">2026-07-10T13:19:51Z</dcterms:created>
  <dcterms:modified xsi:type="dcterms:W3CDTF">2026-07-10T13:19:51Z</dcterms:modified>
</cp:coreProperties>
</file>