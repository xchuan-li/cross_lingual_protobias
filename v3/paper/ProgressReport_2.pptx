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charts/chart3.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82" r:id="rId13"/>
    <p:sldId id="283" r:id="rId14"/>
    <p:sldId id="268"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806"/>
    <p:restoredTop sz="73155"/>
  </p:normalViewPr>
  <p:slideViewPr>
    <p:cSldViewPr snapToGrid="0" snapToObjects="1">
      <p:cViewPr varScale="1">
        <p:scale>
          <a:sx n="81" d="100"/>
          <a:sy n="81" d="100"/>
        </p:scale>
        <p:origin x="153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___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title>
      <c:tx>
        <c:rich>
          <a:bodyPr/>
          <a:lstStyle/>
          <a:p>
            <a:pPr>
              <a:defRPr sz="1200" b="0" i="0" u="none" strike="noStrike">
                <a:solidFill>
                  <a:srgbClr val="23262F"/>
                </a:solidFill>
                <a:latin typeface="Arial"/>
              </a:defRPr>
            </a:pPr>
            <a:r>
              <a:rPr lang="de-DE" sz="1200" b="0" i="0" u="none" strike="noStrike">
                <a:solidFill>
                  <a:srgbClr val="23262F"/>
                </a:solidFill>
                <a:latin typeface="Arial"/>
              </a:rPr>
              <a:t>Odds ratio of bias vs English  (1.0 = same as English)</a:t>
            </a:r>
          </a:p>
        </c:rich>
      </c:tx>
      <c:overlay val="0"/>
    </c:title>
    <c:autoTitleDeleted val="0"/>
    <c:plotArea>
      <c:layout/>
      <c:barChart>
        <c:barDir val="col"/>
        <c:grouping val="clustered"/>
        <c:varyColors val="0"/>
        <c:ser>
          <c:idx val="0"/>
          <c:order val="0"/>
          <c:tx>
            <c:strRef>
              <c:f>Sheet1!$B$1</c:f>
              <c:strCache>
                <c:ptCount val="1"/>
                <c:pt idx="0">
                  <c:v>Qwen2.5-VL-7B</c:v>
                </c:pt>
              </c:strCache>
            </c:strRef>
          </c:tx>
          <c:spPr>
            <a:solidFill>
              <a:srgbClr val="4C72B0"/>
            </a:solidFill>
            <a:effectLst/>
          </c:spPr>
          <c:invertIfNegative val="0"/>
          <c:cat>
            <c:strRef>
              <c:f>Sheet1!$A$2:$A$7</c:f>
              <c:strCache>
                <c:ptCount val="6"/>
                <c:pt idx="0">
                  <c:v>zh</c:v>
                </c:pt>
                <c:pt idx="1">
                  <c:v>ru</c:v>
                </c:pt>
                <c:pt idx="2">
                  <c:v>ar</c:v>
                </c:pt>
                <c:pt idx="3">
                  <c:v>hi</c:v>
                </c:pt>
                <c:pt idx="4">
                  <c:v>bn</c:v>
                </c:pt>
                <c:pt idx="5">
                  <c:v>el</c:v>
                </c:pt>
              </c:strCache>
            </c:strRef>
          </c:cat>
          <c:val>
            <c:numRef>
              <c:f>Sheet1!$B$2:$B$7</c:f>
              <c:numCache>
                <c:formatCode>General</c:formatCode>
                <c:ptCount val="6"/>
                <c:pt idx="0">
                  <c:v>1.1299999999999999</c:v>
                </c:pt>
                <c:pt idx="1">
                  <c:v>1.06</c:v>
                </c:pt>
                <c:pt idx="2">
                  <c:v>1.31</c:v>
                </c:pt>
                <c:pt idx="3">
                  <c:v>1.04</c:v>
                </c:pt>
                <c:pt idx="4">
                  <c:v>1.6</c:v>
                </c:pt>
                <c:pt idx="5">
                  <c:v>1.49</c:v>
                </c:pt>
              </c:numCache>
            </c:numRef>
          </c:val>
          <c:extLst>
            <c:ext xmlns:c16="http://schemas.microsoft.com/office/drawing/2014/chart" uri="{C3380CC4-5D6E-409C-BE32-E72D297353CC}">
              <c16:uniqueId val="{00000000-9BAF-E549-B08E-2F0603BA45AB}"/>
            </c:ext>
          </c:extLst>
        </c:ser>
        <c:ser>
          <c:idx val="1"/>
          <c:order val="1"/>
          <c:tx>
            <c:strRef>
              <c:f>Sheet1!$C$1</c:f>
              <c:strCache>
                <c:ptCount val="1"/>
                <c:pt idx="0">
                  <c:v>InternVL3-8B</c:v>
                </c:pt>
              </c:strCache>
            </c:strRef>
          </c:tx>
          <c:spPr>
            <a:solidFill>
              <a:srgbClr val="C44E52"/>
            </a:solidFill>
            <a:effectLst/>
          </c:spPr>
          <c:invertIfNegative val="0"/>
          <c:cat>
            <c:strRef>
              <c:f>Sheet1!$A$2:$A$7</c:f>
              <c:strCache>
                <c:ptCount val="6"/>
                <c:pt idx="0">
                  <c:v>zh</c:v>
                </c:pt>
                <c:pt idx="1">
                  <c:v>ru</c:v>
                </c:pt>
                <c:pt idx="2">
                  <c:v>ar</c:v>
                </c:pt>
                <c:pt idx="3">
                  <c:v>hi</c:v>
                </c:pt>
                <c:pt idx="4">
                  <c:v>bn</c:v>
                </c:pt>
                <c:pt idx="5">
                  <c:v>el</c:v>
                </c:pt>
              </c:strCache>
            </c:strRef>
          </c:cat>
          <c:val>
            <c:numRef>
              <c:f>Sheet1!$C$2:$C$7</c:f>
              <c:numCache>
                <c:formatCode>General</c:formatCode>
                <c:ptCount val="6"/>
                <c:pt idx="0">
                  <c:v>0.96</c:v>
                </c:pt>
                <c:pt idx="1">
                  <c:v>1.17</c:v>
                </c:pt>
                <c:pt idx="2">
                  <c:v>1.1200000000000001</c:v>
                </c:pt>
                <c:pt idx="3">
                  <c:v>1.33</c:v>
                </c:pt>
                <c:pt idx="4">
                  <c:v>1.41</c:v>
                </c:pt>
                <c:pt idx="5">
                  <c:v>1.72</c:v>
                </c:pt>
              </c:numCache>
            </c:numRef>
          </c:val>
          <c:extLst>
            <c:ext xmlns:c16="http://schemas.microsoft.com/office/drawing/2014/chart" uri="{C3380CC4-5D6E-409C-BE32-E72D297353CC}">
              <c16:uniqueId val="{00000001-9BAF-E549-B08E-2F0603BA45AB}"/>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072"/>
                </a:solidFill>
                <a:latin typeface="Arial"/>
              </a:defRPr>
            </a:pPr>
            <a:endParaRPr lang="en-US"/>
          </a:p>
        </c:txPr>
        <c:crossAx val="2094734552"/>
        <c:crosses val="autoZero"/>
        <c:auto val="1"/>
        <c:lblAlgn val="ctr"/>
        <c:lblOffset val="100"/>
        <c:noMultiLvlLbl val="1"/>
      </c:catAx>
      <c:valAx>
        <c:axId val="2094734552"/>
        <c:scaling>
          <c:orientation val="minMax"/>
          <c:max val="2"/>
          <c:min val="0"/>
        </c:scaling>
        <c:delete val="0"/>
        <c:axPos val="l"/>
        <c:majorGridlines>
          <c:spPr>
            <a:ln w="6350" cap="flat">
              <a:solidFill>
                <a:srgbClr val="ECEEF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072"/>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A6072"/>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title>
      <c:tx>
        <c:rich>
          <a:bodyPr/>
          <a:lstStyle/>
          <a:p>
            <a:r>
              <a:rPr lang="de-DE" sz="1200" b="0"/>
              <a:t>Cross-lingual Flip Rate by attribute</a:t>
            </a:r>
          </a:p>
        </c:rich>
      </c:tx>
      <c:overlay val="0"/>
    </c:title>
    <c:autoTitleDeleted val="0"/>
    <c:plotArea>
      <c:layout/>
      <c:barChart>
        <c:barDir val="col"/>
        <c:grouping val="clustered"/>
        <c:varyColors val="1"/>
        <c:ser>
          <c:idx val="0"/>
          <c:order val="0"/>
          <c:tx>
            <c:strRef>
              <c:f>Sheet1!$B$1</c:f>
              <c:strCache>
                <c:ptCount val="1"/>
                <c:pt idx="0">
                  <c:v>Qwen2.5-VL-7B</c:v>
                </c:pt>
              </c:strCache>
            </c:strRef>
          </c:tx>
          <c:spPr>
            <a:solidFill>
              <a:srgbClr val="4C72B0"/>
            </a:solidFill>
          </c:spPr>
          <c:invertIfNegative val="1"/>
          <c:cat>
            <c:strRef>
              <c:f>Sheet1!$A$2:$A$6</c:f>
              <c:strCache>
                <c:ptCount val="5"/>
                <c:pt idx="0">
                  <c:v>Wealth</c:v>
                </c:pt>
                <c:pt idx="1">
                  <c:v>Power</c:v>
                </c:pt>
                <c:pt idx="2">
                  <c:v>Civility</c:v>
                </c:pt>
                <c:pt idx="3">
                  <c:v>Morality</c:v>
                </c:pt>
                <c:pt idx="4">
                  <c:v>Intellect</c:v>
                </c:pt>
              </c:strCache>
            </c:strRef>
          </c:cat>
          <c:val>
            <c:numRef>
              <c:f>Sheet1!$B$2:$B$6</c:f>
              <c:numCache>
                <c:formatCode>General</c:formatCode>
                <c:ptCount val="5"/>
                <c:pt idx="0">
                  <c:v>0.39</c:v>
                </c:pt>
                <c:pt idx="1">
                  <c:v>0.61</c:v>
                </c:pt>
                <c:pt idx="2">
                  <c:v>0.66</c:v>
                </c:pt>
                <c:pt idx="3">
                  <c:v>0.67</c:v>
                </c:pt>
                <c:pt idx="4">
                  <c:v>0.71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A9CE-2745-843B-86FF51FCF3C5}"/>
            </c:ext>
          </c:extLst>
        </c:ser>
        <c:ser>
          <c:idx val="1"/>
          <c:order val="1"/>
          <c:tx>
            <c:strRef>
              <c:f>Sheet1!$C$1</c:f>
              <c:strCache>
                <c:ptCount val="1"/>
                <c:pt idx="0">
                  <c:v>InternVL3-8B</c:v>
                </c:pt>
              </c:strCache>
            </c:strRef>
          </c:tx>
          <c:spPr>
            <a:solidFill>
              <a:srgbClr val="C44E52"/>
            </a:solidFill>
          </c:spPr>
          <c:invertIfNegative val="1"/>
          <c:cat>
            <c:strRef>
              <c:f>Sheet1!$A$2:$A$6</c:f>
              <c:strCache>
                <c:ptCount val="5"/>
                <c:pt idx="0">
                  <c:v>Wealth</c:v>
                </c:pt>
                <c:pt idx="1">
                  <c:v>Power</c:v>
                </c:pt>
                <c:pt idx="2">
                  <c:v>Civility</c:v>
                </c:pt>
                <c:pt idx="3">
                  <c:v>Morality</c:v>
                </c:pt>
                <c:pt idx="4">
                  <c:v>Intellect</c:v>
                </c:pt>
              </c:strCache>
            </c:strRef>
          </c:cat>
          <c:val>
            <c:numRef>
              <c:f>Sheet1!$C$2:$C$6</c:f>
              <c:numCache>
                <c:formatCode>General</c:formatCode>
                <c:ptCount val="5"/>
                <c:pt idx="0">
                  <c:v>0.52</c:v>
                </c:pt>
                <c:pt idx="1">
                  <c:v>0.55000000000000004</c:v>
                </c:pt>
                <c:pt idx="2">
                  <c:v>0.59</c:v>
                </c:pt>
                <c:pt idx="3">
                  <c:v>0.67</c:v>
                </c:pt>
                <c:pt idx="4">
                  <c:v>0.67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A9CE-2745-843B-86FF51FCF3C5}"/>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max val="0.8"/>
          <c:min val="0"/>
        </c:scaling>
        <c:delete val="0"/>
        <c:axPos val="l"/>
        <c:majorGridlines/>
        <c:numFmt formatCode="General" sourceLinked="1"/>
        <c:majorTickMark val="out"/>
        <c:minorTickMark val="none"/>
        <c:tickLblPos val="nextTo"/>
        <c:crossAx val="-2068027336"/>
        <c:crosses val="autoZero"/>
        <c:crossBetween val="between"/>
      </c:valAx>
    </c:plotArea>
    <c:legend>
      <c:legendPos val="t"/>
      <c:overlay val="0"/>
      <c:txPr>
        <a:bodyPr/>
        <a:lstStyle/>
        <a:p>
          <a:pPr>
            <a:defRPr sz="1100"/>
          </a:pPr>
          <a:endParaRPr lang="zh-CN"/>
        </a:p>
      </c:txPr>
    </c:legend>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title>
      <c:tx>
        <c:rich>
          <a:bodyPr/>
          <a:lstStyle/>
          <a:p>
            <a:r>
              <a:rPr lang="de-DE" sz="1200" b="0"/>
              <a:t>Stable Bias Rate by attribute (wrong image in all 7 languages)</a:t>
            </a:r>
          </a:p>
        </c:rich>
      </c:tx>
      <c:overlay val="0"/>
    </c:title>
    <c:autoTitleDeleted val="0"/>
    <c:plotArea>
      <c:layout/>
      <c:barChart>
        <c:barDir val="col"/>
        <c:grouping val="clustered"/>
        <c:varyColors val="1"/>
        <c:ser>
          <c:idx val="0"/>
          <c:order val="0"/>
          <c:tx>
            <c:strRef>
              <c:f>Sheet1!$B$1</c:f>
              <c:strCache>
                <c:ptCount val="1"/>
                <c:pt idx="0">
                  <c:v>Qwen2.5-VL-7B</c:v>
                </c:pt>
              </c:strCache>
            </c:strRef>
          </c:tx>
          <c:spPr>
            <a:solidFill>
              <a:srgbClr val="4C72B0"/>
            </a:solidFill>
          </c:spPr>
          <c:invertIfNegative val="1"/>
          <c:cat>
            <c:strRef>
              <c:f>Sheet1!$A$2:$A$6</c:f>
              <c:strCache>
                <c:ptCount val="5"/>
                <c:pt idx="0">
                  <c:v>Wealth</c:v>
                </c:pt>
                <c:pt idx="1">
                  <c:v>Power</c:v>
                </c:pt>
                <c:pt idx="2">
                  <c:v>Civility</c:v>
                </c:pt>
                <c:pt idx="3">
                  <c:v>Morality</c:v>
                </c:pt>
                <c:pt idx="4">
                  <c:v>Intellect</c:v>
                </c:pt>
              </c:strCache>
            </c:strRef>
          </c:cat>
          <c:val>
            <c:numRef>
              <c:f>Sheet1!$B$2:$B$6</c:f>
              <c:numCache>
                <c:formatCode>General</c:formatCode>
                <c:ptCount val="5"/>
                <c:pt idx="0">
                  <c:v>0.57999999999999996</c:v>
                </c:pt>
                <c:pt idx="1">
                  <c:v>0.28000000000000003</c:v>
                </c:pt>
                <c:pt idx="2">
                  <c:v>0.22</c:v>
                </c:pt>
                <c:pt idx="3">
                  <c:v>0.18</c:v>
                </c:pt>
                <c:pt idx="4">
                  <c:v>0.17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23B5-6A4A-BA31-13E1AB27FAD8}"/>
            </c:ext>
          </c:extLst>
        </c:ser>
        <c:ser>
          <c:idx val="1"/>
          <c:order val="1"/>
          <c:tx>
            <c:strRef>
              <c:f>Sheet1!$C$1</c:f>
              <c:strCache>
                <c:ptCount val="1"/>
                <c:pt idx="0">
                  <c:v>InternVL3-8B</c:v>
                </c:pt>
              </c:strCache>
            </c:strRef>
          </c:tx>
          <c:spPr>
            <a:solidFill>
              <a:srgbClr val="C44E52"/>
            </a:solidFill>
          </c:spPr>
          <c:invertIfNegative val="1"/>
          <c:cat>
            <c:strRef>
              <c:f>Sheet1!$A$2:$A$6</c:f>
              <c:strCache>
                <c:ptCount val="5"/>
                <c:pt idx="0">
                  <c:v>Wealth</c:v>
                </c:pt>
                <c:pt idx="1">
                  <c:v>Power</c:v>
                </c:pt>
                <c:pt idx="2">
                  <c:v>Civility</c:v>
                </c:pt>
                <c:pt idx="3">
                  <c:v>Morality</c:v>
                </c:pt>
                <c:pt idx="4">
                  <c:v>Intellect</c:v>
                </c:pt>
              </c:strCache>
            </c:strRef>
          </c:cat>
          <c:val>
            <c:numRef>
              <c:f>Sheet1!$C$2:$C$6</c:f>
              <c:numCache>
                <c:formatCode>General</c:formatCode>
                <c:ptCount val="5"/>
                <c:pt idx="0">
                  <c:v>0.45</c:v>
                </c:pt>
                <c:pt idx="1">
                  <c:v>0.36</c:v>
                </c:pt>
                <c:pt idx="2">
                  <c:v>0.3</c:v>
                </c:pt>
                <c:pt idx="3">
                  <c:v>0.23</c:v>
                </c:pt>
                <c:pt idx="4">
                  <c:v>0.19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23B5-6A4A-BA31-13E1AB27FAD8}"/>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max val="0.7"/>
          <c:min val="0"/>
        </c:scaling>
        <c:delete val="0"/>
        <c:axPos val="l"/>
        <c:majorGridlines/>
        <c:numFmt formatCode="General" sourceLinked="1"/>
        <c:majorTickMark val="out"/>
        <c:minorTickMark val="none"/>
        <c:tickLblPos val="nextTo"/>
        <c:crossAx val="-2068027336"/>
        <c:crosses val="autoZero"/>
        <c:crossBetween val="between"/>
      </c:valAx>
    </c:plotArea>
    <c:legend>
      <c:legendPos val="t"/>
      <c:overlay val="0"/>
      <c:txPr>
        <a:bodyPr/>
        <a:lstStyle/>
        <a:p>
          <a:pPr>
            <a:defRPr sz="1100"/>
          </a:pPr>
          <a:endParaRPr lang="zh-CN"/>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78433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dirty="0"/>
              <a:t>So now, the second main result is about language.</a:t>
            </a:r>
          </a:p>
          <a:p>
            <a:r>
              <a:rPr lang="zh-CN" altLang="zh-CN" dirty="0"/>
              <a:t>And this result actually changed what we thought after the first report. In Report 1, we only had four languages, and at that point the bias looked pretty similar across them. So our early conclusion was basically: maybe language does not matter that much.</a:t>
            </a:r>
            <a:endParaRPr lang="en-US" altLang="zh-CN" dirty="0"/>
          </a:p>
          <a:p>
            <a:endParaRPr lang="en-US" altLang="zh-CN" dirty="0"/>
          </a:p>
          <a:p>
            <a:r>
              <a:rPr lang="zh-CN" altLang="en-US" dirty="0"/>
              <a:t>换</a:t>
            </a:r>
            <a:endParaRPr lang="en-US" altLang="zh-CN" dirty="0"/>
          </a:p>
          <a:p>
            <a:endParaRPr lang="zh-CN" altLang="zh-CN" dirty="0"/>
          </a:p>
          <a:p>
            <a:r>
              <a:rPr lang="zh-CN" altLang="zh-CN" dirty="0"/>
              <a:t>But once we added more languages, especially Bengali and Greek, the picture changed. Now we do see a real language effect.</a:t>
            </a:r>
          </a:p>
          <a:p>
            <a:r>
              <a:rPr lang="zh-CN" altLang="zh-CN" dirty="0"/>
              <a:t>What we find is that Bengali and Greek prompts lead to more bias than English prompts. So the images are exactly the same, the task is exactly the same, but when the prompt is written in Bengali or Greek, the model is more likely to choose the prototypical-but-wrong image.</a:t>
            </a:r>
            <a:endParaRPr lang="en-US" altLang="zh-CN" dirty="0"/>
          </a:p>
          <a:p>
            <a:endParaRPr lang="zh-CN" altLang="zh-CN" dirty="0"/>
          </a:p>
          <a:p>
            <a:r>
              <a:rPr lang="zh-CN" altLang="zh-CN" dirty="0"/>
              <a:t>And importantly, this happens in both model families. We see it in Qwen, and we also see it in InternVL. So this is not just one model behaving strangely.</a:t>
            </a:r>
          </a:p>
          <a:p>
            <a:r>
              <a:rPr lang="zh-CN" altLang="zh-CN" dirty="0"/>
              <a:t>One important detail, though, is that language does not completely change the structure of the bias. The same attributes are still the risky ones. Wealth and Power are still the ones with stronger bias, while Morality and Intellect are much closer to chance.</a:t>
            </a:r>
          </a:p>
          <a:p>
            <a:r>
              <a:rPr lang="zh-CN" altLang="zh-CN" dirty="0"/>
              <a:t>So the way I would summarize this result is: language does not really change </a:t>
            </a:r>
            <a:r>
              <a:rPr lang="zh-CN" altLang="zh-CN" i="1" dirty="0"/>
              <a:t>which</a:t>
            </a:r>
            <a:r>
              <a:rPr lang="zh-CN" altLang="zh-CN" dirty="0"/>
              <a:t> attributes are biased. It changes </a:t>
            </a:r>
            <a:r>
              <a:rPr lang="zh-CN" altLang="zh-CN" i="1" dirty="0"/>
              <a:t>how strong</a:t>
            </a:r>
            <a:r>
              <a:rPr lang="zh-CN" altLang="zh-CN" dirty="0"/>
              <a:t> the bias is.</a:t>
            </a:r>
            <a:endParaRPr lang="en-US" altLang="zh-CN" dirty="0"/>
          </a:p>
          <a:p>
            <a:endParaRPr lang="en-US" altLang="zh-CN" dirty="0"/>
          </a:p>
          <a:p>
            <a:r>
              <a:rPr lang="en-US" altLang="zh-CN" dirty="0"/>
              <a:t>---</a:t>
            </a:r>
          </a:p>
          <a:p>
            <a:r>
              <a:rPr lang="zh-CN" altLang="zh-CN" dirty="0"/>
              <a:t>This plot shows the same result in odds-ratio form.</a:t>
            </a:r>
          </a:p>
          <a:p>
            <a:r>
              <a:rPr lang="zh-CN" altLang="zh-CN" dirty="0"/>
              <a:t>The dashed vertical line at 1 means “same as English.” So if a point is around 1, that language behaves roughly like English. If it is to the right of 1, then that language produces more bias than English. If it is to the left, then it produces less bias.</a:t>
            </a:r>
          </a:p>
          <a:p>
            <a:r>
              <a:rPr lang="zh-CN" altLang="zh-CN" dirty="0"/>
              <a:t>The bars are confidence intervals, so they show how uncertain the estimate is.</a:t>
            </a:r>
          </a:p>
          <a:p>
            <a:r>
              <a:rPr lang="zh-CN" altLang="zh-CN" dirty="0"/>
              <a:t>What you can see here is that Chinese, Russian, and Hindi are mostly close to English. Arabic is a little bit higher, but the clearest pattern is Bengali and Greek. For both models, these two languages are on the right side, meaning they increase the odds of choosing the prototypical-but-wrong image.</a:t>
            </a:r>
          </a:p>
          <a:p>
            <a:r>
              <a:rPr lang="zh-CN" altLang="zh-CN" dirty="0"/>
              <a:t>So the important point is not “all non-English languages are worse.” That would be too simple, and it is not what we see.</a:t>
            </a:r>
          </a:p>
          <a:p>
            <a:r>
              <a:rPr lang="zh-CN" altLang="zh-CN" dirty="0"/>
              <a:t>The real pattern is more selective: some languages, especially Bengali and Greek in this setup, make the model rely more on the prototype shortcut.</a:t>
            </a:r>
          </a:p>
          <a:p>
            <a:endParaRPr lang="zh-CN" altLang="zh-CN"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dirty="0"/>
              <a:t>Now, the obvious question is: maybe this is just a translation problem.</a:t>
            </a:r>
          </a:p>
          <a:p>
            <a:r>
              <a:rPr lang="zh-CN" altLang="zh-CN" dirty="0"/>
              <a:t>Maybe Bengali and Greek were translated badly, so the model could not understand the prompt properly, and then it fell back on the visual stereotype.</a:t>
            </a:r>
          </a:p>
          <a:p>
            <a:r>
              <a:rPr lang="zh-CN" altLang="zh-CN" dirty="0"/>
              <a:t>So we checked that directly.</a:t>
            </a:r>
          </a:p>
          <a:p>
            <a:r>
              <a:rPr lang="zh-CN" altLang="zh-CN" dirty="0"/>
              <a:t>For every non-English prompt, we translated it back into English, and then compared that back-translation with the original English prompt. The idea is simple: if the translated prompt drifted a lot, then the meaning may not have been preserved.</a:t>
            </a:r>
          </a:p>
          <a:p>
            <a:r>
              <a:rPr lang="zh-CN" altLang="zh-CN" dirty="0"/>
              <a:t>So if bad translation were the explanation, we should see the most biased languages also having the worst translation </a:t>
            </a:r>
            <a:r>
              <a:rPr lang="en-US" altLang="zh-CN" dirty="0"/>
              <a:t>quality</a:t>
            </a:r>
          </a:p>
          <a:p>
            <a:endParaRPr lang="zh-CN" altLang="zh-CN" dirty="0"/>
          </a:p>
          <a:p>
            <a:r>
              <a:rPr lang="zh-CN" altLang="zh-CN" dirty="0"/>
              <a:t>But we actually see the opposite.</a:t>
            </a:r>
          </a:p>
          <a:p>
            <a:r>
              <a:rPr lang="zh-CN" altLang="zh-CN" dirty="0"/>
              <a:t>Greek and Bengali are the most biased languages, but they also have the highest back-translation </a:t>
            </a:r>
            <a:r>
              <a:rPr lang="en-US" altLang="zh-CN" dirty="0"/>
              <a:t>quality</a:t>
            </a:r>
            <a:r>
              <a:rPr lang="zh-CN" altLang="zh-CN" dirty="0"/>
              <a:t>. Greek is the highest, and Bengali is also very high. Meanwhile, Hindi and Russian have the lowest fidelity, but they do not show the strongest bias.</a:t>
            </a:r>
          </a:p>
          <a:p>
            <a:r>
              <a:rPr lang="zh-CN" altLang="zh-CN" dirty="0"/>
              <a:t>So this makes the simple translation-artifact explanation unlikely.</a:t>
            </a:r>
            <a:endParaRPr lang="en-US" altLang="zh-CN" dirty="0"/>
          </a:p>
          <a:p>
            <a:endParaRPr lang="zh-CN" altLang="zh-CN" dirty="0"/>
          </a:p>
          <a:p>
            <a:r>
              <a:rPr lang="zh-CN" altLang="zh-CN" dirty="0"/>
              <a:t>Of course, this does not prove translation is perfect. It is still a sanity check, and it uses the same general translation pipeline. But it does rule out the most obvious concern, which is that the language effect is just coming from bad translations.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备注占位符 1">
            <a:extLst>
              <a:ext uri="{FF2B5EF4-FFF2-40B4-BE49-F238E27FC236}">
                <a16:creationId xmlns:a16="http://schemas.microsoft.com/office/drawing/2014/main" id="{32A8244E-A35C-64C3-6672-3229F746C06D}"/>
              </a:ext>
            </a:extLst>
          </p:cNvPr>
          <p:cNvSpPr>
            <a:spLocks noGrp="1"/>
          </p:cNvSpPr>
          <p:nvPr>
            <p:ph type="body" idx="1"/>
          </p:nvPr>
        </p:nvSpPr>
        <p:spPr>
          <a:xfrm>
            <a:off x="685800" y="5867400"/>
            <a:ext cx="5486400" cy="4800600"/>
          </a:xfrm>
          <a:prstGeom prst="rect">
            <a:avLst/>
          </a:prstGeom>
        </p:spPr>
        <p:txBody>
          <a:bodyPr/>
          <a:lstStyle/>
          <a:p>
            <a:r>
              <a:rPr lang="zh-CN" altLang="zh-CN" dirty="0"/>
              <a:t>Next, we wanted to go beyond average error rates.</a:t>
            </a:r>
          </a:p>
          <a:p>
            <a:r>
              <a:rPr lang="zh-CN" altLang="zh-CN" dirty="0"/>
              <a:t>Average error rate tells us how often the model is wrong overall, but it does not tell us whether the model is stable across languages.</a:t>
            </a:r>
          </a:p>
          <a:p>
            <a:r>
              <a:rPr lang="zh-CN" altLang="zh-CN" dirty="0"/>
              <a:t>So we introduce this first behavioral metric: cross-lingual flip rate.</a:t>
            </a:r>
            <a:endParaRPr lang="en-US" altLang="zh-CN" dirty="0"/>
          </a:p>
          <a:p>
            <a:endParaRPr lang="zh-CN" altLang="zh-CN" dirty="0"/>
          </a:p>
          <a:p>
            <a:r>
              <a:rPr lang="zh-CN" altLang="zh-CN" dirty="0"/>
              <a:t>The question here is very simple: for the same image pair, if we only change the language of the prompt, does the model change its answer?</a:t>
            </a:r>
          </a:p>
          <a:p>
            <a:r>
              <a:rPr lang="zh-CN" altLang="zh-CN" dirty="0"/>
              <a:t>If the model picks one image in English, but a different image in Bengali or Greek, then that item has flipped.</a:t>
            </a:r>
            <a:endParaRPr lang="en-US" altLang="zh-CN" dirty="0"/>
          </a:p>
          <a:p>
            <a:endParaRPr lang="zh-CN" altLang="zh-CN" dirty="0"/>
          </a:p>
          <a:p>
            <a:r>
              <a:rPr lang="zh-CN" altLang="zh-CN" dirty="0"/>
              <a:t>Overall, the flip rate is pretty high — about two-thirds of image pairs flip at least once across languages. So even if the average error rate looks stable, underneath that average, many individual items are actually changing their answer depending on language.</a:t>
            </a:r>
            <a:endParaRPr lang="en-US" altLang="zh-CN" dirty="0"/>
          </a:p>
          <a:p>
            <a:endParaRPr lang="en-US" altLang="zh-CN" dirty="0"/>
          </a:p>
          <a:p>
            <a:r>
              <a:rPr lang="zh-CN" altLang="en-US" dirty="0"/>
              <a:t>换</a:t>
            </a:r>
            <a:endParaRPr lang="en-US" altLang="zh-CN" dirty="0"/>
          </a:p>
          <a:p>
            <a:endParaRPr lang="zh-CN" altLang="zh-CN" dirty="0"/>
          </a:p>
          <a:p>
            <a:r>
              <a:rPr lang="zh-CN" altLang="zh-CN" dirty="0"/>
              <a:t>But the interesting part is Wealth.</a:t>
            </a:r>
          </a:p>
          <a:p>
            <a:r>
              <a:rPr lang="zh-CN" altLang="zh-CN" dirty="0"/>
              <a:t>Wealth flips the least. And that sounds a little counterintuitive at first, because low flip rate sounds like the model is stable. But here, it is stable in a bad way.</a:t>
            </a:r>
          </a:p>
          <a:p>
            <a:r>
              <a:rPr lang="zh-CN" altLang="zh-CN" dirty="0"/>
              <a:t>For Wealth items, the model is often locked into the wrong prototypical choice across languages. So it is not randomly changing its mind. It is consistently biased.</a:t>
            </a:r>
          </a:p>
          <a:p>
            <a:r>
              <a:rPr lang="zh-CN" altLang="zh-CN" dirty="0"/>
              <a:t>That is why low flip rate for Wealth is actually evidence of stable bias.</a:t>
            </a:r>
          </a:p>
          <a:p>
            <a:br>
              <a:rPr lang="zh-CN" altLang="zh-CN" dirty="0"/>
            </a:br>
            <a:endParaRPr kumimoji="1" lang="zh-CN"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备注占位符 1">
            <a:extLst>
              <a:ext uri="{FF2B5EF4-FFF2-40B4-BE49-F238E27FC236}">
                <a16:creationId xmlns:a16="http://schemas.microsoft.com/office/drawing/2014/main" id="{A562A5A6-4AED-91F2-2F42-7F0FEC07832B}"/>
              </a:ext>
            </a:extLst>
          </p:cNvPr>
          <p:cNvSpPr>
            <a:spLocks noGrp="1"/>
          </p:cNvSpPr>
          <p:nvPr>
            <p:ph type="body" idx="1"/>
          </p:nvPr>
        </p:nvSpPr>
        <p:spPr>
          <a:xfrm>
            <a:off x="685800" y="5867400"/>
            <a:ext cx="5486400" cy="4800600"/>
          </a:xfrm>
          <a:prstGeom prst="rect">
            <a:avLst/>
          </a:prstGeom>
        </p:spPr>
        <p:txBody>
          <a:bodyPr/>
          <a:lstStyle/>
          <a:p>
            <a:r>
              <a:rPr lang="zh-CN" altLang="zh-CN" dirty="0"/>
              <a:t>The second metric makes that point even more directly.</a:t>
            </a:r>
          </a:p>
          <a:p>
            <a:r>
              <a:rPr lang="zh-CN" altLang="zh-CN" dirty="0"/>
              <a:t>Stable Bias Rate asks: does the model pick the wrong, prototypical image in all seven languages?</a:t>
            </a:r>
          </a:p>
          <a:p>
            <a:r>
              <a:rPr lang="zh-CN" altLang="zh-CN" dirty="0"/>
              <a:t>So this is a stricter metric than just being wrong once. An item only counts as stable bias if the model picks the prototypical-but-wrong image every single time, no matter which language we use.</a:t>
            </a:r>
          </a:p>
          <a:p>
            <a:r>
              <a:rPr lang="zh-CN" altLang="zh-CN" dirty="0"/>
              <a:t>And here the result is very clear: Wealth has the highest stable-bias rate in both models.</a:t>
            </a:r>
          </a:p>
          <a:p>
            <a:r>
              <a:rPr lang="zh-CN" altLang="zh-CN" dirty="0"/>
              <a:t>For Qwen, it is around 0.58. For InternVL, it is around 0.45. That means a large fraction of Wealth items are not just occasionally biased — they are biased everywhere.</a:t>
            </a:r>
          </a:p>
          <a:p>
            <a:r>
              <a:rPr lang="zh-CN" altLang="zh-CN" dirty="0"/>
              <a:t>This is important because it tells us that the Wealth effect is not just language-specific noise. It is not that the model flips around randomly depending on the prompt language.</a:t>
            </a:r>
          </a:p>
          <a:p>
            <a:r>
              <a:rPr lang="zh-CN" altLang="zh-CN" dirty="0"/>
              <a:t>Instead, for Wealth, there seems to be a very strong visual prototype, and both models keep falling back to it across languages.</a:t>
            </a:r>
          </a:p>
          <a:p>
            <a:r>
              <a:rPr lang="zh-CN" altLang="zh-CN" dirty="0"/>
              <a:t>So the takeaway here is: Wealth is not just biased. It is stably biased.</a:t>
            </a:r>
          </a:p>
          <a:p>
            <a:endParaRPr kumimoji="1" lang="zh-CN"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dirty="0"/>
              <a:t>Now we wanted to check another possible confound.</a:t>
            </a:r>
          </a:p>
          <a:p>
            <a:r>
              <a:rPr lang="zh-CN" altLang="zh-CN" dirty="0"/>
              <a:t>In this dataset, the adversarial image differs from the correct image along some visual feature — for example count, color, scale, layout, or spatial relation.</a:t>
            </a:r>
          </a:p>
          <a:p>
            <a:endParaRPr lang="en-US" altLang="zh-CN" dirty="0"/>
          </a:p>
          <a:p>
            <a:r>
              <a:rPr lang="zh-CN" altLang="zh-CN" dirty="0"/>
              <a:t>So someone could reasonably ask: maybe the model is not reacting to a social prototype at all. Maybe it is just confused by some low-level visual feature, like color.</a:t>
            </a:r>
          </a:p>
          <a:p>
            <a:r>
              <a:rPr lang="zh-CN" altLang="zh-CN" dirty="0"/>
              <a:t>So we split the results by which visual knob was changed.</a:t>
            </a:r>
          </a:p>
          <a:p>
            <a:r>
              <a:rPr lang="zh-CN" altLang="zh-CN" dirty="0"/>
              <a:t>And the result is reassuring. If the bias were just a color artifact, then color should have the highest error rate. But actually color is the lowest, around 0.40.</a:t>
            </a:r>
          </a:p>
          <a:p>
            <a:r>
              <a:rPr lang="zh-CN" altLang="zh-CN" dirty="0"/>
              <a:t>The bias is highest for visual features that are harder for the model to perceive, like count and scale. And that makes sense, because vision-language models are known to struggle with precise counting and fine-grained size differences.</a:t>
            </a:r>
          </a:p>
          <a:p>
            <a:endParaRPr lang="en-US" altLang="zh-CN" dirty="0"/>
          </a:p>
          <a:p>
            <a:r>
              <a:rPr lang="zh-CN" altLang="zh-CN" dirty="0"/>
              <a:t>So the interpretation is: when the visual evidence is weak or hard to ground, the model falls back on the prototype.</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dirty="0"/>
              <a:t>So let me put the whole story together.</a:t>
            </a:r>
          </a:p>
          <a:p>
            <a:r>
              <a:rPr lang="zh-CN" altLang="zh-CN" dirty="0"/>
              <a:t>I think the simplest way to understand the results is as a fallback mechanism with two factors.</a:t>
            </a:r>
          </a:p>
          <a:p>
            <a:endParaRPr lang="en-US" altLang="zh-CN" dirty="0"/>
          </a:p>
          <a:p>
            <a:r>
              <a:rPr lang="zh-CN" altLang="zh-CN" dirty="0"/>
              <a:t>The first factor is the attribute.</a:t>
            </a:r>
          </a:p>
          <a:p>
            <a:r>
              <a:rPr lang="zh-CN" altLang="zh-CN" dirty="0"/>
              <a:t>Some attributes have a strong visual prototype. Wealth and Power are good examples. The web has lots of repeated visual patterns for what “rich” or “powerful” is supposed to look like. But for attributes like Morality or Intellect, there is no equally stable visual appearance.</a:t>
            </a:r>
          </a:p>
          <a:p>
            <a:r>
              <a:rPr lang="zh-CN" altLang="zh-CN" dirty="0"/>
              <a:t>So the attribute decides whether there is a prototype shortcut available in the first place.</a:t>
            </a:r>
          </a:p>
          <a:p>
            <a:endParaRPr lang="en-US" altLang="zh-CN" dirty="0"/>
          </a:p>
          <a:p>
            <a:r>
              <a:rPr lang="zh-CN" altLang="zh-CN" dirty="0"/>
              <a:t>The second factor is signal weakness.</a:t>
            </a:r>
          </a:p>
          <a:p>
            <a:r>
              <a:rPr lang="zh-CN" altLang="zh-CN" dirty="0"/>
              <a:t>The model uses the shortcut more when the real evidence is harder to use. That can happen on the vision side, when the key difference is count or scale. And it can also happen on the language side, when the prompt is in a language where the model seems less robust, like Bengali or Greek in our results.</a:t>
            </a:r>
          </a:p>
          <a:p>
            <a:r>
              <a:rPr lang="zh-CN" altLang="zh-CN" dirty="0"/>
              <a:t>So these look like two different routes, but they lead to the same behavior: the model falls back on the prototype.</a:t>
            </a:r>
          </a:p>
          <a:p>
            <a:r>
              <a:rPr lang="zh-CN" altLang="zh-CN" dirty="0"/>
              <a:t>In one sentence: the attribute decides whether a shortcut exists, and the weakness of the visual or language signal decides how much the model takes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dirty="0"/>
              <a:t>Of course, there are several limitations.</a:t>
            </a:r>
          </a:p>
          <a:p>
            <a:r>
              <a:rPr lang="zh-CN" altLang="zh-CN" dirty="0"/>
              <a:t>First, we are still using a single seed and a single translation backend, so we do not want to overclaim.</a:t>
            </a:r>
          </a:p>
          <a:p>
            <a:r>
              <a:rPr lang="zh-CN" altLang="zh-CN" dirty="0"/>
              <a:t>Second, the adversarial visual knob is still a co-varying factor. The dataset changes things like color, scale, count, or layout, and those are not fully separable from the prototype manipulation.</a:t>
            </a:r>
          </a:p>
          <a:p>
            <a:r>
              <a:rPr lang="zh-CN" altLang="zh-CN" dirty="0"/>
              <a:t>Third, some of the demography cells are small. For example, Wealth has only around thirty items per language. The mixed-effects model helps by pooling information, but the power is still limited.</a:t>
            </a:r>
          </a:p>
          <a:p>
            <a:r>
              <a:rPr lang="zh-CN" altLang="zh-CN" dirty="0"/>
              <a:t>Fourth, we had to drop Qwen-32B because it was just too slow on the available GPUs. It was around 280 seconds per item, which was not feasible for this report.</a:t>
            </a:r>
          </a:p>
          <a:p>
            <a:r>
              <a:rPr lang="zh-CN" altLang="zh-CN" dirty="0"/>
              <a:t>And finally, we still do not know exactly why Arabic, Bengali, and Greek are the elevated languages. It is not a clean resource-level story, because Russian is also non-Latin and high-resource, but it is basically flat.</a:t>
            </a:r>
          </a:p>
          <a:p>
            <a:r>
              <a:rPr lang="zh-CN" altLang="zh-CN" dirty="0"/>
              <a:t>So the main thing we can say now is: the language effect exists, but the mechanism behind exactly these languages is still open.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dirty="0"/>
              <a:t>For next steps, we have four directions.</a:t>
            </a:r>
          </a:p>
          <a:p>
            <a:r>
              <a:rPr lang="zh-CN" altLang="zh-CN" dirty="0"/>
              <a:t>First, we want to test model scale. The plan is to run Qwen-32B in 4-bit, so we can see whether a larger model reduces this bias or whether the same pattern stays.</a:t>
            </a:r>
          </a:p>
          <a:p>
            <a:r>
              <a:rPr lang="zh-CN" altLang="zh-CN" dirty="0"/>
              <a:t>Second, we want to add more model families, like Gemma and LLaVA-OneVision. That will tell us whether the language effect is really general across VLMs.</a:t>
            </a:r>
          </a:p>
          <a:p>
            <a:r>
              <a:rPr lang="zh-CN" altLang="zh-CN" dirty="0"/>
              <a:t>Third, we want to do shortcut-severing experiments. Basically, remove or weaken the prototype cue and see whether the model can still choose correctly. That would help us distinguish real grounding from shortcut-based guessing.</a:t>
            </a:r>
          </a:p>
          <a:p>
            <a:r>
              <a:rPr lang="zh-CN" altLang="zh-CN" dirty="0"/>
              <a:t>And fourth, we want to pin down the language mechanism. Right now we know Bengali, Greek, and to some extent Arabic are elevated, but we do not yet know whether that comes from resource level, script, cultural loading, or something else.</a:t>
            </a:r>
          </a:p>
          <a:p>
            <a:r>
              <a:rPr lang="zh-CN" altLang="zh-CN" dirty="0"/>
              <a:t>So the next stage is not just to add more data, but to explain why the language effect happens.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EN —</a:t>
            </a:r>
          </a:p>
          <a:p>
            <a:r>
              <a:rPr dirty="0"/>
              <a:t>To sum up: we built and ran the first multilingual, multi-model version of </a:t>
            </a:r>
            <a:r>
              <a:rPr dirty="0" err="1"/>
              <a:t>ProtoBias</a:t>
            </a:r>
            <a:r>
              <a:rPr dirty="0"/>
              <a:t> — seven languages and two model families. The two results both hold across families: the bias is attribute-specific, and it is modulated by language. The code is all on GitHub. Thank you, and I am happy to take questions.</a:t>
            </a:r>
          </a:p>
          <a:p>
            <a:endParaRPr dirty="0"/>
          </a:p>
          <a:p>
            <a:r>
              <a:rPr dirty="0" err="1"/>
              <a:t>中文</a:t>
            </a:r>
            <a:r>
              <a:rPr dirty="0"/>
              <a:t> —</a:t>
            </a:r>
          </a:p>
          <a:p>
            <a:r>
              <a:rPr dirty="0" err="1"/>
              <a:t>总结一下:我们搭建并跑通了首个多语言、多模型版本的</a:t>
            </a:r>
            <a:r>
              <a:rPr dirty="0"/>
              <a:t> </a:t>
            </a:r>
            <a:r>
              <a:rPr dirty="0" err="1"/>
              <a:t>ProtoBias</a:t>
            </a:r>
            <a:r>
              <a:rPr dirty="0"/>
              <a:t>——</a:t>
            </a:r>
            <a:r>
              <a:rPr dirty="0" err="1"/>
              <a:t>七种语言、两个模型家族。两个结果都跨家族成立:偏见是属性特异的,并且受语言调制。代码都在</a:t>
            </a:r>
            <a:r>
              <a:rPr dirty="0"/>
              <a:t> GitHub </a:t>
            </a:r>
            <a:r>
              <a:rPr dirty="0" err="1"/>
              <a:t>上。谢谢,欢迎提问</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EN (backup — pull up if asked for exact numbers) —</a:t>
            </a:r>
          </a:p>
          <a:p>
            <a:r>
              <a:rPr dirty="0"/>
              <a:t>This table puts both models side by side: overall error rate, the attribute and language test p-values, the wealth odds ratio, the Greek and Bengali odds ratios, the stable-bias rate, and the flip rate. The headline: the attribute p-values are tiny in both models, and the language p-values are small in both — so both effects replicate.</a:t>
            </a:r>
          </a:p>
          <a:p>
            <a:endParaRPr dirty="0"/>
          </a:p>
          <a:p>
            <a:r>
              <a:rPr dirty="0" err="1"/>
              <a:t>中文</a:t>
            </a:r>
            <a:r>
              <a:rPr dirty="0"/>
              <a:t>(</a:t>
            </a:r>
            <a:r>
              <a:rPr dirty="0" err="1"/>
              <a:t>备份</a:t>
            </a:r>
            <a:r>
              <a:rPr dirty="0"/>
              <a:t>——</a:t>
            </a:r>
            <a:r>
              <a:rPr dirty="0" err="1"/>
              <a:t>要确切数字时调出</a:t>
            </a:r>
            <a:r>
              <a:rPr dirty="0"/>
              <a:t>)—</a:t>
            </a:r>
          </a:p>
          <a:p>
            <a:r>
              <a:rPr dirty="0" err="1"/>
              <a:t>这张表把两个模型并排:总体错误率、属性和语言检验的</a:t>
            </a:r>
            <a:r>
              <a:rPr dirty="0"/>
              <a:t> p </a:t>
            </a:r>
            <a:r>
              <a:rPr dirty="0" err="1"/>
              <a:t>值、财富优势比、希腊语和孟加拉语优势比、稳定偏见率、翻转率。重点:属性</a:t>
            </a:r>
            <a:r>
              <a:rPr dirty="0"/>
              <a:t> p </a:t>
            </a:r>
            <a:r>
              <a:rPr dirty="0" err="1"/>
              <a:t>值在两个模型里都极小,语言</a:t>
            </a:r>
            <a:r>
              <a:rPr dirty="0"/>
              <a:t> p </a:t>
            </a:r>
            <a:r>
              <a:rPr dirty="0" err="1"/>
              <a:t>值也都小</a:t>
            </a:r>
            <a:r>
              <a:rPr dirty="0"/>
              <a:t>——</a:t>
            </a:r>
            <a:r>
              <a:rPr dirty="0" err="1"/>
              <a:t>两个效应都复现</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EN (backup — why the second model) —</a:t>
            </a:r>
          </a:p>
          <a:p>
            <a:r>
              <a:rPr dirty="0"/>
              <a:t>The main reason is to rule out that the finding is just a Qwen quirk; an independent second family tests whether it generalizes. We picked InternVL3-8B for four reasons: it is a different family from a different lab; it is about the same size as Qwen, so size is controlled; it is a strong, standard baseline used in papers; and it fit our pipeline because it handles multiple images and loads with the standard tools.</a:t>
            </a:r>
          </a:p>
          <a:p>
            <a:endParaRPr dirty="0"/>
          </a:p>
          <a:p>
            <a:r>
              <a:rPr dirty="0" err="1"/>
              <a:t>中文</a:t>
            </a:r>
            <a:r>
              <a:rPr dirty="0"/>
              <a:t>(</a:t>
            </a:r>
            <a:r>
              <a:rPr dirty="0" err="1"/>
              <a:t>备份</a:t>
            </a:r>
            <a:r>
              <a:rPr dirty="0"/>
              <a:t>——</a:t>
            </a:r>
            <a:r>
              <a:rPr dirty="0" err="1"/>
              <a:t>为什么选第二个模型</a:t>
            </a:r>
            <a:r>
              <a:rPr dirty="0"/>
              <a:t>)—</a:t>
            </a:r>
          </a:p>
          <a:p>
            <a:r>
              <a:rPr dirty="0" err="1"/>
              <a:t>主要原因是排除"这只是</a:t>
            </a:r>
            <a:r>
              <a:rPr dirty="0"/>
              <a:t> Qwen </a:t>
            </a:r>
            <a:r>
              <a:rPr dirty="0" err="1"/>
              <a:t>的怪癖</a:t>
            </a:r>
            <a:r>
              <a:rPr dirty="0"/>
              <a:t>";</a:t>
            </a:r>
            <a:r>
              <a:rPr dirty="0" err="1"/>
              <a:t>一个独立的第二家族能检验它是否普遍。选</a:t>
            </a:r>
            <a:r>
              <a:rPr dirty="0"/>
              <a:t> InternVL3-8B </a:t>
            </a:r>
            <a:r>
              <a:rPr dirty="0" err="1"/>
              <a:t>有四个理由:来自另一个实验室的不同家族;和</a:t>
            </a:r>
            <a:r>
              <a:rPr dirty="0"/>
              <a:t> Qwen </a:t>
            </a:r>
            <a:r>
              <a:rPr dirty="0" err="1"/>
              <a:t>体量相当,控制了规模;是论文常用的强基线;支持多图、能用标准工具加载,适配我们的流程</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EN (backup — the statistics) —</a:t>
            </a:r>
          </a:p>
          <a:p>
            <a:r>
              <a:rPr dirty="0"/>
              <a:t>We used a logistic regression because the outcome is yes/no (did it pick the stereotype); its coefficients become odds ratios. We made it "mixed-effects" by giving each image pair its own baseline, because the same pair appears in seven languages, so those seven are not independent. To test a whole factor like language, we use a likelihood-ratio test: fit the model with and without that factor and check if it fits significantly better, giving one p-value per factor. The table: attribute is very strong, language is significant, no interaction.</a:t>
            </a:r>
          </a:p>
          <a:p>
            <a:endParaRPr dirty="0"/>
          </a:p>
          <a:p>
            <a:r>
              <a:rPr dirty="0" err="1"/>
              <a:t>中文</a:t>
            </a:r>
            <a:r>
              <a:rPr dirty="0"/>
              <a:t>(</a:t>
            </a:r>
            <a:r>
              <a:rPr dirty="0" err="1"/>
              <a:t>备份</a:t>
            </a:r>
            <a:r>
              <a:rPr dirty="0"/>
              <a:t>——</a:t>
            </a:r>
            <a:r>
              <a:rPr dirty="0" err="1"/>
              <a:t>统计方法</a:t>
            </a:r>
            <a:r>
              <a:rPr dirty="0"/>
              <a:t>)—</a:t>
            </a:r>
          </a:p>
          <a:p>
            <a:r>
              <a:rPr dirty="0" err="1"/>
              <a:t>我们用逻辑回归,因为结果是是</a:t>
            </a:r>
            <a:r>
              <a:rPr dirty="0"/>
              <a:t>/</a:t>
            </a:r>
            <a:r>
              <a:rPr dirty="0" err="1"/>
              <a:t>否</a:t>
            </a:r>
            <a:r>
              <a:rPr dirty="0"/>
              <a:t>(</a:t>
            </a:r>
            <a:r>
              <a:rPr dirty="0" err="1"/>
              <a:t>有没有选刻板印象那张</a:t>
            </a:r>
            <a:r>
              <a:rPr dirty="0"/>
              <a:t>),系数转成优势比。做成"混合效应"是给每对图自己的基线,因为同一对图出现在七种语言里,这七个不独立。要检验"语言"这样一整个因素,用似然比检验:拟合带和不带该因素的两个模型,看带上后是否显著更好,每个因素一个 p </a:t>
            </a:r>
            <a:r>
              <a:rPr dirty="0" err="1"/>
              <a:t>值。表里:属性非常强,语言显著,无交互</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EN (backup — the translation check) —</a:t>
            </a:r>
          </a:p>
          <a:p>
            <a:r>
              <a:rPr dirty="0"/>
              <a:t>We take the English prompt, translate it into, say, Greek (this is what the model sees), then translate that Greek back into English, and compare the two English versions. If they are close, the translation kept the meaning; we score closeness with a simple word-overlap measure. The key result again: the most-biased languages have the closest back-translations — so the bias is not from bad translation.</a:t>
            </a:r>
          </a:p>
          <a:p>
            <a:endParaRPr dirty="0"/>
          </a:p>
          <a:p>
            <a:r>
              <a:rPr dirty="0" err="1"/>
              <a:t>中文</a:t>
            </a:r>
            <a:r>
              <a:rPr dirty="0"/>
              <a:t>(</a:t>
            </a:r>
            <a:r>
              <a:rPr dirty="0" err="1"/>
              <a:t>备份</a:t>
            </a:r>
            <a:r>
              <a:rPr dirty="0"/>
              <a:t>——</a:t>
            </a:r>
            <a:r>
              <a:rPr dirty="0" err="1"/>
              <a:t>翻译检查</a:t>
            </a:r>
            <a:r>
              <a:rPr dirty="0"/>
              <a:t>)—</a:t>
            </a:r>
          </a:p>
          <a:p>
            <a:r>
              <a:rPr dirty="0" err="1"/>
              <a:t>拿英文提示,翻成比如希腊语</a:t>
            </a:r>
            <a:r>
              <a:rPr dirty="0"/>
              <a:t>(</a:t>
            </a:r>
            <a:r>
              <a:rPr dirty="0" err="1"/>
              <a:t>模型看到的就是它</a:t>
            </a:r>
            <a:r>
              <a:rPr dirty="0"/>
              <a:t>),再把希腊语翻回英文,比较前后两个英文版本。接近就说明翻译保住了意思;接近程度用一个简单的词重叠分数量。关键结果还是那句:最偏的语言回译最接近——</a:t>
            </a:r>
            <a:r>
              <a:rPr dirty="0" err="1"/>
              <a:t>所以偏见不是来自烂翻译</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EN (backup — exact metric definitions) —</a:t>
            </a:r>
          </a:p>
          <a:p>
            <a:r>
              <a:rPr dirty="0"/>
              <a:t>For each image pair, look at its answers across all its languages. Wrong in all of them = stable bias. Right in all of them = stable correct. Mixed = a flip. These three add up to one. The important point: these are measured per image-pair across languages, not per single judgment — which is why the average error rate can look flat while many items are actually flipping underneath.</a:t>
            </a:r>
          </a:p>
          <a:p>
            <a:endParaRPr dirty="0"/>
          </a:p>
          <a:p>
            <a:r>
              <a:rPr dirty="0" err="1"/>
              <a:t>中文</a:t>
            </a:r>
            <a:r>
              <a:rPr dirty="0"/>
              <a:t>(</a:t>
            </a:r>
            <a:r>
              <a:rPr dirty="0" err="1"/>
              <a:t>备份</a:t>
            </a:r>
            <a:r>
              <a:rPr dirty="0"/>
              <a:t>——</a:t>
            </a:r>
            <a:r>
              <a:rPr dirty="0" err="1"/>
              <a:t>指标精确定义</a:t>
            </a:r>
            <a:r>
              <a:rPr dirty="0"/>
              <a:t>)—</a:t>
            </a:r>
          </a:p>
          <a:p>
            <a:r>
              <a:rPr dirty="0" err="1"/>
              <a:t>对每对图,看它在所有语言下的答案。全错</a:t>
            </a:r>
            <a:r>
              <a:rPr dirty="0"/>
              <a:t> = </a:t>
            </a:r>
            <a:r>
              <a:rPr dirty="0" err="1"/>
              <a:t>稳定偏见;全对</a:t>
            </a:r>
            <a:r>
              <a:rPr dirty="0"/>
              <a:t> = </a:t>
            </a:r>
            <a:r>
              <a:rPr dirty="0" err="1"/>
              <a:t>稳定正确;有对有错</a:t>
            </a:r>
            <a:r>
              <a:rPr dirty="0"/>
              <a:t> = </a:t>
            </a:r>
            <a:r>
              <a:rPr dirty="0" err="1"/>
              <a:t>翻转。三者加起来等于一。重点:它们是"按图对、跨语言"量的,不是"按单次判断"量的</a:t>
            </a:r>
            <a:r>
              <a:rPr dirty="0"/>
              <a:t>——</a:t>
            </a:r>
            <a:r>
              <a:rPr dirty="0" err="1"/>
              <a:t>这就是为什么平均错误率看着平,底下其实很多图对在翻转</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EN (interactive backup) —</a:t>
            </a:r>
          </a:p>
          <a:p>
            <a:r>
              <a:rPr dirty="0"/>
              <a:t>These three slides act as one panel: the buttons at the bottom are clickable in slideshow mode. Click "</a:t>
            </a:r>
            <a:r>
              <a:rPr dirty="0" err="1"/>
              <a:t>InternVL</a:t>
            </a:r>
            <a:r>
              <a:rPr dirty="0"/>
              <a:t>" or "Both" to switch which model's chart is shown — use this if someone doubts the result holds across models, and switch live in front of them. Navigate with the buttons, not the arrow keys.</a:t>
            </a:r>
          </a:p>
          <a:p>
            <a:endParaRPr dirty="0"/>
          </a:p>
          <a:p>
            <a:r>
              <a:rPr dirty="0" err="1"/>
              <a:t>中文</a:t>
            </a:r>
            <a:r>
              <a:rPr dirty="0"/>
              <a:t>(</a:t>
            </a:r>
            <a:r>
              <a:rPr dirty="0" err="1"/>
              <a:t>交互备份</a:t>
            </a:r>
            <a:r>
              <a:rPr dirty="0"/>
              <a:t>)—</a:t>
            </a:r>
          </a:p>
          <a:p>
            <a:r>
              <a:rPr dirty="0" err="1"/>
              <a:t>这三页其实是一个面板:底部按钮在放映模式下可点。点</a:t>
            </a:r>
            <a:r>
              <a:rPr dirty="0"/>
              <a:t> "</a:t>
            </a:r>
            <a:r>
              <a:rPr dirty="0" err="1"/>
              <a:t>InternVL</a:t>
            </a:r>
            <a:r>
              <a:rPr dirty="0"/>
              <a:t>" </a:t>
            </a:r>
            <a:r>
              <a:rPr dirty="0" err="1"/>
              <a:t>或</a:t>
            </a:r>
            <a:r>
              <a:rPr dirty="0"/>
              <a:t> "Both" </a:t>
            </a:r>
            <a:r>
              <a:rPr dirty="0" err="1"/>
              <a:t>切换显示哪个模型的图</a:t>
            </a:r>
            <a:r>
              <a:rPr dirty="0"/>
              <a:t>——</a:t>
            </a:r>
            <a:r>
              <a:rPr dirty="0" err="1"/>
              <a:t>有人怀疑结果跨模型是否成立时,当场切给他看。用按钮导航,别用方向键</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EN — Same panel, now showing InternVL3. Click "Qwen-7B" or "Both" to switch.</a:t>
            </a:r>
          </a:p>
          <a:p>
            <a:r>
              <a:rPr dirty="0" err="1"/>
              <a:t>中文</a:t>
            </a:r>
            <a:r>
              <a:rPr dirty="0"/>
              <a:t> — </a:t>
            </a:r>
            <a:r>
              <a:rPr dirty="0" err="1"/>
              <a:t>同一面板,现在显示</a:t>
            </a:r>
            <a:r>
              <a:rPr dirty="0"/>
              <a:t> InternVL3。点 "Qwen-7B" </a:t>
            </a:r>
            <a:r>
              <a:rPr dirty="0" err="1"/>
              <a:t>或</a:t>
            </a:r>
            <a:r>
              <a:rPr dirty="0"/>
              <a:t> "Both" </a:t>
            </a:r>
            <a:r>
              <a:rPr dirty="0" err="1"/>
              <a:t>切换</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EN — Same panel, showing both models overlaid. Click a button to switch back.</a:t>
            </a:r>
          </a:p>
          <a:p>
            <a:r>
              <a:rPr dirty="0" err="1"/>
              <a:t>中文</a:t>
            </a:r>
            <a:r>
              <a:rPr dirty="0"/>
              <a:t> — </a:t>
            </a:r>
            <a:r>
              <a:rPr dirty="0" err="1"/>
              <a:t>同一面板,两个模型叠加显示。点按钮切回</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slide" Target="slide26.xml"/><Relationship Id="rId4" Type="http://schemas.openxmlformats.org/officeDocument/2006/relationships/slide" Target="slide25.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slide" Target="slide26.xml"/><Relationship Id="rId4" Type="http://schemas.openxmlformats.org/officeDocument/2006/relationships/slide" Target="slide24.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slide" Target="slide25.xml"/><Relationship Id="rId4" Type="http://schemas.openxmlformats.org/officeDocument/2006/relationships/slide" Target="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685800" y="1554480"/>
            <a:ext cx="109728" cy="109728"/>
          </a:xfrm>
          <a:prstGeom prst="ellipse">
            <a:avLst/>
          </a:prstGeom>
          <a:solidFill>
            <a:srgbClr val="C44E52"/>
          </a:solidFill>
          <a:ln/>
        </p:spPr>
        <p:txBody>
          <a:bodyPr/>
          <a:lstStyle/>
          <a:p>
            <a:endParaRPr lang="zh-CN" altLang="en-US"/>
          </a:p>
        </p:txBody>
      </p:sp>
      <p:sp>
        <p:nvSpPr>
          <p:cNvPr id="3" name="Shape 1"/>
          <p:cNvSpPr/>
          <p:nvPr/>
        </p:nvSpPr>
        <p:spPr>
          <a:xfrm>
            <a:off x="886968" y="1554480"/>
            <a:ext cx="109728" cy="109728"/>
          </a:xfrm>
          <a:prstGeom prst="ellipse">
            <a:avLst/>
          </a:prstGeom>
          <a:solidFill>
            <a:srgbClr val="4C72B0"/>
          </a:solidFill>
          <a:ln/>
        </p:spPr>
        <p:txBody>
          <a:bodyPr/>
          <a:lstStyle/>
          <a:p>
            <a:endParaRPr lang="zh-CN" altLang="en-US"/>
          </a:p>
        </p:txBody>
      </p:sp>
      <p:sp>
        <p:nvSpPr>
          <p:cNvPr id="4" name="Shape 2"/>
          <p:cNvSpPr/>
          <p:nvPr/>
        </p:nvSpPr>
        <p:spPr>
          <a:xfrm>
            <a:off x="1088136" y="1554480"/>
            <a:ext cx="109728" cy="109728"/>
          </a:xfrm>
          <a:prstGeom prst="ellipse">
            <a:avLst/>
          </a:prstGeom>
          <a:solidFill>
            <a:srgbClr val="55A868"/>
          </a:solidFill>
          <a:ln/>
        </p:spPr>
        <p:txBody>
          <a:bodyPr/>
          <a:lstStyle/>
          <a:p>
            <a:endParaRPr lang="zh-CN" altLang="en-US"/>
          </a:p>
        </p:txBody>
      </p:sp>
      <p:sp>
        <p:nvSpPr>
          <p:cNvPr id="5" name="Text 3"/>
          <p:cNvSpPr/>
          <p:nvPr/>
        </p:nvSpPr>
        <p:spPr>
          <a:xfrm>
            <a:off x="685800" y="1874520"/>
            <a:ext cx="10058400" cy="365760"/>
          </a:xfrm>
          <a:prstGeom prst="rect">
            <a:avLst/>
          </a:prstGeom>
          <a:noFill/>
          <a:ln/>
        </p:spPr>
        <p:txBody>
          <a:bodyPr wrap="square" lIns="0" tIns="0" rIns="0" bIns="0" rtlCol="0" anchor="ctr"/>
          <a:lstStyle/>
          <a:p>
            <a:pPr marL="0" indent="0">
              <a:buNone/>
            </a:pPr>
            <a:r>
              <a:rPr lang="en-US" sz="1400" b="1" kern="0" spc="400" dirty="0">
                <a:solidFill>
                  <a:srgbClr val="C9D2EC"/>
                </a:solidFill>
                <a:latin typeface="Calibri" pitchFamily="34" charset="0"/>
                <a:ea typeface="Calibri" pitchFamily="34" charset="-122"/>
                <a:cs typeface="Calibri" pitchFamily="34" charset="-120"/>
              </a:rPr>
              <a:t>PROGRESS REPORT II</a:t>
            </a:r>
            <a:endParaRPr lang="en-US" sz="1400" dirty="0"/>
          </a:p>
        </p:txBody>
      </p:sp>
      <p:sp>
        <p:nvSpPr>
          <p:cNvPr id="6" name="Text 4"/>
          <p:cNvSpPr/>
          <p:nvPr/>
        </p:nvSpPr>
        <p:spPr>
          <a:xfrm>
            <a:off x="685800" y="2286000"/>
            <a:ext cx="10607040" cy="1737360"/>
          </a:xfrm>
          <a:prstGeom prst="rect">
            <a:avLst/>
          </a:prstGeom>
          <a:noFill/>
          <a:ln/>
        </p:spPr>
        <p:txBody>
          <a:bodyPr wrap="square" lIns="0" tIns="0" rIns="0" bIns="0" rtlCol="0" anchor="ctr"/>
          <a:lstStyle/>
          <a:p>
            <a:pPr marL="0" indent="0">
              <a:lnSpc>
                <a:spcPts val="5000"/>
              </a:lnSpc>
              <a:buNone/>
            </a:pPr>
            <a:r>
              <a:rPr lang="en-US" sz="4400" b="1" dirty="0">
                <a:solidFill>
                  <a:srgbClr val="FFFFFF"/>
                </a:solidFill>
                <a:latin typeface="Georgia" pitchFamily="34" charset="0"/>
                <a:ea typeface="Georgia" pitchFamily="34" charset="-122"/>
                <a:cs typeface="Georgia" pitchFamily="34" charset="-120"/>
              </a:rPr>
              <a:t>Cross-lingual Prototypicality Bias</a:t>
            </a:r>
            <a:endParaRPr lang="en-US" sz="4400" dirty="0"/>
          </a:p>
          <a:p>
            <a:pPr marL="0" indent="0">
              <a:lnSpc>
                <a:spcPts val="5000"/>
              </a:lnSpc>
              <a:buNone/>
            </a:pPr>
            <a:r>
              <a:rPr lang="en-US" sz="4400" b="1" dirty="0">
                <a:solidFill>
                  <a:srgbClr val="FFFFFF"/>
                </a:solidFill>
                <a:latin typeface="Georgia" pitchFamily="34" charset="0"/>
                <a:ea typeface="Georgia" pitchFamily="34" charset="-122"/>
                <a:cs typeface="Georgia" pitchFamily="34" charset="-120"/>
              </a:rPr>
              <a:t>in Vision-Language Models</a:t>
            </a:r>
            <a:endParaRPr lang="en-US" sz="4400" dirty="0"/>
          </a:p>
        </p:txBody>
      </p:sp>
      <p:sp>
        <p:nvSpPr>
          <p:cNvPr id="7" name="Text 5"/>
          <p:cNvSpPr/>
          <p:nvPr/>
        </p:nvSpPr>
        <p:spPr>
          <a:xfrm>
            <a:off x="685800" y="4160520"/>
            <a:ext cx="9875520" cy="640080"/>
          </a:xfrm>
          <a:prstGeom prst="rect">
            <a:avLst/>
          </a:prstGeom>
          <a:noFill/>
          <a:ln/>
        </p:spPr>
        <p:txBody>
          <a:bodyPr wrap="square" lIns="0" tIns="0" rIns="0" bIns="0" rtlCol="0" anchor="ctr"/>
          <a:lstStyle/>
          <a:p>
            <a:pPr marL="0" indent="0">
              <a:buNone/>
            </a:pPr>
            <a:r>
              <a:rPr lang="en-US" sz="1800" i="1" dirty="0">
                <a:solidFill>
                  <a:srgbClr val="C9D2EC"/>
                </a:solidFill>
                <a:latin typeface="Georgia" pitchFamily="34" charset="0"/>
                <a:ea typeface="Georgia" pitchFamily="34" charset="-122"/>
                <a:cs typeface="Georgia" pitchFamily="34" charset="-120"/>
              </a:rPr>
              <a:t>Does a vision-language model track meaning — or lean on language- and culture-specific prototypes?</a:t>
            </a:r>
            <a:endParaRPr lang="en-US" sz="1800" dirty="0"/>
          </a:p>
        </p:txBody>
      </p:sp>
      <p:sp>
        <p:nvSpPr>
          <p:cNvPr id="8" name="Text 6"/>
          <p:cNvSpPr/>
          <p:nvPr/>
        </p:nvSpPr>
        <p:spPr>
          <a:xfrm>
            <a:off x="685800" y="5715000"/>
            <a:ext cx="10789920" cy="7315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Xiaochuan Li · Rishav Chandra</a:t>
            </a:r>
            <a:endParaRPr lang="en-US" sz="1300" dirty="0"/>
          </a:p>
          <a:p>
            <a:pPr marL="0" indent="0">
              <a:buNone/>
            </a:pPr>
            <a:r>
              <a:rPr lang="en-US" sz="1300" dirty="0">
                <a:solidFill>
                  <a:srgbClr val="9AA0B0"/>
                </a:solidFill>
                <a:latin typeface="Calibri" pitchFamily="34" charset="0"/>
                <a:ea typeface="Calibri" pitchFamily="34" charset="-122"/>
                <a:cs typeface="Calibri" pitchFamily="34" charset="-120"/>
              </a:rPr>
              <a:t>Mentor: Subhadeep Roy   ·   Extending ProtoBias (Roy, Bhatia &amp; Eger 2026)   ·   June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Prototypicality bias: judging by looks, not meaning</a:t>
            </a:r>
            <a:endParaRPr lang="en-US" sz="3200" dirty="0"/>
          </a:p>
        </p:txBody>
      </p:sp>
      <p:sp>
        <p:nvSpPr>
          <p:cNvPr id="4" name="Text 2"/>
          <p:cNvSpPr/>
          <p:nvPr/>
        </p:nvSpPr>
        <p:spPr>
          <a:xfrm>
            <a:off x="685800" y="1965960"/>
            <a:ext cx="594360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Automatic metrics and VLMs increasingly replace humans for image–text evaluation.</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Failure mode: they reward the image that looks typical — even when it is wrong for the prompt.</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ProtoBias pairs a semantically-correct but atypical image with a prototypical but wrong one.</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A judge that prefers the typical-but-wrong image is riding a shortcut, not the meaning.</a:t>
            </a:r>
            <a:endParaRPr lang="en-US" sz="1750" dirty="0"/>
          </a:p>
        </p:txBody>
      </p:sp>
      <p:pic>
        <p:nvPicPr>
          <p:cNvPr id="5" name="Image 0" descr="/Users/xiaochuan/Desktop/Projects/P5_Multi_linguistic_histoBias/v1/paper/assets/protobias_examples_animals_objects.png"/>
          <p:cNvPicPr>
            <a:picLocks noChangeAspect="1"/>
          </p:cNvPicPr>
          <p:nvPr/>
        </p:nvPicPr>
        <p:blipFill>
          <a:blip r:embed="rId3"/>
          <a:stretch>
            <a:fillRect/>
          </a:stretch>
        </p:blipFill>
        <p:spPr>
          <a:xfrm>
            <a:off x="6720840" y="2514600"/>
            <a:ext cx="4983480" cy="2416819"/>
          </a:xfrm>
          <a:prstGeom prst="rect">
            <a:avLst/>
          </a:prstGeom>
        </p:spPr>
      </p:pic>
      <p:sp>
        <p:nvSpPr>
          <p:cNvPr id="6" name="Text 3"/>
          <p:cNvSpPr/>
          <p:nvPr/>
        </p:nvSpPr>
        <p:spPr>
          <a:xfrm>
            <a:off x="6720840" y="5074920"/>
            <a:ext cx="498348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Correct-but-atypical (left) vs prototypical-but-wrong (right).</a:t>
            </a:r>
            <a:endParaRPr lang="en-US" sz="1050" dirty="0"/>
          </a:p>
        </p:txBody>
      </p:sp>
      <p:sp>
        <p:nvSpPr>
          <p:cNvPr id="7" name="Text 4"/>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OUR EXTENSION</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Does the bias depend on the language you ask in?</a:t>
            </a:r>
            <a:endParaRPr lang="en-US" sz="3200" dirty="0"/>
          </a:p>
        </p:txBody>
      </p:sp>
      <p:sp>
        <p:nvSpPr>
          <p:cNvPr id="4" name="Text 2"/>
          <p:cNvSpPr/>
          <p:nvPr/>
        </p:nvSpPr>
        <p:spPr>
          <a:xfrm>
            <a:off x="685800" y="1965960"/>
            <a:ext cx="612648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ProtoBias is English-only and studies evaluation metrics.</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Our turn: translate only the prompt, hold the image pair fixed.</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If the verdict moves with language, the model is importing language-specific expectations.</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RQ1 — is the bias consistent across languages?   RQ2 — worse in socially sensitive domains?</a:t>
            </a:r>
            <a:endParaRPr lang="en-US" sz="1750" dirty="0"/>
          </a:p>
        </p:txBody>
      </p:sp>
      <p:sp>
        <p:nvSpPr>
          <p:cNvPr id="5" name="Shape 3"/>
          <p:cNvSpPr/>
          <p:nvPr/>
        </p:nvSpPr>
        <p:spPr>
          <a:xfrm>
            <a:off x="7040880" y="2286000"/>
            <a:ext cx="4480560" cy="777240"/>
          </a:xfrm>
          <a:prstGeom prst="roundRect">
            <a:avLst>
              <a:gd name="adj" fmla="val 9412"/>
            </a:avLst>
          </a:prstGeom>
          <a:solidFill>
            <a:srgbClr val="F5F6FA"/>
          </a:solidFill>
          <a:ln w="12700">
            <a:solidFill>
              <a:srgbClr val="E4E6EF"/>
            </a:solidFill>
            <a:prstDash val="solid"/>
          </a:ln>
        </p:spPr>
        <p:txBody>
          <a:bodyPr/>
          <a:lstStyle/>
          <a:p>
            <a:endParaRPr lang="zh-CN" altLang="en-US"/>
          </a:p>
        </p:txBody>
      </p:sp>
      <p:sp>
        <p:nvSpPr>
          <p:cNvPr id="6" name="Text 4"/>
          <p:cNvSpPr/>
          <p:nvPr/>
        </p:nvSpPr>
        <p:spPr>
          <a:xfrm>
            <a:off x="7040880" y="2286000"/>
            <a:ext cx="4480560" cy="777240"/>
          </a:xfrm>
          <a:prstGeom prst="rect">
            <a:avLst/>
          </a:prstGeom>
          <a:noFill/>
          <a:ln/>
        </p:spPr>
        <p:txBody>
          <a:bodyPr wrap="square" lIns="25400" tIns="25400" rIns="25400" bIns="25400" rtlCol="0" anchor="ctr"/>
          <a:lstStyle/>
          <a:p>
            <a:pPr marL="0" indent="0" algn="ctr">
              <a:buNone/>
            </a:pPr>
            <a:r>
              <a:rPr lang="en-US" sz="1250" b="1" dirty="0">
                <a:solidFill>
                  <a:srgbClr val="23262F"/>
                </a:solidFill>
                <a:latin typeface="Calibri" pitchFamily="34" charset="0"/>
                <a:ea typeface="Calibri" pitchFamily="34" charset="-122"/>
                <a:cs typeface="Calibri" pitchFamily="34" charset="-120"/>
              </a:rPr>
              <a:t>image pair  +  prompt in language L</a:t>
            </a:r>
            <a:endParaRPr lang="en-US" sz="1250" dirty="0"/>
          </a:p>
        </p:txBody>
      </p:sp>
      <p:sp>
        <p:nvSpPr>
          <p:cNvPr id="7" name="Shape 5"/>
          <p:cNvSpPr/>
          <p:nvPr/>
        </p:nvSpPr>
        <p:spPr>
          <a:xfrm>
            <a:off x="9281160" y="3063240"/>
            <a:ext cx="0" cy="457200"/>
          </a:xfrm>
          <a:prstGeom prst="line">
            <a:avLst/>
          </a:prstGeom>
          <a:noFill/>
          <a:ln w="25400">
            <a:solidFill>
              <a:srgbClr val="C44E52"/>
            </a:solidFill>
            <a:prstDash val="solid"/>
            <a:tailEnd type="triangle"/>
          </a:ln>
        </p:spPr>
        <p:txBody>
          <a:bodyPr/>
          <a:lstStyle/>
          <a:p>
            <a:endParaRPr lang="zh-CN" altLang="en-US"/>
          </a:p>
        </p:txBody>
      </p:sp>
      <p:sp>
        <p:nvSpPr>
          <p:cNvPr id="8" name="Shape 6"/>
          <p:cNvSpPr/>
          <p:nvPr/>
        </p:nvSpPr>
        <p:spPr>
          <a:xfrm>
            <a:off x="7680960" y="3611880"/>
            <a:ext cx="3200400" cy="777240"/>
          </a:xfrm>
          <a:prstGeom prst="roundRect">
            <a:avLst>
              <a:gd name="adj" fmla="val 9412"/>
            </a:avLst>
          </a:prstGeom>
          <a:solidFill>
            <a:srgbClr val="1B1F3B"/>
          </a:solidFill>
          <a:ln w="12700">
            <a:solidFill>
              <a:srgbClr val="E4E6EF"/>
            </a:solidFill>
            <a:prstDash val="solid"/>
          </a:ln>
        </p:spPr>
        <p:txBody>
          <a:bodyPr/>
          <a:lstStyle/>
          <a:p>
            <a:endParaRPr lang="zh-CN" altLang="en-US"/>
          </a:p>
        </p:txBody>
      </p:sp>
      <p:sp>
        <p:nvSpPr>
          <p:cNvPr id="9" name="Text 7"/>
          <p:cNvSpPr/>
          <p:nvPr/>
        </p:nvSpPr>
        <p:spPr>
          <a:xfrm>
            <a:off x="7680960" y="3611880"/>
            <a:ext cx="3200400" cy="777240"/>
          </a:xfrm>
          <a:prstGeom prst="rect">
            <a:avLst/>
          </a:prstGeom>
          <a:noFill/>
          <a:ln/>
        </p:spPr>
        <p:txBody>
          <a:bodyPr wrap="square" lIns="25400" tIns="25400" rIns="25400" bIns="2540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VLM judge</a:t>
            </a:r>
            <a:endParaRPr lang="en-US" sz="1250" dirty="0"/>
          </a:p>
        </p:txBody>
      </p:sp>
      <p:sp>
        <p:nvSpPr>
          <p:cNvPr id="10" name="Shape 8"/>
          <p:cNvSpPr/>
          <p:nvPr/>
        </p:nvSpPr>
        <p:spPr>
          <a:xfrm>
            <a:off x="9281160" y="4389120"/>
            <a:ext cx="0" cy="457200"/>
          </a:xfrm>
          <a:prstGeom prst="line">
            <a:avLst/>
          </a:prstGeom>
          <a:noFill/>
          <a:ln w="25400">
            <a:solidFill>
              <a:srgbClr val="C44E52"/>
            </a:solidFill>
            <a:prstDash val="solid"/>
            <a:tailEnd type="triangle"/>
          </a:ln>
        </p:spPr>
        <p:txBody>
          <a:bodyPr/>
          <a:lstStyle/>
          <a:p>
            <a:endParaRPr lang="zh-CN" altLang="en-US"/>
          </a:p>
        </p:txBody>
      </p:sp>
      <p:sp>
        <p:nvSpPr>
          <p:cNvPr id="11" name="Shape 9"/>
          <p:cNvSpPr/>
          <p:nvPr/>
        </p:nvSpPr>
        <p:spPr>
          <a:xfrm>
            <a:off x="7040880" y="4937760"/>
            <a:ext cx="4480560" cy="777240"/>
          </a:xfrm>
          <a:prstGeom prst="roundRect">
            <a:avLst>
              <a:gd name="adj" fmla="val 9412"/>
            </a:avLst>
          </a:prstGeom>
          <a:solidFill>
            <a:srgbClr val="F5F6FA"/>
          </a:solidFill>
          <a:ln w="12700">
            <a:solidFill>
              <a:srgbClr val="E4E6EF"/>
            </a:solidFill>
            <a:prstDash val="solid"/>
          </a:ln>
        </p:spPr>
        <p:txBody>
          <a:bodyPr/>
          <a:lstStyle/>
          <a:p>
            <a:endParaRPr lang="zh-CN" altLang="en-US"/>
          </a:p>
        </p:txBody>
      </p:sp>
      <p:sp>
        <p:nvSpPr>
          <p:cNvPr id="12" name="Text 10"/>
          <p:cNvSpPr/>
          <p:nvPr/>
        </p:nvSpPr>
        <p:spPr>
          <a:xfrm>
            <a:off x="7040880" y="4937760"/>
            <a:ext cx="4480560" cy="777240"/>
          </a:xfrm>
          <a:prstGeom prst="rect">
            <a:avLst/>
          </a:prstGeom>
          <a:noFill/>
          <a:ln/>
        </p:spPr>
        <p:txBody>
          <a:bodyPr wrap="square" lIns="25400" tIns="25400" rIns="25400" bIns="25400" rtlCol="0" anchor="ctr"/>
          <a:lstStyle/>
          <a:p>
            <a:pPr marL="0" indent="0" algn="ctr">
              <a:buNone/>
            </a:pPr>
            <a:r>
              <a:rPr lang="en-US" sz="1250" b="1" dirty="0">
                <a:solidFill>
                  <a:srgbClr val="23262F"/>
                </a:solidFill>
                <a:latin typeface="Calibri" pitchFamily="34" charset="0"/>
                <a:ea typeface="Calibri" pitchFamily="34" charset="-122"/>
                <a:cs typeface="Calibri" pitchFamily="34" charset="-120"/>
              </a:rPr>
              <a:t>picks image 1 or 2  →  error rate</a:t>
            </a:r>
            <a:endParaRPr lang="en-US" sz="1250" dirty="0"/>
          </a:p>
        </p:txBody>
      </p:sp>
      <p:sp>
        <p:nvSpPr>
          <p:cNvPr id="13" name="Text 11"/>
          <p:cNvSpPr/>
          <p:nvPr/>
        </p:nvSpPr>
        <p:spPr>
          <a:xfrm>
            <a:off x="7040880" y="5806440"/>
            <a:ext cx="448056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Same images, language swapped — a controlled cross-lingual probe.</a:t>
            </a:r>
            <a:endParaRPr lang="en-US" sz="1050" dirty="0"/>
          </a:p>
        </p:txBody>
      </p:sp>
      <p:sp>
        <p:nvSpPr>
          <p:cNvPr id="14" name="Text 12"/>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RELATED WORK · NEW SINCE REPORT 1</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Where this sits — bias structure &amp; multilingual bias</a:t>
            </a:r>
            <a:endParaRPr lang="en-US" sz="3200" dirty="0"/>
          </a:p>
        </p:txBody>
      </p:sp>
      <p:sp>
        <p:nvSpPr>
          <p:cNvPr id="4" name="Shape 2"/>
          <p:cNvSpPr/>
          <p:nvPr/>
        </p:nvSpPr>
        <p:spPr>
          <a:xfrm>
            <a:off x="685800" y="2057400"/>
            <a:ext cx="5349240" cy="1783080"/>
          </a:xfrm>
          <a:prstGeom prst="rect">
            <a:avLst/>
          </a:prstGeom>
          <a:solidFill>
            <a:srgbClr val="F5F6FA"/>
          </a:solidFill>
          <a:ln w="12700">
            <a:solidFill>
              <a:srgbClr val="E4E6EF"/>
            </a:solidFill>
            <a:prstDash val="solid"/>
          </a:ln>
        </p:spPr>
        <p:txBody>
          <a:bodyPr/>
          <a:lstStyle/>
          <a:p>
            <a:endParaRPr lang="zh-CN" altLang="en-US"/>
          </a:p>
        </p:txBody>
      </p:sp>
      <p:sp>
        <p:nvSpPr>
          <p:cNvPr id="5" name="Shape 3"/>
          <p:cNvSpPr/>
          <p:nvPr/>
        </p:nvSpPr>
        <p:spPr>
          <a:xfrm>
            <a:off x="685800" y="2057400"/>
            <a:ext cx="82296" cy="1783080"/>
          </a:xfrm>
          <a:prstGeom prst="rect">
            <a:avLst/>
          </a:prstGeom>
          <a:solidFill>
            <a:srgbClr val="C44E52"/>
          </a:solidFill>
          <a:ln/>
        </p:spPr>
        <p:txBody>
          <a:bodyPr/>
          <a:lstStyle/>
          <a:p>
            <a:endParaRPr lang="zh-CN" altLang="en-US"/>
          </a:p>
        </p:txBody>
      </p:sp>
      <p:sp>
        <p:nvSpPr>
          <p:cNvPr id="6" name="Text 4"/>
          <p:cNvSpPr/>
          <p:nvPr/>
        </p:nvSpPr>
        <p:spPr>
          <a:xfrm>
            <a:off x="941832" y="2221992"/>
            <a:ext cx="4892040" cy="256032"/>
          </a:xfrm>
          <a:prstGeom prst="rect">
            <a:avLst/>
          </a:prstGeom>
          <a:noFill/>
          <a:ln/>
        </p:spPr>
        <p:txBody>
          <a:bodyPr wrap="square" lIns="0" tIns="0" rIns="0" bIns="0" rtlCol="0" anchor="ctr"/>
          <a:lstStyle/>
          <a:p>
            <a:pPr marL="0" indent="0">
              <a:buNone/>
            </a:pPr>
            <a:r>
              <a:rPr lang="en-US" sz="1050" b="1" kern="0" spc="200" dirty="0">
                <a:solidFill>
                  <a:srgbClr val="C44E52"/>
                </a:solidFill>
                <a:latin typeface="Calibri" pitchFamily="34" charset="0"/>
                <a:ea typeface="Calibri" pitchFamily="34" charset="-122"/>
                <a:cs typeface="Calibri" pitchFamily="34" charset="-120"/>
              </a:rPr>
              <a:t>FACCT 2025</a:t>
            </a:r>
            <a:endParaRPr lang="en-US" sz="1050" dirty="0"/>
          </a:p>
        </p:txBody>
      </p:sp>
      <p:sp>
        <p:nvSpPr>
          <p:cNvPr id="7" name="Text 5"/>
          <p:cNvSpPr/>
          <p:nvPr/>
        </p:nvSpPr>
        <p:spPr>
          <a:xfrm>
            <a:off x="941832" y="2514600"/>
            <a:ext cx="4892040" cy="548640"/>
          </a:xfrm>
          <a:prstGeom prst="rect">
            <a:avLst/>
          </a:prstGeom>
          <a:noFill/>
          <a:ln/>
        </p:spPr>
        <p:txBody>
          <a:bodyPr wrap="square" lIns="0" tIns="0" rIns="0" bIns="0" rtlCol="0" anchor="ctr"/>
          <a:lstStyle/>
          <a:p>
            <a:pPr marL="0" indent="0">
              <a:buNone/>
            </a:pPr>
            <a:r>
              <a:rPr lang="en-US" sz="1400" b="1" dirty="0">
                <a:solidFill>
                  <a:srgbClr val="23262F"/>
                </a:solidFill>
                <a:latin typeface="Georgia" pitchFamily="34" charset="0"/>
                <a:ea typeface="Georgia" pitchFamily="34" charset="-122"/>
                <a:cs typeface="Georgia" pitchFamily="34" charset="-120"/>
              </a:rPr>
              <a:t>Hausladen et al. — Social Perception of Faces in a VLM</a:t>
            </a:r>
            <a:endParaRPr lang="en-US" sz="1400" dirty="0"/>
          </a:p>
        </p:txBody>
      </p:sp>
      <p:sp>
        <p:nvSpPr>
          <p:cNvPr id="8" name="Text 6"/>
          <p:cNvSpPr/>
          <p:nvPr/>
        </p:nvSpPr>
        <p:spPr>
          <a:xfrm>
            <a:off x="941832" y="3044952"/>
            <a:ext cx="4892040" cy="685800"/>
          </a:xfrm>
          <a:prstGeom prst="rect">
            <a:avLst/>
          </a:prstGeom>
          <a:noFill/>
          <a:ln/>
        </p:spPr>
        <p:txBody>
          <a:bodyPr wrap="square" lIns="0" tIns="0" rIns="0" bIns="0" rtlCol="0" anchor="ctr"/>
          <a:lstStyle/>
          <a:p>
            <a:pPr marL="0" indent="0">
              <a:buNone/>
            </a:pPr>
            <a:r>
              <a:rPr lang="en-US" sz="1200" dirty="0">
                <a:solidFill>
                  <a:srgbClr val="5A6072"/>
                </a:solidFill>
                <a:latin typeface="Calibri" pitchFamily="34" charset="0"/>
                <a:ea typeface="Calibri" pitchFamily="34" charset="-122"/>
                <a:cs typeface="Calibri" pitchFamily="34" charset="-120"/>
              </a:rPr>
              <a:t>Bias concentrates unevenly across social-trait dimensions — parallels our attribute-specific result.</a:t>
            </a:r>
            <a:endParaRPr lang="en-US" sz="1200" dirty="0"/>
          </a:p>
        </p:txBody>
      </p:sp>
      <p:sp>
        <p:nvSpPr>
          <p:cNvPr id="9" name="Shape 7"/>
          <p:cNvSpPr/>
          <p:nvPr/>
        </p:nvSpPr>
        <p:spPr>
          <a:xfrm>
            <a:off x="6355080" y="2057400"/>
            <a:ext cx="5349240" cy="1783080"/>
          </a:xfrm>
          <a:prstGeom prst="rect">
            <a:avLst/>
          </a:prstGeom>
          <a:solidFill>
            <a:srgbClr val="F5F6FA"/>
          </a:solidFill>
          <a:ln w="12700">
            <a:solidFill>
              <a:srgbClr val="E4E6EF"/>
            </a:solidFill>
            <a:prstDash val="solid"/>
          </a:ln>
        </p:spPr>
        <p:txBody>
          <a:bodyPr/>
          <a:lstStyle/>
          <a:p>
            <a:endParaRPr lang="zh-CN" altLang="en-US"/>
          </a:p>
        </p:txBody>
      </p:sp>
      <p:sp>
        <p:nvSpPr>
          <p:cNvPr id="10" name="Shape 8"/>
          <p:cNvSpPr/>
          <p:nvPr/>
        </p:nvSpPr>
        <p:spPr>
          <a:xfrm>
            <a:off x="6355080" y="2057400"/>
            <a:ext cx="82296" cy="1783080"/>
          </a:xfrm>
          <a:prstGeom prst="rect">
            <a:avLst/>
          </a:prstGeom>
          <a:solidFill>
            <a:srgbClr val="4C72B0"/>
          </a:solidFill>
          <a:ln/>
        </p:spPr>
        <p:txBody>
          <a:bodyPr/>
          <a:lstStyle/>
          <a:p>
            <a:endParaRPr lang="zh-CN" altLang="en-US"/>
          </a:p>
        </p:txBody>
      </p:sp>
      <p:sp>
        <p:nvSpPr>
          <p:cNvPr id="11" name="Text 9"/>
          <p:cNvSpPr/>
          <p:nvPr/>
        </p:nvSpPr>
        <p:spPr>
          <a:xfrm>
            <a:off x="6611112" y="2221992"/>
            <a:ext cx="4892040" cy="256032"/>
          </a:xfrm>
          <a:prstGeom prst="rect">
            <a:avLst/>
          </a:prstGeom>
          <a:noFill/>
          <a:ln/>
        </p:spPr>
        <p:txBody>
          <a:bodyPr wrap="square" lIns="0" tIns="0" rIns="0" bIns="0" rtlCol="0" anchor="ctr"/>
          <a:lstStyle/>
          <a:p>
            <a:pPr marL="0" indent="0">
              <a:buNone/>
            </a:pPr>
            <a:r>
              <a:rPr lang="en-US" sz="1050" b="1" kern="0" spc="200" dirty="0">
                <a:solidFill>
                  <a:srgbClr val="4C72B0"/>
                </a:solidFill>
                <a:latin typeface="Calibri" pitchFamily="34" charset="0"/>
                <a:ea typeface="Calibri" pitchFamily="34" charset="-122"/>
                <a:cs typeface="Calibri" pitchFamily="34" charset="-120"/>
              </a:rPr>
              <a:t>AACL 2025</a:t>
            </a:r>
            <a:endParaRPr lang="en-US" sz="1050" dirty="0"/>
          </a:p>
        </p:txBody>
      </p:sp>
      <p:sp>
        <p:nvSpPr>
          <p:cNvPr id="12" name="Text 10"/>
          <p:cNvSpPr/>
          <p:nvPr/>
        </p:nvSpPr>
        <p:spPr>
          <a:xfrm>
            <a:off x="6611112" y="2514600"/>
            <a:ext cx="4892040" cy="548640"/>
          </a:xfrm>
          <a:prstGeom prst="rect">
            <a:avLst/>
          </a:prstGeom>
          <a:noFill/>
          <a:ln/>
        </p:spPr>
        <p:txBody>
          <a:bodyPr wrap="square" lIns="0" tIns="0" rIns="0" bIns="0" rtlCol="0" anchor="ctr"/>
          <a:lstStyle/>
          <a:p>
            <a:pPr marL="0" indent="0">
              <a:buNone/>
            </a:pPr>
            <a:r>
              <a:rPr lang="en-US" sz="1400" b="1" dirty="0">
                <a:solidFill>
                  <a:srgbClr val="23262F"/>
                </a:solidFill>
                <a:latin typeface="Georgia" pitchFamily="34" charset="0"/>
                <a:ea typeface="Georgia" pitchFamily="34" charset="-122"/>
                <a:cs typeface="Georgia" pitchFamily="34" charset="-120"/>
              </a:rPr>
              <a:t>Al Sahili et al. — Breaking Language Barriers or Reinforcing Bias?</a:t>
            </a:r>
            <a:endParaRPr lang="en-US" sz="1400" dirty="0"/>
          </a:p>
        </p:txBody>
      </p:sp>
      <p:sp>
        <p:nvSpPr>
          <p:cNvPr id="13" name="Text 11"/>
          <p:cNvSpPr/>
          <p:nvPr/>
        </p:nvSpPr>
        <p:spPr>
          <a:xfrm>
            <a:off x="6611112" y="3044952"/>
            <a:ext cx="4892040" cy="685800"/>
          </a:xfrm>
          <a:prstGeom prst="rect">
            <a:avLst/>
          </a:prstGeom>
          <a:noFill/>
          <a:ln/>
        </p:spPr>
        <p:txBody>
          <a:bodyPr wrap="square" lIns="0" tIns="0" rIns="0" bIns="0" rtlCol="0" anchor="ctr"/>
          <a:lstStyle/>
          <a:p>
            <a:pPr marL="0" indent="0">
              <a:buNone/>
            </a:pPr>
            <a:r>
              <a:rPr lang="en-US" sz="1200" dirty="0">
                <a:solidFill>
                  <a:srgbClr val="5A6072"/>
                </a:solidFill>
                <a:latin typeface="Calibri" pitchFamily="34" charset="0"/>
                <a:ea typeface="Calibri" pitchFamily="34" charset="-122"/>
                <a:cs typeface="Calibri" pitchFamily="34" charset="-120"/>
              </a:rPr>
              <a:t>Multilingual VLMs are more biased than English, worst in low-resource languages — the closest mirror.</a:t>
            </a:r>
            <a:endParaRPr lang="en-US" sz="1200" dirty="0"/>
          </a:p>
        </p:txBody>
      </p:sp>
      <p:sp>
        <p:nvSpPr>
          <p:cNvPr id="14" name="Shape 12"/>
          <p:cNvSpPr/>
          <p:nvPr/>
        </p:nvSpPr>
        <p:spPr>
          <a:xfrm>
            <a:off x="685800" y="4114800"/>
            <a:ext cx="5349240" cy="1783080"/>
          </a:xfrm>
          <a:prstGeom prst="rect">
            <a:avLst/>
          </a:prstGeom>
          <a:solidFill>
            <a:srgbClr val="F5F6FA"/>
          </a:solidFill>
          <a:ln w="12700">
            <a:solidFill>
              <a:srgbClr val="E4E6EF"/>
            </a:solidFill>
            <a:prstDash val="solid"/>
          </a:ln>
        </p:spPr>
        <p:txBody>
          <a:bodyPr/>
          <a:lstStyle/>
          <a:p>
            <a:endParaRPr lang="zh-CN" altLang="en-US"/>
          </a:p>
        </p:txBody>
      </p:sp>
      <p:sp>
        <p:nvSpPr>
          <p:cNvPr id="15" name="Shape 13"/>
          <p:cNvSpPr/>
          <p:nvPr/>
        </p:nvSpPr>
        <p:spPr>
          <a:xfrm>
            <a:off x="685800" y="4114800"/>
            <a:ext cx="82296" cy="1783080"/>
          </a:xfrm>
          <a:prstGeom prst="rect">
            <a:avLst/>
          </a:prstGeom>
          <a:solidFill>
            <a:srgbClr val="4C72B0"/>
          </a:solidFill>
          <a:ln/>
        </p:spPr>
        <p:txBody>
          <a:bodyPr/>
          <a:lstStyle/>
          <a:p>
            <a:endParaRPr lang="zh-CN" altLang="en-US"/>
          </a:p>
        </p:txBody>
      </p:sp>
      <p:sp>
        <p:nvSpPr>
          <p:cNvPr id="16" name="Text 14"/>
          <p:cNvSpPr/>
          <p:nvPr/>
        </p:nvSpPr>
        <p:spPr>
          <a:xfrm>
            <a:off x="941832" y="4279392"/>
            <a:ext cx="4892040" cy="256032"/>
          </a:xfrm>
          <a:prstGeom prst="rect">
            <a:avLst/>
          </a:prstGeom>
          <a:noFill/>
          <a:ln/>
        </p:spPr>
        <p:txBody>
          <a:bodyPr wrap="square" lIns="0" tIns="0" rIns="0" bIns="0" rtlCol="0" anchor="ctr"/>
          <a:lstStyle/>
          <a:p>
            <a:pPr marL="0" indent="0">
              <a:buNone/>
            </a:pPr>
            <a:r>
              <a:rPr lang="en-US" sz="1050" b="1" kern="0" spc="200" dirty="0">
                <a:solidFill>
                  <a:srgbClr val="4C72B0"/>
                </a:solidFill>
                <a:latin typeface="Calibri" pitchFamily="34" charset="0"/>
                <a:ea typeface="Calibri" pitchFamily="34" charset="-122"/>
                <a:cs typeface="Calibri" pitchFamily="34" charset="-120"/>
              </a:rPr>
              <a:t>COLM 2024</a:t>
            </a:r>
            <a:endParaRPr lang="en-US" sz="1050" dirty="0"/>
          </a:p>
        </p:txBody>
      </p:sp>
      <p:sp>
        <p:nvSpPr>
          <p:cNvPr id="17" name="Text 15"/>
          <p:cNvSpPr/>
          <p:nvPr/>
        </p:nvSpPr>
        <p:spPr>
          <a:xfrm>
            <a:off x="941832" y="4572000"/>
            <a:ext cx="4892040" cy="548640"/>
          </a:xfrm>
          <a:prstGeom prst="rect">
            <a:avLst/>
          </a:prstGeom>
          <a:noFill/>
          <a:ln/>
        </p:spPr>
        <p:txBody>
          <a:bodyPr wrap="square" lIns="0" tIns="0" rIns="0" bIns="0" rtlCol="0" anchor="ctr"/>
          <a:lstStyle/>
          <a:p>
            <a:pPr marL="0" indent="0">
              <a:buNone/>
            </a:pPr>
            <a:r>
              <a:rPr lang="en-US" sz="1400" b="1" dirty="0">
                <a:solidFill>
                  <a:srgbClr val="23262F"/>
                </a:solidFill>
                <a:latin typeface="Georgia" pitchFamily="34" charset="0"/>
                <a:ea typeface="Georgia" pitchFamily="34" charset="-122"/>
                <a:cs typeface="Georgia" pitchFamily="34" charset="-120"/>
              </a:rPr>
              <a:t>Neplenbroek et al. — MBBQ</a:t>
            </a:r>
            <a:endParaRPr lang="en-US" sz="1400" dirty="0"/>
          </a:p>
        </p:txBody>
      </p:sp>
      <p:sp>
        <p:nvSpPr>
          <p:cNvPr id="18" name="Text 16"/>
          <p:cNvSpPr/>
          <p:nvPr/>
        </p:nvSpPr>
        <p:spPr>
          <a:xfrm>
            <a:off x="941832" y="5102352"/>
            <a:ext cx="4892040" cy="685800"/>
          </a:xfrm>
          <a:prstGeom prst="rect">
            <a:avLst/>
          </a:prstGeom>
          <a:noFill/>
          <a:ln/>
        </p:spPr>
        <p:txBody>
          <a:bodyPr wrap="square" lIns="0" tIns="0" rIns="0" bIns="0" rtlCol="0" anchor="ctr"/>
          <a:lstStyle/>
          <a:p>
            <a:pPr marL="0" indent="0">
              <a:buNone/>
            </a:pPr>
            <a:r>
              <a:rPr lang="en-US" sz="1200" dirty="0">
                <a:solidFill>
                  <a:srgbClr val="5A6072"/>
                </a:solidFill>
                <a:latin typeface="Calibri" pitchFamily="34" charset="0"/>
                <a:ea typeface="Calibri" pitchFamily="34" charset="-122"/>
                <a:cs typeface="Calibri" pitchFamily="34" charset="-120"/>
              </a:rPr>
              <a:t>Non-English stereotypes exceed English even controlling for culture; control parallels our back-translation check.</a:t>
            </a:r>
            <a:endParaRPr lang="en-US" sz="1200" dirty="0"/>
          </a:p>
        </p:txBody>
      </p:sp>
      <p:sp>
        <p:nvSpPr>
          <p:cNvPr id="19" name="Shape 17"/>
          <p:cNvSpPr/>
          <p:nvPr/>
        </p:nvSpPr>
        <p:spPr>
          <a:xfrm>
            <a:off x="6355080" y="4114800"/>
            <a:ext cx="5349240" cy="1783080"/>
          </a:xfrm>
          <a:prstGeom prst="rect">
            <a:avLst/>
          </a:prstGeom>
          <a:solidFill>
            <a:srgbClr val="F5F6FA"/>
          </a:solidFill>
          <a:ln w="12700">
            <a:solidFill>
              <a:srgbClr val="E4E6EF"/>
            </a:solidFill>
            <a:prstDash val="solid"/>
          </a:ln>
        </p:spPr>
        <p:txBody>
          <a:bodyPr/>
          <a:lstStyle/>
          <a:p>
            <a:endParaRPr lang="zh-CN" altLang="en-US"/>
          </a:p>
        </p:txBody>
      </p:sp>
      <p:sp>
        <p:nvSpPr>
          <p:cNvPr id="20" name="Shape 18"/>
          <p:cNvSpPr/>
          <p:nvPr/>
        </p:nvSpPr>
        <p:spPr>
          <a:xfrm>
            <a:off x="6355080" y="4114800"/>
            <a:ext cx="82296" cy="1783080"/>
          </a:xfrm>
          <a:prstGeom prst="rect">
            <a:avLst/>
          </a:prstGeom>
          <a:solidFill>
            <a:srgbClr val="55A868"/>
          </a:solidFill>
          <a:ln/>
        </p:spPr>
        <p:txBody>
          <a:bodyPr/>
          <a:lstStyle/>
          <a:p>
            <a:endParaRPr lang="zh-CN" altLang="en-US"/>
          </a:p>
        </p:txBody>
      </p:sp>
      <p:sp>
        <p:nvSpPr>
          <p:cNvPr id="21" name="Text 19"/>
          <p:cNvSpPr/>
          <p:nvPr/>
        </p:nvSpPr>
        <p:spPr>
          <a:xfrm>
            <a:off x="6611112" y="4279392"/>
            <a:ext cx="4892040" cy="256032"/>
          </a:xfrm>
          <a:prstGeom prst="rect">
            <a:avLst/>
          </a:prstGeom>
          <a:noFill/>
          <a:ln/>
        </p:spPr>
        <p:txBody>
          <a:bodyPr wrap="square" lIns="0" tIns="0" rIns="0" bIns="0" rtlCol="0" anchor="ctr"/>
          <a:lstStyle/>
          <a:p>
            <a:pPr marL="0" indent="0">
              <a:buNone/>
            </a:pPr>
            <a:r>
              <a:rPr lang="en-US" sz="1050" b="1" kern="0" spc="200" dirty="0">
                <a:solidFill>
                  <a:srgbClr val="55A868"/>
                </a:solidFill>
                <a:latin typeface="Calibri" pitchFamily="34" charset="0"/>
                <a:ea typeface="Calibri" pitchFamily="34" charset="-122"/>
                <a:cs typeface="Calibri" pitchFamily="34" charset="-120"/>
              </a:rPr>
              <a:t>ACL 2025</a:t>
            </a:r>
            <a:endParaRPr lang="en-US" sz="1050" dirty="0"/>
          </a:p>
        </p:txBody>
      </p:sp>
      <p:sp>
        <p:nvSpPr>
          <p:cNvPr id="22" name="Text 20"/>
          <p:cNvSpPr/>
          <p:nvPr/>
        </p:nvSpPr>
        <p:spPr>
          <a:xfrm>
            <a:off x="6611112" y="4572000"/>
            <a:ext cx="4892040" cy="548640"/>
          </a:xfrm>
          <a:prstGeom prst="rect">
            <a:avLst/>
          </a:prstGeom>
          <a:noFill/>
          <a:ln/>
        </p:spPr>
        <p:txBody>
          <a:bodyPr wrap="square" lIns="0" tIns="0" rIns="0" bIns="0" rtlCol="0" anchor="ctr"/>
          <a:lstStyle/>
          <a:p>
            <a:pPr marL="0" indent="0">
              <a:buNone/>
            </a:pPr>
            <a:r>
              <a:rPr lang="en-US" sz="1400" b="1" dirty="0">
                <a:solidFill>
                  <a:srgbClr val="23262F"/>
                </a:solidFill>
                <a:latin typeface="Georgia" pitchFamily="34" charset="0"/>
                <a:ea typeface="Georgia" pitchFamily="34" charset="-122"/>
                <a:cs typeface="Georgia" pitchFamily="34" charset="-120"/>
              </a:rPr>
              <a:t>Friedrich et al. — MAGBIG</a:t>
            </a:r>
            <a:endParaRPr lang="en-US" sz="1400" dirty="0"/>
          </a:p>
        </p:txBody>
      </p:sp>
      <p:sp>
        <p:nvSpPr>
          <p:cNvPr id="23" name="Text 21"/>
          <p:cNvSpPr/>
          <p:nvPr/>
        </p:nvSpPr>
        <p:spPr>
          <a:xfrm>
            <a:off x="6611112" y="5102352"/>
            <a:ext cx="4892040" cy="685800"/>
          </a:xfrm>
          <a:prstGeom prst="rect">
            <a:avLst/>
          </a:prstGeom>
          <a:noFill/>
          <a:ln/>
        </p:spPr>
        <p:txBody>
          <a:bodyPr wrap="square" lIns="0" tIns="0" rIns="0" bIns="0" rtlCol="0" anchor="ctr"/>
          <a:lstStyle/>
          <a:p>
            <a:pPr marL="0" indent="0">
              <a:buNone/>
            </a:pPr>
            <a:r>
              <a:rPr lang="en-US" sz="1200" dirty="0">
                <a:solidFill>
                  <a:srgbClr val="5A6072"/>
                </a:solidFill>
                <a:latin typeface="Calibri" pitchFamily="34" charset="0"/>
                <a:ea typeface="Calibri" pitchFamily="34" charset="-122"/>
                <a:cs typeface="Calibri" pitchFamily="34" charset="-120"/>
              </a:rPr>
              <a:t>Cross-lingual bias variation in text-to-image generation — a contrasting modality.</a:t>
            </a:r>
            <a:endParaRPr lang="en-US" sz="1200" dirty="0"/>
          </a:p>
        </p:txBody>
      </p:sp>
      <p:sp>
        <p:nvSpPr>
          <p:cNvPr id="24" name="Text 22"/>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METHOD</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A 2-alternative forced choice</a:t>
            </a:r>
            <a:endParaRPr lang="en-US" sz="3200" dirty="0"/>
          </a:p>
        </p:txBody>
      </p:sp>
      <p:sp>
        <p:nvSpPr>
          <p:cNvPr id="4" name="Text 2"/>
          <p:cNvSpPr/>
          <p:nvPr/>
        </p:nvSpPr>
        <p:spPr>
          <a:xfrm>
            <a:off x="685800" y="1965960"/>
            <a:ext cx="612648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Show two images: correct (atypical) vs prototypical (wrong).</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Ask in the target language which image matches; answer is a single digit (1 or 2).</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Left/right randomized so image position cannot be a confound.</a:t>
            </a:r>
            <a:endParaRPr lang="en-US" sz="1750" dirty="0"/>
          </a:p>
          <a:p>
            <a:pPr marL="203200" indent="-203200">
              <a:lnSpc>
                <a:spcPct val="100000"/>
              </a:lnSpc>
              <a:spcAft>
                <a:spcPts val="1100"/>
              </a:spcAft>
              <a:buSzPct val="100000"/>
              <a:buChar char="•"/>
            </a:pPr>
            <a:r>
              <a:rPr lang="en-US" sz="1750" dirty="0">
                <a:solidFill>
                  <a:srgbClr val="23262F"/>
                </a:solidFill>
                <a:latin typeface="Calibri" pitchFamily="34" charset="0"/>
                <a:ea typeface="Calibri" pitchFamily="34" charset="-122"/>
                <a:cs typeface="Calibri" pitchFamily="34" charset="-120"/>
              </a:rPr>
              <a:t>Metric = error rate = how often the judge picks the prototypical-but-wrong image.</a:t>
            </a:r>
            <a:endParaRPr lang="en-US" sz="1750" dirty="0"/>
          </a:p>
        </p:txBody>
      </p:sp>
      <p:sp>
        <p:nvSpPr>
          <p:cNvPr id="5" name="Shape 3"/>
          <p:cNvSpPr/>
          <p:nvPr/>
        </p:nvSpPr>
        <p:spPr>
          <a:xfrm>
            <a:off x="7315200" y="2286000"/>
            <a:ext cx="4023360" cy="2286000"/>
          </a:xfrm>
          <a:prstGeom prst="roundRect">
            <a:avLst>
              <a:gd name="adj" fmla="val 4000"/>
            </a:avLst>
          </a:prstGeom>
          <a:solidFill>
            <a:srgbClr val="1B1F3B"/>
          </a:solidFill>
          <a:ln/>
        </p:spPr>
        <p:txBody>
          <a:bodyPr/>
          <a:lstStyle/>
          <a:p>
            <a:endParaRPr lang="zh-CN" altLang="en-US"/>
          </a:p>
        </p:txBody>
      </p:sp>
      <p:sp>
        <p:nvSpPr>
          <p:cNvPr id="6" name="Text 4"/>
          <p:cNvSpPr/>
          <p:nvPr/>
        </p:nvSpPr>
        <p:spPr>
          <a:xfrm>
            <a:off x="7315200" y="2606040"/>
            <a:ext cx="4023360" cy="914400"/>
          </a:xfrm>
          <a:prstGeom prst="rect">
            <a:avLst/>
          </a:prstGeom>
          <a:noFill/>
          <a:ln/>
        </p:spPr>
        <p:txBody>
          <a:bodyPr wrap="square" lIns="0" tIns="0" rIns="0" bIns="0" rtlCol="0" anchor="ctr"/>
          <a:lstStyle/>
          <a:p>
            <a:pPr marL="0" indent="0" algn="ctr">
              <a:buNone/>
            </a:pPr>
            <a:r>
              <a:rPr lang="en-US" sz="5400" b="1" dirty="0">
                <a:solidFill>
                  <a:srgbClr val="FFFFFF"/>
                </a:solidFill>
                <a:latin typeface="Georgia" pitchFamily="34" charset="0"/>
                <a:ea typeface="Georgia" pitchFamily="34" charset="-122"/>
                <a:cs typeface="Georgia" pitchFamily="34" charset="-120"/>
              </a:rPr>
              <a:t>0.50</a:t>
            </a:r>
            <a:endParaRPr lang="en-US" sz="5400" dirty="0"/>
          </a:p>
        </p:txBody>
      </p:sp>
      <p:sp>
        <p:nvSpPr>
          <p:cNvPr id="7" name="Text 5"/>
          <p:cNvSpPr/>
          <p:nvPr/>
        </p:nvSpPr>
        <p:spPr>
          <a:xfrm>
            <a:off x="7315200" y="3566160"/>
            <a:ext cx="4023360" cy="365760"/>
          </a:xfrm>
          <a:prstGeom prst="rect">
            <a:avLst/>
          </a:prstGeom>
          <a:noFill/>
          <a:ln/>
        </p:spPr>
        <p:txBody>
          <a:bodyPr wrap="square" lIns="0" tIns="0" rIns="0" bIns="0" rtlCol="0" anchor="ctr"/>
          <a:lstStyle/>
          <a:p>
            <a:pPr marL="0" indent="0" algn="ctr">
              <a:buNone/>
            </a:pPr>
            <a:r>
              <a:rPr lang="en-US" sz="1500" dirty="0">
                <a:solidFill>
                  <a:srgbClr val="C9D2EC"/>
                </a:solidFill>
                <a:latin typeface="Calibri" pitchFamily="34" charset="0"/>
                <a:ea typeface="Calibri" pitchFamily="34" charset="-122"/>
                <a:cs typeface="Calibri" pitchFamily="34" charset="-120"/>
              </a:rPr>
              <a:t>= chance · no bias</a:t>
            </a:r>
            <a:endParaRPr lang="en-US" sz="1500" dirty="0"/>
          </a:p>
        </p:txBody>
      </p:sp>
      <p:sp>
        <p:nvSpPr>
          <p:cNvPr id="8" name="Text 6"/>
          <p:cNvSpPr/>
          <p:nvPr/>
        </p:nvSpPr>
        <p:spPr>
          <a:xfrm>
            <a:off x="7315200" y="3977640"/>
            <a:ext cx="4023360" cy="365760"/>
          </a:xfrm>
          <a:prstGeom prst="rect">
            <a:avLst/>
          </a:prstGeom>
          <a:noFill/>
          <a:ln/>
        </p:spPr>
        <p:txBody>
          <a:bodyPr wrap="square" lIns="0" tIns="0" rIns="0" bIns="0" rtlCol="0" anchor="ctr"/>
          <a:lstStyle/>
          <a:p>
            <a:pPr marL="0" indent="0" algn="ctr">
              <a:buNone/>
            </a:pPr>
            <a:r>
              <a:rPr lang="en-US" sz="1300" i="1" dirty="0">
                <a:solidFill>
                  <a:srgbClr val="C44E52"/>
                </a:solidFill>
                <a:latin typeface="Calibri" pitchFamily="34" charset="0"/>
                <a:ea typeface="Calibri" pitchFamily="34" charset="-122"/>
                <a:cs typeface="Calibri" pitchFamily="34" charset="-120"/>
              </a:rPr>
              <a:t>above 0.50  →  prototypicality bias</a:t>
            </a:r>
            <a:endParaRPr lang="en-US" sz="1300" dirty="0"/>
          </a:p>
        </p:txBody>
      </p:sp>
      <p:sp>
        <p:nvSpPr>
          <p:cNvPr id="9" name="Text 7"/>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WHAT'S NEW SINCE REPORT 1</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Acting on the feedback: more metrics, more models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2103120"/>
          <a:ext cx="10835640" cy="3090672"/>
        </p:xfrm>
        <a:graphic>
          <a:graphicData uri="http://schemas.openxmlformats.org/drawingml/2006/table">
            <a:tbl>
              <a:tblPr/>
              <a:tblGrid>
                <a:gridCol w="237744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457200">
                <a:tc>
                  <a:txBody>
                    <a:bodyPr/>
                    <a:lstStyle/>
                    <a:p>
                      <a:pPr marL="0" indent="0" algn="l">
                        <a:buNone/>
                      </a:pPr>
                      <a:endParaRPr lang="en-US" sz="140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Report 1</a:t>
                      </a:r>
                      <a:endParaRPr lang="en-US" sz="140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Report 2  (now)</a:t>
                      </a:r>
                      <a:endParaRPr lang="en-US" sz="140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658368">
                <a:tc>
                  <a:txBody>
                    <a:bodyPr/>
                    <a:lstStyle/>
                    <a:p>
                      <a:pPr marL="0" indent="0">
                        <a:buNone/>
                      </a:pPr>
                      <a:r>
                        <a:rPr lang="en-US" sz="1350" b="1" dirty="0">
                          <a:solidFill>
                            <a:srgbClr val="23262F"/>
                          </a:solidFill>
                          <a:latin typeface="Calibri" pitchFamily="34" charset="0"/>
                          <a:ea typeface="Calibri" pitchFamily="34" charset="-122"/>
                          <a:cs typeface="Calibri" pitchFamily="34" charset="-120"/>
                        </a:rPr>
                        <a:t>Languages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dirty="0">
                          <a:solidFill>
                            <a:srgbClr val="5A6072"/>
                          </a:solidFill>
                          <a:latin typeface="Calibri" pitchFamily="34" charset="0"/>
                          <a:ea typeface="Calibri" pitchFamily="34" charset="-122"/>
                          <a:cs typeface="Calibri" pitchFamily="34" charset="-120"/>
                        </a:rPr>
                        <a:t>4  —  en · zh · ar · hi</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b="1" dirty="0">
                          <a:solidFill>
                            <a:srgbClr val="C44E52"/>
                          </a:solidFill>
                          <a:latin typeface="Calibri" pitchFamily="34" charset="0"/>
                          <a:ea typeface="Calibri" pitchFamily="34" charset="-122"/>
                          <a:cs typeface="Calibri" pitchFamily="34" charset="-120"/>
                        </a:rPr>
                        <a:t>7  —  + Russian · Bengali · Greek</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350" b="1" dirty="0">
                          <a:solidFill>
                            <a:srgbClr val="23262F"/>
                          </a:solidFill>
                          <a:latin typeface="Calibri" pitchFamily="34" charset="0"/>
                          <a:ea typeface="Calibri" pitchFamily="34" charset="-122"/>
                          <a:cs typeface="Calibri" pitchFamily="34" charset="-120"/>
                        </a:rPr>
                        <a:t>Models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dirty="0">
                          <a:solidFill>
                            <a:srgbClr val="5A6072"/>
                          </a:solidFill>
                          <a:latin typeface="Calibri" pitchFamily="34" charset="0"/>
                          <a:ea typeface="Calibri" pitchFamily="34" charset="-122"/>
                          <a:cs typeface="Calibri" pitchFamily="34" charset="-120"/>
                        </a:rPr>
                        <a:t>1  —  Qwen2.5-VL-7B</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b="1" dirty="0">
                          <a:solidFill>
                            <a:srgbClr val="C44E52"/>
                          </a:solidFill>
                          <a:latin typeface="Calibri" pitchFamily="34" charset="0"/>
                          <a:ea typeface="Calibri" pitchFamily="34" charset="-122"/>
                          <a:cs typeface="Calibri" pitchFamily="34" charset="-120"/>
                        </a:rPr>
                        <a:t>2 families  —  + InternVL3-8B</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350" b="1" dirty="0">
                          <a:solidFill>
                            <a:srgbClr val="23262F"/>
                          </a:solidFill>
                          <a:latin typeface="Calibri" pitchFamily="34" charset="0"/>
                          <a:ea typeface="Calibri" pitchFamily="34" charset="-122"/>
                          <a:cs typeface="Calibri" pitchFamily="34" charset="-120"/>
                        </a:rPr>
                        <a:t>Statistics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dirty="0">
                          <a:solidFill>
                            <a:srgbClr val="5A6072"/>
                          </a:solidFill>
                          <a:latin typeface="Calibri" pitchFamily="34" charset="0"/>
                          <a:ea typeface="Calibri" pitchFamily="34" charset="-122"/>
                          <a:cs typeface="Calibri" pitchFamily="34" charset="-120"/>
                        </a:rPr>
                        <a:t>point estimates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b="1" dirty="0">
                          <a:solidFill>
                            <a:srgbClr val="C44E52"/>
                          </a:solidFill>
                          <a:latin typeface="Calibri" pitchFamily="34" charset="0"/>
                          <a:ea typeface="Calibri" pitchFamily="34" charset="-122"/>
                          <a:cs typeface="Calibri" pitchFamily="34" charset="-120"/>
                        </a:rPr>
                        <a:t>mixed-effects regression + LRT</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350" b="1" dirty="0">
                          <a:solidFill>
                            <a:srgbClr val="23262F"/>
                          </a:solidFill>
                          <a:latin typeface="Calibri" pitchFamily="34" charset="0"/>
                          <a:ea typeface="Calibri" pitchFamily="34" charset="-122"/>
                          <a:cs typeface="Calibri" pitchFamily="34" charset="-120"/>
                        </a:rPr>
                        <a:t>Rigor checks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dirty="0">
                          <a:solidFill>
                            <a:srgbClr val="5A6072"/>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tc>
                  <a:txBody>
                    <a:bodyPr/>
                    <a:lstStyle/>
                    <a:p>
                      <a:pPr marL="0" indent="0">
                        <a:buNone/>
                      </a:pPr>
                      <a:r>
                        <a:rPr lang="en-US" sz="1350" b="1" dirty="0">
                          <a:solidFill>
                            <a:srgbClr val="C44E52"/>
                          </a:solidFill>
                          <a:latin typeface="Calibri" pitchFamily="34" charset="0"/>
                          <a:ea typeface="Calibri" pitchFamily="34" charset="-122"/>
                          <a:cs typeface="Calibri" pitchFamily="34" charset="-120"/>
                        </a:rPr>
                        <a:t>back-translation QA · flip / stable-bias rates</a:t>
                      </a:r>
                      <a:endParaRPr lang="en-US" sz="1350" dirty="0">
                        <a:latin typeface="Calibri" charset="0"/>
                        <a:ea typeface="Calibri" charset="0"/>
                        <a:cs typeface="Calibri" charset="0"/>
                      </a:endParaRPr>
                    </a:p>
                  </a:txBody>
                  <a:tcPr marL="101600" marR="101600" marT="50800" marB="508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685800" y="5943600"/>
            <a:ext cx="10820095" cy="457200"/>
          </a:xfrm>
          <a:prstGeom prst="rect">
            <a:avLst/>
          </a:prstGeom>
          <a:noFill/>
          <a:ln/>
        </p:spPr>
        <p:txBody>
          <a:bodyPr wrap="square" lIns="0" tIns="0" rIns="0" bIns="0" rtlCol="0" anchor="ctr"/>
          <a:lstStyle/>
          <a:p>
            <a:pPr marL="0" indent="0">
              <a:buNone/>
            </a:pPr>
            <a:r>
              <a:rPr lang="en-US" sz="1300" i="1" dirty="0">
                <a:solidFill>
                  <a:srgbClr val="5A6072"/>
                </a:solidFill>
                <a:latin typeface="Calibri" pitchFamily="34" charset="0"/>
                <a:ea typeface="Calibri" pitchFamily="34" charset="-122"/>
                <a:cs typeface="Calibri" pitchFamily="34" charset="-120"/>
              </a:rPr>
              <a:t>The two items the mentor flagged after Report 1 — additional metrics and additional models — are exactly the two new columns.</a:t>
            </a:r>
            <a:endParaRPr lang="en-US" sz="1300" dirty="0"/>
          </a:p>
        </p:txBody>
      </p:sp>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DATA &amp; SETUP</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ProtoBias across a resource × script design</a:t>
            </a:r>
            <a:endParaRPr lang="en-US" sz="3200" dirty="0"/>
          </a:p>
        </p:txBody>
      </p:sp>
      <p:sp>
        <p:nvSpPr>
          <p:cNvPr id="4" name="Text 2"/>
          <p:cNvSpPr/>
          <p:nvPr/>
        </p:nvSpPr>
        <p:spPr>
          <a:xfrm>
            <a:off x="685800" y="1965960"/>
            <a:ext cx="594360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Domains: Animals / Objects (neutral) and Demography (socially sensitive).</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Demography rows carry a socio-attribute: Wealth · Power · Civility · Morality · Intellect.</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7 languages × 900 items × 2 models  ≈  12,500 judgments.</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Qwen2.5-VL-7B &amp; InternVL3-8B on NHR@FAU Alex A40 GPUs.</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040880" y="2057400"/>
          <a:ext cx="4480560" cy="2852928"/>
        </p:xfrm>
        <a:graphic>
          <a:graphicData uri="http://schemas.openxmlformats.org/drawingml/2006/table">
            <a:tbl>
              <a:tblPr/>
              <a:tblGrid>
                <a:gridCol w="18288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7548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Language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Script</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Resource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475488">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English / Chinese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Latin / Han</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Russian</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Cyrillic</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Arabic / Hindi</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Arabic / Devanagari</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dirty="0">
                          <a:solidFill>
                            <a:srgbClr val="23262F"/>
                          </a:solidFill>
                          <a:latin typeface="Calibri" pitchFamily="34" charset="0"/>
                          <a:ea typeface="Calibri" pitchFamily="34" charset="-122"/>
                          <a:cs typeface="Calibri" pitchFamily="34" charset="-120"/>
                        </a:rPr>
                        <a:t>mid</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Bengali</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Bengali</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low</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Greek</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Greek</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50" b="1" dirty="0">
                          <a:solidFill>
                            <a:srgbClr val="C44E52"/>
                          </a:solidFill>
                          <a:latin typeface="Calibri" pitchFamily="34" charset="0"/>
                          <a:ea typeface="Calibri" pitchFamily="34" charset="-122"/>
                          <a:cs typeface="Calibri" pitchFamily="34" charset="-120"/>
                        </a:rPr>
                        <a:t>mid · distinct</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RESULT 1</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The bias follows the attribute</a:t>
            </a:r>
            <a:endParaRPr lang="en-US" sz="3200" dirty="0"/>
          </a:p>
        </p:txBody>
      </p:sp>
      <p:sp>
        <p:nvSpPr>
          <p:cNvPr id="4" name="Text 2"/>
          <p:cNvSpPr/>
          <p:nvPr/>
        </p:nvSpPr>
        <p:spPr>
          <a:xfrm>
            <a:off x="685800" y="1965960"/>
            <a:ext cx="521208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Demography's flat ~0.58 average hides a ~0.28 spread across attributes.</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Strong bias for social-status attributes — Wealth, Power.</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Near-chance for Morality and Intellect.</a:t>
            </a:r>
            <a:endParaRPr lang="en-US" sz="1700" dirty="0"/>
          </a:p>
        </p:txBody>
      </p:sp>
      <p:pic>
        <p:nvPicPr>
          <p:cNvPr id="5" name="Image 0" descr="/Users/xiaochuan/Desktop/Projects/P5_Multi_linguistic_histoBias/v3/experiments/exp3a_mixed_effects/figures/figA7_attribute_qwen7lang.png"/>
          <p:cNvPicPr>
            <a:picLocks noChangeAspect="1"/>
          </p:cNvPicPr>
          <p:nvPr/>
        </p:nvPicPr>
        <p:blipFill>
          <a:blip r:embed="rId3"/>
          <a:stretch>
            <a:fillRect/>
          </a:stretch>
        </p:blipFill>
        <p:spPr>
          <a:xfrm>
            <a:off x="6355080" y="2103120"/>
            <a:ext cx="5120640" cy="3151163"/>
          </a:xfrm>
          <a:prstGeom prst="rect">
            <a:avLst/>
          </a:prstGeom>
        </p:spPr>
      </p:pic>
      <p:sp>
        <p:nvSpPr>
          <p:cNvPr id="6" name="Text 3"/>
          <p:cNvSpPr/>
          <p:nvPr/>
        </p:nvSpPr>
        <p:spPr>
          <a:xfrm>
            <a:off x="6355080" y="5440680"/>
            <a:ext cx="512064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Prototypicality error rate by socio-attribute — Qwen2.5-VL-7B, all 7 languages.</a:t>
            </a:r>
            <a:endParaRPr lang="en-US" sz="1050" dirty="0"/>
          </a:p>
        </p:txBody>
      </p:sp>
      <p:sp>
        <p:nvSpPr>
          <p:cNvPr id="7" name="Text 4"/>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8</a:t>
            </a:r>
            <a:endParaRPr lang="en-US" sz="1000" dirty="0"/>
          </a:p>
        </p:txBody>
      </p:sp>
      <p:sp>
        <p:nvSpPr>
          <p:cNvPr id="9" name="文本框 8">
            <a:extLst>
              <a:ext uri="{FF2B5EF4-FFF2-40B4-BE49-F238E27FC236}">
                <a16:creationId xmlns:a16="http://schemas.microsoft.com/office/drawing/2014/main" id="{E2FC96ED-1CC7-DDEB-F125-DA95E6EC4AFB}"/>
              </a:ext>
            </a:extLst>
          </p:cNvPr>
          <p:cNvSpPr txBox="1"/>
          <p:nvPr/>
        </p:nvSpPr>
        <p:spPr>
          <a:xfrm>
            <a:off x="685800" y="4445921"/>
            <a:ext cx="5608322" cy="1064394"/>
          </a:xfrm>
          <a:prstGeom prst="rect">
            <a:avLst/>
          </a:prstGeom>
          <a:noFill/>
        </p:spPr>
        <p:txBody>
          <a:bodyPr wrap="square">
            <a:spAutoFit/>
          </a:bodyPr>
          <a:lstStyle/>
          <a:p>
            <a:pPr>
              <a:lnSpc>
                <a:spcPct val="100000"/>
              </a:lnSpc>
              <a:spcAft>
                <a:spcPts val="1100"/>
              </a:spcAft>
              <a:buSzPct val="100000"/>
            </a:pPr>
            <a:r>
              <a:rPr lang="en-US" altLang="zh-CN" sz="1800" b="1" dirty="0">
                <a:solidFill>
                  <a:schemeClr val="accent1">
                    <a:lumMod val="75000"/>
                  </a:schemeClr>
                </a:solidFill>
                <a:latin typeface="Calibri" pitchFamily="34" charset="0"/>
                <a:ea typeface="Calibri" pitchFamily="34" charset="-122"/>
                <a:cs typeface="Calibri" pitchFamily="34" charset="-120"/>
              </a:rPr>
              <a:t>Possible</a:t>
            </a:r>
            <a:r>
              <a:rPr lang="zh-CN" altLang="en-US" sz="1800" b="1" dirty="0">
                <a:solidFill>
                  <a:schemeClr val="accent1">
                    <a:lumMod val="75000"/>
                  </a:schemeClr>
                </a:solidFill>
                <a:latin typeface="Calibri" pitchFamily="34" charset="0"/>
                <a:ea typeface="Calibri" pitchFamily="34" charset="-122"/>
                <a:cs typeface="Calibri" pitchFamily="34" charset="-120"/>
              </a:rPr>
              <a:t> </a:t>
            </a:r>
            <a:r>
              <a:rPr lang="en-US" altLang="zh-CN" sz="1800" b="1" dirty="0">
                <a:solidFill>
                  <a:schemeClr val="accent1">
                    <a:lumMod val="75000"/>
                  </a:schemeClr>
                </a:solidFill>
                <a:latin typeface="Calibri" pitchFamily="34" charset="0"/>
                <a:ea typeface="Calibri" pitchFamily="34" charset="-122"/>
                <a:cs typeface="Calibri" pitchFamily="34" charset="-120"/>
              </a:rPr>
              <a:t>Explanation:</a:t>
            </a:r>
          </a:p>
          <a:p>
            <a:pPr>
              <a:lnSpc>
                <a:spcPct val="100000"/>
              </a:lnSpc>
              <a:spcAft>
                <a:spcPts val="1100"/>
              </a:spcAft>
              <a:buSzPct val="100000"/>
            </a:pPr>
            <a:r>
              <a:rPr lang="en-US" altLang="zh-CN" sz="1800" b="1" dirty="0">
                <a:solidFill>
                  <a:schemeClr val="accent1">
                    <a:lumMod val="75000"/>
                  </a:schemeClr>
                </a:solidFill>
                <a:latin typeface="Calibri" pitchFamily="34" charset="0"/>
                <a:ea typeface="Calibri" pitchFamily="34" charset="-122"/>
                <a:cs typeface="Calibri" pitchFamily="34" charset="-120"/>
              </a:rPr>
              <a:t>Web data encodes what “rich / powerful” looks like; there is no stable visual prototype for “moral” or “smart.”</a:t>
            </a:r>
            <a:endParaRPr lang="en-US" altLang="zh-CN" sz="1800" b="1" dirty="0">
              <a:solidFill>
                <a:schemeClr val="accent1">
                  <a:lumMod val="75000"/>
                </a:schemeClr>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RESULT 1 · REPLICATION</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…and it replicates across model families</a:t>
            </a:r>
            <a:endParaRPr lang="en-US" sz="3200" dirty="0"/>
          </a:p>
        </p:txBody>
      </p:sp>
      <p:pic>
        <p:nvPicPr>
          <p:cNvPr id="4" name="Image 0" descr="/Users/xiaochuan/Desktop/Projects/P5_Multi_linguistic_histoBias/v3/experiments/exp3a_mixed_effects/figures/figE_cross_model_OR.png"/>
          <p:cNvPicPr>
            <a:picLocks noChangeAspect="1"/>
          </p:cNvPicPr>
          <p:nvPr/>
        </p:nvPicPr>
        <p:blipFill>
          <a:blip r:embed="rId3"/>
          <a:stretch>
            <a:fillRect/>
          </a:stretch>
        </p:blipFill>
        <p:spPr>
          <a:xfrm>
            <a:off x="1984248" y="1783080"/>
            <a:ext cx="8229600" cy="3154312"/>
          </a:xfrm>
          <a:prstGeom prst="rect">
            <a:avLst/>
          </a:prstGeom>
        </p:spPr>
      </p:pic>
      <p:sp>
        <p:nvSpPr>
          <p:cNvPr id="5" name="Text 2"/>
          <p:cNvSpPr/>
          <p:nvPr/>
        </p:nvSpPr>
        <p:spPr>
          <a:xfrm>
            <a:off x="777240" y="5166360"/>
            <a:ext cx="3566160" cy="640080"/>
          </a:xfrm>
          <a:prstGeom prst="rect">
            <a:avLst/>
          </a:prstGeom>
          <a:noFill/>
          <a:ln/>
        </p:spPr>
        <p:txBody>
          <a:bodyPr wrap="square" lIns="0" tIns="0" rIns="0" bIns="0" rtlCol="0" anchor="ctr"/>
          <a:lstStyle/>
          <a:p>
            <a:pPr marL="0" indent="0" algn="ctr">
              <a:buNone/>
            </a:pPr>
            <a:r>
              <a:rPr lang="en-US" sz="3000" b="1" dirty="0">
                <a:solidFill>
                  <a:srgbClr val="C44E52"/>
                </a:solidFill>
                <a:latin typeface="Georgia" pitchFamily="34" charset="0"/>
                <a:ea typeface="Georgia" pitchFamily="34" charset="-122"/>
                <a:cs typeface="Georgia" pitchFamily="34" charset="-120"/>
              </a:rPr>
              <a:t>OR ≈ 3.7 / 3.1</a:t>
            </a:r>
            <a:endParaRPr lang="en-US" sz="3000" dirty="0"/>
          </a:p>
        </p:txBody>
      </p:sp>
      <p:sp>
        <p:nvSpPr>
          <p:cNvPr id="6" name="Text 3"/>
          <p:cNvSpPr/>
          <p:nvPr/>
        </p:nvSpPr>
        <p:spPr>
          <a:xfrm>
            <a:off x="777240" y="5806440"/>
            <a:ext cx="3566160" cy="548640"/>
          </a:xfrm>
          <a:prstGeom prst="rect">
            <a:avLst/>
          </a:prstGeom>
          <a:noFill/>
          <a:ln/>
        </p:spPr>
        <p:txBody>
          <a:bodyPr wrap="square" lIns="0" tIns="0" rIns="0" bIns="0" rtlCol="0" anchor="ctr"/>
          <a:lstStyle/>
          <a:p>
            <a:pPr marL="0" indent="0" algn="ctr">
              <a:buNone/>
            </a:pPr>
            <a:r>
              <a:rPr lang="en-US" sz="1250" dirty="0">
                <a:solidFill>
                  <a:srgbClr val="5A6072"/>
                </a:solidFill>
                <a:latin typeface="Calibri" pitchFamily="34" charset="0"/>
                <a:ea typeface="Calibri" pitchFamily="34" charset="-122"/>
                <a:cs typeface="Calibri" pitchFamily="34" charset="-120"/>
              </a:rPr>
              <a:t>Wealth bias vs morality</a:t>
            </a:r>
            <a:endParaRPr lang="en-US" sz="1250" dirty="0"/>
          </a:p>
          <a:p>
            <a:pPr marL="0" indent="0" algn="ctr">
              <a:buNone/>
            </a:pPr>
            <a:r>
              <a:rPr lang="en-US" sz="1250" dirty="0">
                <a:solidFill>
                  <a:srgbClr val="5A6072"/>
                </a:solidFill>
                <a:latin typeface="Calibri" pitchFamily="34" charset="0"/>
                <a:ea typeface="Calibri" pitchFamily="34" charset="-122"/>
                <a:cs typeface="Calibri" pitchFamily="34" charset="-120"/>
              </a:rPr>
              <a:t>Qwen / InternVL</a:t>
            </a:r>
            <a:endParaRPr lang="en-US" sz="1250" dirty="0"/>
          </a:p>
        </p:txBody>
      </p:sp>
      <p:sp>
        <p:nvSpPr>
          <p:cNvPr id="7" name="Text 4"/>
          <p:cNvSpPr/>
          <p:nvPr/>
        </p:nvSpPr>
        <p:spPr>
          <a:xfrm>
            <a:off x="4434840" y="5166360"/>
            <a:ext cx="3566160" cy="640080"/>
          </a:xfrm>
          <a:prstGeom prst="rect">
            <a:avLst/>
          </a:prstGeom>
          <a:noFill/>
          <a:ln/>
        </p:spPr>
        <p:txBody>
          <a:bodyPr wrap="square" lIns="0" tIns="0" rIns="0" bIns="0" rtlCol="0" anchor="ctr"/>
          <a:lstStyle/>
          <a:p>
            <a:pPr marL="0" indent="0" algn="ctr">
              <a:buNone/>
            </a:pPr>
            <a:r>
              <a:rPr lang="en-US" sz="3000" b="1" dirty="0">
                <a:solidFill>
                  <a:srgbClr val="C44E52"/>
                </a:solidFill>
                <a:latin typeface="Georgia" pitchFamily="34" charset="0"/>
                <a:ea typeface="Georgia" pitchFamily="34" charset="-122"/>
                <a:cs typeface="Georgia" pitchFamily="34" charset="-120"/>
              </a:rPr>
              <a:t>p ≈ 2×10⁻¹⁴</a:t>
            </a:r>
            <a:endParaRPr lang="en-US" sz="3000" dirty="0"/>
          </a:p>
        </p:txBody>
      </p:sp>
      <p:sp>
        <p:nvSpPr>
          <p:cNvPr id="8" name="Text 5"/>
          <p:cNvSpPr/>
          <p:nvPr/>
        </p:nvSpPr>
        <p:spPr>
          <a:xfrm>
            <a:off x="4434840" y="5806440"/>
            <a:ext cx="3566160" cy="548640"/>
          </a:xfrm>
          <a:prstGeom prst="rect">
            <a:avLst/>
          </a:prstGeom>
          <a:noFill/>
          <a:ln/>
        </p:spPr>
        <p:txBody>
          <a:bodyPr wrap="square" lIns="0" tIns="0" rIns="0" bIns="0" rtlCol="0" anchor="ctr"/>
          <a:lstStyle/>
          <a:p>
            <a:pPr marL="0" indent="0" algn="ctr">
              <a:buNone/>
            </a:pPr>
            <a:r>
              <a:rPr lang="en-US" sz="1250" dirty="0">
                <a:solidFill>
                  <a:srgbClr val="5A6072"/>
                </a:solidFill>
                <a:latin typeface="Calibri" pitchFamily="34" charset="0"/>
                <a:ea typeface="Calibri" pitchFamily="34" charset="-122"/>
                <a:cs typeface="Calibri" pitchFamily="34" charset="-120"/>
              </a:rPr>
              <a:t>attribute effect</a:t>
            </a:r>
            <a:endParaRPr lang="en-US" sz="1250" dirty="0"/>
          </a:p>
          <a:p>
            <a:pPr marL="0" indent="0" algn="ctr">
              <a:buNone/>
            </a:pPr>
            <a:r>
              <a:rPr lang="en-US" sz="1250" dirty="0">
                <a:solidFill>
                  <a:srgbClr val="5A6072"/>
                </a:solidFill>
                <a:latin typeface="Calibri" pitchFamily="34" charset="0"/>
                <a:ea typeface="Calibri" pitchFamily="34" charset="-122"/>
                <a:cs typeface="Calibri" pitchFamily="34" charset="-120"/>
              </a:rPr>
              <a:t>in both families</a:t>
            </a:r>
            <a:endParaRPr lang="en-US" sz="1250" dirty="0"/>
          </a:p>
        </p:txBody>
      </p:sp>
      <p:sp>
        <p:nvSpPr>
          <p:cNvPr id="9" name="Text 6"/>
          <p:cNvSpPr/>
          <p:nvPr/>
        </p:nvSpPr>
        <p:spPr>
          <a:xfrm>
            <a:off x="7955280" y="5166360"/>
            <a:ext cx="3566160" cy="640080"/>
          </a:xfrm>
          <a:prstGeom prst="rect">
            <a:avLst/>
          </a:prstGeom>
          <a:noFill/>
          <a:ln/>
        </p:spPr>
        <p:txBody>
          <a:bodyPr wrap="square" lIns="0" tIns="0" rIns="0" bIns="0" rtlCol="0" anchor="ctr"/>
          <a:lstStyle/>
          <a:p>
            <a:pPr marL="0" indent="0" algn="ctr">
              <a:buNone/>
            </a:pPr>
            <a:r>
              <a:rPr lang="en-US" sz="3000" b="1" dirty="0">
                <a:solidFill>
                  <a:srgbClr val="C44E52"/>
                </a:solidFill>
                <a:latin typeface="Georgia" pitchFamily="34" charset="0"/>
                <a:ea typeface="Georgia" pitchFamily="34" charset="-122"/>
                <a:cs typeface="Georgia" pitchFamily="34" charset="-120"/>
              </a:rPr>
              <a:t>not a quirk</a:t>
            </a:r>
            <a:endParaRPr lang="en-US" sz="3000" dirty="0"/>
          </a:p>
        </p:txBody>
      </p:sp>
      <p:sp>
        <p:nvSpPr>
          <p:cNvPr id="10" name="Text 7"/>
          <p:cNvSpPr/>
          <p:nvPr/>
        </p:nvSpPr>
        <p:spPr>
          <a:xfrm>
            <a:off x="7955280" y="5806440"/>
            <a:ext cx="3566160" cy="548640"/>
          </a:xfrm>
          <a:prstGeom prst="rect">
            <a:avLst/>
          </a:prstGeom>
          <a:noFill/>
          <a:ln/>
        </p:spPr>
        <p:txBody>
          <a:bodyPr wrap="square" lIns="0" tIns="0" rIns="0" bIns="0" rtlCol="0" anchor="ctr"/>
          <a:lstStyle/>
          <a:p>
            <a:pPr marL="0" indent="0" algn="ctr">
              <a:buNone/>
            </a:pPr>
            <a:r>
              <a:rPr lang="en-US" sz="1250" dirty="0">
                <a:solidFill>
                  <a:srgbClr val="5A6072"/>
                </a:solidFill>
                <a:latin typeface="Calibri" pitchFamily="34" charset="0"/>
                <a:ea typeface="Calibri" pitchFamily="34" charset="-122"/>
                <a:cs typeface="Calibri" pitchFamily="34" charset="-120"/>
              </a:rPr>
              <a:t>same structure across</a:t>
            </a:r>
            <a:endParaRPr lang="en-US" sz="1250" dirty="0"/>
          </a:p>
          <a:p>
            <a:pPr marL="0" indent="0" algn="ctr">
              <a:buNone/>
            </a:pPr>
            <a:r>
              <a:rPr lang="en-US" sz="1250" dirty="0">
                <a:solidFill>
                  <a:srgbClr val="5A6072"/>
                </a:solidFill>
                <a:latin typeface="Calibri" pitchFamily="34" charset="0"/>
                <a:ea typeface="Calibri" pitchFamily="34" charset="-122"/>
                <a:cs typeface="Calibri" pitchFamily="34" charset="-120"/>
              </a:rPr>
              <a:t>two independent VLMs</a:t>
            </a:r>
            <a:endParaRPr lang="en-US" sz="1250" dirty="0"/>
          </a:p>
        </p:txBody>
      </p:sp>
      <p:sp>
        <p:nvSpPr>
          <p:cNvPr id="11" name="Text 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9</a:t>
            </a:r>
            <a:endParaRPr lang="en-US" sz="1000" dirty="0"/>
          </a:p>
        </p:txBody>
      </p:sp>
      <p:sp>
        <p:nvSpPr>
          <p:cNvPr id="12" name="矩形 11">
            <a:extLst>
              <a:ext uri="{FF2B5EF4-FFF2-40B4-BE49-F238E27FC236}">
                <a16:creationId xmlns:a16="http://schemas.microsoft.com/office/drawing/2014/main" id="{C88B6C26-EBA7-D79F-9DF1-247064FCB0AB}"/>
              </a:ext>
            </a:extLst>
          </p:cNvPr>
          <p:cNvSpPr/>
          <p:nvPr/>
        </p:nvSpPr>
        <p:spPr>
          <a:xfrm>
            <a:off x="3122195" y="2207795"/>
            <a:ext cx="3062037" cy="38501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4" name="矩形 13">
            <a:extLst>
              <a:ext uri="{FF2B5EF4-FFF2-40B4-BE49-F238E27FC236}">
                <a16:creationId xmlns:a16="http://schemas.microsoft.com/office/drawing/2014/main" id="{15916838-D3A3-11DE-64BB-D3EFBFBCA798}"/>
              </a:ext>
            </a:extLst>
          </p:cNvPr>
          <p:cNvSpPr/>
          <p:nvPr/>
        </p:nvSpPr>
        <p:spPr>
          <a:xfrm>
            <a:off x="8915400" y="2069431"/>
            <a:ext cx="1235241" cy="9144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RESULT 2</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Language is not flat after all</a:t>
            </a:r>
            <a:endParaRPr lang="en-US" sz="3200" dirty="0"/>
          </a:p>
        </p:txBody>
      </p:sp>
      <p:sp>
        <p:nvSpPr>
          <p:cNvPr id="4" name="Text 2"/>
          <p:cNvSpPr/>
          <p:nvPr/>
        </p:nvSpPr>
        <p:spPr>
          <a:xfrm>
            <a:off x="685800" y="2420983"/>
            <a:ext cx="5029200" cy="1105989"/>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650" dirty="0">
                <a:solidFill>
                  <a:srgbClr val="23262F"/>
                </a:solidFill>
                <a:latin typeface="Calibri" pitchFamily="34" charset="0"/>
                <a:ea typeface="Calibri" pitchFamily="34" charset="-122"/>
                <a:cs typeface="Calibri" pitchFamily="34" charset="-120"/>
              </a:rPr>
              <a:t>Four languages looked invariant; adding Bengali &amp; Greek revealed a real effect.</a:t>
            </a:r>
            <a:endParaRPr lang="en-US" sz="1650" dirty="0"/>
          </a:p>
        </p:txBody>
      </p:sp>
      <p:graphicFrame>
        <p:nvGraphicFramePr>
          <p:cNvPr id="5" name="Chart 0"/>
          <p:cNvGraphicFramePr/>
          <p:nvPr/>
        </p:nvGraphicFramePr>
        <p:xfrm>
          <a:off x="5943600" y="1828800"/>
          <a:ext cx="566928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10</a:t>
            </a:r>
            <a:endParaRPr lang="en-US" sz="1000" dirty="0"/>
          </a:p>
        </p:txBody>
      </p:sp>
      <p:sp>
        <p:nvSpPr>
          <p:cNvPr id="9" name="文本框 8">
            <a:extLst>
              <a:ext uri="{FF2B5EF4-FFF2-40B4-BE49-F238E27FC236}">
                <a16:creationId xmlns:a16="http://schemas.microsoft.com/office/drawing/2014/main" id="{57EAF298-B028-65F4-E58F-20728796535C}"/>
              </a:ext>
            </a:extLst>
          </p:cNvPr>
          <p:cNvSpPr txBox="1"/>
          <p:nvPr/>
        </p:nvSpPr>
        <p:spPr>
          <a:xfrm>
            <a:off x="579120" y="3608754"/>
            <a:ext cx="5029200" cy="646331"/>
          </a:xfrm>
          <a:prstGeom prst="rect">
            <a:avLst/>
          </a:prstGeom>
          <a:noFill/>
        </p:spPr>
        <p:txBody>
          <a:bodyPr wrap="square">
            <a:spAutoFit/>
          </a:bodyPr>
          <a:lstStyle/>
          <a:p>
            <a:pPr>
              <a:lnSpc>
                <a:spcPct val="100000"/>
              </a:lnSpc>
              <a:spcAft>
                <a:spcPts val="1100"/>
              </a:spcAft>
              <a:buSzPct val="100000"/>
            </a:pPr>
            <a:r>
              <a:rPr lang="en-US" altLang="zh-CN" sz="1800" b="1" dirty="0">
                <a:solidFill>
                  <a:schemeClr val="accent1">
                    <a:lumMod val="75000"/>
                  </a:schemeClr>
                </a:solidFill>
                <a:latin typeface="Calibri" pitchFamily="34" charset="0"/>
                <a:ea typeface="Calibri" pitchFamily="34" charset="-122"/>
                <a:cs typeface="Calibri" pitchFamily="34" charset="-120"/>
              </a:rPr>
              <a:t>Bengali and Greek prompts → significantly more bias than English, in both models.</a:t>
            </a:r>
            <a:endParaRPr lang="en-US" altLang="zh-CN" sz="1800" b="1" dirty="0">
              <a:solidFill>
                <a:schemeClr val="accent1">
                  <a:lumMod val="75000"/>
                </a:schemeClr>
              </a:solidFill>
            </a:endParaRPr>
          </a:p>
        </p:txBody>
      </p:sp>
      <p:sp>
        <p:nvSpPr>
          <p:cNvPr id="8" name="矩形 7">
            <a:extLst>
              <a:ext uri="{FF2B5EF4-FFF2-40B4-BE49-F238E27FC236}">
                <a16:creationId xmlns:a16="http://schemas.microsoft.com/office/drawing/2014/main" id="{8FA9A62B-DF94-9B50-3BA5-43316021435F}"/>
              </a:ext>
            </a:extLst>
          </p:cNvPr>
          <p:cNvSpPr/>
          <p:nvPr/>
        </p:nvSpPr>
        <p:spPr>
          <a:xfrm>
            <a:off x="9745579" y="2664516"/>
            <a:ext cx="1690437" cy="33705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RESULT 2 · RIGOR</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Is it just bad translation? No.</a:t>
            </a:r>
            <a:endParaRPr lang="en-US" sz="3200" dirty="0"/>
          </a:p>
        </p:txBody>
      </p:sp>
      <p:sp>
        <p:nvSpPr>
          <p:cNvPr id="4" name="Text 2"/>
          <p:cNvSpPr/>
          <p:nvPr/>
        </p:nvSpPr>
        <p:spPr>
          <a:xfrm>
            <a:off x="685800" y="1920240"/>
            <a:ext cx="521208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650" dirty="0">
                <a:solidFill>
                  <a:srgbClr val="23262F"/>
                </a:solidFill>
                <a:latin typeface="Calibri" pitchFamily="34" charset="0"/>
                <a:ea typeface="Calibri" pitchFamily="34" charset="-122"/>
                <a:cs typeface="Calibri" pitchFamily="34" charset="-120"/>
              </a:rPr>
              <a:t>We back-translated every non-English prompt and measured drift.</a:t>
            </a:r>
            <a:endParaRPr lang="en-US" sz="1650" dirty="0"/>
          </a:p>
          <a:p>
            <a:pPr marL="203200" indent="-203200">
              <a:lnSpc>
                <a:spcPct val="100000"/>
              </a:lnSpc>
              <a:spcAft>
                <a:spcPts val="1100"/>
              </a:spcAft>
              <a:buSzPct val="100000"/>
              <a:buChar char="•"/>
            </a:pPr>
            <a:r>
              <a:rPr lang="en-US" sz="1650" dirty="0">
                <a:solidFill>
                  <a:srgbClr val="23262F"/>
                </a:solidFill>
                <a:latin typeface="Calibri" pitchFamily="34" charset="0"/>
                <a:ea typeface="Calibri" pitchFamily="34" charset="-122"/>
                <a:cs typeface="Calibri" pitchFamily="34" charset="-120"/>
              </a:rPr>
              <a:t>The most-biased languages (Greek, Bengali) have the highest translation fidelity.</a:t>
            </a:r>
            <a:endParaRPr lang="en-US" sz="1650" dirty="0"/>
          </a:p>
          <a:p>
            <a:pPr marL="203200" indent="-203200">
              <a:lnSpc>
                <a:spcPct val="100000"/>
              </a:lnSpc>
              <a:spcAft>
                <a:spcPts val="1100"/>
              </a:spcAft>
              <a:buSzPct val="100000"/>
              <a:buChar char="•"/>
            </a:pPr>
            <a:r>
              <a:rPr lang="en-US" sz="1650" dirty="0">
                <a:solidFill>
                  <a:srgbClr val="23262F"/>
                </a:solidFill>
                <a:latin typeface="Calibri" pitchFamily="34" charset="0"/>
                <a:ea typeface="Calibri" pitchFamily="34" charset="-122"/>
                <a:cs typeface="Calibri" pitchFamily="34" charset="-120"/>
              </a:rPr>
              <a:t>The least-biased (Hindi, Russian) have the lowest — the opposite of a translation artifact.</a:t>
            </a:r>
            <a:endParaRPr lang="en-US" sz="16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6480" y="1965960"/>
          <a:ext cx="5394960" cy="3200400"/>
        </p:xfrm>
        <a:graphic>
          <a:graphicData uri="http://schemas.openxmlformats.org/drawingml/2006/table">
            <a:tbl>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4572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Language</a:t>
                      </a:r>
                      <a:endParaRPr lang="en-US" sz="125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Bias vs English</a:t>
                      </a:r>
                      <a:endParaRPr lang="en-US" sz="125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Back-translation fidelity</a:t>
                      </a:r>
                      <a:endParaRPr lang="en-US" sz="125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Greek</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0.88  (highest)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Bengali</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+60%</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Arabic</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+31%</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b="1" dirty="0">
                          <a:solidFill>
                            <a:srgbClr val="C44E52"/>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Chinese</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0.84</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Hindi</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Russian</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300" dirty="0">
                          <a:solidFill>
                            <a:srgbClr val="5A6072"/>
                          </a:solidFill>
                          <a:latin typeface="Calibri" pitchFamily="34" charset="0"/>
                          <a:ea typeface="Calibri" pitchFamily="34" charset="-122"/>
                          <a:cs typeface="Calibri" pitchFamily="34" charset="-120"/>
                        </a:rPr>
                        <a:t>0.79  (lowest)</a:t>
                      </a:r>
                      <a:endParaRPr lang="en-US" sz="1300" dirty="0">
                        <a:latin typeface="Calibri" charset="0"/>
                        <a:ea typeface="Calibri" charset="0"/>
                        <a:cs typeface="Calibri" charset="0"/>
                      </a:endParaRPr>
                    </a:p>
                  </a:txBody>
                  <a:tcPr marL="88900" marR="889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85800" y="457200"/>
            <a:ext cx="8229600" cy="320040"/>
          </a:xfrm>
          <a:prstGeom prst="rect">
            <a:avLst/>
          </a:prstGeom>
          <a:noFill/>
        </p:spPr>
        <p:txBody>
          <a:bodyPr wrap="square" anchor="t">
            <a:spAutoFit/>
          </a:bodyPr>
          <a:lstStyle/>
          <a:p>
            <a:pPr algn="l">
              <a:spcAft>
                <a:spcPts val="800"/>
              </a:spcAft>
            </a:pPr>
            <a:r>
              <a:rPr sz="1200" b="1" i="0">
                <a:solidFill>
                  <a:srgbClr val="C44E52"/>
                </a:solidFill>
                <a:latin typeface="Calibri"/>
              </a:rPr>
              <a:t>NEW BEHAVIOURAL METRIC · 1 OF 2</a:t>
            </a:r>
          </a:p>
        </p:txBody>
      </p:sp>
      <p:sp>
        <p:nvSpPr>
          <p:cNvPr id="3" name="TextBox 2"/>
          <p:cNvSpPr txBox="1"/>
          <p:nvPr/>
        </p:nvSpPr>
        <p:spPr>
          <a:xfrm>
            <a:off x="658368" y="822960"/>
            <a:ext cx="10789920" cy="914400"/>
          </a:xfrm>
          <a:prstGeom prst="rect">
            <a:avLst/>
          </a:prstGeom>
          <a:noFill/>
        </p:spPr>
        <p:txBody>
          <a:bodyPr wrap="square" anchor="t">
            <a:spAutoFit/>
          </a:bodyPr>
          <a:lstStyle/>
          <a:p>
            <a:pPr algn="l">
              <a:spcAft>
                <a:spcPts val="800"/>
              </a:spcAft>
            </a:pPr>
            <a:r>
              <a:rPr sz="3000" b="1" i="0">
                <a:solidFill>
                  <a:srgbClr val="23262F"/>
                </a:solidFill>
                <a:latin typeface="Georgia"/>
              </a:rPr>
              <a:t>Cross-lingual Flip Rate (CFR)</a:t>
            </a:r>
          </a:p>
        </p:txBody>
      </p:sp>
      <p:sp>
        <p:nvSpPr>
          <p:cNvPr id="4" name="TextBox 3"/>
          <p:cNvSpPr txBox="1"/>
          <p:nvPr/>
        </p:nvSpPr>
        <p:spPr>
          <a:xfrm>
            <a:off x="685800" y="1965960"/>
            <a:ext cx="5120640" cy="2194560"/>
          </a:xfrm>
          <a:prstGeom prst="rect">
            <a:avLst/>
          </a:prstGeom>
          <a:noFill/>
        </p:spPr>
        <p:txBody>
          <a:bodyPr wrap="square" anchor="t">
            <a:spAutoFit/>
          </a:bodyPr>
          <a:lstStyle/>
          <a:p>
            <a:pPr algn="l">
              <a:spcAft>
                <a:spcPts val="800"/>
              </a:spcAft>
            </a:pPr>
            <a:r>
              <a:rPr sz="1650" b="0" i="0">
                <a:solidFill>
                  <a:srgbClr val="23262F"/>
                </a:solidFill>
                <a:latin typeface="Calibri"/>
              </a:rPr>
              <a:t>Does the model's choice change when only the language changes?</a:t>
            </a:r>
          </a:p>
          <a:p>
            <a:pPr algn="l">
              <a:spcAft>
                <a:spcPts val="800"/>
              </a:spcAft>
            </a:pPr>
            <a:r>
              <a:rPr sz="1650" b="0" i="0">
                <a:solidFill>
                  <a:srgbClr val="23262F"/>
                </a:solidFill>
                <a:latin typeface="Calibri"/>
              </a:rPr>
              <a:t>Overall CFR ≈ 0.65 — about two-thirds of image-pairs flip at least once.</a:t>
            </a:r>
          </a:p>
          <a:p>
            <a:pPr algn="l">
              <a:spcAft>
                <a:spcPts val="800"/>
              </a:spcAft>
            </a:pPr>
            <a:r>
              <a:rPr sz="1650" b="0" i="0">
                <a:solidFill>
                  <a:srgbClr val="23262F"/>
                </a:solidFill>
                <a:latin typeface="Calibri"/>
              </a:rPr>
              <a:t>Wealth flips the LEAST — it is locked in (low flip = high stable bias).</a:t>
            </a:r>
          </a:p>
        </p:txBody>
      </p:sp>
      <p:sp>
        <p:nvSpPr>
          <p:cNvPr id="5" name="Rounded Rectangle 4"/>
          <p:cNvSpPr/>
          <p:nvPr/>
        </p:nvSpPr>
        <p:spPr>
          <a:xfrm>
            <a:off x="685800" y="4297680"/>
            <a:ext cx="5120640" cy="777240"/>
          </a:xfrm>
          <a:prstGeom prst="roundRect">
            <a:avLst/>
          </a:prstGeom>
          <a:solidFill>
            <a:srgbClr val="1B1F3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0">
                <a:solidFill>
                  <a:srgbClr val="FFFFFF"/>
                </a:solidFill>
                <a:latin typeface="Courier New"/>
              </a:rPr>
              <a:t>CFR  =  #(items whose answer differs across languages)  /  #(items)</a:t>
            </a:r>
          </a:p>
        </p:txBody>
      </p:sp>
      <p:graphicFrame>
        <p:nvGraphicFramePr>
          <p:cNvPr id="6" name="Chart 5"/>
          <p:cNvGraphicFramePr>
            <a:graphicFrameLocks noGrp="1"/>
          </p:cNvGraphicFramePr>
          <p:nvPr/>
        </p:nvGraphicFramePr>
        <p:xfrm>
          <a:off x="6126480" y="1737360"/>
          <a:ext cx="548640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8" name="矩形 7">
            <a:extLst>
              <a:ext uri="{FF2B5EF4-FFF2-40B4-BE49-F238E27FC236}">
                <a16:creationId xmlns:a16="http://schemas.microsoft.com/office/drawing/2014/main" id="{C868A0CA-7AF7-F6F3-5B52-1B43ABCD1933}"/>
              </a:ext>
            </a:extLst>
          </p:cNvPr>
          <p:cNvSpPr/>
          <p:nvPr/>
        </p:nvSpPr>
        <p:spPr>
          <a:xfrm>
            <a:off x="6503068" y="3429000"/>
            <a:ext cx="1235241" cy="26060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85800" y="457200"/>
            <a:ext cx="8229600" cy="320040"/>
          </a:xfrm>
          <a:prstGeom prst="rect">
            <a:avLst/>
          </a:prstGeom>
          <a:noFill/>
        </p:spPr>
        <p:txBody>
          <a:bodyPr wrap="square" anchor="t">
            <a:spAutoFit/>
          </a:bodyPr>
          <a:lstStyle/>
          <a:p>
            <a:pPr algn="l">
              <a:spcAft>
                <a:spcPts val="800"/>
              </a:spcAft>
            </a:pPr>
            <a:r>
              <a:rPr sz="1200" b="1" i="0">
                <a:solidFill>
                  <a:srgbClr val="C44E52"/>
                </a:solidFill>
                <a:latin typeface="Calibri"/>
              </a:rPr>
              <a:t>NEW BEHAVIOURAL METRIC · 2 OF 2</a:t>
            </a:r>
          </a:p>
        </p:txBody>
      </p:sp>
      <p:sp>
        <p:nvSpPr>
          <p:cNvPr id="3" name="TextBox 2"/>
          <p:cNvSpPr txBox="1"/>
          <p:nvPr/>
        </p:nvSpPr>
        <p:spPr>
          <a:xfrm>
            <a:off x="658368" y="822960"/>
            <a:ext cx="10789920" cy="914400"/>
          </a:xfrm>
          <a:prstGeom prst="rect">
            <a:avLst/>
          </a:prstGeom>
          <a:noFill/>
        </p:spPr>
        <p:txBody>
          <a:bodyPr wrap="square" anchor="t">
            <a:spAutoFit/>
          </a:bodyPr>
          <a:lstStyle/>
          <a:p>
            <a:pPr algn="l">
              <a:spcAft>
                <a:spcPts val="800"/>
              </a:spcAft>
            </a:pPr>
            <a:r>
              <a:rPr sz="3000" b="1" i="0">
                <a:solidFill>
                  <a:srgbClr val="23262F"/>
                </a:solidFill>
                <a:latin typeface="Georgia"/>
              </a:rPr>
              <a:t>Stable Bias Rate (SBR)</a:t>
            </a:r>
          </a:p>
        </p:txBody>
      </p:sp>
      <p:sp>
        <p:nvSpPr>
          <p:cNvPr id="4" name="TextBox 3"/>
          <p:cNvSpPr txBox="1"/>
          <p:nvPr/>
        </p:nvSpPr>
        <p:spPr>
          <a:xfrm>
            <a:off x="685800" y="1965960"/>
            <a:ext cx="5120640" cy="1828800"/>
          </a:xfrm>
          <a:prstGeom prst="rect">
            <a:avLst/>
          </a:prstGeom>
          <a:noFill/>
        </p:spPr>
        <p:txBody>
          <a:bodyPr wrap="square" anchor="t">
            <a:spAutoFit/>
          </a:bodyPr>
          <a:lstStyle/>
          <a:p>
            <a:pPr algn="l">
              <a:spcAft>
                <a:spcPts val="800"/>
              </a:spcAft>
            </a:pPr>
            <a:r>
              <a:rPr sz="1650" b="0" i="0">
                <a:solidFill>
                  <a:srgbClr val="23262F"/>
                </a:solidFill>
                <a:latin typeface="Calibri"/>
              </a:rPr>
              <a:t>Does the model pick the wrong (prototypical) image in ALL seven languages?</a:t>
            </a:r>
          </a:p>
          <a:p>
            <a:pPr algn="l">
              <a:spcAft>
                <a:spcPts val="800"/>
              </a:spcAft>
            </a:pPr>
            <a:r>
              <a:rPr sz="1650" b="1" i="0">
                <a:solidFill>
                  <a:srgbClr val="C44E52"/>
                </a:solidFill>
                <a:latin typeface="Calibri"/>
              </a:rPr>
              <a:t>Wealth has the highest SBR in both models — biased everywhere, not flip-flopping.</a:t>
            </a:r>
          </a:p>
        </p:txBody>
      </p:sp>
      <p:sp>
        <p:nvSpPr>
          <p:cNvPr id="5" name="Rounded Rectangle 4"/>
          <p:cNvSpPr/>
          <p:nvPr/>
        </p:nvSpPr>
        <p:spPr>
          <a:xfrm>
            <a:off x="685800" y="4297680"/>
            <a:ext cx="5120640" cy="777240"/>
          </a:xfrm>
          <a:prstGeom prst="roundRect">
            <a:avLst/>
          </a:prstGeom>
          <a:solidFill>
            <a:srgbClr val="1B1F3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0">
                <a:solidFill>
                  <a:srgbClr val="FFFFFF"/>
                </a:solidFill>
                <a:latin typeface="Courier New"/>
              </a:rPr>
              <a:t>SBR  =  #(items with the prototype chosen in every language)  /  #(items)</a:t>
            </a:r>
          </a:p>
        </p:txBody>
      </p:sp>
      <p:graphicFrame>
        <p:nvGraphicFramePr>
          <p:cNvPr id="6" name="Chart 5"/>
          <p:cNvGraphicFramePr>
            <a:graphicFrameLocks noGrp="1"/>
          </p:cNvGraphicFramePr>
          <p:nvPr/>
        </p:nvGraphicFramePr>
        <p:xfrm>
          <a:off x="6126480" y="1737360"/>
          <a:ext cx="5486400" cy="429768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GOING DEEPER · THE CONFOUND</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Is it just a low-level visual cue? No.</a:t>
            </a:r>
            <a:endParaRPr lang="en-US" sz="3200" dirty="0"/>
          </a:p>
        </p:txBody>
      </p:sp>
      <p:sp>
        <p:nvSpPr>
          <p:cNvPr id="4" name="Text 2"/>
          <p:cNvSpPr/>
          <p:nvPr/>
        </p:nvSpPr>
        <p:spPr>
          <a:xfrm>
            <a:off x="685800" y="1920240"/>
            <a:ext cx="5120640" cy="42062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Every adversarial image also tweaks one visual knob — count / colour / scale / layout / spatial.</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If the bias were a colour artifact, colour would spike. Instead colour is the LOWEST (≈0.40).</a:t>
            </a:r>
            <a:endParaRPr lang="en-US" sz="1600" dirty="0"/>
          </a:p>
          <a:p>
            <a:pPr marL="203200" indent="-203200">
              <a:lnSpc>
                <a:spcPct val="100000"/>
              </a:lnSpc>
              <a:spcAft>
                <a:spcPts val="1100"/>
              </a:spcAft>
              <a:buSzPct val="100000"/>
              <a:buChar char="•"/>
            </a:pPr>
            <a:r>
              <a:rPr lang="en-US" sz="1600" dirty="0">
                <a:solidFill>
                  <a:srgbClr val="23262F"/>
                </a:solidFill>
                <a:latin typeface="Calibri" pitchFamily="34" charset="0"/>
                <a:ea typeface="Calibri" pitchFamily="34" charset="-122"/>
                <a:cs typeface="Calibri" pitchFamily="34" charset="-120"/>
              </a:rPr>
              <a:t>Bias is highest when the cue is hard to perceive (count, scale) — a fallback when the detail can't be grounded.</a:t>
            </a:r>
            <a:endParaRPr lang="en-US" sz="1600" dirty="0"/>
          </a:p>
        </p:txBody>
      </p:sp>
      <p:pic>
        <p:nvPicPr>
          <p:cNvPr id="5" name="Image 0" descr="/Users/xiaochuan/Desktop/Projects/P5_Multi_linguistic_histoBias/v3/experiments/exp3e_knob_confound/figures/figF_error_by_knob.png"/>
          <p:cNvPicPr>
            <a:picLocks noChangeAspect="1"/>
          </p:cNvPicPr>
          <p:nvPr/>
        </p:nvPicPr>
        <p:blipFill>
          <a:blip r:embed="rId3"/>
          <a:stretch>
            <a:fillRect/>
          </a:stretch>
        </p:blipFill>
        <p:spPr>
          <a:xfrm>
            <a:off x="6126480" y="2377440"/>
            <a:ext cx="5532120" cy="2993571"/>
          </a:xfrm>
          <a:prstGeom prst="rect">
            <a:avLst/>
          </a:prstGeom>
        </p:spPr>
      </p:pic>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13</a:t>
            </a:r>
            <a:endParaRPr lang="en-US" sz="1000" dirty="0"/>
          </a:p>
        </p:txBody>
      </p:sp>
      <p:sp>
        <p:nvSpPr>
          <p:cNvPr id="13" name="矩形 12">
            <a:extLst>
              <a:ext uri="{FF2B5EF4-FFF2-40B4-BE49-F238E27FC236}">
                <a16:creationId xmlns:a16="http://schemas.microsoft.com/office/drawing/2014/main" id="{9B1B5029-A256-7265-95A9-9548729D3B2C}"/>
              </a:ext>
            </a:extLst>
          </p:cNvPr>
          <p:cNvSpPr/>
          <p:nvPr/>
        </p:nvSpPr>
        <p:spPr>
          <a:xfrm>
            <a:off x="7686675" y="3244691"/>
            <a:ext cx="857249" cy="2041683"/>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1F3B"/>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WHAT WE FOUND</a:t>
            </a:r>
            <a:endParaRPr lang="en-US" sz="1200" dirty="0"/>
          </a:p>
        </p:txBody>
      </p:sp>
      <p:sp>
        <p:nvSpPr>
          <p:cNvPr id="3" name="Text 1"/>
          <p:cNvSpPr/>
          <p:nvPr/>
        </p:nvSpPr>
        <p:spPr>
          <a:xfrm>
            <a:off x="685800" y="868680"/>
            <a:ext cx="10789920" cy="822960"/>
          </a:xfrm>
          <a:prstGeom prst="rect">
            <a:avLst/>
          </a:prstGeom>
          <a:noFill/>
          <a:ln/>
        </p:spPr>
        <p:txBody>
          <a:bodyPr wrap="square" lIns="0" tIns="0" rIns="0" bIns="0"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One picture: a fallback with two factors</a:t>
            </a:r>
            <a:endParaRPr lang="en-US" sz="3000" dirty="0"/>
          </a:p>
        </p:txBody>
      </p:sp>
      <p:sp>
        <p:nvSpPr>
          <p:cNvPr id="4" name="Text 2"/>
          <p:cNvSpPr/>
          <p:nvPr/>
        </p:nvSpPr>
        <p:spPr>
          <a:xfrm>
            <a:off x="685800" y="2011680"/>
            <a:ext cx="731520" cy="1005840"/>
          </a:xfrm>
          <a:prstGeom prst="rect">
            <a:avLst/>
          </a:prstGeom>
          <a:noFill/>
          <a:ln/>
        </p:spPr>
        <p:txBody>
          <a:bodyPr wrap="square" lIns="0" tIns="0" rIns="0" bIns="0" rtlCol="0" anchor="ctr"/>
          <a:lstStyle/>
          <a:p>
            <a:pPr marL="0" indent="0">
              <a:buNone/>
            </a:pPr>
            <a:r>
              <a:rPr lang="en-US" sz="4600" b="1" dirty="0">
                <a:solidFill>
                  <a:srgbClr val="C44E52"/>
                </a:solidFill>
                <a:latin typeface="Georgia" pitchFamily="34" charset="0"/>
                <a:ea typeface="Georgia" pitchFamily="34" charset="-122"/>
                <a:cs typeface="Georgia" pitchFamily="34" charset="-120"/>
              </a:rPr>
              <a:t>1</a:t>
            </a:r>
            <a:endParaRPr lang="en-US" sz="4600" dirty="0"/>
          </a:p>
        </p:txBody>
      </p:sp>
      <p:sp>
        <p:nvSpPr>
          <p:cNvPr id="5" name="Text 3"/>
          <p:cNvSpPr/>
          <p:nvPr/>
        </p:nvSpPr>
        <p:spPr>
          <a:xfrm>
            <a:off x="1600200" y="2057400"/>
            <a:ext cx="10424160" cy="50292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Is there a prototype to take?  →  the attribute</a:t>
            </a:r>
            <a:endParaRPr lang="en-US" sz="2000" dirty="0"/>
          </a:p>
        </p:txBody>
      </p:sp>
      <p:sp>
        <p:nvSpPr>
          <p:cNvPr id="6" name="Text 4"/>
          <p:cNvSpPr/>
          <p:nvPr/>
        </p:nvSpPr>
        <p:spPr>
          <a:xfrm>
            <a:off x="1600200" y="2578608"/>
            <a:ext cx="10424160" cy="868680"/>
          </a:xfrm>
          <a:prstGeom prst="rect">
            <a:avLst/>
          </a:prstGeom>
          <a:noFill/>
          <a:ln/>
        </p:spPr>
        <p:txBody>
          <a:bodyPr wrap="square" lIns="0" tIns="0" rIns="0" bIns="0" rtlCol="0" anchor="ctr"/>
          <a:lstStyle/>
          <a:p>
            <a:pPr marL="0" indent="0">
              <a:buNone/>
            </a:pPr>
            <a:r>
              <a:rPr lang="en-US" sz="1500" dirty="0">
                <a:solidFill>
                  <a:srgbClr val="C9D2EC"/>
                </a:solidFill>
                <a:latin typeface="Calibri" pitchFamily="34" charset="0"/>
                <a:ea typeface="Calibri" pitchFamily="34" charset="-122"/>
                <a:cs typeface="Calibri" pitchFamily="34" charset="-120"/>
              </a:rPr>
              <a:t>A visual prototype exists for wealth and status, not for morality or intellect. That map replicates across both families, and the trap is largely item-intrinsic (the same items fool both, r = 0.68).</a:t>
            </a:r>
            <a:endParaRPr lang="en-US" sz="1500" dirty="0"/>
          </a:p>
        </p:txBody>
      </p:sp>
      <p:sp>
        <p:nvSpPr>
          <p:cNvPr id="7" name="Text 5"/>
          <p:cNvSpPr/>
          <p:nvPr/>
        </p:nvSpPr>
        <p:spPr>
          <a:xfrm>
            <a:off x="685800" y="3794760"/>
            <a:ext cx="731520" cy="1005840"/>
          </a:xfrm>
          <a:prstGeom prst="rect">
            <a:avLst/>
          </a:prstGeom>
          <a:noFill/>
          <a:ln/>
        </p:spPr>
        <p:txBody>
          <a:bodyPr wrap="square" lIns="0" tIns="0" rIns="0" bIns="0" rtlCol="0" anchor="ctr"/>
          <a:lstStyle/>
          <a:p>
            <a:pPr marL="0" indent="0">
              <a:buNone/>
            </a:pPr>
            <a:r>
              <a:rPr lang="en-US" sz="4600" b="1" dirty="0">
                <a:solidFill>
                  <a:srgbClr val="4C72B0"/>
                </a:solidFill>
                <a:latin typeface="Georgia" pitchFamily="34" charset="0"/>
                <a:ea typeface="Georgia" pitchFamily="34" charset="-122"/>
                <a:cs typeface="Georgia" pitchFamily="34" charset="-120"/>
              </a:rPr>
              <a:t>2</a:t>
            </a:r>
            <a:endParaRPr lang="en-US" sz="4600" dirty="0"/>
          </a:p>
        </p:txBody>
      </p:sp>
      <p:sp>
        <p:nvSpPr>
          <p:cNvPr id="8" name="Text 6"/>
          <p:cNvSpPr/>
          <p:nvPr/>
        </p:nvSpPr>
        <p:spPr>
          <a:xfrm>
            <a:off x="1600200" y="3840480"/>
            <a:ext cx="10424160" cy="502920"/>
          </a:xfrm>
          <a:prstGeom prst="rect">
            <a:avLst/>
          </a:prstGeom>
          <a:noFill/>
          <a:ln/>
        </p:spPr>
        <p:txBody>
          <a:bodyPr wrap="square" lIns="0" tIns="0" rIns="0" bIns="0"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How weak is the signal?  →  perception &amp; language</a:t>
            </a:r>
            <a:endParaRPr lang="en-US" sz="2000" dirty="0"/>
          </a:p>
        </p:txBody>
      </p:sp>
      <p:sp>
        <p:nvSpPr>
          <p:cNvPr id="9" name="Text 7"/>
          <p:cNvSpPr/>
          <p:nvPr/>
        </p:nvSpPr>
        <p:spPr>
          <a:xfrm>
            <a:off x="1600200" y="4361688"/>
            <a:ext cx="10424160" cy="868680"/>
          </a:xfrm>
          <a:prstGeom prst="rect">
            <a:avLst/>
          </a:prstGeom>
          <a:noFill/>
          <a:ln/>
        </p:spPr>
        <p:txBody>
          <a:bodyPr wrap="square" lIns="0" tIns="0" rIns="0" bIns="0" rtlCol="0" anchor="ctr"/>
          <a:lstStyle/>
          <a:p>
            <a:pPr marL="0" indent="0">
              <a:buNone/>
            </a:pPr>
            <a:r>
              <a:rPr lang="en-US" sz="1500" dirty="0">
                <a:solidFill>
                  <a:srgbClr val="C9D2EC"/>
                </a:solidFill>
                <a:latin typeface="Calibri" pitchFamily="34" charset="0"/>
                <a:ea typeface="Calibri" pitchFamily="34" charset="-122"/>
                <a:cs typeface="Calibri" pitchFamily="34" charset="-120"/>
              </a:rPr>
              <a:t>The model falls back on the prototype when the discriminating cue is hard to perceive (count, scale) OR the prompt language is unfamiliar (Bengali, Greek). Two routes, one mechanism.</a:t>
            </a:r>
            <a:endParaRPr lang="en-US" sz="1500" dirty="0"/>
          </a:p>
        </p:txBody>
      </p:sp>
      <p:sp>
        <p:nvSpPr>
          <p:cNvPr id="10" name="Text 8"/>
          <p:cNvSpPr/>
          <p:nvPr/>
        </p:nvSpPr>
        <p:spPr>
          <a:xfrm>
            <a:off x="685800" y="5852160"/>
            <a:ext cx="10789920" cy="548640"/>
          </a:xfrm>
          <a:prstGeom prst="rect">
            <a:avLst/>
          </a:prstGeom>
          <a:noFill/>
          <a:ln/>
        </p:spPr>
        <p:txBody>
          <a:bodyPr wrap="square" lIns="0" tIns="0" rIns="0" bIns="0" rtlCol="0" anchor="ctr"/>
          <a:lstStyle/>
          <a:p>
            <a:pPr marL="0" indent="0">
              <a:buNone/>
            </a:pPr>
            <a:r>
              <a:rPr lang="en-US" sz="1600" i="1" dirty="0">
                <a:solidFill>
                  <a:srgbClr val="C44E52"/>
                </a:solidFill>
                <a:latin typeface="Georgia" pitchFamily="34" charset="0"/>
                <a:ea typeface="Georgia" pitchFamily="34" charset="-122"/>
                <a:cs typeface="Georgia" pitchFamily="34" charset="-120"/>
              </a:rPr>
              <a:t>Attribute sets whether a shortcut exists; signal-weakness sets how much the model takes it.</a:t>
            </a:r>
            <a:endParaRPr lang="en-US" sz="1600" dirty="0"/>
          </a:p>
        </p:txBody>
      </p:sp>
      <p:sp>
        <p:nvSpPr>
          <p:cNvPr id="11" name="Text 9"/>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LIMITATIONS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What we are not yet claiming</a:t>
            </a:r>
            <a:endParaRPr lang="en-US" sz="3200" dirty="0"/>
          </a:p>
        </p:txBody>
      </p:sp>
      <p:sp>
        <p:nvSpPr>
          <p:cNvPr id="4" name="Text 2"/>
          <p:cNvSpPr/>
          <p:nvPr/>
        </p:nvSpPr>
        <p:spPr>
          <a:xfrm>
            <a:off x="685800" y="1965960"/>
            <a:ext cx="10607040" cy="402336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Single seed, single translation backend; the adversarial “knob” (color / scale) is a co-varying confound.</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Demography cells are small (Wealth ≈ 31 / language) — mixed-effects pools, but power is limited.</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Qwen-32B was dropped — infeasible runtime (≈280 s/item) on the available 2×A40 sharding.</a:t>
            </a:r>
            <a:endParaRPr lang="en-US" sz="1700" dirty="0"/>
          </a:p>
          <a:p>
            <a:pPr marL="203200" indent="-203200">
              <a:lnSpc>
                <a:spcPct val="100000"/>
              </a:lnSpc>
              <a:spcAft>
                <a:spcPts val="1100"/>
              </a:spcAft>
              <a:buSzPct val="100000"/>
              <a:buChar char="•"/>
            </a:pPr>
            <a:r>
              <a:rPr lang="en-US" sz="1700" dirty="0">
                <a:solidFill>
                  <a:srgbClr val="23262F"/>
                </a:solidFill>
                <a:latin typeface="Calibri" pitchFamily="34" charset="0"/>
                <a:ea typeface="Calibri" pitchFamily="34" charset="-122"/>
                <a:cs typeface="Calibri" pitchFamily="34" charset="-120"/>
              </a:rPr>
              <a:t>Why ar / bn / el specifically — not a clean resource gradient (Russian is non-Latin yet flat) — is open.</a:t>
            </a:r>
            <a:endParaRPr lang="en-US" sz="1700" dirty="0"/>
          </a:p>
        </p:txBody>
      </p:sp>
      <p:sp>
        <p:nvSpPr>
          <p:cNvPr id="5"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OUTLOOK</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3456"/>
              </a:lnSpc>
              <a:buNone/>
            </a:pPr>
            <a:r>
              <a:rPr lang="en-US" sz="3200" b="1" dirty="0">
                <a:solidFill>
                  <a:srgbClr val="23262F"/>
                </a:solidFill>
                <a:latin typeface="Georgia" pitchFamily="34" charset="0"/>
                <a:ea typeface="Georgia" pitchFamily="34" charset="-122"/>
                <a:cs typeface="Georgia" pitchFamily="34" charset="-120"/>
              </a:rPr>
              <a:t>Next steps</a:t>
            </a:r>
            <a:endParaRPr lang="en-US" sz="3200" dirty="0"/>
          </a:p>
        </p:txBody>
      </p:sp>
      <p:sp>
        <p:nvSpPr>
          <p:cNvPr id="4" name="Shape 2"/>
          <p:cNvSpPr/>
          <p:nvPr/>
        </p:nvSpPr>
        <p:spPr>
          <a:xfrm>
            <a:off x="685800" y="2103120"/>
            <a:ext cx="384048" cy="384048"/>
          </a:xfrm>
          <a:prstGeom prst="ellipse">
            <a:avLst/>
          </a:prstGeom>
          <a:solidFill>
            <a:srgbClr val="1B1F3B"/>
          </a:solidFill>
          <a:ln/>
        </p:spPr>
        <p:txBody>
          <a:bodyPr/>
          <a:lstStyle/>
          <a:p>
            <a:endParaRPr lang="zh-CN" altLang="en-US"/>
          </a:p>
        </p:txBody>
      </p:sp>
      <p:sp>
        <p:nvSpPr>
          <p:cNvPr id="5" name="Text 3"/>
          <p:cNvSpPr/>
          <p:nvPr/>
        </p:nvSpPr>
        <p:spPr>
          <a:xfrm>
            <a:off x="685800" y="210312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6" name="Text 4"/>
          <p:cNvSpPr/>
          <p:nvPr/>
        </p:nvSpPr>
        <p:spPr>
          <a:xfrm>
            <a:off x="1325880" y="2039112"/>
            <a:ext cx="2926080" cy="457200"/>
          </a:xfrm>
          <a:prstGeom prst="rect">
            <a:avLst/>
          </a:prstGeom>
          <a:noFill/>
          <a:ln/>
        </p:spPr>
        <p:txBody>
          <a:bodyPr wrap="square" lIns="0" tIns="0" rIns="0" bIns="0" rtlCol="0" anchor="ctr"/>
          <a:lstStyle/>
          <a:p>
            <a:pPr marL="0" indent="0">
              <a:buNone/>
            </a:pPr>
            <a:r>
              <a:rPr lang="en-US" sz="1700" b="1" dirty="0">
                <a:solidFill>
                  <a:srgbClr val="C44E52"/>
                </a:solidFill>
                <a:latin typeface="Georgia" pitchFamily="34" charset="0"/>
                <a:ea typeface="Georgia" pitchFamily="34" charset="-122"/>
                <a:cs typeface="Georgia" pitchFamily="34" charset="-120"/>
              </a:rPr>
              <a:t>Scale axis</a:t>
            </a:r>
            <a:endParaRPr lang="en-US" sz="1700" dirty="0"/>
          </a:p>
        </p:txBody>
      </p:sp>
      <p:sp>
        <p:nvSpPr>
          <p:cNvPr id="7" name="Text 5"/>
          <p:cNvSpPr/>
          <p:nvPr/>
        </p:nvSpPr>
        <p:spPr>
          <a:xfrm>
            <a:off x="4343400" y="2155023"/>
            <a:ext cx="7772400" cy="640080"/>
          </a:xfrm>
          <a:prstGeom prst="rect">
            <a:avLst/>
          </a:prstGeom>
          <a:noFill/>
          <a:ln/>
        </p:spPr>
        <p:txBody>
          <a:bodyPr wrap="square" lIns="0" tIns="0" rIns="0" bIns="0" rtlCol="0" anchor="t"/>
          <a:lstStyle/>
          <a:p>
            <a:pPr marL="0" indent="0">
              <a:buNone/>
            </a:pPr>
            <a:r>
              <a:rPr lang="en-US" sz="1500" dirty="0">
                <a:solidFill>
                  <a:srgbClr val="23262F"/>
                </a:solidFill>
                <a:latin typeface="Calibri" pitchFamily="34" charset="0"/>
                <a:ea typeface="Calibri" pitchFamily="34" charset="-122"/>
                <a:cs typeface="Calibri" pitchFamily="34" charset="-120"/>
              </a:rPr>
              <a:t>Qwen-32B in 4-bit on a single GPU — does the bias shrink with model size?</a:t>
            </a:r>
            <a:endParaRPr lang="en-US" sz="1500" dirty="0"/>
          </a:p>
        </p:txBody>
      </p:sp>
      <p:sp>
        <p:nvSpPr>
          <p:cNvPr id="8" name="Shape 6"/>
          <p:cNvSpPr/>
          <p:nvPr/>
        </p:nvSpPr>
        <p:spPr>
          <a:xfrm>
            <a:off x="685800" y="3127248"/>
            <a:ext cx="384048" cy="384048"/>
          </a:xfrm>
          <a:prstGeom prst="ellipse">
            <a:avLst/>
          </a:prstGeom>
          <a:solidFill>
            <a:srgbClr val="1B1F3B"/>
          </a:solidFill>
          <a:ln/>
        </p:spPr>
        <p:txBody>
          <a:bodyPr/>
          <a:lstStyle/>
          <a:p>
            <a:endParaRPr lang="zh-CN" altLang="en-US"/>
          </a:p>
        </p:txBody>
      </p:sp>
      <p:sp>
        <p:nvSpPr>
          <p:cNvPr id="9" name="Text 7"/>
          <p:cNvSpPr/>
          <p:nvPr/>
        </p:nvSpPr>
        <p:spPr>
          <a:xfrm>
            <a:off x="685800" y="3127248"/>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0" name="Text 8"/>
          <p:cNvSpPr/>
          <p:nvPr/>
        </p:nvSpPr>
        <p:spPr>
          <a:xfrm>
            <a:off x="1325880" y="3063240"/>
            <a:ext cx="2926080" cy="457200"/>
          </a:xfrm>
          <a:prstGeom prst="rect">
            <a:avLst/>
          </a:prstGeom>
          <a:noFill/>
          <a:ln/>
        </p:spPr>
        <p:txBody>
          <a:bodyPr wrap="square" lIns="0" tIns="0" rIns="0" bIns="0" rtlCol="0" anchor="ctr"/>
          <a:lstStyle/>
          <a:p>
            <a:pPr marL="0" indent="0">
              <a:buNone/>
            </a:pPr>
            <a:r>
              <a:rPr lang="en-US" sz="1700" b="1" dirty="0">
                <a:solidFill>
                  <a:srgbClr val="C44E52"/>
                </a:solidFill>
                <a:latin typeface="Georgia" pitchFamily="34" charset="0"/>
                <a:ea typeface="Georgia" pitchFamily="34" charset="-122"/>
                <a:cs typeface="Georgia" pitchFamily="34" charset="-120"/>
              </a:rPr>
              <a:t>More families</a:t>
            </a:r>
            <a:endParaRPr lang="en-US" sz="1700" dirty="0"/>
          </a:p>
        </p:txBody>
      </p:sp>
      <p:sp>
        <p:nvSpPr>
          <p:cNvPr id="11" name="Text 9"/>
          <p:cNvSpPr/>
          <p:nvPr/>
        </p:nvSpPr>
        <p:spPr>
          <a:xfrm>
            <a:off x="4343400" y="3179151"/>
            <a:ext cx="7772400" cy="640080"/>
          </a:xfrm>
          <a:prstGeom prst="rect">
            <a:avLst/>
          </a:prstGeom>
          <a:noFill/>
          <a:ln/>
        </p:spPr>
        <p:txBody>
          <a:bodyPr wrap="square" lIns="0" tIns="0" rIns="0" bIns="0" rtlCol="0" anchor="t"/>
          <a:lstStyle/>
          <a:p>
            <a:pPr marL="0" indent="0">
              <a:buNone/>
            </a:pPr>
            <a:r>
              <a:rPr lang="en-US" sz="1500" dirty="0">
                <a:solidFill>
                  <a:srgbClr val="23262F"/>
                </a:solidFill>
                <a:latin typeface="Calibri" pitchFamily="34" charset="0"/>
                <a:ea typeface="Calibri" pitchFamily="34" charset="-122"/>
                <a:cs typeface="Calibri" pitchFamily="34" charset="-120"/>
              </a:rPr>
              <a:t>Gemma-3, LLaVA-OneVision — map how general the language effect is.</a:t>
            </a:r>
            <a:endParaRPr lang="en-US" sz="1500" dirty="0"/>
          </a:p>
        </p:txBody>
      </p:sp>
      <p:sp>
        <p:nvSpPr>
          <p:cNvPr id="12" name="Shape 10"/>
          <p:cNvSpPr/>
          <p:nvPr/>
        </p:nvSpPr>
        <p:spPr>
          <a:xfrm>
            <a:off x="685800" y="4151376"/>
            <a:ext cx="384048" cy="384048"/>
          </a:xfrm>
          <a:prstGeom prst="ellipse">
            <a:avLst/>
          </a:prstGeom>
          <a:solidFill>
            <a:srgbClr val="1B1F3B"/>
          </a:solidFill>
          <a:ln/>
        </p:spPr>
        <p:txBody>
          <a:bodyPr/>
          <a:lstStyle/>
          <a:p>
            <a:endParaRPr lang="zh-CN" altLang="en-US"/>
          </a:p>
        </p:txBody>
      </p:sp>
      <p:sp>
        <p:nvSpPr>
          <p:cNvPr id="13" name="Text 11"/>
          <p:cNvSpPr/>
          <p:nvPr/>
        </p:nvSpPr>
        <p:spPr>
          <a:xfrm>
            <a:off x="685800" y="415137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14" name="Text 12"/>
          <p:cNvSpPr/>
          <p:nvPr/>
        </p:nvSpPr>
        <p:spPr>
          <a:xfrm>
            <a:off x="1325880" y="4087368"/>
            <a:ext cx="2926080" cy="457200"/>
          </a:xfrm>
          <a:prstGeom prst="rect">
            <a:avLst/>
          </a:prstGeom>
          <a:noFill/>
          <a:ln/>
        </p:spPr>
        <p:txBody>
          <a:bodyPr wrap="square" lIns="0" tIns="0" rIns="0" bIns="0" rtlCol="0" anchor="ctr"/>
          <a:lstStyle/>
          <a:p>
            <a:pPr marL="0" indent="0">
              <a:buNone/>
            </a:pPr>
            <a:r>
              <a:rPr lang="en-US" sz="1700" b="1" dirty="0">
                <a:solidFill>
                  <a:srgbClr val="C44E52"/>
                </a:solidFill>
                <a:latin typeface="Georgia" pitchFamily="34" charset="0"/>
                <a:ea typeface="Georgia" pitchFamily="34" charset="-122"/>
                <a:cs typeface="Georgia" pitchFamily="34" charset="-120"/>
              </a:rPr>
              <a:t>Shortcut-severing</a:t>
            </a:r>
            <a:r>
              <a:rPr lang="zh-CN" altLang="en-US" sz="1700" b="1" dirty="0">
                <a:solidFill>
                  <a:srgbClr val="C44E52"/>
                </a:solidFill>
                <a:latin typeface="Georgia" pitchFamily="34" charset="0"/>
                <a:ea typeface="Georgia" pitchFamily="34" charset="-122"/>
                <a:cs typeface="Georgia" pitchFamily="34" charset="-120"/>
              </a:rPr>
              <a:t>*</a:t>
            </a:r>
            <a:endParaRPr lang="en-US" sz="1700" dirty="0"/>
          </a:p>
        </p:txBody>
      </p:sp>
      <p:sp>
        <p:nvSpPr>
          <p:cNvPr id="15" name="Text 13"/>
          <p:cNvSpPr/>
          <p:nvPr/>
        </p:nvSpPr>
        <p:spPr>
          <a:xfrm>
            <a:off x="4343400" y="4203279"/>
            <a:ext cx="7772400" cy="640080"/>
          </a:xfrm>
          <a:prstGeom prst="rect">
            <a:avLst/>
          </a:prstGeom>
          <a:noFill/>
          <a:ln/>
        </p:spPr>
        <p:txBody>
          <a:bodyPr wrap="square" lIns="0" tIns="0" rIns="0" bIns="0" rtlCol="0" anchor="t"/>
          <a:lstStyle/>
          <a:p>
            <a:pPr marL="0" indent="0">
              <a:buNone/>
            </a:pPr>
            <a:r>
              <a:rPr lang="en-US" sz="1500" dirty="0">
                <a:solidFill>
                  <a:srgbClr val="23262F"/>
                </a:solidFill>
                <a:latin typeface="Calibri" pitchFamily="34" charset="0"/>
                <a:ea typeface="Calibri" pitchFamily="34" charset="-122"/>
                <a:cs typeface="Calibri" pitchFamily="34" charset="-120"/>
              </a:rPr>
              <a:t>Remove prototype cues — is stable correctness actually grounded?</a:t>
            </a:r>
            <a:endParaRPr lang="en-US" sz="1500" dirty="0"/>
          </a:p>
        </p:txBody>
      </p:sp>
      <p:sp>
        <p:nvSpPr>
          <p:cNvPr id="16" name="Shape 14"/>
          <p:cNvSpPr/>
          <p:nvPr/>
        </p:nvSpPr>
        <p:spPr>
          <a:xfrm>
            <a:off x="685800" y="5175504"/>
            <a:ext cx="384048" cy="384048"/>
          </a:xfrm>
          <a:prstGeom prst="ellipse">
            <a:avLst/>
          </a:prstGeom>
          <a:solidFill>
            <a:srgbClr val="1B1F3B"/>
          </a:solidFill>
          <a:ln/>
        </p:spPr>
        <p:txBody>
          <a:bodyPr/>
          <a:lstStyle/>
          <a:p>
            <a:endParaRPr lang="zh-CN" altLang="en-US"/>
          </a:p>
        </p:txBody>
      </p:sp>
      <p:sp>
        <p:nvSpPr>
          <p:cNvPr id="17" name="Text 15"/>
          <p:cNvSpPr/>
          <p:nvPr/>
        </p:nvSpPr>
        <p:spPr>
          <a:xfrm>
            <a:off x="685800" y="5175504"/>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18" name="Text 16"/>
          <p:cNvSpPr/>
          <p:nvPr/>
        </p:nvSpPr>
        <p:spPr>
          <a:xfrm>
            <a:off x="1325880" y="5111496"/>
            <a:ext cx="2926080" cy="457200"/>
          </a:xfrm>
          <a:prstGeom prst="rect">
            <a:avLst/>
          </a:prstGeom>
          <a:noFill/>
          <a:ln/>
        </p:spPr>
        <p:txBody>
          <a:bodyPr wrap="square" lIns="0" tIns="0" rIns="0" bIns="0" rtlCol="0" anchor="ctr"/>
          <a:lstStyle/>
          <a:p>
            <a:pPr marL="0" indent="0">
              <a:buNone/>
            </a:pPr>
            <a:r>
              <a:rPr lang="en-US" sz="1700" b="1" dirty="0">
                <a:solidFill>
                  <a:srgbClr val="C44E52"/>
                </a:solidFill>
                <a:latin typeface="Georgia" pitchFamily="34" charset="0"/>
                <a:ea typeface="Georgia" pitchFamily="34" charset="-122"/>
                <a:cs typeface="Georgia" pitchFamily="34" charset="-120"/>
              </a:rPr>
              <a:t>Pin down language</a:t>
            </a:r>
            <a:endParaRPr lang="en-US" sz="1700" dirty="0"/>
          </a:p>
        </p:txBody>
      </p:sp>
      <p:sp>
        <p:nvSpPr>
          <p:cNvPr id="19" name="Text 17"/>
          <p:cNvSpPr/>
          <p:nvPr/>
        </p:nvSpPr>
        <p:spPr>
          <a:xfrm>
            <a:off x="4343400" y="5227407"/>
            <a:ext cx="7772400" cy="640080"/>
          </a:xfrm>
          <a:prstGeom prst="rect">
            <a:avLst/>
          </a:prstGeom>
          <a:noFill/>
          <a:ln/>
        </p:spPr>
        <p:txBody>
          <a:bodyPr wrap="square" lIns="0" tIns="0" rIns="0" bIns="0" rtlCol="0" anchor="t"/>
          <a:lstStyle/>
          <a:p>
            <a:pPr marL="0" indent="0">
              <a:buNone/>
            </a:pPr>
            <a:r>
              <a:rPr lang="en-US" sz="1500" dirty="0">
                <a:solidFill>
                  <a:srgbClr val="23262F"/>
                </a:solidFill>
                <a:latin typeface="Calibri" pitchFamily="34" charset="0"/>
                <a:ea typeface="Calibri" pitchFamily="34" charset="-122"/>
                <a:cs typeface="Calibri" pitchFamily="34" charset="-120"/>
              </a:rPr>
              <a:t>Disentangle resource vs script vs cultural loading behind the ar / bn / el spike.</a:t>
            </a:r>
            <a:endParaRPr lang="en-US" sz="1500" dirty="0"/>
          </a:p>
        </p:txBody>
      </p:sp>
      <p:sp>
        <p:nvSpPr>
          <p:cNvPr id="20" name="Text 1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685800" y="2286000"/>
            <a:ext cx="109728" cy="109728"/>
          </a:xfrm>
          <a:prstGeom prst="ellipse">
            <a:avLst/>
          </a:prstGeom>
          <a:solidFill>
            <a:srgbClr val="C44E52"/>
          </a:solidFill>
          <a:ln/>
        </p:spPr>
        <p:txBody>
          <a:bodyPr/>
          <a:lstStyle/>
          <a:p>
            <a:endParaRPr lang="zh-CN" altLang="en-US"/>
          </a:p>
        </p:txBody>
      </p:sp>
      <p:sp>
        <p:nvSpPr>
          <p:cNvPr id="3" name="Shape 1"/>
          <p:cNvSpPr/>
          <p:nvPr/>
        </p:nvSpPr>
        <p:spPr>
          <a:xfrm>
            <a:off x="886968" y="2286000"/>
            <a:ext cx="109728" cy="109728"/>
          </a:xfrm>
          <a:prstGeom prst="ellipse">
            <a:avLst/>
          </a:prstGeom>
          <a:solidFill>
            <a:srgbClr val="4C72B0"/>
          </a:solidFill>
          <a:ln/>
        </p:spPr>
        <p:txBody>
          <a:bodyPr/>
          <a:lstStyle/>
          <a:p>
            <a:endParaRPr lang="zh-CN" altLang="en-US"/>
          </a:p>
        </p:txBody>
      </p:sp>
      <p:sp>
        <p:nvSpPr>
          <p:cNvPr id="4" name="Shape 2"/>
          <p:cNvSpPr/>
          <p:nvPr/>
        </p:nvSpPr>
        <p:spPr>
          <a:xfrm>
            <a:off x="1088136" y="2286000"/>
            <a:ext cx="109728" cy="109728"/>
          </a:xfrm>
          <a:prstGeom prst="ellipse">
            <a:avLst/>
          </a:prstGeom>
          <a:solidFill>
            <a:srgbClr val="55A868"/>
          </a:solidFill>
          <a:ln/>
        </p:spPr>
        <p:txBody>
          <a:bodyPr/>
          <a:lstStyle/>
          <a:p>
            <a:endParaRPr lang="zh-CN" altLang="en-US"/>
          </a:p>
        </p:txBody>
      </p:sp>
      <p:sp>
        <p:nvSpPr>
          <p:cNvPr id="5" name="Text 3"/>
          <p:cNvSpPr/>
          <p:nvPr/>
        </p:nvSpPr>
        <p:spPr>
          <a:xfrm>
            <a:off x="685800" y="2651760"/>
            <a:ext cx="10789920" cy="109728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Thank you</a:t>
            </a:r>
            <a:endParaRPr lang="en-US" sz="4000" dirty="0"/>
          </a:p>
        </p:txBody>
      </p:sp>
      <p:sp>
        <p:nvSpPr>
          <p:cNvPr id="6" name="Text 4"/>
          <p:cNvSpPr/>
          <p:nvPr/>
        </p:nvSpPr>
        <p:spPr>
          <a:xfrm>
            <a:off x="685800" y="4114800"/>
            <a:ext cx="10789920" cy="914400"/>
          </a:xfrm>
          <a:prstGeom prst="rect">
            <a:avLst/>
          </a:prstGeom>
          <a:noFill/>
          <a:ln/>
        </p:spPr>
        <p:txBody>
          <a:bodyPr wrap="square" lIns="0" tIns="0" rIns="0" bIns="0" rtlCol="0" anchor="ctr"/>
          <a:lstStyle/>
          <a:p>
            <a:pPr marL="0" indent="0">
              <a:spcAft>
                <a:spcPts val="800"/>
              </a:spcAft>
              <a:buNone/>
            </a:pPr>
            <a:r>
              <a:rPr lang="en-US" sz="1500" dirty="0">
                <a:solidFill>
                  <a:srgbClr val="C9D2EC"/>
                </a:solidFill>
                <a:latin typeface="Calibri" pitchFamily="34" charset="0"/>
                <a:ea typeface="Calibri" pitchFamily="34" charset="-122"/>
                <a:cs typeface="Calibri" pitchFamily="34" charset="-120"/>
              </a:rPr>
              <a:t>Built &amp; ran the first multilingual, multi-model ProtoBias pipeline — 7 languages, 2 model families.</a:t>
            </a:r>
            <a:endParaRPr lang="en-US" sz="1500" dirty="0"/>
          </a:p>
          <a:p>
            <a:pPr marL="0" indent="0">
              <a:spcAft>
                <a:spcPts val="800"/>
              </a:spcAft>
              <a:buNone/>
            </a:pPr>
            <a:r>
              <a:rPr lang="en-US" sz="1500" b="1" dirty="0">
                <a:solidFill>
                  <a:srgbClr val="C44E52"/>
                </a:solidFill>
                <a:latin typeface="Calibri" pitchFamily="34" charset="0"/>
                <a:ea typeface="Calibri" pitchFamily="34" charset="-122"/>
                <a:cs typeface="Calibri" pitchFamily="34" charset="-120"/>
              </a:rPr>
              <a:t>github.com/xchuan-li/cross_lingual_protobias</a:t>
            </a:r>
            <a:endParaRPr lang="en-US" sz="1500" dirty="0"/>
          </a:p>
        </p:txBody>
      </p:sp>
      <p:sp>
        <p:nvSpPr>
          <p:cNvPr id="7" name="Text 5"/>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808"/>
              </a:lnSpc>
              <a:buNone/>
            </a:pPr>
            <a:r>
              <a:rPr lang="en-US" sz="2600" b="1" dirty="0">
                <a:solidFill>
                  <a:srgbClr val="23262F"/>
                </a:solidFill>
                <a:latin typeface="Georgia" pitchFamily="34" charset="0"/>
                <a:ea typeface="Georgia" pitchFamily="34" charset="-122"/>
                <a:cs typeface="Georgia" pitchFamily="34" charset="-120"/>
              </a:rPr>
              <a:t>Full cross-model summary</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011680" y="1920240"/>
          <a:ext cx="8138160" cy="3657600"/>
        </p:xfrm>
        <a:graphic>
          <a:graphicData uri="http://schemas.openxmlformats.org/drawingml/2006/table">
            <a:tbl>
              <a:tblPr/>
              <a:tblGrid>
                <a:gridCol w="320040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457200">
                <a:tc>
                  <a:txBody>
                    <a:bodyPr/>
                    <a:lstStyle/>
                    <a:p>
                      <a:pPr marL="0" indent="0">
                        <a:buNone/>
                      </a:pPr>
                      <a:endParaRPr lang="en-US" sz="120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Qwen2.5-VL-7B</a:t>
                      </a:r>
                      <a:endParaRPr lang="en-US" sz="120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InternVL3-8B</a:t>
                      </a:r>
                      <a:endParaRPr lang="en-US" sz="120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overall error rate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0.547</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0.585</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attribute effect (LRT p)</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C44E52"/>
                          </a:solidFill>
                          <a:latin typeface="Calibri" pitchFamily="34" charset="0"/>
                          <a:ea typeface="Calibri" pitchFamily="34" charset="-122"/>
                          <a:cs typeface="Calibri" pitchFamily="34" charset="-120"/>
                        </a:rPr>
                        <a:t>2.1×10⁻¹⁴</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C44E52"/>
                          </a:solidFill>
                          <a:latin typeface="Calibri" pitchFamily="34" charset="0"/>
                          <a:ea typeface="Calibri" pitchFamily="34" charset="-122"/>
                          <a:cs typeface="Calibri" pitchFamily="34" charset="-120"/>
                        </a:rPr>
                        <a:t>2.7×10⁻¹⁴</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Wealth odds ratio</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3.67</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3.09</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language effect (LRT p)</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C44E52"/>
                          </a:solidFill>
                          <a:latin typeface="Calibri" pitchFamily="34" charset="0"/>
                          <a:ea typeface="Calibri" pitchFamily="34" charset="-122"/>
                          <a:cs typeface="Calibri" pitchFamily="34" charset="-120"/>
                        </a:rPr>
                        <a:t>0.024</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C44E52"/>
                          </a:solidFill>
                          <a:latin typeface="Calibri" pitchFamily="34" charset="0"/>
                          <a:ea typeface="Calibri" pitchFamily="34" charset="-122"/>
                          <a:cs typeface="Calibri" pitchFamily="34" charset="-120"/>
                        </a:rPr>
                        <a:t>0.0085</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Greek / Bengali OR</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1.49 / 1.60</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1.72 / 1.41</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Wealth stable-bias rate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0.58</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0.45</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ctr">
                        <a:buNone/>
                      </a:pPr>
                      <a:r>
                        <a:rPr lang="en-US" sz="1250" b="1" dirty="0">
                          <a:solidFill>
                            <a:srgbClr val="23262F"/>
                          </a:solidFill>
                          <a:latin typeface="Calibri" pitchFamily="34" charset="0"/>
                          <a:ea typeface="Calibri" pitchFamily="34" charset="-122"/>
                          <a:cs typeface="Calibri" pitchFamily="34" charset="-120"/>
                        </a:rPr>
                        <a:t>cross-lingual flip rate</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0.65</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lgn="ctr">
                        <a:buNone/>
                      </a:pPr>
                      <a:r>
                        <a:rPr lang="en-US" sz="1250" dirty="0">
                          <a:solidFill>
                            <a:srgbClr val="23262F"/>
                          </a:solidFill>
                          <a:latin typeface="Calibri" pitchFamily="34" charset="0"/>
                          <a:ea typeface="Calibri" pitchFamily="34" charset="-122"/>
                          <a:cs typeface="Calibri" pitchFamily="34" charset="-120"/>
                        </a:rPr>
                        <a:t>0.69</a:t>
                      </a:r>
                      <a:endParaRPr lang="en-US" sz="1250" dirty="0">
                        <a:latin typeface="Calibri" charset="0"/>
                        <a:ea typeface="Calibri" charset="0"/>
                        <a:cs typeface="Calibri" charset="0"/>
                      </a:endParaRPr>
                    </a:p>
                  </a:txBody>
                  <a:tcPr marL="76200" marR="76200" marT="38100" marB="381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5" name="Text 2"/>
          <p:cNvSpPr/>
          <p:nvPr/>
        </p:nvSpPr>
        <p:spPr>
          <a:xfrm>
            <a:off x="2011680" y="5943600"/>
            <a:ext cx="813816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Item-clustered mixed-effects logistic regression; back-translation QA; numpy/scipy, no statsmodels.</a:t>
            </a:r>
            <a:endParaRPr lang="en-US" sz="1050" dirty="0"/>
          </a:p>
        </p:txBody>
      </p:sp>
      <p:sp>
        <p:nvSpPr>
          <p:cNvPr id="6" name="Text 3"/>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 · METHODS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916"/>
              </a:lnSpc>
              <a:buNone/>
            </a:pPr>
            <a:r>
              <a:rPr lang="en-US" sz="2700" b="1" dirty="0">
                <a:solidFill>
                  <a:srgbClr val="23262F"/>
                </a:solidFill>
                <a:latin typeface="Georgia" pitchFamily="34" charset="0"/>
                <a:ea typeface="Georgia" pitchFamily="34" charset="-122"/>
                <a:cs typeface="Georgia" pitchFamily="34" charset="-120"/>
              </a:rPr>
              <a:t>Why InternVL3-8B as the second model</a:t>
            </a:r>
            <a:endParaRPr lang="en-US" sz="2700" dirty="0"/>
          </a:p>
        </p:txBody>
      </p:sp>
      <p:sp>
        <p:nvSpPr>
          <p:cNvPr id="4" name="Text 2"/>
          <p:cNvSpPr/>
          <p:nvPr/>
        </p:nvSpPr>
        <p:spPr>
          <a:xfrm>
            <a:off x="685800" y="1645920"/>
            <a:ext cx="10820095" cy="457200"/>
          </a:xfrm>
          <a:prstGeom prst="rect">
            <a:avLst/>
          </a:prstGeom>
          <a:noFill/>
          <a:ln/>
        </p:spPr>
        <p:txBody>
          <a:bodyPr wrap="square" lIns="0" tIns="0" rIns="0" bIns="0" rtlCol="0" anchor="ctr"/>
          <a:lstStyle/>
          <a:p>
            <a:pPr marL="0" indent="0">
              <a:buNone/>
            </a:pPr>
            <a:r>
              <a:rPr lang="en-US" sz="1500" i="1" dirty="0">
                <a:solidFill>
                  <a:srgbClr val="5A6072"/>
                </a:solidFill>
                <a:latin typeface="Calibri" pitchFamily="34" charset="0"/>
                <a:ea typeface="Calibri" pitchFamily="34" charset="-122"/>
                <a:cs typeface="Calibri" pitchFamily="34" charset="-120"/>
              </a:rPr>
              <a:t>Goal: rule out “it's just a Qwen quirk.” A second, independent family tests whether the finding generalizes.</a:t>
            </a:r>
            <a:endParaRPr lang="en-US" sz="1500" dirty="0"/>
          </a:p>
        </p:txBody>
      </p:sp>
      <p:sp>
        <p:nvSpPr>
          <p:cNvPr id="5" name="Shape 3"/>
          <p:cNvSpPr/>
          <p:nvPr/>
        </p:nvSpPr>
        <p:spPr>
          <a:xfrm>
            <a:off x="685800" y="2450592"/>
            <a:ext cx="384048" cy="384048"/>
          </a:xfrm>
          <a:prstGeom prst="ellipse">
            <a:avLst/>
          </a:prstGeom>
          <a:solidFill>
            <a:srgbClr val="C44E52"/>
          </a:solidFill>
          <a:ln/>
        </p:spPr>
        <p:txBody>
          <a:bodyPr/>
          <a:lstStyle/>
          <a:p>
            <a:endParaRPr lang="zh-CN" altLang="en-US"/>
          </a:p>
        </p:txBody>
      </p:sp>
      <p:sp>
        <p:nvSpPr>
          <p:cNvPr id="6" name="Text 4"/>
          <p:cNvSpPr/>
          <p:nvPr/>
        </p:nvSpPr>
        <p:spPr>
          <a:xfrm>
            <a:off x="685800" y="245059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7" name="Text 5"/>
          <p:cNvSpPr/>
          <p:nvPr/>
        </p:nvSpPr>
        <p:spPr>
          <a:xfrm>
            <a:off x="1280160" y="2404872"/>
            <a:ext cx="3383280" cy="457200"/>
          </a:xfrm>
          <a:prstGeom prst="rect">
            <a:avLst/>
          </a:prstGeom>
          <a:noFill/>
          <a:ln/>
        </p:spPr>
        <p:txBody>
          <a:bodyPr wrap="square" lIns="0" tIns="0" rIns="0" bIns="0" rtlCol="0" anchor="t"/>
          <a:lstStyle/>
          <a:p>
            <a:pPr marL="0" indent="0">
              <a:buNone/>
            </a:pPr>
            <a:r>
              <a:rPr lang="en-US" sz="1600" b="1" dirty="0">
                <a:solidFill>
                  <a:srgbClr val="23262F"/>
                </a:solidFill>
                <a:latin typeface="Georgia" pitchFamily="34" charset="0"/>
                <a:ea typeface="Georgia" pitchFamily="34" charset="-122"/>
                <a:cs typeface="Georgia" pitchFamily="34" charset="-120"/>
              </a:rPr>
              <a:t>Different family</a:t>
            </a:r>
            <a:endParaRPr lang="en-US" sz="1600" dirty="0"/>
          </a:p>
        </p:txBody>
      </p:sp>
      <p:sp>
        <p:nvSpPr>
          <p:cNvPr id="8" name="Text 6"/>
          <p:cNvSpPr/>
          <p:nvPr/>
        </p:nvSpPr>
        <p:spPr>
          <a:xfrm>
            <a:off x="4754880" y="2404872"/>
            <a:ext cx="7406640" cy="777240"/>
          </a:xfrm>
          <a:prstGeom prst="rect">
            <a:avLst/>
          </a:prstGeom>
          <a:noFill/>
          <a:ln/>
        </p:spPr>
        <p:txBody>
          <a:bodyPr wrap="square" lIns="0" tIns="0" rIns="0" bIns="0" rtlCol="0" anchor="t"/>
          <a:lstStyle/>
          <a:p>
            <a:pPr marL="0" indent="0">
              <a:buNone/>
            </a:pPr>
            <a:r>
              <a:rPr lang="en-US" sz="1400" dirty="0">
                <a:solidFill>
                  <a:srgbClr val="5A6072"/>
                </a:solidFill>
                <a:latin typeface="Calibri" pitchFamily="34" charset="0"/>
                <a:ea typeface="Calibri" pitchFamily="34" charset="-122"/>
                <a:cs typeface="Calibri" pitchFamily="34" charset="-120"/>
              </a:rPr>
              <a:t>OpenGVLab, not Alibaba — independent architecture and training, not a Qwen variant.</a:t>
            </a:r>
            <a:endParaRPr lang="en-US" sz="1400" dirty="0"/>
          </a:p>
        </p:txBody>
      </p:sp>
      <p:sp>
        <p:nvSpPr>
          <p:cNvPr id="9" name="Shape 7"/>
          <p:cNvSpPr/>
          <p:nvPr/>
        </p:nvSpPr>
        <p:spPr>
          <a:xfrm>
            <a:off x="685800" y="3383280"/>
            <a:ext cx="384048" cy="384048"/>
          </a:xfrm>
          <a:prstGeom prst="ellipse">
            <a:avLst/>
          </a:prstGeom>
          <a:solidFill>
            <a:srgbClr val="4C72B0"/>
          </a:solidFill>
          <a:ln/>
        </p:spPr>
        <p:txBody>
          <a:bodyPr/>
          <a:lstStyle/>
          <a:p>
            <a:endParaRPr lang="zh-CN" altLang="en-US"/>
          </a:p>
        </p:txBody>
      </p:sp>
      <p:sp>
        <p:nvSpPr>
          <p:cNvPr id="10" name="Text 8"/>
          <p:cNvSpPr/>
          <p:nvPr/>
        </p:nvSpPr>
        <p:spPr>
          <a:xfrm>
            <a:off x="685800" y="33832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1" name="Text 9"/>
          <p:cNvSpPr/>
          <p:nvPr/>
        </p:nvSpPr>
        <p:spPr>
          <a:xfrm>
            <a:off x="1280160" y="3337560"/>
            <a:ext cx="3383280" cy="457200"/>
          </a:xfrm>
          <a:prstGeom prst="rect">
            <a:avLst/>
          </a:prstGeom>
          <a:noFill/>
          <a:ln/>
        </p:spPr>
        <p:txBody>
          <a:bodyPr wrap="square" lIns="0" tIns="0" rIns="0" bIns="0" rtlCol="0" anchor="t"/>
          <a:lstStyle/>
          <a:p>
            <a:pPr marL="0" indent="0">
              <a:buNone/>
            </a:pPr>
            <a:r>
              <a:rPr lang="en-US" sz="1600" b="1" dirty="0">
                <a:solidFill>
                  <a:srgbClr val="23262F"/>
                </a:solidFill>
                <a:latin typeface="Georgia" pitchFamily="34" charset="0"/>
                <a:ea typeface="Georgia" pitchFamily="34" charset="-122"/>
                <a:cs typeface="Georgia" pitchFamily="34" charset="-120"/>
              </a:rPr>
              <a:t>Size-matched</a:t>
            </a:r>
            <a:endParaRPr lang="en-US" sz="1600" dirty="0"/>
          </a:p>
        </p:txBody>
      </p:sp>
      <p:sp>
        <p:nvSpPr>
          <p:cNvPr id="12" name="Text 10"/>
          <p:cNvSpPr/>
          <p:nvPr/>
        </p:nvSpPr>
        <p:spPr>
          <a:xfrm>
            <a:off x="4754880" y="3337560"/>
            <a:ext cx="7406640" cy="777240"/>
          </a:xfrm>
          <a:prstGeom prst="rect">
            <a:avLst/>
          </a:prstGeom>
          <a:noFill/>
          <a:ln/>
        </p:spPr>
        <p:txBody>
          <a:bodyPr wrap="square" lIns="0" tIns="0" rIns="0" bIns="0" rtlCol="0" anchor="t"/>
          <a:lstStyle/>
          <a:p>
            <a:pPr marL="0" indent="0">
              <a:buNone/>
            </a:pPr>
            <a:r>
              <a:rPr lang="en-US" sz="1400" dirty="0">
                <a:solidFill>
                  <a:srgbClr val="5A6072"/>
                </a:solidFill>
                <a:latin typeface="Calibri" pitchFamily="34" charset="0"/>
                <a:ea typeface="Calibri" pitchFamily="34" charset="-122"/>
                <a:cs typeface="Calibri" pitchFamily="34" charset="-120"/>
              </a:rPr>
              <a:t>≈8B vs Qwen's 7B — controls for scale, so a difference isn't “one is far bigger.”</a:t>
            </a:r>
            <a:endParaRPr lang="en-US" sz="1400" dirty="0"/>
          </a:p>
        </p:txBody>
      </p:sp>
      <p:sp>
        <p:nvSpPr>
          <p:cNvPr id="13" name="Shape 11"/>
          <p:cNvSpPr/>
          <p:nvPr/>
        </p:nvSpPr>
        <p:spPr>
          <a:xfrm>
            <a:off x="685800" y="4315968"/>
            <a:ext cx="384048" cy="384048"/>
          </a:xfrm>
          <a:prstGeom prst="ellipse">
            <a:avLst/>
          </a:prstGeom>
          <a:solidFill>
            <a:srgbClr val="55A868"/>
          </a:solidFill>
          <a:ln/>
        </p:spPr>
        <p:txBody>
          <a:bodyPr/>
          <a:lstStyle/>
          <a:p>
            <a:endParaRPr lang="zh-CN" altLang="en-US"/>
          </a:p>
        </p:txBody>
      </p:sp>
      <p:sp>
        <p:nvSpPr>
          <p:cNvPr id="14" name="Text 12"/>
          <p:cNvSpPr/>
          <p:nvPr/>
        </p:nvSpPr>
        <p:spPr>
          <a:xfrm>
            <a:off x="685800" y="431596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15" name="Text 13"/>
          <p:cNvSpPr/>
          <p:nvPr/>
        </p:nvSpPr>
        <p:spPr>
          <a:xfrm>
            <a:off x="1280160" y="4270248"/>
            <a:ext cx="3383280" cy="457200"/>
          </a:xfrm>
          <a:prstGeom prst="rect">
            <a:avLst/>
          </a:prstGeom>
          <a:noFill/>
          <a:ln/>
        </p:spPr>
        <p:txBody>
          <a:bodyPr wrap="square" lIns="0" tIns="0" rIns="0" bIns="0" rtlCol="0" anchor="t"/>
          <a:lstStyle/>
          <a:p>
            <a:pPr marL="0" indent="0">
              <a:buNone/>
            </a:pPr>
            <a:r>
              <a:rPr lang="en-US" sz="1600" b="1" dirty="0">
                <a:solidFill>
                  <a:srgbClr val="23262F"/>
                </a:solidFill>
                <a:latin typeface="Georgia" pitchFamily="34" charset="0"/>
                <a:ea typeface="Georgia" pitchFamily="34" charset="-122"/>
                <a:cs typeface="Georgia" pitchFamily="34" charset="-120"/>
              </a:rPr>
              <a:t>Strong, standard baseline</a:t>
            </a:r>
            <a:endParaRPr lang="en-US" sz="1600" dirty="0"/>
          </a:p>
        </p:txBody>
      </p:sp>
      <p:sp>
        <p:nvSpPr>
          <p:cNvPr id="16" name="Text 14"/>
          <p:cNvSpPr/>
          <p:nvPr/>
        </p:nvSpPr>
        <p:spPr>
          <a:xfrm>
            <a:off x="4754880" y="4270248"/>
            <a:ext cx="7406640" cy="777240"/>
          </a:xfrm>
          <a:prstGeom prst="rect">
            <a:avLst/>
          </a:prstGeom>
          <a:noFill/>
          <a:ln/>
        </p:spPr>
        <p:txBody>
          <a:bodyPr wrap="square" lIns="0" tIns="0" rIns="0" bIns="0" rtlCol="0" anchor="t"/>
          <a:lstStyle/>
          <a:p>
            <a:pPr marL="0" indent="0">
              <a:buNone/>
            </a:pPr>
            <a:r>
              <a:rPr lang="en-US" sz="1400" dirty="0">
                <a:solidFill>
                  <a:srgbClr val="5A6072"/>
                </a:solidFill>
                <a:latin typeface="Calibri" pitchFamily="34" charset="0"/>
                <a:ea typeface="Calibri" pitchFamily="34" charset="-122"/>
                <a:cs typeface="Calibri" pitchFamily="34" charset="-120"/>
              </a:rPr>
              <a:t>A top open VLM family widely used in papers — credible and representative.</a:t>
            </a:r>
            <a:endParaRPr lang="en-US" sz="1400" dirty="0"/>
          </a:p>
        </p:txBody>
      </p:sp>
      <p:sp>
        <p:nvSpPr>
          <p:cNvPr id="17" name="Shape 15"/>
          <p:cNvSpPr/>
          <p:nvPr/>
        </p:nvSpPr>
        <p:spPr>
          <a:xfrm>
            <a:off x="685800" y="5248656"/>
            <a:ext cx="384048" cy="384048"/>
          </a:xfrm>
          <a:prstGeom prst="ellipse">
            <a:avLst/>
          </a:prstGeom>
          <a:solidFill>
            <a:srgbClr val="1B1F3B"/>
          </a:solidFill>
          <a:ln/>
        </p:spPr>
        <p:txBody>
          <a:bodyPr/>
          <a:lstStyle/>
          <a:p>
            <a:endParaRPr lang="zh-CN" altLang="en-US"/>
          </a:p>
        </p:txBody>
      </p:sp>
      <p:sp>
        <p:nvSpPr>
          <p:cNvPr id="18" name="Text 16"/>
          <p:cNvSpPr/>
          <p:nvPr/>
        </p:nvSpPr>
        <p:spPr>
          <a:xfrm>
            <a:off x="685800" y="524865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19" name="Text 17"/>
          <p:cNvSpPr/>
          <p:nvPr/>
        </p:nvSpPr>
        <p:spPr>
          <a:xfrm>
            <a:off x="1280160" y="5202936"/>
            <a:ext cx="3383280" cy="457200"/>
          </a:xfrm>
          <a:prstGeom prst="rect">
            <a:avLst/>
          </a:prstGeom>
          <a:noFill/>
          <a:ln/>
        </p:spPr>
        <p:txBody>
          <a:bodyPr wrap="square" lIns="0" tIns="0" rIns="0" bIns="0" rtlCol="0" anchor="t"/>
          <a:lstStyle/>
          <a:p>
            <a:pPr marL="0" indent="0">
              <a:buNone/>
            </a:pPr>
            <a:r>
              <a:rPr lang="en-US" sz="1600" b="1" dirty="0">
                <a:solidFill>
                  <a:srgbClr val="23262F"/>
                </a:solidFill>
                <a:latin typeface="Georgia" pitchFamily="34" charset="0"/>
                <a:ea typeface="Georgia" pitchFamily="34" charset="-122"/>
                <a:cs typeface="Georgia" pitchFamily="34" charset="-120"/>
              </a:rPr>
              <a:t>Fits the pipeline</a:t>
            </a:r>
            <a:endParaRPr lang="en-US" sz="1600" dirty="0"/>
          </a:p>
        </p:txBody>
      </p:sp>
      <p:sp>
        <p:nvSpPr>
          <p:cNvPr id="20" name="Text 18"/>
          <p:cNvSpPr/>
          <p:nvPr/>
        </p:nvSpPr>
        <p:spPr>
          <a:xfrm>
            <a:off x="4754880" y="5202936"/>
            <a:ext cx="7406640" cy="777240"/>
          </a:xfrm>
          <a:prstGeom prst="rect">
            <a:avLst/>
          </a:prstGeom>
          <a:noFill/>
          <a:ln/>
        </p:spPr>
        <p:txBody>
          <a:bodyPr wrap="square" lIns="0" tIns="0" rIns="0" bIns="0" rtlCol="0" anchor="t"/>
          <a:lstStyle/>
          <a:p>
            <a:pPr marL="0" indent="0">
              <a:buNone/>
            </a:pPr>
            <a:r>
              <a:rPr lang="en-US" sz="1400" dirty="0">
                <a:solidFill>
                  <a:srgbClr val="5A6072"/>
                </a:solidFill>
                <a:latin typeface="Calibri" pitchFamily="34" charset="0"/>
                <a:ea typeface="Calibri" pitchFamily="34" charset="-122"/>
                <a:cs typeface="Calibri" pitchFamily="34" charset="-120"/>
              </a:rPr>
              <a:t>Multi-image and multilingual; the HF-native checkpoint loads via the standard API.</a:t>
            </a:r>
            <a:endParaRPr lang="en-US" sz="1400" dirty="0"/>
          </a:p>
        </p:txBody>
      </p:sp>
      <p:sp>
        <p:nvSpPr>
          <p:cNvPr id="21" name="Text 19"/>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 · METHODS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808"/>
              </a:lnSpc>
              <a:buNone/>
            </a:pPr>
            <a:r>
              <a:rPr lang="en-US" sz="2600" b="1" dirty="0">
                <a:solidFill>
                  <a:srgbClr val="23262F"/>
                </a:solidFill>
                <a:latin typeface="Georgia" pitchFamily="34" charset="0"/>
                <a:ea typeface="Georgia" pitchFamily="34" charset="-122"/>
                <a:cs typeface="Georgia" pitchFamily="34" charset="-120"/>
              </a:rPr>
              <a:t>Mixed-effects logistic regression &amp; the LRT</a:t>
            </a:r>
            <a:endParaRPr lang="en-US" sz="2600" dirty="0"/>
          </a:p>
        </p:txBody>
      </p:sp>
      <p:sp>
        <p:nvSpPr>
          <p:cNvPr id="4" name="Text 2"/>
          <p:cNvSpPr/>
          <p:nvPr/>
        </p:nvSpPr>
        <p:spPr>
          <a:xfrm>
            <a:off x="685800" y="1691640"/>
            <a:ext cx="5303520" cy="365760"/>
          </a:xfrm>
          <a:prstGeom prst="rect">
            <a:avLst/>
          </a:prstGeom>
          <a:noFill/>
          <a:ln/>
        </p:spPr>
        <p:txBody>
          <a:bodyPr wrap="square" lIns="0" tIns="0" rIns="0" bIns="0" rtlCol="0" anchor="ctr"/>
          <a:lstStyle/>
          <a:p>
            <a:pPr marL="0" indent="0">
              <a:buNone/>
            </a:pPr>
            <a:r>
              <a:rPr lang="en-US" sz="1600" b="1" dirty="0">
                <a:solidFill>
                  <a:srgbClr val="C44E52"/>
                </a:solidFill>
                <a:latin typeface="Georgia" pitchFamily="34" charset="0"/>
                <a:ea typeface="Georgia" pitchFamily="34" charset="-122"/>
                <a:cs typeface="Georgia" pitchFamily="34" charset="-120"/>
              </a:rPr>
              <a:t>The model</a:t>
            </a:r>
            <a:endParaRPr lang="en-US" sz="1600" dirty="0"/>
          </a:p>
        </p:txBody>
      </p:sp>
      <p:sp>
        <p:nvSpPr>
          <p:cNvPr id="5" name="Shape 3"/>
          <p:cNvSpPr/>
          <p:nvPr/>
        </p:nvSpPr>
        <p:spPr>
          <a:xfrm>
            <a:off x="685800" y="2103120"/>
            <a:ext cx="5349240" cy="640080"/>
          </a:xfrm>
          <a:prstGeom prst="roundRect">
            <a:avLst>
              <a:gd name="adj" fmla="val 11429"/>
            </a:avLst>
          </a:prstGeom>
          <a:solidFill>
            <a:srgbClr val="1B1F3B"/>
          </a:solidFill>
          <a:ln/>
        </p:spPr>
        <p:txBody>
          <a:bodyPr/>
          <a:lstStyle/>
          <a:p>
            <a:endParaRPr lang="zh-CN" altLang="en-US"/>
          </a:p>
        </p:txBody>
      </p:sp>
      <p:sp>
        <p:nvSpPr>
          <p:cNvPr id="6" name="Text 4"/>
          <p:cNvSpPr/>
          <p:nvPr/>
        </p:nvSpPr>
        <p:spPr>
          <a:xfrm>
            <a:off x="685800" y="2103120"/>
            <a:ext cx="5349240" cy="640080"/>
          </a:xfrm>
          <a:prstGeom prst="rect">
            <a:avLst/>
          </a:prstGeom>
          <a:noFill/>
          <a:ln/>
        </p:spPr>
        <p:txBody>
          <a:bodyPr wrap="square" lIns="50800" tIns="50800" rIns="50800" bIns="50800" rtlCol="0" anchor="ctr"/>
          <a:lstStyle/>
          <a:p>
            <a:pPr marL="0" indent="0" algn="ctr">
              <a:buNone/>
            </a:pPr>
            <a:r>
              <a:rPr lang="en-US" sz="1250" dirty="0">
                <a:solidFill>
                  <a:srgbClr val="FFFFFF"/>
                </a:solidFill>
                <a:latin typeface="Courier New" pitchFamily="34" charset="0"/>
                <a:ea typeface="Courier New" pitchFamily="34" charset="-122"/>
                <a:cs typeface="Courier New" pitchFamily="34" charset="-120"/>
              </a:rPr>
              <a:t>picked_adv ~ socio_attr + lang + gender + (1 | item)</a:t>
            </a:r>
            <a:endParaRPr lang="en-US" sz="1250" dirty="0"/>
          </a:p>
        </p:txBody>
      </p:sp>
      <p:sp>
        <p:nvSpPr>
          <p:cNvPr id="7" name="Text 5"/>
          <p:cNvSpPr/>
          <p:nvPr/>
        </p:nvSpPr>
        <p:spPr>
          <a:xfrm>
            <a:off x="685800" y="2971800"/>
            <a:ext cx="5349240" cy="2743200"/>
          </a:xfrm>
          <a:prstGeom prst="rect">
            <a:avLst/>
          </a:prstGeom>
          <a:noFill/>
          <a:ln/>
        </p:spPr>
        <p:txBody>
          <a:bodyPr wrap="square" lIns="0" tIns="0" rIns="0" bIns="0" rtlCol="0" anchor="t"/>
          <a:lstStyle/>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Logistic → models P(pick prototype); coefficients exponentiate to odds ratios (OR).</a:t>
            </a:r>
            <a:endParaRPr lang="en-US" sz="1350" dirty="0"/>
          </a:p>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Fixed effects (socio_attr, lang, gender) = what we estimate.</a:t>
            </a:r>
            <a:endParaRPr lang="en-US" sz="1350" dirty="0"/>
          </a:p>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Random intercept (1 | item) = each image-pair gets its own baseline — the same item repeats in 7 languages, so those 7 views are not independent.</a:t>
            </a:r>
            <a:endParaRPr lang="en-US" sz="1350" dirty="0"/>
          </a:p>
        </p:txBody>
      </p:sp>
      <p:sp>
        <p:nvSpPr>
          <p:cNvPr id="8" name="Text 6"/>
          <p:cNvSpPr/>
          <p:nvPr/>
        </p:nvSpPr>
        <p:spPr>
          <a:xfrm>
            <a:off x="6583680" y="1691640"/>
            <a:ext cx="4937760" cy="365760"/>
          </a:xfrm>
          <a:prstGeom prst="rect">
            <a:avLst/>
          </a:prstGeom>
          <a:noFill/>
          <a:ln/>
        </p:spPr>
        <p:txBody>
          <a:bodyPr wrap="square" lIns="0" tIns="0" rIns="0" bIns="0" rtlCol="0" anchor="ctr"/>
          <a:lstStyle/>
          <a:p>
            <a:pPr marL="0" indent="0">
              <a:buNone/>
            </a:pPr>
            <a:r>
              <a:rPr lang="en-US" sz="1600" b="1" dirty="0">
                <a:solidFill>
                  <a:srgbClr val="4C72B0"/>
                </a:solidFill>
                <a:latin typeface="Georgia" pitchFamily="34" charset="0"/>
                <a:ea typeface="Georgia" pitchFamily="34" charset="-122"/>
                <a:cs typeface="Georgia" pitchFamily="34" charset="-120"/>
              </a:rPr>
              <a:t>The test  ·  LRT</a:t>
            </a:r>
            <a:endParaRPr lang="en-US" sz="1600" dirty="0"/>
          </a:p>
        </p:txBody>
      </p:sp>
      <p:sp>
        <p:nvSpPr>
          <p:cNvPr id="9" name="Text 7"/>
          <p:cNvSpPr/>
          <p:nvPr/>
        </p:nvSpPr>
        <p:spPr>
          <a:xfrm>
            <a:off x="6583680" y="2103120"/>
            <a:ext cx="4937760" cy="1554480"/>
          </a:xfrm>
          <a:prstGeom prst="rect">
            <a:avLst/>
          </a:prstGeom>
          <a:noFill/>
          <a:ln/>
        </p:spPr>
        <p:txBody>
          <a:bodyPr wrap="square" lIns="0" tIns="0" rIns="0" bIns="0" rtlCol="0" anchor="t"/>
          <a:lstStyle/>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Fit two nested models (with vs without a factor); compare fit by likelihood.</a:t>
            </a:r>
            <a:endParaRPr lang="en-US" sz="1350" dirty="0"/>
          </a:p>
          <a:p>
            <a:pPr marL="203200" indent="-203200">
              <a:lnSpc>
                <a:spcPct val="100000"/>
              </a:lnSpc>
              <a:spcAft>
                <a:spcPts val="900"/>
              </a:spcAft>
              <a:buSzPct val="100000"/>
              <a:buChar char="•"/>
            </a:pPr>
            <a:r>
              <a:rPr lang="en-US" sz="1350" dirty="0">
                <a:solidFill>
                  <a:srgbClr val="23262F"/>
                </a:solidFill>
                <a:latin typeface="Calibri" pitchFamily="34" charset="0"/>
                <a:ea typeface="Calibri" pitchFamily="34" charset="-122"/>
                <a:cs typeface="Calibri" pitchFamily="34" charset="-120"/>
              </a:rPr>
              <a:t>χ² = 2×(LL_big − LL_small); p from chi-squared → one p-value per whole factor.</a:t>
            </a:r>
            <a:endParaRPr lang="en-US" sz="13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0" y="3794760"/>
          <a:ext cx="4937760" cy="1682496"/>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420624">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factor</a:t>
                      </a:r>
                      <a:endParaRPr lang="en-US" sz="115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χ²</a:t>
                      </a:r>
                      <a:endParaRPr lang="en-US" sz="115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
                      </a:r>
                      <a:endParaRPr lang="en-US" sz="115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verdict</a:t>
                      </a:r>
                      <a:endParaRPr lang="en-US" sz="115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solidFill>
                      <a:srgbClr val="1B1F3B"/>
                    </a:solidFill>
                  </a:tcPr>
                </a:tc>
                <a:extLst>
                  <a:ext uri="{0D108BD9-81ED-4DB2-BD59-A6C34878D82A}">
                    <a16:rowId xmlns:a16="http://schemas.microsoft.com/office/drawing/2014/main" val="10000"/>
                  </a:ext>
                </a:extLst>
              </a:tr>
              <a:tr h="420624">
                <a:tc>
                  <a:txBody>
                    <a:bodyPr/>
                    <a:lstStyle/>
                    <a:p>
                      <a:pPr marL="0" indent="0">
                        <a:buNone/>
                      </a:pPr>
                      <a:r>
                        <a:rPr lang="en-US" sz="1200" b="1" dirty="0">
                          <a:solidFill>
                            <a:srgbClr val="23262F"/>
                          </a:solidFill>
                          <a:latin typeface="Calibri" pitchFamily="34" charset="0"/>
                          <a:ea typeface="Calibri" pitchFamily="34" charset="-122"/>
                          <a:cs typeface="Calibri" pitchFamily="34" charset="-120"/>
                        </a:rPr>
                        <a:t>socio_attr</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23262F"/>
                          </a:solidFill>
                          <a:latin typeface="Calibri" pitchFamily="34" charset="0"/>
                          <a:ea typeface="Calibri" pitchFamily="34" charset="-122"/>
                          <a:cs typeface="Calibri" pitchFamily="34" charset="-120"/>
                        </a:rPr>
                        <a:t>70.1</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b="1" dirty="0">
                          <a:solidFill>
                            <a:srgbClr val="C44E52"/>
                          </a:solidFill>
                          <a:latin typeface="Calibri" pitchFamily="34" charset="0"/>
                          <a:ea typeface="Calibri" pitchFamily="34" charset="-122"/>
                          <a:cs typeface="Calibri" pitchFamily="34" charset="-120"/>
                        </a:rPr>
                        <a:t>2×10⁻¹⁴</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C44E52"/>
                          </a:solidFill>
                          <a:latin typeface="Calibri" pitchFamily="34" charset="0"/>
                          <a:ea typeface="Calibri" pitchFamily="34" charset="-122"/>
                          <a:cs typeface="Calibri" pitchFamily="34" charset="-120"/>
                        </a:rPr>
                        <a:t>significant</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200" b="1" dirty="0">
                          <a:solidFill>
                            <a:srgbClr val="23262F"/>
                          </a:solidFill>
                          <a:latin typeface="Calibri" pitchFamily="34" charset="0"/>
                          <a:ea typeface="Calibri" pitchFamily="34" charset="-122"/>
                          <a:cs typeface="Calibri" pitchFamily="34" charset="-120"/>
                        </a:rPr>
                        <a:t>language</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23262F"/>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b="1" dirty="0">
                          <a:solidFill>
                            <a:srgbClr val="C44E52"/>
                          </a:solidFill>
                          <a:latin typeface="Calibri" pitchFamily="34" charset="0"/>
                          <a:ea typeface="Calibri" pitchFamily="34" charset="-122"/>
                          <a:cs typeface="Calibri" pitchFamily="34" charset="-120"/>
                        </a:rPr>
                        <a:t>0.024</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C44E52"/>
                          </a:solidFill>
                          <a:latin typeface="Calibri" pitchFamily="34" charset="0"/>
                          <a:ea typeface="Calibri" pitchFamily="34" charset="-122"/>
                          <a:cs typeface="Calibri" pitchFamily="34" charset="-120"/>
                        </a:rPr>
                        <a:t>significant</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200" b="1" dirty="0">
                          <a:solidFill>
                            <a:srgbClr val="23262F"/>
                          </a:solidFill>
                          <a:latin typeface="Calibri" pitchFamily="34" charset="0"/>
                          <a:ea typeface="Calibri" pitchFamily="34" charset="-122"/>
                          <a:cs typeface="Calibri" pitchFamily="34" charset="-120"/>
                        </a:rPr>
                        <a:t>attr × lang</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23262F"/>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23262F"/>
                          </a:solidFill>
                          <a:latin typeface="Calibri" pitchFamily="34" charset="0"/>
                          <a:ea typeface="Calibri" pitchFamily="34" charset="-122"/>
                          <a:cs typeface="Calibri" pitchFamily="34" charset="-120"/>
                        </a:rPr>
                        <a:t>0.76</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tc>
                  <a:txBody>
                    <a:bodyPr/>
                    <a:lstStyle/>
                    <a:p>
                      <a:pPr marL="0" indent="0">
                        <a:buNone/>
                      </a:pPr>
                      <a:r>
                        <a:rPr lang="en-US" sz="1200" dirty="0">
                          <a:solidFill>
                            <a:srgbClr val="5A6072"/>
                          </a:solidFill>
                          <a:latin typeface="Calibri" pitchFamily="34" charset="0"/>
                          <a:ea typeface="Calibri" pitchFamily="34" charset="-122"/>
                          <a:cs typeface="Calibri" pitchFamily="34" charset="-120"/>
                        </a:rPr>
                        <a:t>n.s.</a:t>
                      </a:r>
                      <a:endParaRPr lang="en-US" sz="1200" dirty="0">
                        <a:latin typeface="Calibri" charset="0"/>
                        <a:ea typeface="Calibri" charset="0"/>
                        <a:cs typeface="Calibri" charset="0"/>
                      </a:endParaRPr>
                    </a:p>
                  </a:txBody>
                  <a:tcPr marL="63500" marR="63500" marT="25400" marB="25400" anchor="ctr">
                    <a:lnL w="6350" cap="flat" cmpd="sng" algn="ctr">
                      <a:solidFill>
                        <a:srgbClr val="E4E6EF"/>
                      </a:solidFill>
                      <a:prstDash val="solid"/>
                      <a:round/>
                      <a:headEnd type="none" w="med" len="med"/>
                      <a:tailEnd type="none" w="med" len="med"/>
                    </a:lnL>
                    <a:lnR w="6350" cap="flat" cmpd="sng" algn="ctr">
                      <a:solidFill>
                        <a:srgbClr val="E4E6EF"/>
                      </a:solidFill>
                      <a:prstDash val="solid"/>
                      <a:round/>
                      <a:headEnd type="none" w="med" len="med"/>
                      <a:tailEnd type="none" w="med" len="med"/>
                    </a:lnR>
                    <a:lnT w="6350" cap="flat" cmpd="sng" algn="ctr">
                      <a:solidFill>
                        <a:srgbClr val="E4E6EF"/>
                      </a:solidFill>
                      <a:prstDash val="solid"/>
                      <a:round/>
                      <a:headEnd type="none" w="med" len="med"/>
                      <a:tailEnd type="none" w="med" len="med"/>
                    </a:lnT>
                    <a:lnB w="6350" cap="flat" cmpd="sng" algn="ctr">
                      <a:solidFill>
                        <a:srgbClr val="E4E6E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Text 8"/>
          <p:cNvSpPr/>
          <p:nvPr/>
        </p:nvSpPr>
        <p:spPr>
          <a:xfrm>
            <a:off x="6583680" y="5806440"/>
            <a:ext cx="4937760" cy="274320"/>
          </a:xfrm>
          <a:prstGeom prst="rect">
            <a:avLst/>
          </a:prstGeom>
          <a:noFill/>
          <a:ln/>
        </p:spPr>
        <p:txBody>
          <a:bodyPr wrap="square" lIns="0" tIns="0" rIns="0" bIns="0" rtlCol="0" anchor="ctr"/>
          <a:lstStyle/>
          <a:p>
            <a:pPr marL="0" indent="0" algn="ctr">
              <a:buNone/>
            </a:pPr>
            <a:r>
              <a:rPr lang="en-US" sz="1050" i="1" dirty="0">
                <a:solidFill>
                  <a:srgbClr val="9AA0B0"/>
                </a:solidFill>
                <a:latin typeface="Calibri" pitchFamily="34" charset="0"/>
                <a:ea typeface="Calibri" pitchFamily="34" charset="-122"/>
                <a:cs typeface="Calibri" pitchFamily="34" charset="-120"/>
              </a:rPr>
              <a:t>Qwen-7B; same pattern in InternVL3-8B. Implemented with item-clustered robust SEs (no statsmodels on the cluster).</a:t>
            </a:r>
            <a:endParaRPr lang="en-US" sz="1050" dirty="0"/>
          </a:p>
        </p:txBody>
      </p:sp>
      <p:sp>
        <p:nvSpPr>
          <p:cNvPr id="12" name="Text 9"/>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 · METHODS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808"/>
              </a:lnSpc>
              <a:buNone/>
            </a:pPr>
            <a:r>
              <a:rPr lang="en-US" sz="2600" b="1" dirty="0">
                <a:solidFill>
                  <a:srgbClr val="23262F"/>
                </a:solidFill>
                <a:latin typeface="Georgia" pitchFamily="34" charset="0"/>
                <a:ea typeface="Georgia" pitchFamily="34" charset="-122"/>
                <a:cs typeface="Georgia" pitchFamily="34" charset="-120"/>
              </a:rPr>
              <a:t>Back-translation translation-quality check</a:t>
            </a:r>
            <a:endParaRPr lang="en-US" sz="2600" dirty="0"/>
          </a:p>
        </p:txBody>
      </p:sp>
      <p:sp>
        <p:nvSpPr>
          <p:cNvPr id="4" name="Text 2"/>
          <p:cNvSpPr/>
          <p:nvPr/>
        </p:nvSpPr>
        <p:spPr>
          <a:xfrm>
            <a:off x="685800" y="1645920"/>
            <a:ext cx="10820095" cy="365760"/>
          </a:xfrm>
          <a:prstGeom prst="rect">
            <a:avLst/>
          </a:prstGeom>
          <a:noFill/>
          <a:ln/>
        </p:spPr>
        <p:txBody>
          <a:bodyPr wrap="square" lIns="0" tIns="0" rIns="0" bIns="0" rtlCol="0" anchor="ctr"/>
          <a:lstStyle/>
          <a:p>
            <a:pPr marL="0" indent="0">
              <a:buNone/>
            </a:pPr>
            <a:r>
              <a:rPr lang="en-US" sz="1500" i="1" dirty="0">
                <a:solidFill>
                  <a:srgbClr val="5A6072"/>
                </a:solidFill>
                <a:latin typeface="Calibri" pitchFamily="34" charset="0"/>
                <a:ea typeface="Calibri" pitchFamily="34" charset="-122"/>
                <a:cs typeface="Calibri" pitchFamily="34" charset="-120"/>
              </a:rPr>
              <a:t>We can't read all 7 languages — so we round-trip each prompt back to English and measure how much it drifted.</a:t>
            </a:r>
            <a:endParaRPr lang="en-US" sz="1500" dirty="0"/>
          </a:p>
        </p:txBody>
      </p:sp>
      <p:sp>
        <p:nvSpPr>
          <p:cNvPr id="5" name="Shape 3"/>
          <p:cNvSpPr/>
          <p:nvPr/>
        </p:nvSpPr>
        <p:spPr>
          <a:xfrm>
            <a:off x="685800" y="2286000"/>
            <a:ext cx="2468880" cy="868680"/>
          </a:xfrm>
          <a:prstGeom prst="roundRect">
            <a:avLst>
              <a:gd name="adj" fmla="val 8421"/>
            </a:avLst>
          </a:prstGeom>
          <a:solidFill>
            <a:srgbClr val="F5F6FA"/>
          </a:solidFill>
          <a:ln w="12700">
            <a:solidFill>
              <a:srgbClr val="E4E6EF"/>
            </a:solidFill>
            <a:prstDash val="solid"/>
          </a:ln>
        </p:spPr>
        <p:txBody>
          <a:bodyPr/>
          <a:lstStyle/>
          <a:p>
            <a:endParaRPr lang="zh-CN" altLang="en-US"/>
          </a:p>
        </p:txBody>
      </p:sp>
      <p:sp>
        <p:nvSpPr>
          <p:cNvPr id="6" name="Text 4"/>
          <p:cNvSpPr/>
          <p:nvPr/>
        </p:nvSpPr>
        <p:spPr>
          <a:xfrm>
            <a:off x="685800" y="2286000"/>
            <a:ext cx="2468880" cy="868680"/>
          </a:xfrm>
          <a:prstGeom prst="rect">
            <a:avLst/>
          </a:prstGeom>
          <a:noFill/>
          <a:ln/>
        </p:spPr>
        <p:txBody>
          <a:bodyPr wrap="square" lIns="25400" tIns="25400" rIns="25400" bIns="25400" rtlCol="0" anchor="ctr"/>
          <a:lstStyle/>
          <a:p>
            <a:pPr marL="0" indent="0" algn="ctr">
              <a:buNone/>
            </a:pPr>
            <a:r>
              <a:rPr lang="en-US" sz="1300" b="1" dirty="0">
                <a:solidFill>
                  <a:srgbClr val="23262F"/>
                </a:solidFill>
                <a:latin typeface="Calibri" pitchFamily="34" charset="0"/>
                <a:ea typeface="Calibri" pitchFamily="34" charset="-122"/>
                <a:cs typeface="Calibri" pitchFamily="34" charset="-120"/>
              </a:rPr>
              <a:t>English prompt</a:t>
            </a:r>
            <a:endParaRPr lang="en-US" sz="1300" dirty="0"/>
          </a:p>
          <a:p>
            <a:pPr marL="0" indent="0" algn="ctr">
              <a:buNone/>
            </a:pPr>
            <a:r>
              <a:rPr lang="en-US" sz="1050" dirty="0">
                <a:solidFill>
                  <a:srgbClr val="5A6072"/>
                </a:solidFill>
                <a:latin typeface="Calibri" pitchFamily="34" charset="0"/>
                <a:ea typeface="Calibri" pitchFamily="34" charset="-122"/>
                <a:cs typeface="Calibri" pitchFamily="34" charset="-120"/>
              </a:rPr>
              <a:t>original E</a:t>
            </a:r>
            <a:endParaRPr lang="en-US" sz="1300" dirty="0"/>
          </a:p>
        </p:txBody>
      </p:sp>
      <p:sp>
        <p:nvSpPr>
          <p:cNvPr id="7" name="Shape 5"/>
          <p:cNvSpPr/>
          <p:nvPr/>
        </p:nvSpPr>
        <p:spPr>
          <a:xfrm>
            <a:off x="3246120" y="2715768"/>
            <a:ext cx="502920" cy="0"/>
          </a:xfrm>
          <a:prstGeom prst="line">
            <a:avLst/>
          </a:prstGeom>
          <a:noFill/>
          <a:ln w="25400">
            <a:solidFill>
              <a:srgbClr val="C44E52"/>
            </a:solidFill>
            <a:prstDash val="solid"/>
            <a:tailEnd type="triangle"/>
          </a:ln>
        </p:spPr>
        <p:txBody>
          <a:bodyPr/>
          <a:lstStyle/>
          <a:p>
            <a:endParaRPr lang="zh-CN" altLang="en-US"/>
          </a:p>
        </p:txBody>
      </p:sp>
      <p:sp>
        <p:nvSpPr>
          <p:cNvPr id="8" name="Text 6"/>
          <p:cNvSpPr/>
          <p:nvPr/>
        </p:nvSpPr>
        <p:spPr>
          <a:xfrm>
            <a:off x="3017520" y="2331720"/>
            <a:ext cx="960120" cy="274320"/>
          </a:xfrm>
          <a:prstGeom prst="rect">
            <a:avLst/>
          </a:prstGeom>
          <a:noFill/>
          <a:ln/>
        </p:spPr>
        <p:txBody>
          <a:bodyPr wrap="square" lIns="0" tIns="0" rIns="0" bIns="0" rtlCol="0" anchor="ctr"/>
          <a:lstStyle/>
          <a:p>
            <a:pPr marL="0" indent="0" algn="ctr">
              <a:buNone/>
            </a:pPr>
            <a:r>
              <a:rPr lang="en-US" sz="1000" i="1" dirty="0">
                <a:solidFill>
                  <a:srgbClr val="C44E52"/>
                </a:solidFill>
                <a:latin typeface="Calibri" pitchFamily="34" charset="0"/>
                <a:ea typeface="Calibri" pitchFamily="34" charset="-122"/>
                <a:cs typeface="Calibri" pitchFamily="34" charset="-120"/>
              </a:rPr>
              <a:t>translate</a:t>
            </a:r>
            <a:endParaRPr lang="en-US" sz="1000" dirty="0"/>
          </a:p>
        </p:txBody>
      </p:sp>
      <p:sp>
        <p:nvSpPr>
          <p:cNvPr id="9" name="Shape 7"/>
          <p:cNvSpPr/>
          <p:nvPr/>
        </p:nvSpPr>
        <p:spPr>
          <a:xfrm>
            <a:off x="3886200" y="2286000"/>
            <a:ext cx="2468880" cy="868680"/>
          </a:xfrm>
          <a:prstGeom prst="roundRect">
            <a:avLst>
              <a:gd name="adj" fmla="val 8421"/>
            </a:avLst>
          </a:prstGeom>
          <a:solidFill>
            <a:srgbClr val="F5F6FA"/>
          </a:solidFill>
          <a:ln w="12700">
            <a:solidFill>
              <a:srgbClr val="E4E6EF"/>
            </a:solidFill>
            <a:prstDash val="solid"/>
          </a:ln>
        </p:spPr>
        <p:txBody>
          <a:bodyPr/>
          <a:lstStyle/>
          <a:p>
            <a:endParaRPr lang="zh-CN" altLang="en-US"/>
          </a:p>
        </p:txBody>
      </p:sp>
      <p:sp>
        <p:nvSpPr>
          <p:cNvPr id="10" name="Text 8"/>
          <p:cNvSpPr/>
          <p:nvPr/>
        </p:nvSpPr>
        <p:spPr>
          <a:xfrm>
            <a:off x="3886200" y="2286000"/>
            <a:ext cx="2468880" cy="868680"/>
          </a:xfrm>
          <a:prstGeom prst="rect">
            <a:avLst/>
          </a:prstGeom>
          <a:noFill/>
          <a:ln/>
        </p:spPr>
        <p:txBody>
          <a:bodyPr wrap="square" lIns="25400" tIns="25400" rIns="25400" bIns="25400" rtlCol="0" anchor="ctr"/>
          <a:lstStyle/>
          <a:p>
            <a:pPr marL="0" indent="0" algn="ctr">
              <a:buNone/>
            </a:pPr>
            <a:r>
              <a:rPr lang="en-US" sz="1300" b="1" dirty="0">
                <a:solidFill>
                  <a:srgbClr val="23262F"/>
                </a:solidFill>
                <a:latin typeface="Calibri" pitchFamily="34" charset="0"/>
                <a:ea typeface="Calibri" pitchFamily="34" charset="-122"/>
                <a:cs typeface="Calibri" pitchFamily="34" charset="-120"/>
              </a:rPr>
              <a:t>Greek text</a:t>
            </a:r>
            <a:endParaRPr lang="en-US" sz="1300" dirty="0"/>
          </a:p>
          <a:p>
            <a:pPr marL="0" indent="0" algn="ctr">
              <a:buNone/>
            </a:pPr>
            <a:r>
              <a:rPr lang="en-US" sz="1050" dirty="0">
                <a:solidFill>
                  <a:srgbClr val="5A6072"/>
                </a:solidFill>
                <a:latin typeface="Calibri" pitchFamily="34" charset="0"/>
                <a:ea typeface="Calibri" pitchFamily="34" charset="-122"/>
                <a:cs typeface="Calibri" pitchFamily="34" charset="-120"/>
              </a:rPr>
              <a:t>shown to the model</a:t>
            </a:r>
            <a:endParaRPr lang="en-US" sz="1300" dirty="0"/>
          </a:p>
        </p:txBody>
      </p:sp>
      <p:sp>
        <p:nvSpPr>
          <p:cNvPr id="11" name="Shape 9"/>
          <p:cNvSpPr/>
          <p:nvPr/>
        </p:nvSpPr>
        <p:spPr>
          <a:xfrm>
            <a:off x="6446520" y="2715768"/>
            <a:ext cx="502920" cy="0"/>
          </a:xfrm>
          <a:prstGeom prst="line">
            <a:avLst/>
          </a:prstGeom>
          <a:noFill/>
          <a:ln w="25400">
            <a:solidFill>
              <a:srgbClr val="C44E52"/>
            </a:solidFill>
            <a:prstDash val="solid"/>
            <a:tailEnd type="triangle"/>
          </a:ln>
        </p:spPr>
        <p:txBody>
          <a:bodyPr/>
          <a:lstStyle/>
          <a:p>
            <a:endParaRPr lang="zh-CN" altLang="en-US"/>
          </a:p>
        </p:txBody>
      </p:sp>
      <p:sp>
        <p:nvSpPr>
          <p:cNvPr id="12" name="Text 10"/>
          <p:cNvSpPr/>
          <p:nvPr/>
        </p:nvSpPr>
        <p:spPr>
          <a:xfrm>
            <a:off x="6217920" y="2331720"/>
            <a:ext cx="960120" cy="274320"/>
          </a:xfrm>
          <a:prstGeom prst="rect">
            <a:avLst/>
          </a:prstGeom>
          <a:noFill/>
          <a:ln/>
        </p:spPr>
        <p:txBody>
          <a:bodyPr wrap="square" lIns="0" tIns="0" rIns="0" bIns="0" rtlCol="0" anchor="ctr"/>
          <a:lstStyle/>
          <a:p>
            <a:pPr marL="0" indent="0" algn="ctr">
              <a:buNone/>
            </a:pPr>
            <a:r>
              <a:rPr lang="en-US" sz="1000" i="1" dirty="0">
                <a:solidFill>
                  <a:srgbClr val="C44E52"/>
                </a:solidFill>
                <a:latin typeface="Calibri" pitchFamily="34" charset="0"/>
                <a:ea typeface="Calibri" pitchFamily="34" charset="-122"/>
                <a:cs typeface="Calibri" pitchFamily="34" charset="-120"/>
              </a:rPr>
              <a:t>back-translate</a:t>
            </a:r>
            <a:endParaRPr lang="en-US" sz="1000" dirty="0"/>
          </a:p>
        </p:txBody>
      </p:sp>
      <p:sp>
        <p:nvSpPr>
          <p:cNvPr id="13" name="Shape 11"/>
          <p:cNvSpPr/>
          <p:nvPr/>
        </p:nvSpPr>
        <p:spPr>
          <a:xfrm>
            <a:off x="7086600" y="2286000"/>
            <a:ext cx="2468880" cy="868680"/>
          </a:xfrm>
          <a:prstGeom prst="roundRect">
            <a:avLst>
              <a:gd name="adj" fmla="val 8421"/>
            </a:avLst>
          </a:prstGeom>
          <a:solidFill>
            <a:srgbClr val="F5F6FA"/>
          </a:solidFill>
          <a:ln w="12700">
            <a:solidFill>
              <a:srgbClr val="E4E6EF"/>
            </a:solidFill>
            <a:prstDash val="solid"/>
          </a:ln>
        </p:spPr>
        <p:txBody>
          <a:bodyPr/>
          <a:lstStyle/>
          <a:p>
            <a:endParaRPr lang="zh-CN" altLang="en-US"/>
          </a:p>
        </p:txBody>
      </p:sp>
      <p:sp>
        <p:nvSpPr>
          <p:cNvPr id="14" name="Text 12"/>
          <p:cNvSpPr/>
          <p:nvPr/>
        </p:nvSpPr>
        <p:spPr>
          <a:xfrm>
            <a:off x="7086600" y="2286000"/>
            <a:ext cx="2468880" cy="868680"/>
          </a:xfrm>
          <a:prstGeom prst="rect">
            <a:avLst/>
          </a:prstGeom>
          <a:noFill/>
          <a:ln/>
        </p:spPr>
        <p:txBody>
          <a:bodyPr wrap="square" lIns="25400" tIns="25400" rIns="25400" bIns="25400" rtlCol="0" anchor="ctr"/>
          <a:lstStyle/>
          <a:p>
            <a:pPr marL="0" indent="0" algn="ctr">
              <a:buNone/>
            </a:pPr>
            <a:r>
              <a:rPr lang="en-US" sz="1300" b="1" dirty="0">
                <a:solidFill>
                  <a:srgbClr val="23262F"/>
                </a:solidFill>
                <a:latin typeface="Calibri" pitchFamily="34" charset="0"/>
                <a:ea typeface="Calibri" pitchFamily="34" charset="-122"/>
                <a:cs typeface="Calibri" pitchFamily="34" charset="-120"/>
              </a:rPr>
              <a:t>English again</a:t>
            </a:r>
            <a:endParaRPr lang="en-US" sz="1300" dirty="0"/>
          </a:p>
          <a:p>
            <a:pPr marL="0" indent="0" algn="ctr">
              <a:buNone/>
            </a:pPr>
            <a:r>
              <a:rPr lang="en-US" sz="1050" dirty="0">
                <a:solidFill>
                  <a:srgbClr val="5A6072"/>
                </a:solidFill>
                <a:latin typeface="Calibri" pitchFamily="34" charset="0"/>
                <a:ea typeface="Calibri" pitchFamily="34" charset="-122"/>
                <a:cs typeface="Calibri" pitchFamily="34" charset="-120"/>
              </a:rPr>
              <a:t>E′</a:t>
            </a:r>
            <a:endParaRPr lang="en-US" sz="1300" dirty="0"/>
          </a:p>
        </p:txBody>
      </p:sp>
      <p:sp>
        <p:nvSpPr>
          <p:cNvPr id="15" name="Text 13"/>
          <p:cNvSpPr/>
          <p:nvPr/>
        </p:nvSpPr>
        <p:spPr>
          <a:xfrm>
            <a:off x="9738360" y="2286000"/>
            <a:ext cx="2103120" cy="868680"/>
          </a:xfrm>
          <a:prstGeom prst="rect">
            <a:avLst/>
          </a:prstGeom>
          <a:noFill/>
          <a:ln/>
        </p:spPr>
        <p:txBody>
          <a:bodyPr wrap="square" lIns="0" tIns="0" rIns="0" bIns="0" rtlCol="0" anchor="ctr"/>
          <a:lstStyle/>
          <a:p>
            <a:pPr marL="0" indent="0" algn="ctr">
              <a:buNone/>
            </a:pPr>
            <a:r>
              <a:rPr lang="en-US" sz="1300" b="1" dirty="0">
                <a:solidFill>
                  <a:srgbClr val="1B1F3B"/>
                </a:solidFill>
                <a:latin typeface="Georgia" pitchFamily="34" charset="0"/>
                <a:ea typeface="Georgia" pitchFamily="34" charset="-122"/>
                <a:cs typeface="Georgia" pitchFamily="34" charset="-120"/>
              </a:rPr>
              <a:t>compare  E vs E′  →  token-F1</a:t>
            </a:r>
            <a:endParaRPr lang="en-US" sz="1300" dirty="0"/>
          </a:p>
        </p:txBody>
      </p:sp>
      <p:sp>
        <p:nvSpPr>
          <p:cNvPr id="16" name="Text 14"/>
          <p:cNvSpPr/>
          <p:nvPr/>
        </p:nvSpPr>
        <p:spPr>
          <a:xfrm>
            <a:off x="685800" y="3657600"/>
            <a:ext cx="10820095" cy="2377440"/>
          </a:xfrm>
          <a:prstGeom prst="rect">
            <a:avLst/>
          </a:prstGeom>
          <a:noFill/>
          <a:ln/>
        </p:spPr>
        <p:txBody>
          <a:bodyPr wrap="square" lIns="0" tIns="0" rIns="0" bIns="0" rtlCol="0" anchor="t"/>
          <a:lstStyle/>
          <a:p>
            <a:pPr marL="203200" indent="-203200">
              <a:lnSpc>
                <a:spcPct val="100000"/>
              </a:lnSpc>
              <a:spcAft>
                <a:spcPts val="1100"/>
              </a:spcAft>
              <a:buSzPct val="100000"/>
              <a:buChar char="•"/>
            </a:pPr>
            <a:r>
              <a:rPr lang="en-US" sz="1450" dirty="0">
                <a:solidFill>
                  <a:srgbClr val="23262F"/>
                </a:solidFill>
                <a:latin typeface="Calibri" pitchFamily="34" charset="0"/>
                <a:ea typeface="Calibri" pitchFamily="34" charset="-122"/>
                <a:cs typeface="Calibri" pitchFamily="34" charset="-120"/>
              </a:rPr>
              <a:t>If the language effect were a translation artifact, the most-biased languages would drift the MOST.</a:t>
            </a:r>
            <a:endParaRPr lang="en-US" sz="1450" dirty="0"/>
          </a:p>
          <a:p>
            <a:pPr marL="203200" indent="-203200">
              <a:lnSpc>
                <a:spcPct val="100000"/>
              </a:lnSpc>
              <a:spcAft>
                <a:spcPts val="1100"/>
              </a:spcAft>
              <a:buSzPct val="100000"/>
              <a:buChar char="•"/>
            </a:pPr>
            <a:r>
              <a:rPr lang="en-US" sz="1450" dirty="0">
                <a:solidFill>
                  <a:srgbClr val="23262F"/>
                </a:solidFill>
                <a:latin typeface="Calibri" pitchFamily="34" charset="0"/>
                <a:ea typeface="Calibri" pitchFamily="34" charset="-122"/>
                <a:cs typeface="Calibri" pitchFamily="34" charset="-120"/>
              </a:rPr>
              <a:t>Instead the opposite: Greek (0.88) and Bengali (0.86) — the most biased — have the HIGHEST fidelity; Hindi / Russian (0.79) — not biased — the lowest.</a:t>
            </a:r>
            <a:endParaRPr lang="en-US" sz="1450" dirty="0"/>
          </a:p>
          <a:p>
            <a:pPr marL="203200" indent="-203200">
              <a:lnSpc>
                <a:spcPct val="100000"/>
              </a:lnSpc>
              <a:spcAft>
                <a:spcPts val="1100"/>
              </a:spcAft>
              <a:buSzPct val="100000"/>
              <a:buChar char="•"/>
            </a:pPr>
            <a:r>
              <a:rPr lang="en-US" sz="1450" dirty="0">
                <a:solidFill>
                  <a:srgbClr val="23262F"/>
                </a:solidFill>
                <a:latin typeface="Calibri" pitchFamily="34" charset="0"/>
                <a:ea typeface="Calibri" pitchFamily="34" charset="-122"/>
                <a:cs typeface="Calibri" pitchFamily="34" charset="-120"/>
              </a:rPr>
              <a:t>Caveat: a lexical check using the same MT system — a sanity check that rules out the obvious confound, not a proof.</a:t>
            </a:r>
            <a:endParaRPr lang="en-US" sz="1450" dirty="0"/>
          </a:p>
        </p:txBody>
      </p:sp>
      <p:sp>
        <p:nvSpPr>
          <p:cNvPr id="17" name="Text 15"/>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9AA0B0"/>
                </a:solidFill>
                <a:latin typeface="Calibri" pitchFamily="34" charset="0"/>
                <a:ea typeface="Calibri" pitchFamily="34" charset="-122"/>
                <a:cs typeface="Calibri" pitchFamily="34" charset="-120"/>
              </a:rPr>
              <a:t>BACKUP · METHODS</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808"/>
              </a:lnSpc>
              <a:buNone/>
            </a:pPr>
            <a:r>
              <a:rPr lang="en-US" sz="2600" b="1" dirty="0">
                <a:solidFill>
                  <a:srgbClr val="23262F"/>
                </a:solidFill>
                <a:latin typeface="Georgia" pitchFamily="34" charset="0"/>
                <a:ea typeface="Georgia" pitchFamily="34" charset="-122"/>
                <a:cs typeface="Georgia" pitchFamily="34" charset="-120"/>
              </a:rPr>
              <a:t>The cross-lingual metrics, defined</a:t>
            </a:r>
            <a:endParaRPr lang="en-US" sz="2600" dirty="0"/>
          </a:p>
        </p:txBody>
      </p:sp>
      <p:sp>
        <p:nvSpPr>
          <p:cNvPr id="4" name="Text 2"/>
          <p:cNvSpPr/>
          <p:nvPr/>
        </p:nvSpPr>
        <p:spPr>
          <a:xfrm>
            <a:off x="685800" y="1645920"/>
            <a:ext cx="10820095" cy="365760"/>
          </a:xfrm>
          <a:prstGeom prst="rect">
            <a:avLst/>
          </a:prstGeom>
          <a:noFill/>
          <a:ln/>
        </p:spPr>
        <p:txBody>
          <a:bodyPr wrap="square" lIns="0" tIns="0" rIns="0" bIns="0" rtlCol="0" anchor="ctr"/>
          <a:lstStyle/>
          <a:p>
            <a:pPr marL="0" indent="0">
              <a:buNone/>
            </a:pPr>
            <a:r>
              <a:rPr lang="en-US" sz="1500" i="1" dirty="0">
                <a:solidFill>
                  <a:srgbClr val="5A6072"/>
                </a:solidFill>
                <a:latin typeface="Calibri" pitchFamily="34" charset="0"/>
                <a:ea typeface="Calibri" pitchFamily="34" charset="-122"/>
                <a:cs typeface="Calibri" pitchFamily="34" charset="-120"/>
              </a:rPr>
              <a:t>For each image-pair we summarise its behaviour across all its languages (items judged in ≥ 2 languages).</a:t>
            </a:r>
            <a:endParaRPr lang="en-US" sz="1500" dirty="0"/>
          </a:p>
        </p:txBody>
      </p:sp>
      <p:sp>
        <p:nvSpPr>
          <p:cNvPr id="5" name="Shape 3"/>
          <p:cNvSpPr/>
          <p:nvPr/>
        </p:nvSpPr>
        <p:spPr>
          <a:xfrm>
            <a:off x="685800" y="2148840"/>
            <a:ext cx="10820095" cy="822960"/>
          </a:xfrm>
          <a:prstGeom prst="roundRect">
            <a:avLst>
              <a:gd name="adj" fmla="val 8889"/>
            </a:avLst>
          </a:prstGeom>
          <a:solidFill>
            <a:srgbClr val="1B1F3B"/>
          </a:solidFill>
          <a:ln/>
        </p:spPr>
        <p:txBody>
          <a:bodyPr/>
          <a:lstStyle/>
          <a:p>
            <a:endParaRPr lang="zh-CN" altLang="en-US"/>
          </a:p>
        </p:txBody>
      </p:sp>
      <p:sp>
        <p:nvSpPr>
          <p:cNvPr id="6" name="Text 4"/>
          <p:cNvSpPr/>
          <p:nvPr/>
        </p:nvSpPr>
        <p:spPr>
          <a:xfrm>
            <a:off x="685800" y="2148840"/>
            <a:ext cx="10820095" cy="822960"/>
          </a:xfrm>
          <a:prstGeom prst="rect">
            <a:avLst/>
          </a:prstGeom>
          <a:noFill/>
          <a:ln/>
        </p:spPr>
        <p:txBody>
          <a:bodyPr wrap="square" lIns="50800" tIns="50800" rIns="50800" bIns="50800" rtlCol="0" anchor="ctr"/>
          <a:lstStyle/>
          <a:p>
            <a:pPr marL="0" indent="0" algn="ctr">
              <a:buNone/>
            </a:pPr>
            <a:r>
              <a:rPr lang="en-US" sz="1250" dirty="0">
                <a:solidFill>
                  <a:srgbClr val="FFFFFF"/>
                </a:solidFill>
                <a:latin typeface="Courier New" pitchFamily="34" charset="0"/>
                <a:ea typeface="Courier New" pitchFamily="34" charset="-122"/>
                <a:cs typeface="Courier New" pitchFamily="34" charset="-120"/>
              </a:rPr>
              <a:t>per item, across languages:   all-wrong → SBR   ·   all-right → SCR   ·   mixed → CFR</a:t>
            </a:r>
            <a:endParaRPr lang="en-US" sz="1250" dirty="0"/>
          </a:p>
          <a:p>
            <a:pPr marL="0" indent="0" algn="ctr">
              <a:buNone/>
            </a:pPr>
            <a:r>
              <a:rPr lang="en-US" sz="1250" dirty="0">
                <a:solidFill>
                  <a:srgbClr val="FFFFFF"/>
                </a:solidFill>
                <a:latin typeface="Courier New" pitchFamily="34" charset="0"/>
                <a:ea typeface="Courier New" pitchFamily="34" charset="-122"/>
                <a:cs typeface="Courier New" pitchFamily="34" charset="-120"/>
              </a:rPr>
              <a:t>CFR + SBR + SCR = 1</a:t>
            </a:r>
            <a:endParaRPr lang="en-US" sz="1250" dirty="0"/>
          </a:p>
        </p:txBody>
      </p:sp>
      <p:sp>
        <p:nvSpPr>
          <p:cNvPr id="7" name="Shape 5"/>
          <p:cNvSpPr/>
          <p:nvPr/>
        </p:nvSpPr>
        <p:spPr>
          <a:xfrm>
            <a:off x="685800" y="3319272"/>
            <a:ext cx="146304" cy="146304"/>
          </a:xfrm>
          <a:prstGeom prst="ellipse">
            <a:avLst/>
          </a:prstGeom>
          <a:solidFill>
            <a:srgbClr val="C44E52"/>
          </a:solidFill>
          <a:ln/>
        </p:spPr>
        <p:txBody>
          <a:bodyPr/>
          <a:lstStyle/>
          <a:p>
            <a:endParaRPr lang="zh-CN" altLang="en-US"/>
          </a:p>
        </p:txBody>
      </p:sp>
      <p:sp>
        <p:nvSpPr>
          <p:cNvPr id="8" name="Text 6"/>
          <p:cNvSpPr/>
          <p:nvPr/>
        </p:nvSpPr>
        <p:spPr>
          <a:xfrm>
            <a:off x="1005840" y="3246120"/>
            <a:ext cx="10500055" cy="548640"/>
          </a:xfrm>
          <a:prstGeom prst="rect">
            <a:avLst/>
          </a:prstGeom>
          <a:noFill/>
          <a:ln/>
        </p:spPr>
        <p:txBody>
          <a:bodyPr wrap="square" lIns="0" tIns="0" rIns="0" bIns="0" rtlCol="0" anchor="t"/>
          <a:lstStyle/>
          <a:p>
            <a:pPr marL="0" indent="0">
              <a:buNone/>
            </a:pPr>
            <a:r>
              <a:rPr lang="en-US" sz="1550" b="1" dirty="0">
                <a:solidFill>
                  <a:srgbClr val="C44E52"/>
                </a:solidFill>
                <a:latin typeface="Calibri" pitchFamily="34" charset="0"/>
                <a:ea typeface="Calibri" pitchFamily="34" charset="-122"/>
                <a:cs typeface="Calibri" pitchFamily="34" charset="-120"/>
              </a:rPr>
              <a:t>Cross-lingual Flip Rate (CFR)  </a:t>
            </a:r>
            <a:r>
              <a:rPr lang="en-US" sz="1550" dirty="0">
                <a:solidFill>
                  <a:srgbClr val="23262F"/>
                </a:solidFill>
                <a:latin typeface="Calibri" pitchFamily="34" charset="0"/>
                <a:ea typeface="Calibri" pitchFamily="34" charset="-122"/>
                <a:cs typeface="Calibri" pitchFamily="34" charset="-120"/>
              </a:rPr>
              <a:t>— the model's choice changes across languages — the item is not stable.</a:t>
            </a:r>
            <a:endParaRPr lang="en-US" sz="1550" dirty="0"/>
          </a:p>
        </p:txBody>
      </p:sp>
      <p:sp>
        <p:nvSpPr>
          <p:cNvPr id="9" name="Shape 7"/>
          <p:cNvSpPr/>
          <p:nvPr/>
        </p:nvSpPr>
        <p:spPr>
          <a:xfrm>
            <a:off x="685800" y="4069080"/>
            <a:ext cx="146304" cy="146304"/>
          </a:xfrm>
          <a:prstGeom prst="ellipse">
            <a:avLst/>
          </a:prstGeom>
          <a:solidFill>
            <a:srgbClr val="4C72B0"/>
          </a:solidFill>
          <a:ln/>
        </p:spPr>
        <p:txBody>
          <a:bodyPr/>
          <a:lstStyle/>
          <a:p>
            <a:endParaRPr lang="zh-CN" altLang="en-US"/>
          </a:p>
        </p:txBody>
      </p:sp>
      <p:sp>
        <p:nvSpPr>
          <p:cNvPr id="10" name="Text 8"/>
          <p:cNvSpPr/>
          <p:nvPr/>
        </p:nvSpPr>
        <p:spPr>
          <a:xfrm>
            <a:off x="1005840" y="3995928"/>
            <a:ext cx="10500055" cy="548640"/>
          </a:xfrm>
          <a:prstGeom prst="rect">
            <a:avLst/>
          </a:prstGeom>
          <a:noFill/>
          <a:ln/>
        </p:spPr>
        <p:txBody>
          <a:bodyPr wrap="square" lIns="0" tIns="0" rIns="0" bIns="0" rtlCol="0" anchor="t"/>
          <a:lstStyle/>
          <a:p>
            <a:pPr marL="0" indent="0">
              <a:buNone/>
            </a:pPr>
            <a:r>
              <a:rPr lang="en-US" sz="1550" b="1" dirty="0">
                <a:solidFill>
                  <a:srgbClr val="4C72B0"/>
                </a:solidFill>
                <a:latin typeface="Calibri" pitchFamily="34" charset="0"/>
                <a:ea typeface="Calibri" pitchFamily="34" charset="-122"/>
                <a:cs typeface="Calibri" pitchFamily="34" charset="-120"/>
              </a:rPr>
              <a:t>Stable Bias Rate (SBR)  </a:t>
            </a:r>
            <a:r>
              <a:rPr lang="en-US" sz="1550" dirty="0">
                <a:solidFill>
                  <a:srgbClr val="23262F"/>
                </a:solidFill>
                <a:latin typeface="Calibri" pitchFamily="34" charset="0"/>
                <a:ea typeface="Calibri" pitchFamily="34" charset="-122"/>
                <a:cs typeface="Calibri" pitchFamily="34" charset="-120"/>
              </a:rPr>
              <a:t>— the model picks the prototypical-but-wrong image in every language.</a:t>
            </a:r>
            <a:endParaRPr lang="en-US" sz="1550" dirty="0"/>
          </a:p>
        </p:txBody>
      </p:sp>
      <p:sp>
        <p:nvSpPr>
          <p:cNvPr id="11" name="Shape 9"/>
          <p:cNvSpPr/>
          <p:nvPr/>
        </p:nvSpPr>
        <p:spPr>
          <a:xfrm>
            <a:off x="685800" y="4818888"/>
            <a:ext cx="146304" cy="146304"/>
          </a:xfrm>
          <a:prstGeom prst="ellipse">
            <a:avLst/>
          </a:prstGeom>
          <a:solidFill>
            <a:srgbClr val="55A868"/>
          </a:solidFill>
          <a:ln/>
        </p:spPr>
        <p:txBody>
          <a:bodyPr/>
          <a:lstStyle/>
          <a:p>
            <a:endParaRPr lang="zh-CN" altLang="en-US"/>
          </a:p>
        </p:txBody>
      </p:sp>
      <p:sp>
        <p:nvSpPr>
          <p:cNvPr id="12" name="Text 10"/>
          <p:cNvSpPr/>
          <p:nvPr/>
        </p:nvSpPr>
        <p:spPr>
          <a:xfrm>
            <a:off x="1005840" y="4745736"/>
            <a:ext cx="10500055" cy="548640"/>
          </a:xfrm>
          <a:prstGeom prst="rect">
            <a:avLst/>
          </a:prstGeom>
          <a:noFill/>
          <a:ln/>
        </p:spPr>
        <p:txBody>
          <a:bodyPr wrap="square" lIns="0" tIns="0" rIns="0" bIns="0" rtlCol="0" anchor="t"/>
          <a:lstStyle/>
          <a:p>
            <a:pPr marL="0" indent="0">
              <a:buNone/>
            </a:pPr>
            <a:r>
              <a:rPr lang="en-US" sz="1550" b="1" dirty="0">
                <a:solidFill>
                  <a:srgbClr val="55A868"/>
                </a:solidFill>
                <a:latin typeface="Calibri" pitchFamily="34" charset="0"/>
                <a:ea typeface="Calibri" pitchFamily="34" charset="-122"/>
                <a:cs typeface="Calibri" pitchFamily="34" charset="-120"/>
              </a:rPr>
              <a:t>Stable Correct Rate (SCR)  </a:t>
            </a:r>
            <a:r>
              <a:rPr lang="en-US" sz="1550" dirty="0">
                <a:solidFill>
                  <a:srgbClr val="23262F"/>
                </a:solidFill>
                <a:latin typeface="Calibri" pitchFamily="34" charset="0"/>
                <a:ea typeface="Calibri" pitchFamily="34" charset="-122"/>
                <a:cs typeface="Calibri" pitchFamily="34" charset="-120"/>
              </a:rPr>
              <a:t>— the model picks the correct image in every language.</a:t>
            </a:r>
            <a:endParaRPr lang="en-US" sz="1550" dirty="0"/>
          </a:p>
        </p:txBody>
      </p:sp>
      <p:sp>
        <p:nvSpPr>
          <p:cNvPr id="13" name="Text 11"/>
          <p:cNvSpPr/>
          <p:nvPr/>
        </p:nvSpPr>
        <p:spPr>
          <a:xfrm>
            <a:off x="685800" y="5669280"/>
            <a:ext cx="10820095" cy="640080"/>
          </a:xfrm>
          <a:prstGeom prst="rect">
            <a:avLst/>
          </a:prstGeom>
          <a:noFill/>
          <a:ln/>
        </p:spPr>
        <p:txBody>
          <a:bodyPr wrap="square" lIns="0" tIns="0" rIns="0" bIns="0" rtlCol="0" anchor="ctr"/>
          <a:lstStyle/>
          <a:p>
            <a:pPr marL="0" indent="0">
              <a:buNone/>
            </a:pPr>
            <a:r>
              <a:rPr lang="en-US" sz="1300" i="1" dirty="0">
                <a:solidFill>
                  <a:srgbClr val="5A6072"/>
                </a:solidFill>
                <a:latin typeface="Calibri" pitchFamily="34" charset="0"/>
                <a:ea typeface="Calibri" pitchFamily="34" charset="-122"/>
                <a:cs typeface="Calibri" pitchFamily="34" charset="-120"/>
              </a:rPr>
              <a:t>These are item-level summaries across languages, not per-judgment — which is why a flat aggregate error rate can still hide heavy item-level flipping (overall CFR ≈ 0.65).</a:t>
            </a:r>
            <a:endParaRPr lang="en-US" sz="1300" dirty="0"/>
          </a:p>
        </p:txBody>
      </p:sp>
      <p:sp>
        <p:nvSpPr>
          <p:cNvPr id="14" name="Text 12"/>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INTERACTIVE · MODEL EXPLORER</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700"/>
              </a:lnSpc>
              <a:buNone/>
            </a:pPr>
            <a:r>
              <a:rPr lang="en-US" sz="2500" b="1" dirty="0">
                <a:solidFill>
                  <a:srgbClr val="23262F"/>
                </a:solidFill>
                <a:latin typeface="Georgia" pitchFamily="34" charset="0"/>
                <a:ea typeface="Georgia" pitchFamily="34" charset="-122"/>
                <a:cs typeface="Georgia" pitchFamily="34" charset="-120"/>
              </a:rPr>
              <a:t>Does it hold across models?  ▸ click a button</a:t>
            </a:r>
            <a:endParaRPr lang="en-US" sz="2500" dirty="0"/>
          </a:p>
        </p:txBody>
      </p:sp>
      <p:pic>
        <p:nvPicPr>
          <p:cNvPr id="4" name="Image 0" descr="/Users/xiaochuan/Desktop/Projects/P5_Multi_linguistic_histoBias/v3/experiments/exp3a_mixed_effects/figures/figC_attribute_OR_qwen7b.png"/>
          <p:cNvPicPr>
            <a:picLocks noChangeAspect="1"/>
          </p:cNvPicPr>
          <p:nvPr/>
        </p:nvPicPr>
        <p:blipFill>
          <a:blip r:embed="rId3"/>
          <a:stretch>
            <a:fillRect/>
          </a:stretch>
        </p:blipFill>
        <p:spPr>
          <a:xfrm>
            <a:off x="1709928" y="1737360"/>
            <a:ext cx="8778240" cy="3351753"/>
          </a:xfrm>
          <a:prstGeom prst="rect">
            <a:avLst/>
          </a:prstGeom>
        </p:spPr>
      </p:pic>
      <p:sp>
        <p:nvSpPr>
          <p:cNvPr id="5" name="Shape 2"/>
          <p:cNvSpPr/>
          <p:nvPr/>
        </p:nvSpPr>
        <p:spPr>
          <a:xfrm>
            <a:off x="1325880" y="5943600"/>
            <a:ext cx="3108960" cy="603504"/>
          </a:xfrm>
          <a:prstGeom prst="roundRect">
            <a:avLst>
              <a:gd name="adj" fmla="val 12121"/>
            </a:avLst>
          </a:prstGeom>
          <a:solidFill>
            <a:srgbClr val="1B1F3B"/>
          </a:solidFill>
          <a:ln w="12700">
            <a:solidFill>
              <a:srgbClr val="1B1F3B"/>
            </a:solidFill>
            <a:prstDash val="solid"/>
          </a:ln>
        </p:spPr>
        <p:txBody>
          <a:bodyPr/>
          <a:lstStyle/>
          <a:p>
            <a:endParaRPr lang="zh-CN" altLang="en-US"/>
          </a:p>
        </p:txBody>
      </p:sp>
      <p:sp>
        <p:nvSpPr>
          <p:cNvPr id="6" name="Text 3"/>
          <p:cNvSpPr/>
          <p:nvPr/>
        </p:nvSpPr>
        <p:spPr>
          <a:xfrm>
            <a:off x="1325880" y="5943600"/>
            <a:ext cx="3108960" cy="6035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Qwen-7B</a:t>
            </a:r>
            <a:endParaRPr lang="en-US" sz="1400" dirty="0"/>
          </a:p>
        </p:txBody>
      </p:sp>
      <p:sp>
        <p:nvSpPr>
          <p:cNvPr id="7" name="Shape 4"/>
          <p:cNvSpPr/>
          <p:nvPr/>
        </p:nvSpPr>
        <p:spPr>
          <a:xfrm>
            <a:off x="4544568"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8" name="Text 5">
            <a:hlinkClick r:id="rId4" action="ppaction://hlinksldjump"/>
          </p:cNvPr>
          <p:cNvSpPr/>
          <p:nvPr/>
        </p:nvSpPr>
        <p:spPr>
          <a:xfrm>
            <a:off x="4544568"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4" action="ppaction://hlinksldjump">
                  <a:extLst>
                    <a:ext uri="{A12FA001-AC4F-418D-AE19-62706E023703}">
                      <ahyp:hlinkClr xmlns:ahyp="http://schemas.microsoft.com/office/drawing/2018/hyperlinkcolor" val="tx"/>
                    </a:ext>
                  </a:extLst>
                </a:hlinkClick>
              </a:rPr>
              <a:t>InternVL3-8B</a:t>
            </a:r>
            <a:endParaRPr lang="en-US" sz="1400" dirty="0"/>
          </a:p>
        </p:txBody>
      </p:sp>
      <p:sp>
        <p:nvSpPr>
          <p:cNvPr id="9" name="Shape 6"/>
          <p:cNvSpPr/>
          <p:nvPr/>
        </p:nvSpPr>
        <p:spPr>
          <a:xfrm>
            <a:off x="7763256"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10" name="Text 7">
            <a:hlinkClick r:id="rId5" action="ppaction://hlinksldjump"/>
          </p:cNvPr>
          <p:cNvSpPr/>
          <p:nvPr/>
        </p:nvSpPr>
        <p:spPr>
          <a:xfrm>
            <a:off x="7763256"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Both overlaid</a:t>
            </a:r>
            <a:endParaRPr lang="en-US" sz="1400" dirty="0"/>
          </a:p>
        </p:txBody>
      </p:sp>
      <p:sp>
        <p:nvSpPr>
          <p:cNvPr id="11" name="Text 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INTERACTIVE · MODEL EXPLORER</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700"/>
              </a:lnSpc>
              <a:buNone/>
            </a:pPr>
            <a:r>
              <a:rPr lang="en-US" sz="2500" b="1" dirty="0">
                <a:solidFill>
                  <a:srgbClr val="23262F"/>
                </a:solidFill>
                <a:latin typeface="Georgia" pitchFamily="34" charset="0"/>
                <a:ea typeface="Georgia" pitchFamily="34" charset="-122"/>
                <a:cs typeface="Georgia" pitchFamily="34" charset="-120"/>
              </a:rPr>
              <a:t>Does it hold across models?  ▸ click a button</a:t>
            </a:r>
            <a:endParaRPr lang="en-US" sz="2500" dirty="0"/>
          </a:p>
        </p:txBody>
      </p:sp>
      <p:pic>
        <p:nvPicPr>
          <p:cNvPr id="4" name="Image 0" descr="/Users/xiaochuan/Desktop/Projects/P5_Multi_linguistic_histoBias/v3/experiments/exp3a_mixed_effects/figures/figC_attribute_OR_internvl8b.png"/>
          <p:cNvPicPr>
            <a:picLocks noChangeAspect="1"/>
          </p:cNvPicPr>
          <p:nvPr/>
        </p:nvPicPr>
        <p:blipFill>
          <a:blip r:embed="rId3"/>
          <a:stretch>
            <a:fillRect/>
          </a:stretch>
        </p:blipFill>
        <p:spPr>
          <a:xfrm>
            <a:off x="1709928" y="1737360"/>
            <a:ext cx="8778240" cy="3351753"/>
          </a:xfrm>
          <a:prstGeom prst="rect">
            <a:avLst/>
          </a:prstGeom>
        </p:spPr>
      </p:pic>
      <p:sp>
        <p:nvSpPr>
          <p:cNvPr id="5" name="Shape 2"/>
          <p:cNvSpPr/>
          <p:nvPr/>
        </p:nvSpPr>
        <p:spPr>
          <a:xfrm>
            <a:off x="1325880"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6" name="Text 3">
            <a:hlinkClick r:id="rId4" action="ppaction://hlinksldjump"/>
          </p:cNvPr>
          <p:cNvSpPr/>
          <p:nvPr/>
        </p:nvSpPr>
        <p:spPr>
          <a:xfrm>
            <a:off x="1325880"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4" action="ppaction://hlinksldjump">
                  <a:extLst>
                    <a:ext uri="{A12FA001-AC4F-418D-AE19-62706E023703}">
                      <ahyp:hlinkClr xmlns:ahyp="http://schemas.microsoft.com/office/drawing/2018/hyperlinkcolor" val="tx"/>
                    </a:ext>
                  </a:extLst>
                </a:hlinkClick>
              </a:rPr>
              <a:t>Qwen-7B</a:t>
            </a:r>
            <a:endParaRPr lang="en-US" sz="1400" dirty="0"/>
          </a:p>
        </p:txBody>
      </p:sp>
      <p:sp>
        <p:nvSpPr>
          <p:cNvPr id="7" name="Shape 4"/>
          <p:cNvSpPr/>
          <p:nvPr/>
        </p:nvSpPr>
        <p:spPr>
          <a:xfrm>
            <a:off x="4544568" y="5943600"/>
            <a:ext cx="3108960" cy="603504"/>
          </a:xfrm>
          <a:prstGeom prst="roundRect">
            <a:avLst>
              <a:gd name="adj" fmla="val 12121"/>
            </a:avLst>
          </a:prstGeom>
          <a:solidFill>
            <a:srgbClr val="1B1F3B"/>
          </a:solidFill>
          <a:ln w="12700">
            <a:solidFill>
              <a:srgbClr val="1B1F3B"/>
            </a:solidFill>
            <a:prstDash val="solid"/>
          </a:ln>
        </p:spPr>
        <p:txBody>
          <a:bodyPr/>
          <a:lstStyle/>
          <a:p>
            <a:endParaRPr lang="zh-CN" altLang="en-US"/>
          </a:p>
        </p:txBody>
      </p:sp>
      <p:sp>
        <p:nvSpPr>
          <p:cNvPr id="8" name="Text 5"/>
          <p:cNvSpPr/>
          <p:nvPr/>
        </p:nvSpPr>
        <p:spPr>
          <a:xfrm>
            <a:off x="4544568" y="5943600"/>
            <a:ext cx="3108960" cy="6035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InternVL3-8B</a:t>
            </a:r>
            <a:endParaRPr lang="en-US" sz="1400" dirty="0"/>
          </a:p>
        </p:txBody>
      </p:sp>
      <p:sp>
        <p:nvSpPr>
          <p:cNvPr id="9" name="Shape 6"/>
          <p:cNvSpPr/>
          <p:nvPr/>
        </p:nvSpPr>
        <p:spPr>
          <a:xfrm>
            <a:off x="7763256"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10" name="Text 7">
            <a:hlinkClick r:id="rId5" action="ppaction://hlinksldjump"/>
          </p:cNvPr>
          <p:cNvSpPr/>
          <p:nvPr/>
        </p:nvSpPr>
        <p:spPr>
          <a:xfrm>
            <a:off x="7763256"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Both overlaid</a:t>
            </a:r>
            <a:endParaRPr lang="en-US" sz="1400" dirty="0"/>
          </a:p>
        </p:txBody>
      </p:sp>
      <p:sp>
        <p:nvSpPr>
          <p:cNvPr id="11" name="Text 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85800" y="502920"/>
            <a:ext cx="10820095" cy="274320"/>
          </a:xfrm>
          <a:prstGeom prst="rect">
            <a:avLst/>
          </a:prstGeom>
          <a:noFill/>
          <a:ln/>
        </p:spPr>
        <p:txBody>
          <a:bodyPr wrap="square" lIns="0" tIns="0" rIns="0" bIns="0" rtlCol="0" anchor="ctr"/>
          <a:lstStyle/>
          <a:p>
            <a:pPr marL="0" indent="0">
              <a:buNone/>
            </a:pPr>
            <a:r>
              <a:rPr lang="en-US" sz="1200" b="1" kern="0" spc="300" dirty="0">
                <a:solidFill>
                  <a:srgbClr val="C44E52"/>
                </a:solidFill>
                <a:latin typeface="Calibri" pitchFamily="34" charset="0"/>
                <a:ea typeface="Calibri" pitchFamily="34" charset="-122"/>
                <a:cs typeface="Calibri" pitchFamily="34" charset="-120"/>
              </a:rPr>
              <a:t>INTERACTIVE · MODEL EXPLORER</a:t>
            </a:r>
            <a:endParaRPr lang="en-US" sz="1200" dirty="0"/>
          </a:p>
        </p:txBody>
      </p:sp>
      <p:sp>
        <p:nvSpPr>
          <p:cNvPr id="3" name="Text 1"/>
          <p:cNvSpPr/>
          <p:nvPr/>
        </p:nvSpPr>
        <p:spPr>
          <a:xfrm>
            <a:off x="685800" y="841248"/>
            <a:ext cx="10820095" cy="868680"/>
          </a:xfrm>
          <a:prstGeom prst="rect">
            <a:avLst/>
          </a:prstGeom>
          <a:noFill/>
          <a:ln/>
        </p:spPr>
        <p:txBody>
          <a:bodyPr wrap="square" lIns="0" tIns="0" rIns="0" bIns="0" rtlCol="0" anchor="ctr"/>
          <a:lstStyle/>
          <a:p>
            <a:pPr marL="0" indent="0">
              <a:lnSpc>
                <a:spcPts val="2700"/>
              </a:lnSpc>
              <a:buNone/>
            </a:pPr>
            <a:r>
              <a:rPr lang="en-US" sz="2500" b="1" dirty="0">
                <a:solidFill>
                  <a:srgbClr val="23262F"/>
                </a:solidFill>
                <a:latin typeface="Georgia" pitchFamily="34" charset="0"/>
                <a:ea typeface="Georgia" pitchFamily="34" charset="-122"/>
                <a:cs typeface="Georgia" pitchFamily="34" charset="-120"/>
              </a:rPr>
              <a:t>Does it hold across models?  ▸ click a button</a:t>
            </a:r>
            <a:endParaRPr lang="en-US" sz="2500" dirty="0"/>
          </a:p>
        </p:txBody>
      </p:sp>
      <p:pic>
        <p:nvPicPr>
          <p:cNvPr id="4" name="Image 0" descr="/Users/xiaochuan/Desktop/Projects/P5_Multi_linguistic_histoBias/v3/experiments/exp3a_mixed_effects/figures/figE_cross_model_OR.png"/>
          <p:cNvPicPr>
            <a:picLocks noChangeAspect="1"/>
          </p:cNvPicPr>
          <p:nvPr/>
        </p:nvPicPr>
        <p:blipFill>
          <a:blip r:embed="rId3"/>
          <a:stretch>
            <a:fillRect/>
          </a:stretch>
        </p:blipFill>
        <p:spPr>
          <a:xfrm>
            <a:off x="1709928" y="1737360"/>
            <a:ext cx="8778240" cy="3364599"/>
          </a:xfrm>
          <a:prstGeom prst="rect">
            <a:avLst/>
          </a:prstGeom>
        </p:spPr>
      </p:pic>
      <p:sp>
        <p:nvSpPr>
          <p:cNvPr id="5" name="Shape 2"/>
          <p:cNvSpPr/>
          <p:nvPr/>
        </p:nvSpPr>
        <p:spPr>
          <a:xfrm>
            <a:off x="1325880"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6" name="Text 3">
            <a:hlinkClick r:id="rId4" action="ppaction://hlinksldjump"/>
          </p:cNvPr>
          <p:cNvSpPr/>
          <p:nvPr/>
        </p:nvSpPr>
        <p:spPr>
          <a:xfrm>
            <a:off x="1325880"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4" action="ppaction://hlinksldjump">
                  <a:extLst>
                    <a:ext uri="{A12FA001-AC4F-418D-AE19-62706E023703}">
                      <ahyp:hlinkClr xmlns:ahyp="http://schemas.microsoft.com/office/drawing/2018/hyperlinkcolor" val="tx"/>
                    </a:ext>
                  </a:extLst>
                </a:hlinkClick>
              </a:rPr>
              <a:t>Qwen-7B</a:t>
            </a:r>
            <a:endParaRPr lang="en-US" sz="1400" dirty="0"/>
          </a:p>
        </p:txBody>
      </p:sp>
      <p:sp>
        <p:nvSpPr>
          <p:cNvPr id="7" name="Shape 4"/>
          <p:cNvSpPr/>
          <p:nvPr/>
        </p:nvSpPr>
        <p:spPr>
          <a:xfrm>
            <a:off x="4544568" y="5943600"/>
            <a:ext cx="3108960" cy="603504"/>
          </a:xfrm>
          <a:prstGeom prst="roundRect">
            <a:avLst>
              <a:gd name="adj" fmla="val 12121"/>
            </a:avLst>
          </a:prstGeom>
          <a:solidFill>
            <a:srgbClr val="F5F6FA"/>
          </a:solidFill>
          <a:ln w="12700">
            <a:solidFill>
              <a:srgbClr val="E4E6EF"/>
            </a:solidFill>
            <a:prstDash val="solid"/>
          </a:ln>
        </p:spPr>
        <p:txBody>
          <a:bodyPr/>
          <a:lstStyle/>
          <a:p>
            <a:endParaRPr lang="zh-CN" altLang="en-US"/>
          </a:p>
        </p:txBody>
      </p:sp>
      <p:sp>
        <p:nvSpPr>
          <p:cNvPr id="8" name="Text 5">
            <a:hlinkClick r:id="rId5" action="ppaction://hlinksldjump"/>
          </p:cNvPr>
          <p:cNvSpPr/>
          <p:nvPr/>
        </p:nvSpPr>
        <p:spPr>
          <a:xfrm>
            <a:off x="4544568" y="5943600"/>
            <a:ext cx="3108960" cy="603504"/>
          </a:xfrm>
          <a:prstGeom prst="rect">
            <a:avLst/>
          </a:prstGeom>
          <a:noFill/>
          <a:ln/>
        </p:spPr>
        <p:txBody>
          <a:bodyPr wrap="square" lIns="0" tIns="0" rIns="0" bIns="0" rtlCol="0" anchor="ctr"/>
          <a:lstStyle/>
          <a:p>
            <a:pPr marL="0" indent="0" algn="ctr">
              <a:buNone/>
            </a:pPr>
            <a:r>
              <a:rPr lang="en-US" sz="1400" b="1" u="sng" dirty="0">
                <a:solidFill>
                  <a:srgbClr val="1B1F3B"/>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InternVL3-8B</a:t>
            </a:r>
            <a:endParaRPr lang="en-US" sz="1400" dirty="0"/>
          </a:p>
        </p:txBody>
      </p:sp>
      <p:sp>
        <p:nvSpPr>
          <p:cNvPr id="9" name="Shape 6"/>
          <p:cNvSpPr/>
          <p:nvPr/>
        </p:nvSpPr>
        <p:spPr>
          <a:xfrm>
            <a:off x="7763256" y="5943600"/>
            <a:ext cx="3108960" cy="603504"/>
          </a:xfrm>
          <a:prstGeom prst="roundRect">
            <a:avLst>
              <a:gd name="adj" fmla="val 12121"/>
            </a:avLst>
          </a:prstGeom>
          <a:solidFill>
            <a:srgbClr val="1B1F3B"/>
          </a:solidFill>
          <a:ln w="12700">
            <a:solidFill>
              <a:srgbClr val="1B1F3B"/>
            </a:solidFill>
            <a:prstDash val="solid"/>
          </a:ln>
        </p:spPr>
        <p:txBody>
          <a:bodyPr/>
          <a:lstStyle/>
          <a:p>
            <a:endParaRPr lang="zh-CN" altLang="en-US"/>
          </a:p>
        </p:txBody>
      </p:sp>
      <p:sp>
        <p:nvSpPr>
          <p:cNvPr id="10" name="Text 7"/>
          <p:cNvSpPr/>
          <p:nvPr/>
        </p:nvSpPr>
        <p:spPr>
          <a:xfrm>
            <a:off x="7763256" y="5943600"/>
            <a:ext cx="3108960" cy="60350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Both overlaid</a:t>
            </a:r>
            <a:endParaRPr lang="en-US" sz="1400" dirty="0"/>
          </a:p>
        </p:txBody>
      </p:sp>
      <p:sp>
        <p:nvSpPr>
          <p:cNvPr id="11" name="Text 8"/>
          <p:cNvSpPr/>
          <p:nvPr/>
        </p:nvSpPr>
        <p:spPr>
          <a:xfrm>
            <a:off x="11551615" y="6400800"/>
            <a:ext cx="365760" cy="274320"/>
          </a:xfrm>
          <a:prstGeom prst="rect">
            <a:avLst/>
          </a:prstGeom>
          <a:noFill/>
          <a:ln/>
        </p:spPr>
        <p:txBody>
          <a:bodyPr wrap="square" lIns="0" tIns="0" rIns="0" bIns="0" rtlCol="0" anchor="ctr"/>
          <a:lstStyle/>
          <a:p>
            <a:pPr marL="0" indent="0" algn="r">
              <a:buNone/>
            </a:pPr>
            <a:r>
              <a:rPr lang="en-US" sz="1000" dirty="0">
                <a:solidFill>
                  <a:srgbClr val="9AA0B0"/>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TotalTime>
  <Words>5004</Words>
  <Application>Microsoft Macintosh PowerPoint</Application>
  <PresentationFormat>宽屏</PresentationFormat>
  <Paragraphs>467</Paragraphs>
  <Slides>26</Slides>
  <Notes>26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26</vt:i4>
      </vt:variant>
    </vt:vector>
  </HeadingPairs>
  <TitlesOfParts>
    <vt:vector size="31" baseType="lpstr">
      <vt:lpstr>Arial</vt:lpstr>
      <vt:lpstr>Calibri</vt:lpstr>
      <vt:lpstr>Courier New</vt:lpstr>
      <vt:lpstr>Georgia</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Cross-lingual Prototypicality Bias — Progress Report II</dc:title>
  <dc:subject>PptxGenJS Presentation</dc:subject>
  <dc:creator>Xiaochuan Li</dc:creator>
  <cp:lastModifiedBy>lxcchris1201@gmail.com</cp:lastModifiedBy>
  <cp:revision>10</cp:revision>
  <dcterms:created xsi:type="dcterms:W3CDTF">2026-06-23T07:43:40Z</dcterms:created>
  <dcterms:modified xsi:type="dcterms:W3CDTF">2026-07-11T19:45:36Z</dcterms:modified>
</cp:coreProperties>
</file>