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82" r:id="rId33"/>
    <p:sldId id="283" r:id="rId34"/>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1392"/>
    <p:restoredTop sz="94610"/>
  </p:normalViewPr>
  <p:slideViewPr>
    <p:cSldViewPr snapToGrid="0" snapToObjects="1">
      <p:cViewPr varScale="1">
        <p:scale>
          <a:sx n="91" d="100"/>
          <a:sy n="91" d="100"/>
        </p:scale>
        <p:origin x="192" y="7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27.xml"/><Relationship Id="rId34" Type="http://schemas.openxmlformats.org/officeDocument/2006/relationships/slide" Target="slides/slide2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___.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___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title>
      <c:tx>
        <c:rich>
          <a:bodyPr/>
          <a:lstStyle/>
          <a:p>
            <a:pPr>
              <a:defRPr sz="1200" b="0" i="0" u="none" strike="noStrike">
                <a:solidFill>
                  <a:srgbClr val="23262F"/>
                </a:solidFill>
                <a:latin typeface="Arial"/>
              </a:defRPr>
            </a:pPr>
            <a:r>
              <a:rPr lang="de-DE" sz="1200" b="0" i="0" u="none" strike="noStrike">
                <a:solidFill>
                  <a:srgbClr val="23262F"/>
                </a:solidFill>
                <a:latin typeface="Arial"/>
              </a:rPr>
              <a:t>Odds ratio of bias vs English  (1.0 = same as English)</a:t>
            </a:r>
          </a:p>
        </c:rich>
      </c:tx>
      <c:overlay val="0"/>
    </c:title>
    <c:autoTitleDeleted val="0"/>
    <c:plotArea>
      <c:layout/>
      <c:barChart>
        <c:barDir val="col"/>
        <c:grouping val="clustered"/>
        <c:varyColors val="0"/>
        <c:ser>
          <c:idx val="0"/>
          <c:order val="0"/>
          <c:tx>
            <c:strRef>
              <c:f>Sheet1!$B$1</c:f>
              <c:strCache>
                <c:ptCount val="1"/>
                <c:pt idx="0">
                  <c:v>Qwen2.5-VL-7B</c:v>
                </c:pt>
              </c:strCache>
            </c:strRef>
          </c:tx>
          <c:spPr>
            <a:solidFill>
              <a:srgbClr val="4C72B0"/>
            </a:solidFill>
            <a:effectLst/>
          </c:spPr>
          <c:invertIfNegative val="0"/>
          <c:cat>
            <c:strRef>
              <c:f>Sheet1!$A$2:$A$7</c:f>
              <c:strCache>
                <c:ptCount val="6"/>
                <c:pt idx="0">
                  <c:v>zh</c:v>
                </c:pt>
                <c:pt idx="1">
                  <c:v>ru</c:v>
                </c:pt>
                <c:pt idx="2">
                  <c:v>ar</c:v>
                </c:pt>
                <c:pt idx="3">
                  <c:v>hi</c:v>
                </c:pt>
                <c:pt idx="4">
                  <c:v>bn</c:v>
                </c:pt>
                <c:pt idx="5">
                  <c:v>el</c:v>
                </c:pt>
              </c:strCache>
            </c:strRef>
          </c:cat>
          <c:val>
            <c:numRef>
              <c:f>Sheet1!$B$2:$B$7</c:f>
              <c:numCache>
                <c:formatCode>General</c:formatCode>
                <c:ptCount val="6"/>
                <c:pt idx="0">
                  <c:v>1.1299999999999999</c:v>
                </c:pt>
                <c:pt idx="1">
                  <c:v>1.06</c:v>
                </c:pt>
                <c:pt idx="2">
                  <c:v>1.31</c:v>
                </c:pt>
                <c:pt idx="3">
                  <c:v>1.04</c:v>
                </c:pt>
                <c:pt idx="4">
                  <c:v>1.6</c:v>
                </c:pt>
                <c:pt idx="5">
                  <c:v>1.49</c:v>
                </c:pt>
              </c:numCache>
            </c:numRef>
          </c:val>
          <c:extLst>
            <c:ext xmlns:c16="http://schemas.microsoft.com/office/drawing/2014/chart" uri="{C3380CC4-5D6E-409C-BE32-E72D297353CC}">
              <c16:uniqueId val="{00000000-9BAF-E549-B08E-2F0603BA45AB}"/>
            </c:ext>
          </c:extLst>
        </c:ser>
        <c:ser>
          <c:idx val="1"/>
          <c:order val="1"/>
          <c:tx>
            <c:strRef>
              <c:f>Sheet1!$C$1</c:f>
              <c:strCache>
                <c:ptCount val="1"/>
                <c:pt idx="0">
                  <c:v>InternVL3-8B</c:v>
                </c:pt>
              </c:strCache>
            </c:strRef>
          </c:tx>
          <c:spPr>
            <a:solidFill>
              <a:srgbClr val="C44E52"/>
            </a:solidFill>
            <a:effectLst/>
          </c:spPr>
          <c:invertIfNegative val="0"/>
          <c:cat>
            <c:strRef>
              <c:f>Sheet1!$A$2:$A$7</c:f>
              <c:strCache>
                <c:ptCount val="6"/>
                <c:pt idx="0">
                  <c:v>zh</c:v>
                </c:pt>
                <c:pt idx="1">
                  <c:v>ru</c:v>
                </c:pt>
                <c:pt idx="2">
                  <c:v>ar</c:v>
                </c:pt>
                <c:pt idx="3">
                  <c:v>hi</c:v>
                </c:pt>
                <c:pt idx="4">
                  <c:v>bn</c:v>
                </c:pt>
                <c:pt idx="5">
                  <c:v>el</c:v>
                </c:pt>
              </c:strCache>
            </c:strRef>
          </c:cat>
          <c:val>
            <c:numRef>
              <c:f>Sheet1!$C$2:$C$7</c:f>
              <c:numCache>
                <c:formatCode>General</c:formatCode>
                <c:ptCount val="6"/>
                <c:pt idx="0">
                  <c:v>0.96</c:v>
                </c:pt>
                <c:pt idx="1">
                  <c:v>1.17</c:v>
                </c:pt>
                <c:pt idx="2">
                  <c:v>1.1200000000000001</c:v>
                </c:pt>
                <c:pt idx="3">
                  <c:v>1.33</c:v>
                </c:pt>
                <c:pt idx="4">
                  <c:v>1.41</c:v>
                </c:pt>
                <c:pt idx="5">
                  <c:v>1.72</c:v>
                </c:pt>
              </c:numCache>
            </c:numRef>
          </c:val>
          <c:extLst>
            <c:ext xmlns:c16="http://schemas.microsoft.com/office/drawing/2014/chart" uri="{C3380CC4-5D6E-409C-BE32-E72D297353CC}">
              <c16:uniqueId val="{00000001-9BAF-E549-B08E-2F0603BA45AB}"/>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072"/>
                </a:solidFill>
                <a:latin typeface="Arial"/>
              </a:defRPr>
            </a:pPr>
            <a:endParaRPr lang="en-US"/>
          </a:p>
        </c:txPr>
        <c:crossAx val="2094734552"/>
        <c:crosses val="autoZero"/>
        <c:auto val="1"/>
        <c:lblAlgn val="ctr"/>
        <c:lblOffset val="100"/>
        <c:noMultiLvlLbl val="1"/>
      </c:catAx>
      <c:valAx>
        <c:axId val="2094734552"/>
        <c:scaling>
          <c:orientation val="minMax"/>
          <c:max val="2"/>
          <c:min val="0"/>
        </c:scaling>
        <c:delete val="0"/>
        <c:axPos val="l"/>
        <c:majorGridlines>
          <c:spPr>
            <a:ln w="6350" cap="flat">
              <a:solidFill>
                <a:srgbClr val="ECEEF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072"/>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A6072"/>
              </a:solidFil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title>
      <c:tx>
        <c:rich>
          <a:bodyPr/>
          <a:lstStyle/>
          <a:p>
            <a:pPr>
              <a:defRPr sz="1200" b="0" i="0" u="none" strike="noStrike">
                <a:solidFill>
                  <a:srgbClr val="23262F"/>
                </a:solidFill>
                <a:latin typeface="Arial"/>
              </a:defRPr>
            </a:pPr>
            <a:r>
              <a:rPr lang="de-DE" sz="1200" b="0" i="0" u="none" strike="noStrike">
                <a:solidFill>
                  <a:srgbClr val="23262F"/>
                </a:solidFill>
                <a:latin typeface="Arial"/>
              </a:rPr>
              <a:t>Stable Bias Rate by attribute  (chose wrong image in all 7 languages)</a:t>
            </a:r>
          </a:p>
        </c:rich>
      </c:tx>
      <c:overlay val="0"/>
    </c:title>
    <c:autoTitleDeleted val="0"/>
    <c:plotArea>
      <c:layout/>
      <c:barChart>
        <c:barDir val="col"/>
        <c:grouping val="clustered"/>
        <c:varyColors val="0"/>
        <c:ser>
          <c:idx val="0"/>
          <c:order val="0"/>
          <c:tx>
            <c:strRef>
              <c:f>Sheet1!$B$1</c:f>
              <c:strCache>
                <c:ptCount val="1"/>
                <c:pt idx="0">
                  <c:v>Qwen2.5-VL-7B</c:v>
                </c:pt>
              </c:strCache>
            </c:strRef>
          </c:tx>
          <c:spPr>
            <a:solidFill>
              <a:srgbClr val="4C72B0"/>
            </a:solidFill>
            <a:effectLst/>
          </c:spPr>
          <c:invertIfNegative val="0"/>
          <c:cat>
            <c:strRef>
              <c:f>Sheet1!$A$2:$A$6</c:f>
              <c:strCache>
                <c:ptCount val="5"/>
                <c:pt idx="0">
                  <c:v>Wealth</c:v>
                </c:pt>
                <c:pt idx="1">
                  <c:v>Power</c:v>
                </c:pt>
                <c:pt idx="2">
                  <c:v>Civility</c:v>
                </c:pt>
                <c:pt idx="3">
                  <c:v>Morality</c:v>
                </c:pt>
                <c:pt idx="4">
                  <c:v>Intellect</c:v>
                </c:pt>
              </c:strCache>
            </c:strRef>
          </c:cat>
          <c:val>
            <c:numRef>
              <c:f>Sheet1!$B$2:$B$6</c:f>
              <c:numCache>
                <c:formatCode>General</c:formatCode>
                <c:ptCount val="5"/>
                <c:pt idx="0">
                  <c:v>0.57999999999999996</c:v>
                </c:pt>
                <c:pt idx="1">
                  <c:v>0.28000000000000003</c:v>
                </c:pt>
                <c:pt idx="2">
                  <c:v>0.22</c:v>
                </c:pt>
                <c:pt idx="3">
                  <c:v>0.18</c:v>
                </c:pt>
                <c:pt idx="4">
                  <c:v>0.17</c:v>
                </c:pt>
              </c:numCache>
            </c:numRef>
          </c:val>
          <c:extLst>
            <c:ext xmlns:c16="http://schemas.microsoft.com/office/drawing/2014/chart" uri="{C3380CC4-5D6E-409C-BE32-E72D297353CC}">
              <c16:uniqueId val="{00000000-D3FD-D248-83B7-2DCE492A8332}"/>
            </c:ext>
          </c:extLst>
        </c:ser>
        <c:ser>
          <c:idx val="1"/>
          <c:order val="1"/>
          <c:tx>
            <c:strRef>
              <c:f>Sheet1!$C$1</c:f>
              <c:strCache>
                <c:ptCount val="1"/>
                <c:pt idx="0">
                  <c:v>InternVL3-8B</c:v>
                </c:pt>
              </c:strCache>
            </c:strRef>
          </c:tx>
          <c:spPr>
            <a:solidFill>
              <a:srgbClr val="C44E52"/>
            </a:solidFill>
            <a:effectLst/>
          </c:spPr>
          <c:invertIfNegative val="0"/>
          <c:cat>
            <c:strRef>
              <c:f>Sheet1!$A$2:$A$6</c:f>
              <c:strCache>
                <c:ptCount val="5"/>
                <c:pt idx="0">
                  <c:v>Wealth</c:v>
                </c:pt>
                <c:pt idx="1">
                  <c:v>Power</c:v>
                </c:pt>
                <c:pt idx="2">
                  <c:v>Civility</c:v>
                </c:pt>
                <c:pt idx="3">
                  <c:v>Morality</c:v>
                </c:pt>
                <c:pt idx="4">
                  <c:v>Intellect</c:v>
                </c:pt>
              </c:strCache>
            </c:strRef>
          </c:cat>
          <c:val>
            <c:numRef>
              <c:f>Sheet1!$C$2:$C$6</c:f>
              <c:numCache>
                <c:formatCode>General</c:formatCode>
                <c:ptCount val="5"/>
                <c:pt idx="0">
                  <c:v>0.45</c:v>
                </c:pt>
                <c:pt idx="1">
                  <c:v>0.36</c:v>
                </c:pt>
                <c:pt idx="2">
                  <c:v>0.3</c:v>
                </c:pt>
                <c:pt idx="3">
                  <c:v>0.23</c:v>
                </c:pt>
                <c:pt idx="4">
                  <c:v>0.19</c:v>
                </c:pt>
              </c:numCache>
            </c:numRef>
          </c:val>
          <c:extLst>
            <c:ext xmlns:c16="http://schemas.microsoft.com/office/drawing/2014/chart" uri="{C3380CC4-5D6E-409C-BE32-E72D297353CC}">
              <c16:uniqueId val="{00000001-D3FD-D248-83B7-2DCE492A8332}"/>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072"/>
                </a:solidFill>
                <a:latin typeface="Arial"/>
              </a:defRPr>
            </a:pPr>
            <a:endParaRPr lang="en-US"/>
          </a:p>
        </c:txPr>
        <c:crossAx val="2094734552"/>
        <c:crosses val="autoZero"/>
        <c:auto val="1"/>
        <c:lblAlgn val="ctr"/>
        <c:lblOffset val="100"/>
        <c:noMultiLvlLbl val="1"/>
      </c:catAx>
      <c:valAx>
        <c:axId val="2094734552"/>
        <c:scaling>
          <c:orientation val="minMax"/>
          <c:max val="0.7"/>
          <c:min val="0"/>
        </c:scaling>
        <c:delete val="0"/>
        <c:axPos val="l"/>
        <c:majorGridlines>
          <c:spPr>
            <a:ln w="6350" cap="flat">
              <a:solidFill>
                <a:srgbClr val="ECEEF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072"/>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A6072"/>
              </a:solidFill>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t>Cross-lingual Flip Rate by attribute</a:t>
            </a:r>
          </a:p>
        </c:rich>
      </c:tx>
      <c:layout/>
      <c:overlay val="0"/>
    </c:title>
    <c:autoTitleDeleted val="0"/>
    <c:plotArea>
      <c:barChart>
        <c:barDir val="col"/>
        <c:grouping val="clustered"/>
        <c:ser>
          <c:idx val="0"/>
          <c:order val="0"/>
          <c:tx>
            <c:strRef>
              <c:f>Sheet1!$B$1</c:f>
              <c:strCache>
                <c:ptCount val="1"/>
                <c:pt idx="0">
                  <c:v>Qwen2.5-VL-7B</c:v>
                </c:pt>
              </c:strCache>
            </c:strRef>
          </c:tx>
          <c:spPr>
            <a:solidFill>
              <a:srgbClr val="4C72B0"/>
            </a:solidFill>
          </c:spPr>
          <c:cat>
            <c:strRef>
              <c:f>Sheet1!$A$2:$A$6</c:f>
              <c:strCache>
                <c:ptCount val="5"/>
                <c:pt idx="0">
                  <c:v>Wealth</c:v>
                </c:pt>
                <c:pt idx="1">
                  <c:v>Power</c:v>
                </c:pt>
                <c:pt idx="2">
                  <c:v>Civility</c:v>
                </c:pt>
                <c:pt idx="3">
                  <c:v>Morality</c:v>
                </c:pt>
                <c:pt idx="4">
                  <c:v>Intellect</c:v>
                </c:pt>
              </c:strCache>
            </c:strRef>
          </c:cat>
          <c:val>
            <c:numRef>
              <c:f>Sheet1!$B$2:$B$6</c:f>
              <c:numCache>
                <c:formatCode>General</c:formatCode>
                <c:ptCount val="5"/>
                <c:pt idx="0">
                  <c:v>0.39</c:v>
                </c:pt>
                <c:pt idx="1">
                  <c:v>0.61</c:v>
                </c:pt>
                <c:pt idx="2">
                  <c:v>0.66</c:v>
                </c:pt>
                <c:pt idx="3">
                  <c:v>0.67</c:v>
                </c:pt>
                <c:pt idx="4">
                  <c:v>0.71</c:v>
                </c:pt>
              </c:numCache>
            </c:numRef>
          </c:val>
        </c:ser>
        <c:ser>
          <c:idx val="1"/>
          <c:order val="1"/>
          <c:tx>
            <c:strRef>
              <c:f>Sheet1!$C$1</c:f>
              <c:strCache>
                <c:ptCount val="1"/>
                <c:pt idx="0">
                  <c:v>InternVL3-8B</c:v>
                </c:pt>
              </c:strCache>
            </c:strRef>
          </c:tx>
          <c:spPr>
            <a:solidFill>
              <a:srgbClr val="C44E52"/>
            </a:solidFill>
          </c:spPr>
          <c:cat>
            <c:strRef>
              <c:f>Sheet1!$A$2:$A$6</c:f>
              <c:strCache>
                <c:ptCount val="5"/>
                <c:pt idx="0">
                  <c:v>Wealth</c:v>
                </c:pt>
                <c:pt idx="1">
                  <c:v>Power</c:v>
                </c:pt>
                <c:pt idx="2">
                  <c:v>Civility</c:v>
                </c:pt>
                <c:pt idx="3">
                  <c:v>Morality</c:v>
                </c:pt>
                <c:pt idx="4">
                  <c:v>Intellect</c:v>
                </c:pt>
              </c:strCache>
            </c:strRef>
          </c:cat>
          <c:val>
            <c:numRef>
              <c:f>Sheet1!$C$2:$C$6</c:f>
              <c:numCache>
                <c:formatCode>General</c:formatCode>
                <c:ptCount val="5"/>
                <c:pt idx="0">
                  <c:v>0.52</c:v>
                </c:pt>
                <c:pt idx="1">
                  <c:v>0.55</c:v>
                </c:pt>
                <c:pt idx="2">
                  <c:v>0.59</c:v>
                </c:pt>
                <c:pt idx="3">
                  <c:v>0.67</c:v>
                </c:pt>
                <c:pt idx="4">
                  <c:v>0.67</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0.8"/>
          <c:min val="0.0"/>
        </c:scaling>
        <c:delete val="0"/>
        <c:axPos val="l"/>
        <c:majorGridlines/>
        <c:majorTickMark val="out"/>
        <c:minorTickMark val="none"/>
        <c:tickLblPos val="nextTo"/>
        <c:crossAx val="-2068027336"/>
        <c:crosses val="autoZero"/>
      </c:valAx>
    </c:plotArea>
    <c:legend>
      <c:legendPos val="t"/>
      <c:overlay val="0"/>
      <c:txPr>
        <a:bodyPr/>
        <a:lstStyle/>
        <a:p>
          <a:pPr>
            <a:defRPr sz="1100"/>
          </a:pPr>
        </a:p>
      </c:txPr>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t>Stable Bias Rate by attribute (wrong image in all 7 languages)</a:t>
            </a:r>
          </a:p>
        </c:rich>
      </c:tx>
      <c:layout/>
      <c:overlay val="0"/>
    </c:title>
    <c:autoTitleDeleted val="0"/>
    <c:plotArea>
      <c:barChart>
        <c:barDir val="col"/>
        <c:grouping val="clustered"/>
        <c:ser>
          <c:idx val="0"/>
          <c:order val="0"/>
          <c:tx>
            <c:strRef>
              <c:f>Sheet1!$B$1</c:f>
              <c:strCache>
                <c:ptCount val="1"/>
                <c:pt idx="0">
                  <c:v>Qwen2.5-VL-7B</c:v>
                </c:pt>
              </c:strCache>
            </c:strRef>
          </c:tx>
          <c:spPr>
            <a:solidFill>
              <a:srgbClr val="4C72B0"/>
            </a:solidFill>
          </c:spPr>
          <c:cat>
            <c:strRef>
              <c:f>Sheet1!$A$2:$A$6</c:f>
              <c:strCache>
                <c:ptCount val="5"/>
                <c:pt idx="0">
                  <c:v>Wealth</c:v>
                </c:pt>
                <c:pt idx="1">
                  <c:v>Power</c:v>
                </c:pt>
                <c:pt idx="2">
                  <c:v>Civility</c:v>
                </c:pt>
                <c:pt idx="3">
                  <c:v>Morality</c:v>
                </c:pt>
                <c:pt idx="4">
                  <c:v>Intellect</c:v>
                </c:pt>
              </c:strCache>
            </c:strRef>
          </c:cat>
          <c:val>
            <c:numRef>
              <c:f>Sheet1!$B$2:$B$6</c:f>
              <c:numCache>
                <c:formatCode>General</c:formatCode>
                <c:ptCount val="5"/>
                <c:pt idx="0">
                  <c:v>0.58</c:v>
                </c:pt>
                <c:pt idx="1">
                  <c:v>0.28</c:v>
                </c:pt>
                <c:pt idx="2">
                  <c:v>0.22</c:v>
                </c:pt>
                <c:pt idx="3">
                  <c:v>0.18</c:v>
                </c:pt>
                <c:pt idx="4">
                  <c:v>0.17</c:v>
                </c:pt>
              </c:numCache>
            </c:numRef>
          </c:val>
        </c:ser>
        <c:ser>
          <c:idx val="1"/>
          <c:order val="1"/>
          <c:tx>
            <c:strRef>
              <c:f>Sheet1!$C$1</c:f>
              <c:strCache>
                <c:ptCount val="1"/>
                <c:pt idx="0">
                  <c:v>InternVL3-8B</c:v>
                </c:pt>
              </c:strCache>
            </c:strRef>
          </c:tx>
          <c:spPr>
            <a:solidFill>
              <a:srgbClr val="C44E52"/>
            </a:solidFill>
          </c:spPr>
          <c:cat>
            <c:strRef>
              <c:f>Sheet1!$A$2:$A$6</c:f>
              <c:strCache>
                <c:ptCount val="5"/>
                <c:pt idx="0">
                  <c:v>Wealth</c:v>
                </c:pt>
                <c:pt idx="1">
                  <c:v>Power</c:v>
                </c:pt>
                <c:pt idx="2">
                  <c:v>Civility</c:v>
                </c:pt>
                <c:pt idx="3">
                  <c:v>Morality</c:v>
                </c:pt>
                <c:pt idx="4">
                  <c:v>Intellect</c:v>
                </c:pt>
              </c:strCache>
            </c:strRef>
          </c:cat>
          <c:val>
            <c:numRef>
              <c:f>Sheet1!$C$2:$C$6</c:f>
              <c:numCache>
                <c:formatCode>General</c:formatCode>
                <c:ptCount val="5"/>
                <c:pt idx="0">
                  <c:v>0.45</c:v>
                </c:pt>
                <c:pt idx="1">
                  <c:v>0.36</c:v>
                </c:pt>
                <c:pt idx="2">
                  <c:v>0.3</c:v>
                </c:pt>
                <c:pt idx="3">
                  <c:v>0.23</c:v>
                </c:pt>
                <c:pt idx="4">
                  <c:v>0.19</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0.7"/>
          <c:min val="0.0"/>
        </c:scaling>
        <c:delete val="0"/>
        <c:axPos val="l"/>
        <c:majorGridlines/>
        <c:majorTickMark val="out"/>
        <c:minorTickMark val="none"/>
        <c:tickLblPos val="nextTo"/>
        <c:crossAx val="-2068027336"/>
        <c:crosses val="autoZero"/>
      </c:valAx>
    </c:plotArea>
    <c:legend>
      <c:legendPos val="t"/>
      <c:overlay val="0"/>
      <c:txPr>
        <a:bodyPr/>
        <a:lstStyle/>
        <a:p>
          <a:pPr>
            <a:defRPr sz="11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78433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a:t>
            </a:r>
          </a:p>
          <a:p>
            <a:r>
              <a:t>This is our second main result, and it actually changed our own conclusion. In the first report we only had four languages, and the bias looked the same in all of them, so we said language did not matter. But when we added two more languages — Bengali and Greek — a clear effect appeared: in these two languages the model is biased more often than in English, and this happens in BOTH models, not just one. So the earlier "language does not matter" was wrong; it was just that four languages were too few to see it. One key detail: the attribute that gets biased (wealth, power) stays the same in every language — only the overall amount of bias goes up. So language does not change WHICH attribute is biased; it changes HOW STRONG the bias is.</a:t>
            </a:r>
          </a:p>
          <a:p/>
          <a:p>
            <a:r>
              <a:t>中文 —</a:t>
            </a:r>
          </a:p>
          <a:p>
            <a:r>
              <a:t>这是我们第二个主要结果,而且它改变了我们自己之前的结论。第一次报告只有四种语言,偏见在四种里看着都一样,所以我们说"语言无关"。但加了孟加拉语和希腊语之后,出现了明显的效应:在这两种语言里,模型被带偏的次数比英语更多,而且两个模型都这样,不只一个。所以之前"语言无关"是错的——只是四种语言太少、没测出来。一个关键细节:被带偏的属性(财富、权力)在每种语言里都一样,变的只是偏见的整体强度。所以语言不改变"哪个属性被偏",只改变"偏得多重"。</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a:t>
            </a:r>
          </a:p>
          <a:p>
            <a:r>
              <a:t>Now the obvious question: maybe Bengali and Greek are just translated badly, so the model loses the meaning and falls back on the stereotype. We checked this directly. For every prompt, we translated it back into English and measured how much it changed. If bad translation were the cause, the most-biased languages should change the most. But we found the opposite: Greek and Bengali — the most biased — have the most faithful translations, while Hindi and Russian, which are not biased, have the worst. So the language effect is real model behavior, not a translation problem. This is exactly the check the reviewers will ask for, so we did it first.</a:t>
            </a:r>
          </a:p>
          <a:p/>
          <a:p>
            <a:r>
              <a:t>中文 —</a:t>
            </a:r>
          </a:p>
          <a:p>
            <a:r>
              <a:t>接下来一个很自然的问题:会不会孟加拉语、希腊语只是翻译得差,模型丢了语义、退回刻板印象?我们直接验证了。对每条提示,我们把它翻回英文、量它变了多少。如果是烂翻译导致的,最偏的语言应该变化最大。但结果相反:最偏的希腊语、孟加拉语翻译最忠实;不偏的印地语、俄语反而最差。所以语言效应是模型的真实行为,不是翻译问题。这正是评委会问的检查,我们提前做了。</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a:t>
            </a:r>
          </a:p>
          <a:p>
            <a:r>
              <a:t>We also added two new ways to measure the bias, beyond the simple error rate. The first is the flip rate: for the same image pair, does the model change its answer when we only change the language? The second is the stable-bias rate: does the model pick the wrong, stereotypical image in all seven languages at once? The key finding is that wealth has the highest stable-bias rate in both models. This means wealth is not just biased on average — the model picks the wrong image for wealth in every single language. It is stably biased, not flip-flopping. So the bias is deep and consistent, not random noise.</a:t>
            </a:r>
          </a:p>
          <a:p/>
          <a:p>
            <a:r>
              <a:t>中文 —</a:t>
            </a:r>
          </a:p>
          <a:p>
            <a:r>
              <a:t>我们还加了两个新的度量方式,不只看简单的错误率。第一个是翻转率:对同一对图,只换语言时模型会不会改答案?第二个是稳定偏见率:模型是不是在全部七种语言里都选了那张错的、刻板印象的图?关键发现是:财富在两个模型里的稳定偏见率都最高。这说明财富不只是平均偏——模型在每一种语言里都为财富选错图。它是稳定地偏,不是来回翻。所以这个偏见是深层、一致的,不是随机噪声。</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a:t>
            </a:r>
          </a:p>
          <a:p>
            <a:r>
              <a:t>Here is a deeper check. In this dataset, the wrong image is always changed along one visual feature — its count, its color, its size, or its layout. So a fair worry is: maybe the model is not reacting to the stereotype at all, only to a low-level difference like color. We tested this by splitting the error rate by which feature was changed. The result is reassuring. Color is the LOWEST, around 0.40 — the opposite of a color artifact; if it were just color, color would be the highest. The bias is highest when the changed feature is hard to perceive, like count or size — things vision models are known to be bad at. So the model falls back on the stereotype exactly when it cannot read the fine detail. And wealth still beats morality inside every feature, so the attribute effect is not hidden in one feature.</a:t>
            </a:r>
          </a:p>
          <a:p/>
          <a:p>
            <a:r>
              <a:t>中文 —</a:t>
            </a:r>
          </a:p>
          <a:p>
            <a:r>
              <a:t>这是一个更深的检查。在这个数据集里,错误的那张图总是在某一个视觉维度上被改动——数量、颜色、大小或布局。所以一个合理的担心是:模型会不会根本不是在反应刻板印象,而只是反应颜色这种低级差异?我们按"改了哪个维度"把错误率拆开。结果让人放心:颜色最低(约 0.40),这跟"颜色伪影"正好相反——如果只是颜色,颜色该最高。偏见在"难以感知"的维度上最高,比如数量、大小——这正是视觉模型出名的弱项。所以模型恰恰在"读不出细节"时退回刻板印象。而且财富在每个维度内部都高于道德,说明属性效应不是藏在某一个维度里。</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a:t>
            </a:r>
          </a:p>
          <a:p>
            <a:r>
              <a:t>Another deep check: do the two models make mistakes on the same image pairs, or different ones? Both models judged the same nine hundred pairs. Their per-item error rates are strongly correlated — the correlation is 0.68. So the same specific image pairs trap both model families. This tells us the stereotype trap is mostly a property of the image pair itself — an objective property of the data — not a private quirk of one model. The correlation is not perfect, so about half is still model-specific, but the main signal is shared. This is strong support that we are measuring something real in the data, not in one model.</a:t>
            </a:r>
          </a:p>
          <a:p/>
          <a:p>
            <a:r>
              <a:t>中文 —</a:t>
            </a:r>
          </a:p>
          <a:p>
            <a:r>
              <a:t>另一个深挖:两个模型是在同一批图对上犯错,还是不同的?两个模型判断的是同样的 900 对图。它们的逐项错误率高度相关——相关系数 0.68。所以同一批具体图对会同时坑住两个模型家族。这说明刻板印象陷阱主要是图对本身的属性、是数据的客观属性,而不是某个模型的私人怪癖。相关不是完美的,所以约一半仍是模型特异的,但主信号是共享的。这有力地支持了:我们测的是数据里真实存在的东西,而不是某个模型里的东西。</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a:t>
            </a:r>
          </a:p>
          <a:p>
            <a:r>
              <a:t>Let me put everything into one simple picture. The bias works like a fallback with two factors. The first factor is the attribute: a visual stereotype exists for wealth and status, but not for being moral or smart. This decides whether there is a shortcut to take at all, and it is the same in both models. The second factor is how weak the signal is: the model takes the shortcut more when the visual cue is hard to see, OR when the language is one it does not know well. These are two routes to the same behavior. In one sentence: the attribute decides whether a shortcut exists, and the weakness of the signal decides how much the model uses it.</a:t>
            </a:r>
          </a:p>
          <a:p/>
          <a:p>
            <a:r>
              <a:t>中文 —</a:t>
            </a:r>
          </a:p>
          <a:p>
            <a:r>
              <a:t>让我把所有东西收成一张简单的图。这个偏见像一个"回退",由两个因子决定。第一个因子是属性:财富和地位有视觉刻板印象,但"有道德""聪明"没有。它决定到底有没有捷径可走,而且在两个模型里一样。第二个因子是信号有多弱:当视觉线索难看清、或语言是模型不熟悉的时候,模型就更会走捷径。这是通向同一种行为的两条路径。一句话:属性决定有没有捷径,信号的弱度决定模型用它用得多狠。</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a:t>
            </a:r>
          </a:p>
          <a:p>
            <a:r>
              <a:t>We should be honest about the limits. We used one random seed and one translation tool. The changed visual feature is mixed together with the stereotype by design, so we cannot fully separate them. Some groups are small — wealth has only about thirty items per language — so those numbers are less certain. We could not run the 32-billion model; it was too slow on our GPUs. And we do not yet know WHY these specific languages — Arabic, Bengali, Greek — are the biased ones; it is not a clean low-to-high resource line, because Russian is also non-Latin but shows no effect.</a:t>
            </a:r>
          </a:p>
          <a:p/>
          <a:p>
            <a:r>
              <a:t>中文 —</a:t>
            </a:r>
          </a:p>
          <a:p>
            <a:r>
              <a:t>我们要诚实地说局限。只用了一个随机种子、一个翻译工具。被改的视觉维度在设计上和刻板印象混在一起,没法完全分开。有些组样本很小——财富每种语言只有约 30 条——所以那里的数字不太确定。我们没能跑 320 亿参数的模型,在我们的 GPU 上太慢。而且我们还不知道为什么偏偏是阿拉伯语、孟加拉语、希腊语;它不是一条干净的"资源从低到高"的线,因为俄语也是非拉丁字母却没有效应。</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a:t>
            </a:r>
          </a:p>
          <a:p>
            <a:r>
              <a:t>For next steps we have four. First, add the big 32-billion model using a smaller 4-bit version, to see if the bias gets weaker as the model gets larger. Second, add more model families like Gemma and LLaVA, to see how general the language effect is. Third, run shortcut-severing tests: remove the stereotype cue and see if the correct answers survive — this checks whether the model really understands or just guesses. Fourth, find out what drives the language effect — is it the language's resource level, its script, or its culture.</a:t>
            </a:r>
          </a:p>
          <a:p/>
          <a:p>
            <a:r>
              <a:t>中文 —</a:t>
            </a:r>
          </a:p>
          <a:p>
            <a:r>
              <a:t>下一步有四件事。第一,用 4-bit 的小版本把 320 亿的大模型加进来,看偏见是否随模型变大而减弱。第二,加更多模型家族,比如 Gemma、LLaVA,看语言效应有多普遍。第三,做"切断捷径"的实验:把刻板印象线索去掉,看正确答案还在不在——检验模型是真懂还是在猜。第四,搞清楚什么在驱动语言效应——是语言的资源量、字系,还是文化。</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a:t>
            </a:r>
          </a:p>
          <a:p>
            <a:r>
              <a:t>To sum up: we built and ran the first multilingual, multi-model version of ProtoBias — seven languages and two model families. The two results both hold across families: the bias is attribute-specific, and it is modulated by language. The code is all on GitHub. Thank you, and I am happy to take questions.</a:t>
            </a:r>
          </a:p>
          <a:p/>
          <a:p>
            <a:r>
              <a:t>中文 —</a:t>
            </a:r>
          </a:p>
          <a:p>
            <a:r>
              <a:t>总结一下:我们搭建并跑通了首个多语言、多模型版本的 ProtoBias——七种语言、两个模型家族。两个结果都跨家族成立:偏见是属性特异的,并且受语言调制。代码都在 GitHub 上。谢谢,欢迎提问。</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(backup — pull up if asked for exact numbers) —</a:t>
            </a:r>
          </a:p>
          <a:p>
            <a:r>
              <a:t>This table puts both models side by side: overall error rate, the attribute and language test p-values, the wealth odds ratio, the Greek and Bengali odds ratios, the stable-bias rate, and the flip rate. The headline: the attribute p-values are tiny in both models, and the language p-values are small in both — so both effects replicate.</a:t>
            </a:r>
          </a:p>
          <a:p/>
          <a:p>
            <a:r>
              <a:t>中文(备份——要确切数字时调出)—</a:t>
            </a:r>
          </a:p>
          <a:p>
            <a:r>
              <a:t>这张表把两个模型并排:总体错误率、属性和语言检验的 p 值、财富优势比、希腊语和孟加拉语优势比、稳定偏见率、翻转率。重点:属性 p 值在两个模型里都极小,语言 p 值也都小——两个效应都复现。</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(backup — why the second model) —</a:t>
            </a:r>
          </a:p>
          <a:p>
            <a:r>
              <a:t>The main reason is to rule out that the finding is just a Qwen quirk; an independent second family tests whether it generalizes. We picked InternVL3-8B for four reasons: it is a different family from a different lab; it is about the same size as Qwen, so size is controlled; it is a strong, standard baseline used in papers; and it fit our pipeline because it handles multiple images and loads with the standard tools.</a:t>
            </a:r>
          </a:p>
          <a:p/>
          <a:p>
            <a:r>
              <a:t>中文(备份——为什么选第二个模型)—</a:t>
            </a:r>
          </a:p>
          <a:p>
            <a:r>
              <a:t>主要原因是排除"这只是 Qwen 的怪癖";一个独立的第二家族能检验它是否普遍。选 InternVL3-8B 有四个理由:来自另一个实验室的不同家族;和 Qwen 体量相当,控制了规模;是论文常用的强基线;支持多图、能用标准工具加载,适配我们的流程。</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(backup — the statistics) —</a:t>
            </a:r>
          </a:p>
          <a:p>
            <a:r>
              <a:t>We used a logistic regression because the outcome is yes/no (did it pick the stereotype); its coefficients become odds ratios. We made it "mixed-effects" by giving each image pair its own baseline, because the same pair appears in seven languages, so those seven are not independent. To test a whole factor like language, we use a likelihood-ratio test: fit the model with and without that factor and check if it fits significantly better, giving one p-value per factor. The table: attribute is very strong, language is significant, no interaction.</a:t>
            </a:r>
          </a:p>
          <a:p/>
          <a:p>
            <a:r>
              <a:t>中文(备份——统计方法)—</a:t>
            </a:r>
          </a:p>
          <a:p>
            <a:r>
              <a:t>我们用逻辑回归,因为结果是是/否(有没有选刻板印象那张),系数转成优势比。做成"混合效应"是给每对图自己的基线,因为同一对图出现在七种语言里,这七个不独立。要检验"语言"这样一整个因素,用似然比检验:拟合带和不带该因素的两个模型,看带上后是否显著更好,每个因素一个 p 值。表里:属性非常强,语言显著,无交互。</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(backup — the translation check) —</a:t>
            </a:r>
          </a:p>
          <a:p>
            <a:r>
              <a:t>We take the English prompt, translate it into, say, Greek (this is what the model sees), then translate that Greek back into English, and compare the two English versions. If they are close, the translation kept the meaning; we score closeness with a simple word-overlap measure. The key result again: the most-biased languages have the closest back-translations — so the bias is not from bad translation.</a:t>
            </a:r>
          </a:p>
          <a:p/>
          <a:p>
            <a:r>
              <a:t>中文(备份——翻译检查)—</a:t>
            </a:r>
          </a:p>
          <a:p>
            <a:r>
              <a:t>拿英文提示,翻成比如希腊语(模型看到的就是它),再把希腊语翻回英文,比较前后两个英文版本。接近就说明翻译保住了意思;接近程度用一个简单的词重叠分数量。关键结果还是那句:最偏的语言回译最接近——所以偏见不是来自烂翻译。</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(backup — exact metric definitions) —</a:t>
            </a:r>
          </a:p>
          <a:p>
            <a:r>
              <a:t>For each image pair, look at its answers across all its languages. Wrong in all of them = stable bias. Right in all of them = stable correct. Mixed = a flip. These three add up to one. The important point: these are measured per image-pair across languages, not per single judgment — which is why the average error rate can look flat while many items are actually flipping underneath.</a:t>
            </a:r>
          </a:p>
          <a:p/>
          <a:p>
            <a:r>
              <a:t>中文(备份——指标精确定义)—</a:t>
            </a:r>
          </a:p>
          <a:p>
            <a:r>
              <a:t>对每对图,看它在所有语言下的答案。全错 = 稳定偏见;全对 = 稳定正确;有对有错 = 翻转。三者加起来等于一。重点:它们是"按图对、跨语言"量的,不是"按单次判断"量的——这就是为什么平均错误率看着平,底下其实很多图对在翻转。</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(interactive backup) —</a:t>
            </a:r>
          </a:p>
          <a:p>
            <a:r>
              <a:t>These three slides act as one panel: the buttons at the bottom are clickable in slideshow mode. Click "InternVL" or "Both" to switch which model's chart is shown — use this if someone doubts the result holds across models, and switch live in front of them. Navigate with the buttons, not the arrow keys.</a:t>
            </a:r>
          </a:p>
          <a:p/>
          <a:p>
            <a:r>
              <a:t>中文(交互备份)—</a:t>
            </a:r>
          </a:p>
          <a:p>
            <a:r>
              <a:t>这三页其实是一个面板:底部按钮在放映模式下可点。点 "InternVL" 或 "Both" 切换显示哪个模型的图——有人怀疑结果跨模型是否成立时,当场切给他看。用按钮导航,别用方向键。</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 Same panel, now showing InternVL3. Click "Qwen-7B" or "Both" to switch.</a:t>
            </a:r>
          </a:p>
          <a:p>
            <a:r>
              <a:t>中文 — 同一面板,现在显示 InternVL3。点 "Qwen-7B" 或 "Both" 切换。</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 Same panel, showing both models overlaid. Click a button to switch back.</a:t>
            </a:r>
          </a:p>
          <a:p>
            <a:r>
              <a:t>中文 — 同一面板,两个模型叠加显示。点按钮切回。</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6.png"/><Relationship Id="rId4" Type="http://schemas.openxmlformats.org/officeDocument/2006/relationships/slide" Target="slide25.xml"/><Relationship Id="rId5" Type="http://schemas.openxmlformats.org/officeDocument/2006/relationships/slide" Target="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7.png"/><Relationship Id="rId4" Type="http://schemas.openxmlformats.org/officeDocument/2006/relationships/slide" Target="slide24.xml"/><Relationship Id="rId5" Type="http://schemas.openxmlformats.org/officeDocument/2006/relationships/slide" Target="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png"/><Relationship Id="rId4" Type="http://schemas.openxmlformats.org/officeDocument/2006/relationships/slide" Target="slide24.xml"/><Relationship Id="rId5" Type="http://schemas.openxmlformats.org/officeDocument/2006/relationships/slide" Target="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a:effectLst/>
      </p:bgPr>
    </p:bg>
    <p:spTree>
      <p:nvGrpSpPr>
        <p:cNvPr id="1" name=""/>
        <p:cNvGrpSpPr/>
        <p:nvPr/>
      </p:nvGrpSpPr>
      <p:grpSpPr>
        <a:xfrm>
          <a:off x="0" y="0"/>
          <a:ext cx="0" cy="0"/>
          <a:chOff x="0" y="0"/>
          <a:chExt cx="0" cy="0"/>
        </a:xfrm>
      </p:grpSpPr>
      <p:sp>
        <p:nvSpPr>
          <p:cNvPr id="2" name="Shape 0"/>
          <p:cNvSpPr/>
          <p:nvPr/>
        </p:nvSpPr>
        <p:spPr>
          <a:xfrm>
            <a:off x="685800" y="1554480"/>
            <a:ext cx="109728" cy="109728"/>
          </a:xfrm>
          <a:prstGeom prst="ellipse">
            <a:avLst/>
          </a:prstGeom>
          <a:solidFill>
            <a:srgbClr val="C44E52"/>
          </a:solidFill>
          <a:ln/>
        </p:spPr>
        <p:txBody>
          <a:bodyPr/>
          <a:lstStyle/>
          <a:p>
            <a:endParaRPr lang="zh-CN" altLang="en-US"/>
          </a:p>
        </p:txBody>
      </p:sp>
      <p:sp>
        <p:nvSpPr>
          <p:cNvPr id="3" name="Shape 1"/>
          <p:cNvSpPr/>
          <p:nvPr/>
        </p:nvSpPr>
        <p:spPr>
          <a:xfrm>
            <a:off x="886968" y="1554480"/>
            <a:ext cx="109728" cy="109728"/>
          </a:xfrm>
          <a:prstGeom prst="ellipse">
            <a:avLst/>
          </a:prstGeom>
          <a:solidFill>
            <a:srgbClr val="4C72B0"/>
          </a:solidFill>
          <a:ln/>
        </p:spPr>
        <p:txBody>
          <a:bodyPr/>
          <a:lstStyle/>
          <a:p>
            <a:endParaRPr lang="zh-CN" altLang="en-US"/>
          </a:p>
        </p:txBody>
      </p:sp>
      <p:sp>
        <p:nvSpPr>
          <p:cNvPr id="4" name="Shape 2"/>
          <p:cNvSpPr/>
          <p:nvPr/>
        </p:nvSpPr>
        <p:spPr>
          <a:xfrm>
            <a:off x="1088136" y="1554480"/>
            <a:ext cx="109728" cy="109728"/>
          </a:xfrm>
          <a:prstGeom prst="ellipse">
            <a:avLst/>
          </a:prstGeom>
          <a:solidFill>
            <a:srgbClr val="55A868"/>
          </a:solidFill>
          <a:ln/>
        </p:spPr>
        <p:txBody>
          <a:bodyPr/>
          <a:lstStyle/>
          <a:p>
            <a:endParaRPr lang="zh-CN" altLang="en-US"/>
          </a:p>
        </p:txBody>
      </p:sp>
      <p:sp>
        <p:nvSpPr>
          <p:cNvPr id="5" name="Text 3"/>
          <p:cNvSpPr/>
          <p:nvPr/>
        </p:nvSpPr>
        <p:spPr>
          <a:xfrm>
            <a:off x="685800" y="1874520"/>
            <a:ext cx="10058400" cy="365760"/>
          </a:xfrm>
          <a:prstGeom prst="rect">
            <a:avLst/>
          </a:prstGeom>
          <a:noFill/>
          <a:ln/>
        </p:spPr>
        <p:txBody>
          <a:bodyPr wrap="square" lIns="0" tIns="0" rIns="0" bIns="0" rtlCol="0" anchor="ctr"/>
          <a:lstStyle/>
          <a:p>
            <a:pPr marL="0" indent="0">
              <a:buNone/>
            </a:pPr>
            <a:r>
              <a:rPr lang="en-US" sz="1400" b="1" kern="0" spc="400" dirty="0">
                <a:solidFill>
                  <a:srgbClr val="C9D2EC"/>
                </a:solidFill>
                <a:latin typeface="Calibri" pitchFamily="34" charset="0"/>
                <a:ea typeface="Calibri" pitchFamily="34" charset="-122"/>
                <a:cs typeface="Calibri" pitchFamily="34" charset="-120"/>
              </a:rPr>
              <a:t>PROGRESS REPORT II</a:t>
            </a:r>
            <a:endParaRPr lang="en-US" sz="1400" dirty="0"/>
          </a:p>
        </p:txBody>
      </p:sp>
      <p:sp>
        <p:nvSpPr>
          <p:cNvPr id="6" name="Text 4"/>
          <p:cNvSpPr/>
          <p:nvPr/>
        </p:nvSpPr>
        <p:spPr>
          <a:xfrm>
            <a:off x="685800" y="2286000"/>
            <a:ext cx="10607040" cy="1737360"/>
          </a:xfrm>
          <a:prstGeom prst="rect">
            <a:avLst/>
          </a:prstGeom>
          <a:noFill/>
          <a:ln/>
        </p:spPr>
        <p:txBody>
          <a:bodyPr wrap="square" lIns="0" tIns="0" rIns="0" bIns="0" rtlCol="0" anchor="ctr"/>
          <a:lstStyle/>
          <a:p>
            <a:pPr marL="0" indent="0">
              <a:lnSpc>
                <a:spcPts val="5000"/>
              </a:lnSpc>
              <a:buNone/>
            </a:pPr>
            <a:r>
              <a:rPr lang="en-US" sz="4400" b="1" dirty="0">
                <a:solidFill>
                  <a:srgbClr val="FFFFFF"/>
                </a:solidFill>
                <a:latin typeface="Georgia" pitchFamily="34" charset="0"/>
                <a:ea typeface="Georgia" pitchFamily="34" charset="-122"/>
                <a:cs typeface="Georgia" pitchFamily="34" charset="-120"/>
              </a:rPr>
              <a:t>Cross-lingual Prototypicality Bias</a:t>
            </a:r>
            <a:endParaRPr lang="en-US" sz="4400" dirty="0"/>
          </a:p>
          <a:p>
            <a:pPr marL="0" indent="0">
              <a:lnSpc>
                <a:spcPts val="5000"/>
              </a:lnSpc>
              <a:buNone/>
            </a:pPr>
            <a:r>
              <a:rPr lang="en-US" sz="4400" b="1" dirty="0">
                <a:solidFill>
                  <a:srgbClr val="FFFFFF"/>
                </a:solidFill>
                <a:latin typeface="Georgia" pitchFamily="34" charset="0"/>
                <a:ea typeface="Georgia" pitchFamily="34" charset="-122"/>
                <a:cs typeface="Georgia" pitchFamily="34" charset="-120"/>
              </a:rPr>
              <a:t>in Vision-Language Models</a:t>
            </a:r>
            <a:endParaRPr lang="en-US" sz="4400" dirty="0"/>
          </a:p>
        </p:txBody>
      </p:sp>
      <p:sp>
        <p:nvSpPr>
          <p:cNvPr id="7" name="Text 5"/>
          <p:cNvSpPr/>
          <p:nvPr/>
        </p:nvSpPr>
        <p:spPr>
          <a:xfrm>
            <a:off x="685800" y="4160520"/>
            <a:ext cx="9875520" cy="640080"/>
          </a:xfrm>
          <a:prstGeom prst="rect">
            <a:avLst/>
          </a:prstGeom>
          <a:noFill/>
          <a:ln/>
        </p:spPr>
        <p:txBody>
          <a:bodyPr wrap="square" lIns="0" tIns="0" rIns="0" bIns="0" rtlCol="0" anchor="ctr"/>
          <a:lstStyle/>
          <a:p>
            <a:pPr marL="0" indent="0">
              <a:buNone/>
            </a:pPr>
            <a:r>
              <a:rPr lang="en-US" sz="1800" i="1" dirty="0">
                <a:solidFill>
                  <a:srgbClr val="C9D2EC"/>
                </a:solidFill>
                <a:latin typeface="Georgia" pitchFamily="34" charset="0"/>
                <a:ea typeface="Georgia" pitchFamily="34" charset="-122"/>
                <a:cs typeface="Georgia" pitchFamily="34" charset="-120"/>
              </a:rPr>
              <a:t>Does a vision-language model track meaning — or lean on language- and culture-specific prototypes?</a:t>
            </a:r>
            <a:endParaRPr lang="en-US" sz="1800" dirty="0"/>
          </a:p>
        </p:txBody>
      </p:sp>
      <p:sp>
        <p:nvSpPr>
          <p:cNvPr id="8" name="Text 6"/>
          <p:cNvSpPr/>
          <p:nvPr/>
        </p:nvSpPr>
        <p:spPr>
          <a:xfrm>
            <a:off x="685800" y="5715000"/>
            <a:ext cx="10789920" cy="7315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Xiaochuan Li · Rishav Chandra</a:t>
            </a:r>
            <a:endParaRPr lang="en-US" sz="1300" dirty="0"/>
          </a:p>
          <a:p>
            <a:pPr marL="0" indent="0">
              <a:buNone/>
            </a:pPr>
            <a:r>
              <a:rPr lang="en-US" sz="1300" dirty="0">
                <a:solidFill>
                  <a:srgbClr val="9AA0B0"/>
                </a:solidFill>
                <a:latin typeface="Calibri" pitchFamily="34" charset="0"/>
                <a:ea typeface="Calibri" pitchFamily="34" charset="-122"/>
                <a:cs typeface="Calibri" pitchFamily="34" charset="-120"/>
              </a:rPr>
              <a:t>Mentor: Subhadeep Roy   ·   Extending ProtoBias (Roy, Bhatia &amp; Eger 2026)   ·   June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Prototypicality bias: judging by looks, not meaning</a:t>
            </a:r>
            <a:endParaRPr lang="en-US" sz="3200" dirty="0"/>
          </a:p>
        </p:txBody>
      </p:sp>
      <p:sp>
        <p:nvSpPr>
          <p:cNvPr id="4" name="Text 2"/>
          <p:cNvSpPr/>
          <p:nvPr/>
        </p:nvSpPr>
        <p:spPr>
          <a:xfrm>
            <a:off x="685800" y="1965960"/>
            <a:ext cx="5943600" cy="42062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Automatic metrics and VLMs increasingly replace humans for image–text evaluation.</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Failure mode: they reward the image that looks typical — even when it is wrong for the prompt.</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ProtoBias pairs a semantically-correct but atypical image with a prototypical but wrong one.</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A judge that prefers the typical-but-wrong image is riding a shortcut, not the meaning.</a:t>
            </a:r>
            <a:endParaRPr lang="en-US" sz="1750" dirty="0"/>
          </a:p>
        </p:txBody>
      </p:sp>
      <p:pic>
        <p:nvPicPr>
          <p:cNvPr id="5" name="Image 0" descr="/Users/xiaochuan/Desktop/Projects/P5_Multi_linguistic_histoBias/v1/paper/assets/protobias_examples_animals_objects.png"/>
          <p:cNvPicPr>
            <a:picLocks noChangeAspect="1"/>
          </p:cNvPicPr>
          <p:nvPr/>
        </p:nvPicPr>
        <p:blipFill>
          <a:blip r:embed="rId3"/>
          <a:stretch>
            <a:fillRect/>
          </a:stretch>
        </p:blipFill>
        <p:spPr>
          <a:xfrm>
            <a:off x="6720840" y="2514600"/>
            <a:ext cx="4983480" cy="2416819"/>
          </a:xfrm>
          <a:prstGeom prst="rect">
            <a:avLst/>
          </a:prstGeom>
        </p:spPr>
      </p:pic>
      <p:sp>
        <p:nvSpPr>
          <p:cNvPr id="6" name="Text 3"/>
          <p:cNvSpPr/>
          <p:nvPr/>
        </p:nvSpPr>
        <p:spPr>
          <a:xfrm>
            <a:off x="6720840" y="5074920"/>
            <a:ext cx="4983480" cy="274320"/>
          </a:xfrm>
          <a:prstGeom prst="rect">
            <a:avLst/>
          </a:prstGeom>
          <a:noFill/>
          <a:ln/>
        </p:spPr>
        <p:txBody>
          <a:bodyPr wrap="square" lIns="0" tIns="0" rIns="0" bIns="0" rtlCol="0" anchor="ctr"/>
          <a:lstStyle/>
          <a:p>
            <a:pPr marL="0" indent="0" algn="ctr">
              <a:buNone/>
            </a:pPr>
            <a:r>
              <a:rPr lang="en-US" sz="1050" i="1" dirty="0">
                <a:solidFill>
                  <a:srgbClr val="9AA0B0"/>
                </a:solidFill>
                <a:latin typeface="Calibri" pitchFamily="34" charset="0"/>
                <a:ea typeface="Calibri" pitchFamily="34" charset="-122"/>
                <a:cs typeface="Calibri" pitchFamily="34" charset="-120"/>
              </a:rPr>
              <a:t>Correct-but-atypical (left) vs prototypical-but-wrong (right).</a:t>
            </a:r>
            <a:endParaRPr lang="en-US" sz="1050" dirty="0"/>
          </a:p>
        </p:txBody>
      </p:sp>
      <p:sp>
        <p:nvSpPr>
          <p:cNvPr id="7" name="Text 4"/>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OUR EXTENSION</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Does the bias depend on the language you ask in?</a:t>
            </a:r>
            <a:endParaRPr lang="en-US" sz="3200" dirty="0"/>
          </a:p>
        </p:txBody>
      </p:sp>
      <p:sp>
        <p:nvSpPr>
          <p:cNvPr id="4" name="Text 2"/>
          <p:cNvSpPr/>
          <p:nvPr/>
        </p:nvSpPr>
        <p:spPr>
          <a:xfrm>
            <a:off x="685800" y="1965960"/>
            <a:ext cx="6126480" cy="42062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ProtoBias is English-only and studies evaluation metrics.</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Our turn: translate only the prompt, hold the image pair fixed.</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If the verdict moves with language, the model is importing language-specific expectations.</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RQ1 — is the bias consistent across languages?   RQ2 — worse in socially sensitive domains?</a:t>
            </a:r>
            <a:endParaRPr lang="en-US" sz="1750" dirty="0"/>
          </a:p>
        </p:txBody>
      </p:sp>
      <p:sp>
        <p:nvSpPr>
          <p:cNvPr id="5" name="Shape 3"/>
          <p:cNvSpPr/>
          <p:nvPr/>
        </p:nvSpPr>
        <p:spPr>
          <a:xfrm>
            <a:off x="7040880" y="2286000"/>
            <a:ext cx="4480560" cy="777240"/>
          </a:xfrm>
          <a:prstGeom prst="roundRect">
            <a:avLst>
              <a:gd name="adj" fmla="val 9412"/>
            </a:avLst>
          </a:prstGeom>
          <a:solidFill>
            <a:srgbClr val="F5F6FA"/>
          </a:solidFill>
          <a:ln w="12700">
            <a:solidFill>
              <a:srgbClr val="E4E6EF"/>
            </a:solidFill>
            <a:prstDash val="solid"/>
          </a:ln>
        </p:spPr>
        <p:txBody>
          <a:bodyPr/>
          <a:lstStyle/>
          <a:p>
            <a:endParaRPr lang="zh-CN" altLang="en-US"/>
          </a:p>
        </p:txBody>
      </p:sp>
      <p:sp>
        <p:nvSpPr>
          <p:cNvPr id="6" name="Text 4"/>
          <p:cNvSpPr/>
          <p:nvPr/>
        </p:nvSpPr>
        <p:spPr>
          <a:xfrm>
            <a:off x="7040880" y="2286000"/>
            <a:ext cx="4480560" cy="777240"/>
          </a:xfrm>
          <a:prstGeom prst="rect">
            <a:avLst/>
          </a:prstGeom>
          <a:noFill/>
          <a:ln/>
        </p:spPr>
        <p:txBody>
          <a:bodyPr wrap="square" lIns="25400" tIns="25400" rIns="25400" bIns="25400" rtlCol="0" anchor="ctr"/>
          <a:lstStyle/>
          <a:p>
            <a:pPr marL="0" indent="0" algn="ctr">
              <a:buNone/>
            </a:pPr>
            <a:r>
              <a:rPr lang="en-US" sz="1250" b="1" dirty="0">
                <a:solidFill>
                  <a:srgbClr val="23262F"/>
                </a:solidFill>
                <a:latin typeface="Calibri" pitchFamily="34" charset="0"/>
                <a:ea typeface="Calibri" pitchFamily="34" charset="-122"/>
                <a:cs typeface="Calibri" pitchFamily="34" charset="-120"/>
              </a:rPr>
              <a:t>image pair  +  prompt in language L</a:t>
            </a:r>
            <a:endParaRPr lang="en-US" sz="1250" dirty="0"/>
          </a:p>
        </p:txBody>
      </p:sp>
      <p:sp>
        <p:nvSpPr>
          <p:cNvPr id="7" name="Shape 5"/>
          <p:cNvSpPr/>
          <p:nvPr/>
        </p:nvSpPr>
        <p:spPr>
          <a:xfrm>
            <a:off x="9281160" y="3063240"/>
            <a:ext cx="0" cy="457200"/>
          </a:xfrm>
          <a:prstGeom prst="line">
            <a:avLst/>
          </a:prstGeom>
          <a:noFill/>
          <a:ln w="25400">
            <a:solidFill>
              <a:srgbClr val="C44E52"/>
            </a:solidFill>
            <a:prstDash val="solid"/>
            <a:tailEnd type="triangle"/>
          </a:ln>
        </p:spPr>
        <p:txBody>
          <a:bodyPr/>
          <a:lstStyle/>
          <a:p>
            <a:endParaRPr lang="zh-CN" altLang="en-US"/>
          </a:p>
        </p:txBody>
      </p:sp>
      <p:sp>
        <p:nvSpPr>
          <p:cNvPr id="8" name="Shape 6"/>
          <p:cNvSpPr/>
          <p:nvPr/>
        </p:nvSpPr>
        <p:spPr>
          <a:xfrm>
            <a:off x="7680960" y="3611880"/>
            <a:ext cx="3200400" cy="777240"/>
          </a:xfrm>
          <a:prstGeom prst="roundRect">
            <a:avLst>
              <a:gd name="adj" fmla="val 9412"/>
            </a:avLst>
          </a:prstGeom>
          <a:solidFill>
            <a:srgbClr val="1B1F3B"/>
          </a:solidFill>
          <a:ln w="12700">
            <a:solidFill>
              <a:srgbClr val="E4E6EF"/>
            </a:solidFill>
            <a:prstDash val="solid"/>
          </a:ln>
        </p:spPr>
        <p:txBody>
          <a:bodyPr/>
          <a:lstStyle/>
          <a:p>
            <a:endParaRPr lang="zh-CN" altLang="en-US"/>
          </a:p>
        </p:txBody>
      </p:sp>
      <p:sp>
        <p:nvSpPr>
          <p:cNvPr id="9" name="Text 7"/>
          <p:cNvSpPr/>
          <p:nvPr/>
        </p:nvSpPr>
        <p:spPr>
          <a:xfrm>
            <a:off x="7680960" y="3611880"/>
            <a:ext cx="3200400" cy="777240"/>
          </a:xfrm>
          <a:prstGeom prst="rect">
            <a:avLst/>
          </a:prstGeom>
          <a:noFill/>
          <a:ln/>
        </p:spPr>
        <p:txBody>
          <a:bodyPr wrap="square" lIns="25400" tIns="25400" rIns="25400" bIns="2540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VLM judge</a:t>
            </a:r>
            <a:endParaRPr lang="en-US" sz="1250" dirty="0"/>
          </a:p>
        </p:txBody>
      </p:sp>
      <p:sp>
        <p:nvSpPr>
          <p:cNvPr id="10" name="Shape 8"/>
          <p:cNvSpPr/>
          <p:nvPr/>
        </p:nvSpPr>
        <p:spPr>
          <a:xfrm>
            <a:off x="9281160" y="4389120"/>
            <a:ext cx="0" cy="457200"/>
          </a:xfrm>
          <a:prstGeom prst="line">
            <a:avLst/>
          </a:prstGeom>
          <a:noFill/>
          <a:ln w="25400">
            <a:solidFill>
              <a:srgbClr val="C44E52"/>
            </a:solidFill>
            <a:prstDash val="solid"/>
            <a:tailEnd type="triangle"/>
          </a:ln>
        </p:spPr>
        <p:txBody>
          <a:bodyPr/>
          <a:lstStyle/>
          <a:p>
            <a:endParaRPr lang="zh-CN" altLang="en-US"/>
          </a:p>
        </p:txBody>
      </p:sp>
      <p:sp>
        <p:nvSpPr>
          <p:cNvPr id="11" name="Shape 9"/>
          <p:cNvSpPr/>
          <p:nvPr/>
        </p:nvSpPr>
        <p:spPr>
          <a:xfrm>
            <a:off x="7040880" y="4937760"/>
            <a:ext cx="4480560" cy="777240"/>
          </a:xfrm>
          <a:prstGeom prst="roundRect">
            <a:avLst>
              <a:gd name="adj" fmla="val 9412"/>
            </a:avLst>
          </a:prstGeom>
          <a:solidFill>
            <a:srgbClr val="F5F6FA"/>
          </a:solidFill>
          <a:ln w="12700">
            <a:solidFill>
              <a:srgbClr val="E4E6EF"/>
            </a:solidFill>
            <a:prstDash val="solid"/>
          </a:ln>
        </p:spPr>
        <p:txBody>
          <a:bodyPr/>
          <a:lstStyle/>
          <a:p>
            <a:endParaRPr lang="zh-CN" altLang="en-US"/>
          </a:p>
        </p:txBody>
      </p:sp>
      <p:sp>
        <p:nvSpPr>
          <p:cNvPr id="12" name="Text 10"/>
          <p:cNvSpPr/>
          <p:nvPr/>
        </p:nvSpPr>
        <p:spPr>
          <a:xfrm>
            <a:off x="7040880" y="4937760"/>
            <a:ext cx="4480560" cy="777240"/>
          </a:xfrm>
          <a:prstGeom prst="rect">
            <a:avLst/>
          </a:prstGeom>
          <a:noFill/>
          <a:ln/>
        </p:spPr>
        <p:txBody>
          <a:bodyPr wrap="square" lIns="25400" tIns="25400" rIns="25400" bIns="25400" rtlCol="0" anchor="ctr"/>
          <a:lstStyle/>
          <a:p>
            <a:pPr marL="0" indent="0" algn="ctr">
              <a:buNone/>
            </a:pPr>
            <a:r>
              <a:rPr lang="en-US" sz="1250" b="1" dirty="0">
                <a:solidFill>
                  <a:srgbClr val="23262F"/>
                </a:solidFill>
                <a:latin typeface="Calibri" pitchFamily="34" charset="0"/>
                <a:ea typeface="Calibri" pitchFamily="34" charset="-122"/>
                <a:cs typeface="Calibri" pitchFamily="34" charset="-120"/>
              </a:rPr>
              <a:t>picks image 1 or 2  →  error rate</a:t>
            </a:r>
            <a:endParaRPr lang="en-US" sz="1250" dirty="0"/>
          </a:p>
        </p:txBody>
      </p:sp>
      <p:sp>
        <p:nvSpPr>
          <p:cNvPr id="13" name="Text 11"/>
          <p:cNvSpPr/>
          <p:nvPr/>
        </p:nvSpPr>
        <p:spPr>
          <a:xfrm>
            <a:off x="7040880" y="5806440"/>
            <a:ext cx="4480560" cy="274320"/>
          </a:xfrm>
          <a:prstGeom prst="rect">
            <a:avLst/>
          </a:prstGeom>
          <a:noFill/>
          <a:ln/>
        </p:spPr>
        <p:txBody>
          <a:bodyPr wrap="square" lIns="0" tIns="0" rIns="0" bIns="0" rtlCol="0" anchor="ctr"/>
          <a:lstStyle/>
          <a:p>
            <a:pPr marL="0" indent="0" algn="ctr">
              <a:buNone/>
            </a:pPr>
            <a:r>
              <a:rPr lang="en-US" sz="1050" i="1" dirty="0">
                <a:solidFill>
                  <a:srgbClr val="9AA0B0"/>
                </a:solidFill>
                <a:latin typeface="Calibri" pitchFamily="34" charset="0"/>
                <a:ea typeface="Calibri" pitchFamily="34" charset="-122"/>
                <a:cs typeface="Calibri" pitchFamily="34" charset="-120"/>
              </a:rPr>
              <a:t>Same images, language swapped — a controlled cross-lingual probe.</a:t>
            </a:r>
            <a:endParaRPr lang="en-US" sz="1050" dirty="0"/>
          </a:p>
        </p:txBody>
      </p:sp>
      <p:sp>
        <p:nvSpPr>
          <p:cNvPr id="14" name="Text 12"/>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RELATED WORK · NEW SINCE REPORT 1</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Where this sits — bias structure &amp; multilingual bias</a:t>
            </a:r>
            <a:endParaRPr lang="en-US" sz="3200" dirty="0"/>
          </a:p>
        </p:txBody>
      </p:sp>
      <p:sp>
        <p:nvSpPr>
          <p:cNvPr id="4" name="Shape 2"/>
          <p:cNvSpPr/>
          <p:nvPr/>
        </p:nvSpPr>
        <p:spPr>
          <a:xfrm>
            <a:off x="685800" y="2057400"/>
            <a:ext cx="5349240" cy="1783080"/>
          </a:xfrm>
          <a:prstGeom prst="rect">
            <a:avLst/>
          </a:prstGeom>
          <a:solidFill>
            <a:srgbClr val="F5F6FA"/>
          </a:solidFill>
          <a:ln w="12700">
            <a:solidFill>
              <a:srgbClr val="E4E6EF"/>
            </a:solidFill>
            <a:prstDash val="solid"/>
          </a:ln>
        </p:spPr>
        <p:txBody>
          <a:bodyPr/>
          <a:lstStyle/>
          <a:p>
            <a:endParaRPr lang="zh-CN" altLang="en-US"/>
          </a:p>
        </p:txBody>
      </p:sp>
      <p:sp>
        <p:nvSpPr>
          <p:cNvPr id="5" name="Shape 3"/>
          <p:cNvSpPr/>
          <p:nvPr/>
        </p:nvSpPr>
        <p:spPr>
          <a:xfrm>
            <a:off x="685800" y="2057400"/>
            <a:ext cx="82296" cy="1783080"/>
          </a:xfrm>
          <a:prstGeom prst="rect">
            <a:avLst/>
          </a:prstGeom>
          <a:solidFill>
            <a:srgbClr val="C44E52"/>
          </a:solidFill>
          <a:ln/>
        </p:spPr>
        <p:txBody>
          <a:bodyPr/>
          <a:lstStyle/>
          <a:p>
            <a:endParaRPr lang="zh-CN" altLang="en-US"/>
          </a:p>
        </p:txBody>
      </p:sp>
      <p:sp>
        <p:nvSpPr>
          <p:cNvPr id="6" name="Text 4"/>
          <p:cNvSpPr/>
          <p:nvPr/>
        </p:nvSpPr>
        <p:spPr>
          <a:xfrm>
            <a:off x="941832" y="2221992"/>
            <a:ext cx="4892040" cy="256032"/>
          </a:xfrm>
          <a:prstGeom prst="rect">
            <a:avLst/>
          </a:prstGeom>
          <a:noFill/>
          <a:ln/>
        </p:spPr>
        <p:txBody>
          <a:bodyPr wrap="square" lIns="0" tIns="0" rIns="0" bIns="0" rtlCol="0" anchor="ctr"/>
          <a:lstStyle/>
          <a:p>
            <a:pPr marL="0" indent="0">
              <a:buNone/>
            </a:pPr>
            <a:r>
              <a:rPr lang="en-US" sz="1050" b="1" kern="0" spc="200" dirty="0">
                <a:solidFill>
                  <a:srgbClr val="C44E52"/>
                </a:solidFill>
                <a:latin typeface="Calibri" pitchFamily="34" charset="0"/>
                <a:ea typeface="Calibri" pitchFamily="34" charset="-122"/>
                <a:cs typeface="Calibri" pitchFamily="34" charset="-120"/>
              </a:rPr>
              <a:t>FACCT 2025</a:t>
            </a:r>
            <a:endParaRPr lang="en-US" sz="1050" dirty="0"/>
          </a:p>
        </p:txBody>
      </p:sp>
      <p:sp>
        <p:nvSpPr>
          <p:cNvPr id="7" name="Text 5"/>
          <p:cNvSpPr/>
          <p:nvPr/>
        </p:nvSpPr>
        <p:spPr>
          <a:xfrm>
            <a:off x="941832" y="2514600"/>
            <a:ext cx="4892040" cy="548640"/>
          </a:xfrm>
          <a:prstGeom prst="rect">
            <a:avLst/>
          </a:prstGeom>
          <a:noFill/>
          <a:ln/>
        </p:spPr>
        <p:txBody>
          <a:bodyPr wrap="square" lIns="0" tIns="0" rIns="0" bIns="0" rtlCol="0" anchor="ctr"/>
          <a:lstStyle/>
          <a:p>
            <a:pPr marL="0" indent="0">
              <a:buNone/>
            </a:pPr>
            <a:r>
              <a:rPr lang="en-US" sz="1400" b="1" dirty="0">
                <a:solidFill>
                  <a:srgbClr val="23262F"/>
                </a:solidFill>
                <a:latin typeface="Georgia" pitchFamily="34" charset="0"/>
                <a:ea typeface="Georgia" pitchFamily="34" charset="-122"/>
                <a:cs typeface="Georgia" pitchFamily="34" charset="-120"/>
              </a:rPr>
              <a:t>Hausladen et al. — Social Perception of Faces in a VLM</a:t>
            </a:r>
            <a:endParaRPr lang="en-US" sz="1400" dirty="0"/>
          </a:p>
        </p:txBody>
      </p:sp>
      <p:sp>
        <p:nvSpPr>
          <p:cNvPr id="8" name="Text 6"/>
          <p:cNvSpPr/>
          <p:nvPr/>
        </p:nvSpPr>
        <p:spPr>
          <a:xfrm>
            <a:off x="941832" y="3044952"/>
            <a:ext cx="4892040" cy="685800"/>
          </a:xfrm>
          <a:prstGeom prst="rect">
            <a:avLst/>
          </a:prstGeom>
          <a:noFill/>
          <a:ln/>
        </p:spPr>
        <p:txBody>
          <a:bodyPr wrap="square" lIns="0" tIns="0" rIns="0" bIns="0" rtlCol="0" anchor="ctr"/>
          <a:lstStyle/>
          <a:p>
            <a:pPr marL="0" indent="0">
              <a:buNone/>
            </a:pPr>
            <a:r>
              <a:rPr lang="en-US" sz="1200" dirty="0">
                <a:solidFill>
                  <a:srgbClr val="5A6072"/>
                </a:solidFill>
                <a:latin typeface="Calibri" pitchFamily="34" charset="0"/>
                <a:ea typeface="Calibri" pitchFamily="34" charset="-122"/>
                <a:cs typeface="Calibri" pitchFamily="34" charset="-120"/>
              </a:rPr>
              <a:t>Bias concentrates unevenly across social-trait dimensions — parallels our attribute-specific result.</a:t>
            </a:r>
            <a:endParaRPr lang="en-US" sz="1200" dirty="0"/>
          </a:p>
        </p:txBody>
      </p:sp>
      <p:sp>
        <p:nvSpPr>
          <p:cNvPr id="9" name="Shape 7"/>
          <p:cNvSpPr/>
          <p:nvPr/>
        </p:nvSpPr>
        <p:spPr>
          <a:xfrm>
            <a:off x="6355080" y="2057400"/>
            <a:ext cx="5349240" cy="1783080"/>
          </a:xfrm>
          <a:prstGeom prst="rect">
            <a:avLst/>
          </a:prstGeom>
          <a:solidFill>
            <a:srgbClr val="F5F6FA"/>
          </a:solidFill>
          <a:ln w="12700">
            <a:solidFill>
              <a:srgbClr val="E4E6EF"/>
            </a:solidFill>
            <a:prstDash val="solid"/>
          </a:ln>
        </p:spPr>
        <p:txBody>
          <a:bodyPr/>
          <a:lstStyle/>
          <a:p>
            <a:endParaRPr lang="zh-CN" altLang="en-US"/>
          </a:p>
        </p:txBody>
      </p:sp>
      <p:sp>
        <p:nvSpPr>
          <p:cNvPr id="10" name="Shape 8"/>
          <p:cNvSpPr/>
          <p:nvPr/>
        </p:nvSpPr>
        <p:spPr>
          <a:xfrm>
            <a:off x="6355080" y="2057400"/>
            <a:ext cx="82296" cy="1783080"/>
          </a:xfrm>
          <a:prstGeom prst="rect">
            <a:avLst/>
          </a:prstGeom>
          <a:solidFill>
            <a:srgbClr val="4C72B0"/>
          </a:solidFill>
          <a:ln/>
        </p:spPr>
        <p:txBody>
          <a:bodyPr/>
          <a:lstStyle/>
          <a:p>
            <a:endParaRPr lang="zh-CN" altLang="en-US"/>
          </a:p>
        </p:txBody>
      </p:sp>
      <p:sp>
        <p:nvSpPr>
          <p:cNvPr id="11" name="Text 9"/>
          <p:cNvSpPr/>
          <p:nvPr/>
        </p:nvSpPr>
        <p:spPr>
          <a:xfrm>
            <a:off x="6611112" y="2221992"/>
            <a:ext cx="4892040" cy="256032"/>
          </a:xfrm>
          <a:prstGeom prst="rect">
            <a:avLst/>
          </a:prstGeom>
          <a:noFill/>
          <a:ln/>
        </p:spPr>
        <p:txBody>
          <a:bodyPr wrap="square" lIns="0" tIns="0" rIns="0" bIns="0" rtlCol="0" anchor="ctr"/>
          <a:lstStyle/>
          <a:p>
            <a:pPr marL="0" indent="0">
              <a:buNone/>
            </a:pPr>
            <a:r>
              <a:rPr lang="en-US" sz="1050" b="1" kern="0" spc="200" dirty="0">
                <a:solidFill>
                  <a:srgbClr val="4C72B0"/>
                </a:solidFill>
                <a:latin typeface="Calibri" pitchFamily="34" charset="0"/>
                <a:ea typeface="Calibri" pitchFamily="34" charset="-122"/>
                <a:cs typeface="Calibri" pitchFamily="34" charset="-120"/>
              </a:rPr>
              <a:t>AACL 2025</a:t>
            </a:r>
            <a:endParaRPr lang="en-US" sz="1050" dirty="0"/>
          </a:p>
        </p:txBody>
      </p:sp>
      <p:sp>
        <p:nvSpPr>
          <p:cNvPr id="12" name="Text 10"/>
          <p:cNvSpPr/>
          <p:nvPr/>
        </p:nvSpPr>
        <p:spPr>
          <a:xfrm>
            <a:off x="6611112" y="2514600"/>
            <a:ext cx="4892040" cy="548640"/>
          </a:xfrm>
          <a:prstGeom prst="rect">
            <a:avLst/>
          </a:prstGeom>
          <a:noFill/>
          <a:ln/>
        </p:spPr>
        <p:txBody>
          <a:bodyPr wrap="square" lIns="0" tIns="0" rIns="0" bIns="0" rtlCol="0" anchor="ctr"/>
          <a:lstStyle/>
          <a:p>
            <a:pPr marL="0" indent="0">
              <a:buNone/>
            </a:pPr>
            <a:r>
              <a:rPr lang="en-US" sz="1400" b="1" dirty="0">
                <a:solidFill>
                  <a:srgbClr val="23262F"/>
                </a:solidFill>
                <a:latin typeface="Georgia" pitchFamily="34" charset="0"/>
                <a:ea typeface="Georgia" pitchFamily="34" charset="-122"/>
                <a:cs typeface="Georgia" pitchFamily="34" charset="-120"/>
              </a:rPr>
              <a:t>Al Sahili et al. — Breaking Language Barriers or Reinforcing Bias?</a:t>
            </a:r>
            <a:endParaRPr lang="en-US" sz="1400" dirty="0"/>
          </a:p>
        </p:txBody>
      </p:sp>
      <p:sp>
        <p:nvSpPr>
          <p:cNvPr id="13" name="Text 11"/>
          <p:cNvSpPr/>
          <p:nvPr/>
        </p:nvSpPr>
        <p:spPr>
          <a:xfrm>
            <a:off x="6611112" y="3044952"/>
            <a:ext cx="4892040" cy="685800"/>
          </a:xfrm>
          <a:prstGeom prst="rect">
            <a:avLst/>
          </a:prstGeom>
          <a:noFill/>
          <a:ln/>
        </p:spPr>
        <p:txBody>
          <a:bodyPr wrap="square" lIns="0" tIns="0" rIns="0" bIns="0" rtlCol="0" anchor="ctr"/>
          <a:lstStyle/>
          <a:p>
            <a:pPr marL="0" indent="0">
              <a:buNone/>
            </a:pPr>
            <a:r>
              <a:rPr lang="en-US" sz="1200" dirty="0">
                <a:solidFill>
                  <a:srgbClr val="5A6072"/>
                </a:solidFill>
                <a:latin typeface="Calibri" pitchFamily="34" charset="0"/>
                <a:ea typeface="Calibri" pitchFamily="34" charset="-122"/>
                <a:cs typeface="Calibri" pitchFamily="34" charset="-120"/>
              </a:rPr>
              <a:t>Multilingual VLMs are more biased than English, worst in low-resource languages — the closest mirror.</a:t>
            </a:r>
            <a:endParaRPr lang="en-US" sz="1200" dirty="0"/>
          </a:p>
        </p:txBody>
      </p:sp>
      <p:sp>
        <p:nvSpPr>
          <p:cNvPr id="14" name="Shape 12"/>
          <p:cNvSpPr/>
          <p:nvPr/>
        </p:nvSpPr>
        <p:spPr>
          <a:xfrm>
            <a:off x="685800" y="4114800"/>
            <a:ext cx="5349240" cy="1783080"/>
          </a:xfrm>
          <a:prstGeom prst="rect">
            <a:avLst/>
          </a:prstGeom>
          <a:solidFill>
            <a:srgbClr val="F5F6FA"/>
          </a:solidFill>
          <a:ln w="12700">
            <a:solidFill>
              <a:srgbClr val="E4E6EF"/>
            </a:solidFill>
            <a:prstDash val="solid"/>
          </a:ln>
        </p:spPr>
        <p:txBody>
          <a:bodyPr/>
          <a:lstStyle/>
          <a:p>
            <a:endParaRPr lang="zh-CN" altLang="en-US"/>
          </a:p>
        </p:txBody>
      </p:sp>
      <p:sp>
        <p:nvSpPr>
          <p:cNvPr id="15" name="Shape 13"/>
          <p:cNvSpPr/>
          <p:nvPr/>
        </p:nvSpPr>
        <p:spPr>
          <a:xfrm>
            <a:off x="685800" y="4114800"/>
            <a:ext cx="82296" cy="1783080"/>
          </a:xfrm>
          <a:prstGeom prst="rect">
            <a:avLst/>
          </a:prstGeom>
          <a:solidFill>
            <a:srgbClr val="4C72B0"/>
          </a:solidFill>
          <a:ln/>
        </p:spPr>
        <p:txBody>
          <a:bodyPr/>
          <a:lstStyle/>
          <a:p>
            <a:endParaRPr lang="zh-CN" altLang="en-US"/>
          </a:p>
        </p:txBody>
      </p:sp>
      <p:sp>
        <p:nvSpPr>
          <p:cNvPr id="16" name="Text 14"/>
          <p:cNvSpPr/>
          <p:nvPr/>
        </p:nvSpPr>
        <p:spPr>
          <a:xfrm>
            <a:off x="941832" y="4279392"/>
            <a:ext cx="4892040" cy="256032"/>
          </a:xfrm>
          <a:prstGeom prst="rect">
            <a:avLst/>
          </a:prstGeom>
          <a:noFill/>
          <a:ln/>
        </p:spPr>
        <p:txBody>
          <a:bodyPr wrap="square" lIns="0" tIns="0" rIns="0" bIns="0" rtlCol="0" anchor="ctr"/>
          <a:lstStyle/>
          <a:p>
            <a:pPr marL="0" indent="0">
              <a:buNone/>
            </a:pPr>
            <a:r>
              <a:rPr lang="en-US" sz="1050" b="1" kern="0" spc="200" dirty="0">
                <a:solidFill>
                  <a:srgbClr val="4C72B0"/>
                </a:solidFill>
                <a:latin typeface="Calibri" pitchFamily="34" charset="0"/>
                <a:ea typeface="Calibri" pitchFamily="34" charset="-122"/>
                <a:cs typeface="Calibri" pitchFamily="34" charset="-120"/>
              </a:rPr>
              <a:t>COLM 2024</a:t>
            </a:r>
            <a:endParaRPr lang="en-US" sz="1050" dirty="0"/>
          </a:p>
        </p:txBody>
      </p:sp>
      <p:sp>
        <p:nvSpPr>
          <p:cNvPr id="17" name="Text 15"/>
          <p:cNvSpPr/>
          <p:nvPr/>
        </p:nvSpPr>
        <p:spPr>
          <a:xfrm>
            <a:off x="941832" y="4572000"/>
            <a:ext cx="4892040" cy="548640"/>
          </a:xfrm>
          <a:prstGeom prst="rect">
            <a:avLst/>
          </a:prstGeom>
          <a:noFill/>
          <a:ln/>
        </p:spPr>
        <p:txBody>
          <a:bodyPr wrap="square" lIns="0" tIns="0" rIns="0" bIns="0" rtlCol="0" anchor="ctr"/>
          <a:lstStyle/>
          <a:p>
            <a:pPr marL="0" indent="0">
              <a:buNone/>
            </a:pPr>
            <a:r>
              <a:rPr lang="en-US" sz="1400" b="1" dirty="0">
                <a:solidFill>
                  <a:srgbClr val="23262F"/>
                </a:solidFill>
                <a:latin typeface="Georgia" pitchFamily="34" charset="0"/>
                <a:ea typeface="Georgia" pitchFamily="34" charset="-122"/>
                <a:cs typeface="Georgia" pitchFamily="34" charset="-120"/>
              </a:rPr>
              <a:t>Neplenbroek et al. — MBBQ</a:t>
            </a:r>
            <a:endParaRPr lang="en-US" sz="1400" dirty="0"/>
          </a:p>
        </p:txBody>
      </p:sp>
      <p:sp>
        <p:nvSpPr>
          <p:cNvPr id="18" name="Text 16"/>
          <p:cNvSpPr/>
          <p:nvPr/>
        </p:nvSpPr>
        <p:spPr>
          <a:xfrm>
            <a:off x="941832" y="5102352"/>
            <a:ext cx="4892040" cy="685800"/>
          </a:xfrm>
          <a:prstGeom prst="rect">
            <a:avLst/>
          </a:prstGeom>
          <a:noFill/>
          <a:ln/>
        </p:spPr>
        <p:txBody>
          <a:bodyPr wrap="square" lIns="0" tIns="0" rIns="0" bIns="0" rtlCol="0" anchor="ctr"/>
          <a:lstStyle/>
          <a:p>
            <a:pPr marL="0" indent="0">
              <a:buNone/>
            </a:pPr>
            <a:r>
              <a:rPr lang="en-US" sz="1200" dirty="0">
                <a:solidFill>
                  <a:srgbClr val="5A6072"/>
                </a:solidFill>
                <a:latin typeface="Calibri" pitchFamily="34" charset="0"/>
                <a:ea typeface="Calibri" pitchFamily="34" charset="-122"/>
                <a:cs typeface="Calibri" pitchFamily="34" charset="-120"/>
              </a:rPr>
              <a:t>Non-English stereotypes exceed English even controlling for culture; control parallels our back-translation check.</a:t>
            </a:r>
            <a:endParaRPr lang="en-US" sz="1200" dirty="0"/>
          </a:p>
        </p:txBody>
      </p:sp>
      <p:sp>
        <p:nvSpPr>
          <p:cNvPr id="19" name="Shape 17"/>
          <p:cNvSpPr/>
          <p:nvPr/>
        </p:nvSpPr>
        <p:spPr>
          <a:xfrm>
            <a:off x="6355080" y="4114800"/>
            <a:ext cx="5349240" cy="1783080"/>
          </a:xfrm>
          <a:prstGeom prst="rect">
            <a:avLst/>
          </a:prstGeom>
          <a:solidFill>
            <a:srgbClr val="F5F6FA"/>
          </a:solidFill>
          <a:ln w="12700">
            <a:solidFill>
              <a:srgbClr val="E4E6EF"/>
            </a:solidFill>
            <a:prstDash val="solid"/>
          </a:ln>
        </p:spPr>
        <p:txBody>
          <a:bodyPr/>
          <a:lstStyle/>
          <a:p>
            <a:endParaRPr lang="zh-CN" altLang="en-US"/>
          </a:p>
        </p:txBody>
      </p:sp>
      <p:sp>
        <p:nvSpPr>
          <p:cNvPr id="20" name="Shape 18"/>
          <p:cNvSpPr/>
          <p:nvPr/>
        </p:nvSpPr>
        <p:spPr>
          <a:xfrm>
            <a:off x="6355080" y="4114800"/>
            <a:ext cx="82296" cy="1783080"/>
          </a:xfrm>
          <a:prstGeom prst="rect">
            <a:avLst/>
          </a:prstGeom>
          <a:solidFill>
            <a:srgbClr val="55A868"/>
          </a:solidFill>
          <a:ln/>
        </p:spPr>
        <p:txBody>
          <a:bodyPr/>
          <a:lstStyle/>
          <a:p>
            <a:endParaRPr lang="zh-CN" altLang="en-US"/>
          </a:p>
        </p:txBody>
      </p:sp>
      <p:sp>
        <p:nvSpPr>
          <p:cNvPr id="21" name="Text 19"/>
          <p:cNvSpPr/>
          <p:nvPr/>
        </p:nvSpPr>
        <p:spPr>
          <a:xfrm>
            <a:off x="6611112" y="4279392"/>
            <a:ext cx="4892040" cy="256032"/>
          </a:xfrm>
          <a:prstGeom prst="rect">
            <a:avLst/>
          </a:prstGeom>
          <a:noFill/>
          <a:ln/>
        </p:spPr>
        <p:txBody>
          <a:bodyPr wrap="square" lIns="0" tIns="0" rIns="0" bIns="0" rtlCol="0" anchor="ctr"/>
          <a:lstStyle/>
          <a:p>
            <a:pPr marL="0" indent="0">
              <a:buNone/>
            </a:pPr>
            <a:r>
              <a:rPr lang="en-US" sz="1050" b="1" kern="0" spc="200" dirty="0">
                <a:solidFill>
                  <a:srgbClr val="55A868"/>
                </a:solidFill>
                <a:latin typeface="Calibri" pitchFamily="34" charset="0"/>
                <a:ea typeface="Calibri" pitchFamily="34" charset="-122"/>
                <a:cs typeface="Calibri" pitchFamily="34" charset="-120"/>
              </a:rPr>
              <a:t>ACL 2025</a:t>
            </a:r>
            <a:endParaRPr lang="en-US" sz="1050" dirty="0"/>
          </a:p>
        </p:txBody>
      </p:sp>
      <p:sp>
        <p:nvSpPr>
          <p:cNvPr id="22" name="Text 20"/>
          <p:cNvSpPr/>
          <p:nvPr/>
        </p:nvSpPr>
        <p:spPr>
          <a:xfrm>
            <a:off x="6611112" y="4572000"/>
            <a:ext cx="4892040" cy="548640"/>
          </a:xfrm>
          <a:prstGeom prst="rect">
            <a:avLst/>
          </a:prstGeom>
          <a:noFill/>
          <a:ln/>
        </p:spPr>
        <p:txBody>
          <a:bodyPr wrap="square" lIns="0" tIns="0" rIns="0" bIns="0" rtlCol="0" anchor="ctr"/>
          <a:lstStyle/>
          <a:p>
            <a:pPr marL="0" indent="0">
              <a:buNone/>
            </a:pPr>
            <a:r>
              <a:rPr lang="en-US" sz="1400" b="1" dirty="0">
                <a:solidFill>
                  <a:srgbClr val="23262F"/>
                </a:solidFill>
                <a:latin typeface="Georgia" pitchFamily="34" charset="0"/>
                <a:ea typeface="Georgia" pitchFamily="34" charset="-122"/>
                <a:cs typeface="Georgia" pitchFamily="34" charset="-120"/>
              </a:rPr>
              <a:t>Friedrich et al. — MAGBIG</a:t>
            </a:r>
            <a:endParaRPr lang="en-US" sz="1400" dirty="0"/>
          </a:p>
        </p:txBody>
      </p:sp>
      <p:sp>
        <p:nvSpPr>
          <p:cNvPr id="23" name="Text 21"/>
          <p:cNvSpPr/>
          <p:nvPr/>
        </p:nvSpPr>
        <p:spPr>
          <a:xfrm>
            <a:off x="6611112" y="5102352"/>
            <a:ext cx="4892040" cy="685800"/>
          </a:xfrm>
          <a:prstGeom prst="rect">
            <a:avLst/>
          </a:prstGeom>
          <a:noFill/>
          <a:ln/>
        </p:spPr>
        <p:txBody>
          <a:bodyPr wrap="square" lIns="0" tIns="0" rIns="0" bIns="0" rtlCol="0" anchor="ctr"/>
          <a:lstStyle/>
          <a:p>
            <a:pPr marL="0" indent="0">
              <a:buNone/>
            </a:pPr>
            <a:r>
              <a:rPr lang="en-US" sz="1200" dirty="0">
                <a:solidFill>
                  <a:srgbClr val="5A6072"/>
                </a:solidFill>
                <a:latin typeface="Calibri" pitchFamily="34" charset="0"/>
                <a:ea typeface="Calibri" pitchFamily="34" charset="-122"/>
                <a:cs typeface="Calibri" pitchFamily="34" charset="-120"/>
              </a:rPr>
              <a:t>Cross-lingual bias variation in text-to-image generation — a contrasting modality.</a:t>
            </a:r>
            <a:endParaRPr lang="en-US" sz="1200" dirty="0"/>
          </a:p>
        </p:txBody>
      </p:sp>
      <p:sp>
        <p:nvSpPr>
          <p:cNvPr id="24" name="Text 22"/>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METHOD</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A 2-alternative forced choice</a:t>
            </a:r>
            <a:endParaRPr lang="en-US" sz="3200" dirty="0"/>
          </a:p>
        </p:txBody>
      </p:sp>
      <p:sp>
        <p:nvSpPr>
          <p:cNvPr id="4" name="Text 2"/>
          <p:cNvSpPr/>
          <p:nvPr/>
        </p:nvSpPr>
        <p:spPr>
          <a:xfrm>
            <a:off x="685800" y="1965960"/>
            <a:ext cx="6126480" cy="42062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Show two images: correct (atypical) vs prototypical (wrong).</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Ask in the target language which image matches; answer is a single digit (1 or 2).</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Left/right randomized so image position cannot be a confound.</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Metric = error rate = how often the judge picks the prototypical-but-wrong image.</a:t>
            </a:r>
            <a:endParaRPr lang="en-US" sz="1750" dirty="0"/>
          </a:p>
        </p:txBody>
      </p:sp>
      <p:sp>
        <p:nvSpPr>
          <p:cNvPr id="5" name="Shape 3"/>
          <p:cNvSpPr/>
          <p:nvPr/>
        </p:nvSpPr>
        <p:spPr>
          <a:xfrm>
            <a:off x="7315200" y="2286000"/>
            <a:ext cx="4023360" cy="2286000"/>
          </a:xfrm>
          <a:prstGeom prst="roundRect">
            <a:avLst>
              <a:gd name="adj" fmla="val 4000"/>
            </a:avLst>
          </a:prstGeom>
          <a:solidFill>
            <a:srgbClr val="1B1F3B"/>
          </a:solidFill>
          <a:ln/>
        </p:spPr>
        <p:txBody>
          <a:bodyPr/>
          <a:lstStyle/>
          <a:p>
            <a:endParaRPr lang="zh-CN" altLang="en-US"/>
          </a:p>
        </p:txBody>
      </p:sp>
      <p:sp>
        <p:nvSpPr>
          <p:cNvPr id="6" name="Text 4"/>
          <p:cNvSpPr/>
          <p:nvPr/>
        </p:nvSpPr>
        <p:spPr>
          <a:xfrm>
            <a:off x="7315200" y="2606040"/>
            <a:ext cx="4023360" cy="914400"/>
          </a:xfrm>
          <a:prstGeom prst="rect">
            <a:avLst/>
          </a:prstGeom>
          <a:noFill/>
          <a:ln/>
        </p:spPr>
        <p:txBody>
          <a:bodyPr wrap="square" lIns="0" tIns="0" rIns="0" bIns="0" rtlCol="0" anchor="ctr"/>
          <a:lstStyle/>
          <a:p>
            <a:pPr marL="0" indent="0" algn="ctr">
              <a:buNone/>
            </a:pPr>
            <a:r>
              <a:rPr lang="en-US" sz="5400" b="1" dirty="0">
                <a:solidFill>
                  <a:srgbClr val="FFFFFF"/>
                </a:solidFill>
                <a:latin typeface="Georgia" pitchFamily="34" charset="0"/>
                <a:ea typeface="Georgia" pitchFamily="34" charset="-122"/>
                <a:cs typeface="Georgia" pitchFamily="34" charset="-120"/>
              </a:rPr>
              <a:t>0.50</a:t>
            </a:r>
            <a:endParaRPr lang="en-US" sz="5400" dirty="0"/>
          </a:p>
        </p:txBody>
      </p:sp>
      <p:sp>
        <p:nvSpPr>
          <p:cNvPr id="7" name="Text 5"/>
          <p:cNvSpPr/>
          <p:nvPr/>
        </p:nvSpPr>
        <p:spPr>
          <a:xfrm>
            <a:off x="7315200" y="3566160"/>
            <a:ext cx="4023360" cy="365760"/>
          </a:xfrm>
          <a:prstGeom prst="rect">
            <a:avLst/>
          </a:prstGeom>
          <a:noFill/>
          <a:ln/>
        </p:spPr>
        <p:txBody>
          <a:bodyPr wrap="square" lIns="0" tIns="0" rIns="0" bIns="0" rtlCol="0" anchor="ctr"/>
          <a:lstStyle/>
          <a:p>
            <a:pPr marL="0" indent="0" algn="ctr">
              <a:buNone/>
            </a:pPr>
            <a:r>
              <a:rPr lang="en-US" sz="1500" dirty="0">
                <a:solidFill>
                  <a:srgbClr val="C9D2EC"/>
                </a:solidFill>
                <a:latin typeface="Calibri" pitchFamily="34" charset="0"/>
                <a:ea typeface="Calibri" pitchFamily="34" charset="-122"/>
                <a:cs typeface="Calibri" pitchFamily="34" charset="-120"/>
              </a:rPr>
              <a:t>= chance · no bias</a:t>
            </a:r>
            <a:endParaRPr lang="en-US" sz="1500" dirty="0"/>
          </a:p>
        </p:txBody>
      </p:sp>
      <p:sp>
        <p:nvSpPr>
          <p:cNvPr id="8" name="Text 6"/>
          <p:cNvSpPr/>
          <p:nvPr/>
        </p:nvSpPr>
        <p:spPr>
          <a:xfrm>
            <a:off x="7315200" y="3977640"/>
            <a:ext cx="4023360" cy="365760"/>
          </a:xfrm>
          <a:prstGeom prst="rect">
            <a:avLst/>
          </a:prstGeom>
          <a:noFill/>
          <a:ln/>
        </p:spPr>
        <p:txBody>
          <a:bodyPr wrap="square" lIns="0" tIns="0" rIns="0" bIns="0" rtlCol="0" anchor="ctr"/>
          <a:lstStyle/>
          <a:p>
            <a:pPr marL="0" indent="0" algn="ctr">
              <a:buNone/>
            </a:pPr>
            <a:r>
              <a:rPr lang="en-US" sz="1300" i="1" dirty="0">
                <a:solidFill>
                  <a:srgbClr val="C44E52"/>
                </a:solidFill>
                <a:latin typeface="Calibri" pitchFamily="34" charset="0"/>
                <a:ea typeface="Calibri" pitchFamily="34" charset="-122"/>
                <a:cs typeface="Calibri" pitchFamily="34" charset="-120"/>
              </a:rPr>
              <a:t>above 0.50  →  prototypicality bias</a:t>
            </a:r>
            <a:endParaRPr lang="en-US" sz="1300" dirty="0"/>
          </a:p>
        </p:txBody>
      </p:sp>
      <p:sp>
        <p:nvSpPr>
          <p:cNvPr id="9" name="Text 7"/>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WHAT'S NEW SINCE REPORT 1</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Acting on the feedback: more metrics, more models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85800" y="2103120"/>
          <a:ext cx="10835640" cy="3090672"/>
        </p:xfrm>
        <a:graphic>
          <a:graphicData uri="http://schemas.openxmlformats.org/drawingml/2006/table">
            <a:tbl>
              <a:tblPr/>
              <a:tblGrid>
                <a:gridCol w="237744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4343400">
                  <a:extLst>
                    <a:ext uri="{9D8B030D-6E8A-4147-A177-3AD203B41FA5}">
                      <a16:colId xmlns:a16="http://schemas.microsoft.com/office/drawing/2014/main" val="20002"/>
                    </a:ext>
                  </a:extLst>
                </a:gridCol>
              </a:tblGrid>
              <a:tr h="457200">
                <a:tc>
                  <a:txBody>
                    <a:bodyPr/>
                    <a:lstStyle/>
                    <a:p>
                      <a:pPr marL="0" indent="0" algn="l">
                        <a:buNone/>
                      </a:pPr>
                      <a:endParaRPr lang="en-US" sz="140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Report 1</a:t>
                      </a:r>
                      <a:endParaRPr lang="en-US" sz="140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Report 2  (now)</a:t>
                      </a:r>
                      <a:endParaRPr lang="en-US" sz="140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extLst>
                  <a:ext uri="{0D108BD9-81ED-4DB2-BD59-A6C34878D82A}">
                    <a16:rowId xmlns:a16="http://schemas.microsoft.com/office/drawing/2014/main" val="10000"/>
                  </a:ext>
                </a:extLst>
              </a:tr>
              <a:tr h="658368">
                <a:tc>
                  <a:txBody>
                    <a:bodyPr/>
                    <a:lstStyle/>
                    <a:p>
                      <a:pPr marL="0" indent="0">
                        <a:buNone/>
                      </a:pPr>
                      <a:r>
                        <a:rPr lang="en-US" sz="1350" b="1" dirty="0">
                          <a:solidFill>
                            <a:srgbClr val="23262F"/>
                          </a:solidFill>
                          <a:latin typeface="Calibri" pitchFamily="34" charset="0"/>
                          <a:ea typeface="Calibri" pitchFamily="34" charset="-122"/>
                          <a:cs typeface="Calibri" pitchFamily="34" charset="-120"/>
                        </a:rPr>
                        <a:t>Languages</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tc>
                  <a:txBody>
                    <a:bodyPr/>
                    <a:lstStyle/>
                    <a:p>
                      <a:pPr marL="0" indent="0">
                        <a:buNone/>
                      </a:pPr>
                      <a:r>
                        <a:rPr lang="en-US" sz="1350" dirty="0">
                          <a:solidFill>
                            <a:srgbClr val="5A6072"/>
                          </a:solidFill>
                          <a:latin typeface="Calibri" pitchFamily="34" charset="0"/>
                          <a:ea typeface="Calibri" pitchFamily="34" charset="-122"/>
                          <a:cs typeface="Calibri" pitchFamily="34" charset="-120"/>
                        </a:rPr>
                        <a:t>4  —  en · zh · ar · hi</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tc>
                  <a:txBody>
                    <a:bodyPr/>
                    <a:lstStyle/>
                    <a:p>
                      <a:pPr marL="0" indent="0">
                        <a:buNone/>
                      </a:pPr>
                      <a:r>
                        <a:rPr lang="en-US" sz="1350" b="1" dirty="0">
                          <a:solidFill>
                            <a:srgbClr val="C44E52"/>
                          </a:solidFill>
                          <a:latin typeface="Calibri" pitchFamily="34" charset="0"/>
                          <a:ea typeface="Calibri" pitchFamily="34" charset="-122"/>
                          <a:cs typeface="Calibri" pitchFamily="34" charset="-120"/>
                        </a:rPr>
                        <a:t>7  —  + Russian · Bengali · Greek</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350" b="1" dirty="0">
                          <a:solidFill>
                            <a:srgbClr val="23262F"/>
                          </a:solidFill>
                          <a:latin typeface="Calibri" pitchFamily="34" charset="0"/>
                          <a:ea typeface="Calibri" pitchFamily="34" charset="-122"/>
                          <a:cs typeface="Calibri" pitchFamily="34" charset="-120"/>
                        </a:rPr>
                        <a:t>Models</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tc>
                  <a:txBody>
                    <a:bodyPr/>
                    <a:lstStyle/>
                    <a:p>
                      <a:pPr marL="0" indent="0">
                        <a:buNone/>
                      </a:pPr>
                      <a:r>
                        <a:rPr lang="en-US" sz="1350" dirty="0">
                          <a:solidFill>
                            <a:srgbClr val="5A6072"/>
                          </a:solidFill>
                          <a:latin typeface="Calibri" pitchFamily="34" charset="0"/>
                          <a:ea typeface="Calibri" pitchFamily="34" charset="-122"/>
                          <a:cs typeface="Calibri" pitchFamily="34" charset="-120"/>
                        </a:rPr>
                        <a:t>1  —  Qwen2.5-VL-7B</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tc>
                  <a:txBody>
                    <a:bodyPr/>
                    <a:lstStyle/>
                    <a:p>
                      <a:pPr marL="0" indent="0">
                        <a:buNone/>
                      </a:pPr>
                      <a:r>
                        <a:rPr lang="en-US" sz="1350" b="1" dirty="0">
                          <a:solidFill>
                            <a:srgbClr val="C44E52"/>
                          </a:solidFill>
                          <a:latin typeface="Calibri" pitchFamily="34" charset="0"/>
                          <a:ea typeface="Calibri" pitchFamily="34" charset="-122"/>
                          <a:cs typeface="Calibri" pitchFamily="34" charset="-120"/>
                        </a:rPr>
                        <a:t>2 families  —  + InternVL3-8B</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350" b="1" dirty="0">
                          <a:solidFill>
                            <a:srgbClr val="23262F"/>
                          </a:solidFill>
                          <a:latin typeface="Calibri" pitchFamily="34" charset="0"/>
                          <a:ea typeface="Calibri" pitchFamily="34" charset="-122"/>
                          <a:cs typeface="Calibri" pitchFamily="34" charset="-120"/>
                        </a:rPr>
                        <a:t>Statistics</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tc>
                  <a:txBody>
                    <a:bodyPr/>
                    <a:lstStyle/>
                    <a:p>
                      <a:pPr marL="0" indent="0">
                        <a:buNone/>
                      </a:pPr>
                      <a:r>
                        <a:rPr lang="en-US" sz="1350" dirty="0">
                          <a:solidFill>
                            <a:srgbClr val="5A6072"/>
                          </a:solidFill>
                          <a:latin typeface="Calibri" pitchFamily="34" charset="0"/>
                          <a:ea typeface="Calibri" pitchFamily="34" charset="-122"/>
                          <a:cs typeface="Calibri" pitchFamily="34" charset="-120"/>
                        </a:rPr>
                        <a:t>point estimates</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tc>
                  <a:txBody>
                    <a:bodyPr/>
                    <a:lstStyle/>
                    <a:p>
                      <a:pPr marL="0" indent="0">
                        <a:buNone/>
                      </a:pPr>
                      <a:r>
                        <a:rPr lang="en-US" sz="1350" b="1" dirty="0">
                          <a:solidFill>
                            <a:srgbClr val="C44E52"/>
                          </a:solidFill>
                          <a:latin typeface="Calibri" pitchFamily="34" charset="0"/>
                          <a:ea typeface="Calibri" pitchFamily="34" charset="-122"/>
                          <a:cs typeface="Calibri" pitchFamily="34" charset="-120"/>
                        </a:rPr>
                        <a:t>mixed-effects regression + LRT</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350" b="1" dirty="0">
                          <a:solidFill>
                            <a:srgbClr val="23262F"/>
                          </a:solidFill>
                          <a:latin typeface="Calibri" pitchFamily="34" charset="0"/>
                          <a:ea typeface="Calibri" pitchFamily="34" charset="-122"/>
                          <a:cs typeface="Calibri" pitchFamily="34" charset="-120"/>
                        </a:rPr>
                        <a:t>Rigor checks</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tc>
                  <a:txBody>
                    <a:bodyPr/>
                    <a:lstStyle/>
                    <a:p>
                      <a:pPr marL="0" indent="0">
                        <a:buNone/>
                      </a:pPr>
                      <a:r>
                        <a:rPr lang="en-US" sz="1350" dirty="0">
                          <a:solidFill>
                            <a:srgbClr val="5A6072"/>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tc>
                  <a:txBody>
                    <a:bodyPr/>
                    <a:lstStyle/>
                    <a:p>
                      <a:pPr marL="0" indent="0">
                        <a:buNone/>
                      </a:pPr>
                      <a:r>
                        <a:rPr lang="en-US" sz="1350" b="1" dirty="0">
                          <a:solidFill>
                            <a:srgbClr val="C44E52"/>
                          </a:solidFill>
                          <a:latin typeface="Calibri" pitchFamily="34" charset="0"/>
                          <a:ea typeface="Calibri" pitchFamily="34" charset="-122"/>
                          <a:cs typeface="Calibri" pitchFamily="34" charset="-120"/>
                        </a:rPr>
                        <a:t>back-translation QA · flip / stable-bias rates</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2"/>
          <p:cNvSpPr/>
          <p:nvPr/>
        </p:nvSpPr>
        <p:spPr>
          <a:xfrm>
            <a:off x="685800" y="5943600"/>
            <a:ext cx="10820095" cy="457200"/>
          </a:xfrm>
          <a:prstGeom prst="rect">
            <a:avLst/>
          </a:prstGeom>
          <a:noFill/>
          <a:ln/>
        </p:spPr>
        <p:txBody>
          <a:bodyPr wrap="square" lIns="0" tIns="0" rIns="0" bIns="0" rtlCol="0" anchor="ctr"/>
          <a:lstStyle/>
          <a:p>
            <a:pPr marL="0" indent="0">
              <a:buNone/>
            </a:pPr>
            <a:r>
              <a:rPr lang="en-US" sz="1300" i="1" dirty="0">
                <a:solidFill>
                  <a:srgbClr val="5A6072"/>
                </a:solidFill>
                <a:latin typeface="Calibri" pitchFamily="34" charset="0"/>
                <a:ea typeface="Calibri" pitchFamily="34" charset="-122"/>
                <a:cs typeface="Calibri" pitchFamily="34" charset="-120"/>
              </a:rPr>
              <a:t>The two items the mentor flagged after Report 1 — additional metrics and additional models — are exactly the two new columns.</a:t>
            </a:r>
            <a:endParaRPr lang="en-US" sz="1300" dirty="0"/>
          </a:p>
        </p:txBody>
      </p:sp>
      <p:sp>
        <p:nvSpPr>
          <p:cNvPr id="6"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DATA &amp; SETUP</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ProtoBias across a resource × script design</a:t>
            </a:r>
            <a:endParaRPr lang="en-US" sz="3200" dirty="0"/>
          </a:p>
        </p:txBody>
      </p:sp>
      <p:sp>
        <p:nvSpPr>
          <p:cNvPr id="4" name="Text 2"/>
          <p:cNvSpPr/>
          <p:nvPr/>
        </p:nvSpPr>
        <p:spPr>
          <a:xfrm>
            <a:off x="685800" y="1965960"/>
            <a:ext cx="5943600" cy="42062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Domains: Animals / Objects (neutral) and Demography (socially sensitive).</a:t>
            </a:r>
            <a:endParaRPr lang="en-US" sz="1700" dirty="0"/>
          </a:p>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Demography rows carry a socio-attribute: Wealth · Power · Civility · Morality · Intellect.</a:t>
            </a:r>
            <a:endParaRPr lang="en-US" sz="1700" dirty="0"/>
          </a:p>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7 languages × 900 items × 2 models  ≈  12,500 judgments.</a:t>
            </a:r>
            <a:endParaRPr lang="en-US" sz="1700" dirty="0"/>
          </a:p>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Qwen2.5-VL-7B &amp; InternVL3-8B on NHR@FAU Alex A40 GPUs.</a:t>
            </a:r>
            <a:endParaRPr lang="en-US" sz="1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040880" y="2057400"/>
          <a:ext cx="4480560" cy="2852928"/>
        </p:xfrm>
        <a:graphic>
          <a:graphicData uri="http://schemas.openxmlformats.org/drawingml/2006/table">
            <a:tbl>
              <a:tblPr/>
              <a:tblGrid>
                <a:gridCol w="18288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7548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Language</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Script</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Resource</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extLst>
                  <a:ext uri="{0D108BD9-81ED-4DB2-BD59-A6C34878D82A}">
                    <a16:rowId xmlns:a16="http://schemas.microsoft.com/office/drawing/2014/main" val="10000"/>
                  </a:ext>
                </a:extLst>
              </a:tr>
              <a:tr h="475488">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English / Chinese</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Latin / Han</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Russian</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Cyrillic</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Arabic / Hindi</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Arabic / Devanagari</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mid</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buNone/>
                      </a:pPr>
                      <a:r>
                        <a:rPr lang="en-US" sz="1250" b="1" dirty="0">
                          <a:solidFill>
                            <a:srgbClr val="C44E52"/>
                          </a:solidFill>
                          <a:latin typeface="Calibri" pitchFamily="34" charset="0"/>
                          <a:ea typeface="Calibri" pitchFamily="34" charset="-122"/>
                          <a:cs typeface="Calibri" pitchFamily="34" charset="-120"/>
                        </a:rPr>
                        <a:t>Bengali</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b="1" dirty="0">
                          <a:solidFill>
                            <a:srgbClr val="C44E52"/>
                          </a:solidFill>
                          <a:latin typeface="Calibri" pitchFamily="34" charset="0"/>
                          <a:ea typeface="Calibri" pitchFamily="34" charset="-122"/>
                          <a:cs typeface="Calibri" pitchFamily="34" charset="-120"/>
                        </a:rPr>
                        <a:t>Bengali</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b="1" dirty="0">
                          <a:solidFill>
                            <a:srgbClr val="C44E52"/>
                          </a:solidFill>
                          <a:latin typeface="Calibri" pitchFamily="34" charset="0"/>
                          <a:ea typeface="Calibri" pitchFamily="34" charset="-122"/>
                          <a:cs typeface="Calibri" pitchFamily="34" charset="-120"/>
                        </a:rPr>
                        <a:t>low</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4"/>
                  </a:ext>
                </a:extLst>
              </a:tr>
              <a:tr h="475488">
                <a:tc>
                  <a:txBody>
                    <a:bodyPr/>
                    <a:lstStyle/>
                    <a:p>
                      <a:pPr marL="0" indent="0">
                        <a:buNone/>
                      </a:pPr>
                      <a:r>
                        <a:rPr lang="en-US" sz="1250" b="1" dirty="0">
                          <a:solidFill>
                            <a:srgbClr val="C44E52"/>
                          </a:solidFill>
                          <a:latin typeface="Calibri" pitchFamily="34" charset="0"/>
                          <a:ea typeface="Calibri" pitchFamily="34" charset="-122"/>
                          <a:cs typeface="Calibri" pitchFamily="34" charset="-120"/>
                        </a:rPr>
                        <a:t>Greek</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b="1" dirty="0">
                          <a:solidFill>
                            <a:srgbClr val="C44E52"/>
                          </a:solidFill>
                          <a:latin typeface="Calibri" pitchFamily="34" charset="0"/>
                          <a:ea typeface="Calibri" pitchFamily="34" charset="-122"/>
                          <a:cs typeface="Calibri" pitchFamily="34" charset="-120"/>
                        </a:rPr>
                        <a:t>Greek</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b="1" dirty="0">
                          <a:solidFill>
                            <a:srgbClr val="C44E52"/>
                          </a:solidFill>
                          <a:latin typeface="Calibri" pitchFamily="34" charset="0"/>
                          <a:ea typeface="Calibri" pitchFamily="34" charset="-122"/>
                          <a:cs typeface="Calibri" pitchFamily="34" charset="-120"/>
                        </a:rPr>
                        <a:t>mid · distinct</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RESULT 1</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The bias follows the attribute</a:t>
            </a:r>
            <a:endParaRPr lang="en-US" sz="3200" dirty="0"/>
          </a:p>
        </p:txBody>
      </p:sp>
      <p:sp>
        <p:nvSpPr>
          <p:cNvPr id="4" name="Text 2"/>
          <p:cNvSpPr/>
          <p:nvPr/>
        </p:nvSpPr>
        <p:spPr>
          <a:xfrm>
            <a:off x="685800" y="1965960"/>
            <a:ext cx="5212080" cy="42062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Demography's flat ~0.58 average hides a ~0.28 spread across attributes.</a:t>
            </a:r>
            <a:endParaRPr lang="en-US" sz="1700" dirty="0"/>
          </a:p>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Strong bias for social-status attributes — Wealth, Power.</a:t>
            </a:r>
            <a:endParaRPr lang="en-US" sz="1700" dirty="0"/>
          </a:p>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Near-chance for Morality and Intellect.</a:t>
            </a:r>
            <a:endParaRPr lang="en-US" sz="1700" dirty="0"/>
          </a:p>
        </p:txBody>
      </p:sp>
      <p:pic>
        <p:nvPicPr>
          <p:cNvPr id="5" name="Image 0" descr="/Users/xiaochuan/Desktop/Projects/P5_Multi_linguistic_histoBias/v3/experiments/exp3a_mixed_effects/figures/figA7_attribute_qwen7lang.png"/>
          <p:cNvPicPr>
            <a:picLocks noChangeAspect="1"/>
          </p:cNvPicPr>
          <p:nvPr/>
        </p:nvPicPr>
        <p:blipFill>
          <a:blip r:embed="rId3"/>
          <a:stretch>
            <a:fillRect/>
          </a:stretch>
        </p:blipFill>
        <p:spPr>
          <a:xfrm>
            <a:off x="6355080" y="2103120"/>
            <a:ext cx="5120640" cy="3151163"/>
          </a:xfrm>
          <a:prstGeom prst="rect">
            <a:avLst/>
          </a:prstGeom>
        </p:spPr>
      </p:pic>
      <p:sp>
        <p:nvSpPr>
          <p:cNvPr id="6" name="Text 3"/>
          <p:cNvSpPr/>
          <p:nvPr/>
        </p:nvSpPr>
        <p:spPr>
          <a:xfrm>
            <a:off x="6355080" y="5440680"/>
            <a:ext cx="5120640" cy="274320"/>
          </a:xfrm>
          <a:prstGeom prst="rect">
            <a:avLst/>
          </a:prstGeom>
          <a:noFill/>
          <a:ln/>
        </p:spPr>
        <p:txBody>
          <a:bodyPr wrap="square" lIns="0" tIns="0" rIns="0" bIns="0" rtlCol="0" anchor="ctr"/>
          <a:lstStyle/>
          <a:p>
            <a:pPr marL="0" indent="0" algn="ctr">
              <a:buNone/>
            </a:pPr>
            <a:r>
              <a:rPr lang="en-US" sz="1050" i="1" dirty="0">
                <a:solidFill>
                  <a:srgbClr val="9AA0B0"/>
                </a:solidFill>
                <a:latin typeface="Calibri" pitchFamily="34" charset="0"/>
                <a:ea typeface="Calibri" pitchFamily="34" charset="-122"/>
                <a:cs typeface="Calibri" pitchFamily="34" charset="-120"/>
              </a:rPr>
              <a:t>Prototypicality error rate by socio-attribute — Qwen2.5-VL-7B, all 7 languages.</a:t>
            </a:r>
            <a:endParaRPr lang="en-US" sz="1050" dirty="0"/>
          </a:p>
        </p:txBody>
      </p:sp>
      <p:sp>
        <p:nvSpPr>
          <p:cNvPr id="7" name="Text 4"/>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8</a:t>
            </a:r>
            <a:endParaRPr lang="en-US" sz="1000" dirty="0"/>
          </a:p>
        </p:txBody>
      </p:sp>
      <p:sp>
        <p:nvSpPr>
          <p:cNvPr id="9" name="文本框 8">
            <a:extLst>
              <a:ext uri="{FF2B5EF4-FFF2-40B4-BE49-F238E27FC236}">
                <a16:creationId xmlns:a16="http://schemas.microsoft.com/office/drawing/2014/main" id="{E2FC96ED-1CC7-DDEB-F125-DA95E6EC4AFB}"/>
              </a:ext>
            </a:extLst>
          </p:cNvPr>
          <p:cNvSpPr txBox="1"/>
          <p:nvPr/>
        </p:nvSpPr>
        <p:spPr>
          <a:xfrm>
            <a:off x="685800" y="4445921"/>
            <a:ext cx="5608322" cy="1064394"/>
          </a:xfrm>
          <a:prstGeom prst="rect">
            <a:avLst/>
          </a:prstGeom>
          <a:noFill/>
        </p:spPr>
        <p:txBody>
          <a:bodyPr wrap="square">
            <a:spAutoFit/>
          </a:bodyPr>
          <a:lstStyle/>
          <a:p>
            <a:pPr>
              <a:lnSpc>
                <a:spcPct val="100000"/>
              </a:lnSpc>
              <a:spcAft>
                <a:spcPts val="1100"/>
              </a:spcAft>
              <a:buSzPct val="100000"/>
            </a:pPr>
            <a:r>
              <a:rPr lang="en-US" altLang="zh-CN" sz="1800" b="1" dirty="0">
                <a:solidFill>
                  <a:schemeClr val="accent1">
                    <a:lumMod val="75000"/>
                  </a:schemeClr>
                </a:solidFill>
                <a:latin typeface="Calibri" pitchFamily="34" charset="0"/>
                <a:ea typeface="Calibri" pitchFamily="34" charset="-122"/>
                <a:cs typeface="Calibri" pitchFamily="34" charset="-120"/>
              </a:rPr>
              <a:t>Possible</a:t>
            </a:r>
            <a:r>
              <a:rPr lang="zh-CN" altLang="en-US" sz="1800" b="1" dirty="0">
                <a:solidFill>
                  <a:schemeClr val="accent1">
                    <a:lumMod val="75000"/>
                  </a:schemeClr>
                </a:solidFill>
                <a:latin typeface="Calibri" pitchFamily="34" charset="0"/>
                <a:ea typeface="Calibri" pitchFamily="34" charset="-122"/>
                <a:cs typeface="Calibri" pitchFamily="34" charset="-120"/>
              </a:rPr>
              <a:t> </a:t>
            </a:r>
            <a:r>
              <a:rPr lang="en-US" altLang="zh-CN" sz="1800" b="1" dirty="0">
                <a:solidFill>
                  <a:schemeClr val="accent1">
                    <a:lumMod val="75000"/>
                  </a:schemeClr>
                </a:solidFill>
                <a:latin typeface="Calibri" pitchFamily="34" charset="0"/>
                <a:ea typeface="Calibri" pitchFamily="34" charset="-122"/>
                <a:cs typeface="Calibri" pitchFamily="34" charset="-120"/>
              </a:rPr>
              <a:t>Explanation:</a:t>
            </a:r>
          </a:p>
          <a:p>
            <a:pPr>
              <a:lnSpc>
                <a:spcPct val="100000"/>
              </a:lnSpc>
              <a:spcAft>
                <a:spcPts val="1100"/>
              </a:spcAft>
              <a:buSzPct val="100000"/>
            </a:pPr>
            <a:r>
              <a:rPr lang="en-US" altLang="zh-CN" sz="1800" b="1" dirty="0">
                <a:solidFill>
                  <a:schemeClr val="accent1">
                    <a:lumMod val="75000"/>
                  </a:schemeClr>
                </a:solidFill>
                <a:latin typeface="Calibri" pitchFamily="34" charset="0"/>
                <a:ea typeface="Calibri" pitchFamily="34" charset="-122"/>
                <a:cs typeface="Calibri" pitchFamily="34" charset="-120"/>
              </a:rPr>
              <a:t>Web data encodes what “rich / powerful” looks like; there is no stable visual prototype for “moral” or “smart.”</a:t>
            </a:r>
            <a:endParaRPr lang="en-US" altLang="zh-CN" sz="1800" b="1" dirty="0">
              <a:solidFill>
                <a:schemeClr val="accent1">
                  <a:lumMod val="75000"/>
                </a:schemeClr>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RESULT 1 · REPLICATION</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…and it replicates across model families</a:t>
            </a:r>
            <a:endParaRPr lang="en-US" sz="3200" dirty="0"/>
          </a:p>
        </p:txBody>
      </p:sp>
      <p:pic>
        <p:nvPicPr>
          <p:cNvPr id="4" name="Image 0" descr="/Users/xiaochuan/Desktop/Projects/P5_Multi_linguistic_histoBias/v3/experiments/exp3a_mixed_effects/figures/figE_cross_model_OR.png"/>
          <p:cNvPicPr>
            <a:picLocks noChangeAspect="1"/>
          </p:cNvPicPr>
          <p:nvPr/>
        </p:nvPicPr>
        <p:blipFill>
          <a:blip r:embed="rId3"/>
          <a:stretch>
            <a:fillRect/>
          </a:stretch>
        </p:blipFill>
        <p:spPr>
          <a:xfrm>
            <a:off x="1984248" y="1783080"/>
            <a:ext cx="8229600" cy="3154312"/>
          </a:xfrm>
          <a:prstGeom prst="rect">
            <a:avLst/>
          </a:prstGeom>
        </p:spPr>
      </p:pic>
      <p:sp>
        <p:nvSpPr>
          <p:cNvPr id="5" name="Text 2"/>
          <p:cNvSpPr/>
          <p:nvPr/>
        </p:nvSpPr>
        <p:spPr>
          <a:xfrm>
            <a:off x="777240" y="5166360"/>
            <a:ext cx="3566160" cy="640080"/>
          </a:xfrm>
          <a:prstGeom prst="rect">
            <a:avLst/>
          </a:prstGeom>
          <a:noFill/>
          <a:ln/>
        </p:spPr>
        <p:txBody>
          <a:bodyPr wrap="square" lIns="0" tIns="0" rIns="0" bIns="0" rtlCol="0" anchor="ctr"/>
          <a:lstStyle/>
          <a:p>
            <a:pPr marL="0" indent="0" algn="ctr">
              <a:buNone/>
            </a:pPr>
            <a:r>
              <a:rPr lang="en-US" sz="3000" b="1" dirty="0">
                <a:solidFill>
                  <a:srgbClr val="C44E52"/>
                </a:solidFill>
                <a:latin typeface="Georgia" pitchFamily="34" charset="0"/>
                <a:ea typeface="Georgia" pitchFamily="34" charset="-122"/>
                <a:cs typeface="Georgia" pitchFamily="34" charset="-120"/>
              </a:rPr>
              <a:t>OR ≈ 3.7 / 3.1</a:t>
            </a:r>
            <a:endParaRPr lang="en-US" sz="3000" dirty="0"/>
          </a:p>
        </p:txBody>
      </p:sp>
      <p:sp>
        <p:nvSpPr>
          <p:cNvPr id="6" name="Text 3"/>
          <p:cNvSpPr/>
          <p:nvPr/>
        </p:nvSpPr>
        <p:spPr>
          <a:xfrm>
            <a:off x="777240" y="5806440"/>
            <a:ext cx="3566160" cy="548640"/>
          </a:xfrm>
          <a:prstGeom prst="rect">
            <a:avLst/>
          </a:prstGeom>
          <a:noFill/>
          <a:ln/>
        </p:spPr>
        <p:txBody>
          <a:bodyPr wrap="square" lIns="0" tIns="0" rIns="0" bIns="0" rtlCol="0" anchor="ctr"/>
          <a:lstStyle/>
          <a:p>
            <a:pPr marL="0" indent="0" algn="ctr">
              <a:buNone/>
            </a:pPr>
            <a:r>
              <a:rPr lang="en-US" sz="1250" dirty="0">
                <a:solidFill>
                  <a:srgbClr val="5A6072"/>
                </a:solidFill>
                <a:latin typeface="Calibri" pitchFamily="34" charset="0"/>
                <a:ea typeface="Calibri" pitchFamily="34" charset="-122"/>
                <a:cs typeface="Calibri" pitchFamily="34" charset="-120"/>
              </a:rPr>
              <a:t>Wealth bias vs morality</a:t>
            </a:r>
            <a:endParaRPr lang="en-US" sz="1250" dirty="0"/>
          </a:p>
          <a:p>
            <a:pPr marL="0" indent="0" algn="ctr">
              <a:buNone/>
            </a:pPr>
            <a:r>
              <a:rPr lang="en-US" sz="1250" dirty="0">
                <a:solidFill>
                  <a:srgbClr val="5A6072"/>
                </a:solidFill>
                <a:latin typeface="Calibri" pitchFamily="34" charset="0"/>
                <a:ea typeface="Calibri" pitchFamily="34" charset="-122"/>
                <a:cs typeface="Calibri" pitchFamily="34" charset="-120"/>
              </a:rPr>
              <a:t>Qwen / InternVL</a:t>
            </a:r>
            <a:endParaRPr lang="en-US" sz="1250" dirty="0"/>
          </a:p>
        </p:txBody>
      </p:sp>
      <p:sp>
        <p:nvSpPr>
          <p:cNvPr id="7" name="Text 4"/>
          <p:cNvSpPr/>
          <p:nvPr/>
        </p:nvSpPr>
        <p:spPr>
          <a:xfrm>
            <a:off x="4434840" y="5166360"/>
            <a:ext cx="3566160" cy="640080"/>
          </a:xfrm>
          <a:prstGeom prst="rect">
            <a:avLst/>
          </a:prstGeom>
          <a:noFill/>
          <a:ln/>
        </p:spPr>
        <p:txBody>
          <a:bodyPr wrap="square" lIns="0" tIns="0" rIns="0" bIns="0" rtlCol="0" anchor="ctr"/>
          <a:lstStyle/>
          <a:p>
            <a:pPr marL="0" indent="0" algn="ctr">
              <a:buNone/>
            </a:pPr>
            <a:r>
              <a:rPr lang="en-US" sz="3000" b="1" dirty="0">
                <a:solidFill>
                  <a:srgbClr val="C44E52"/>
                </a:solidFill>
                <a:latin typeface="Georgia" pitchFamily="34" charset="0"/>
                <a:ea typeface="Georgia" pitchFamily="34" charset="-122"/>
                <a:cs typeface="Georgia" pitchFamily="34" charset="-120"/>
              </a:rPr>
              <a:t>p ≈ 2×10⁻¹⁴</a:t>
            </a:r>
            <a:endParaRPr lang="en-US" sz="3000" dirty="0"/>
          </a:p>
        </p:txBody>
      </p:sp>
      <p:sp>
        <p:nvSpPr>
          <p:cNvPr id="8" name="Text 5"/>
          <p:cNvSpPr/>
          <p:nvPr/>
        </p:nvSpPr>
        <p:spPr>
          <a:xfrm>
            <a:off x="4434840" y="5806440"/>
            <a:ext cx="3566160" cy="548640"/>
          </a:xfrm>
          <a:prstGeom prst="rect">
            <a:avLst/>
          </a:prstGeom>
          <a:noFill/>
          <a:ln/>
        </p:spPr>
        <p:txBody>
          <a:bodyPr wrap="square" lIns="0" tIns="0" rIns="0" bIns="0" rtlCol="0" anchor="ctr"/>
          <a:lstStyle/>
          <a:p>
            <a:pPr marL="0" indent="0" algn="ctr">
              <a:buNone/>
            </a:pPr>
            <a:r>
              <a:rPr lang="en-US" sz="1250" dirty="0">
                <a:solidFill>
                  <a:srgbClr val="5A6072"/>
                </a:solidFill>
                <a:latin typeface="Calibri" pitchFamily="34" charset="0"/>
                <a:ea typeface="Calibri" pitchFamily="34" charset="-122"/>
                <a:cs typeface="Calibri" pitchFamily="34" charset="-120"/>
              </a:rPr>
              <a:t>attribute effect</a:t>
            </a:r>
            <a:endParaRPr lang="en-US" sz="1250" dirty="0"/>
          </a:p>
          <a:p>
            <a:pPr marL="0" indent="0" algn="ctr">
              <a:buNone/>
            </a:pPr>
            <a:r>
              <a:rPr lang="en-US" sz="1250" dirty="0">
                <a:solidFill>
                  <a:srgbClr val="5A6072"/>
                </a:solidFill>
                <a:latin typeface="Calibri" pitchFamily="34" charset="0"/>
                <a:ea typeface="Calibri" pitchFamily="34" charset="-122"/>
                <a:cs typeface="Calibri" pitchFamily="34" charset="-120"/>
              </a:rPr>
              <a:t>in both families</a:t>
            </a:r>
            <a:endParaRPr lang="en-US" sz="1250" dirty="0"/>
          </a:p>
        </p:txBody>
      </p:sp>
      <p:sp>
        <p:nvSpPr>
          <p:cNvPr id="9" name="Text 6"/>
          <p:cNvSpPr/>
          <p:nvPr/>
        </p:nvSpPr>
        <p:spPr>
          <a:xfrm>
            <a:off x="7955280" y="5166360"/>
            <a:ext cx="3566160" cy="640080"/>
          </a:xfrm>
          <a:prstGeom prst="rect">
            <a:avLst/>
          </a:prstGeom>
          <a:noFill/>
          <a:ln/>
        </p:spPr>
        <p:txBody>
          <a:bodyPr wrap="square" lIns="0" tIns="0" rIns="0" bIns="0" rtlCol="0" anchor="ctr"/>
          <a:lstStyle/>
          <a:p>
            <a:pPr marL="0" indent="0" algn="ctr">
              <a:buNone/>
            </a:pPr>
            <a:r>
              <a:rPr lang="en-US" sz="3000" b="1" dirty="0">
                <a:solidFill>
                  <a:srgbClr val="C44E52"/>
                </a:solidFill>
                <a:latin typeface="Georgia" pitchFamily="34" charset="0"/>
                <a:ea typeface="Georgia" pitchFamily="34" charset="-122"/>
                <a:cs typeface="Georgia" pitchFamily="34" charset="-120"/>
              </a:rPr>
              <a:t>not a quirk</a:t>
            </a:r>
            <a:endParaRPr lang="en-US" sz="3000" dirty="0"/>
          </a:p>
        </p:txBody>
      </p:sp>
      <p:sp>
        <p:nvSpPr>
          <p:cNvPr id="10" name="Text 7"/>
          <p:cNvSpPr/>
          <p:nvPr/>
        </p:nvSpPr>
        <p:spPr>
          <a:xfrm>
            <a:off x="7955280" y="5806440"/>
            <a:ext cx="3566160" cy="548640"/>
          </a:xfrm>
          <a:prstGeom prst="rect">
            <a:avLst/>
          </a:prstGeom>
          <a:noFill/>
          <a:ln/>
        </p:spPr>
        <p:txBody>
          <a:bodyPr wrap="square" lIns="0" tIns="0" rIns="0" bIns="0" rtlCol="0" anchor="ctr"/>
          <a:lstStyle/>
          <a:p>
            <a:pPr marL="0" indent="0" algn="ctr">
              <a:buNone/>
            </a:pPr>
            <a:r>
              <a:rPr lang="en-US" sz="1250" dirty="0">
                <a:solidFill>
                  <a:srgbClr val="5A6072"/>
                </a:solidFill>
                <a:latin typeface="Calibri" pitchFamily="34" charset="0"/>
                <a:ea typeface="Calibri" pitchFamily="34" charset="-122"/>
                <a:cs typeface="Calibri" pitchFamily="34" charset="-120"/>
              </a:rPr>
              <a:t>same structure across</a:t>
            </a:r>
            <a:endParaRPr lang="en-US" sz="1250" dirty="0"/>
          </a:p>
          <a:p>
            <a:pPr marL="0" indent="0" algn="ctr">
              <a:buNone/>
            </a:pPr>
            <a:r>
              <a:rPr lang="en-US" sz="1250" dirty="0">
                <a:solidFill>
                  <a:srgbClr val="5A6072"/>
                </a:solidFill>
                <a:latin typeface="Calibri" pitchFamily="34" charset="0"/>
                <a:ea typeface="Calibri" pitchFamily="34" charset="-122"/>
                <a:cs typeface="Calibri" pitchFamily="34" charset="-120"/>
              </a:rPr>
              <a:t>two independent VLMs</a:t>
            </a:r>
            <a:endParaRPr lang="en-US" sz="1250" dirty="0"/>
          </a:p>
        </p:txBody>
      </p:sp>
      <p:sp>
        <p:nvSpPr>
          <p:cNvPr id="11" name="Text 8"/>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RESULT 2</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Language is not flat after all</a:t>
            </a:r>
            <a:endParaRPr lang="en-US" sz="3200" dirty="0"/>
          </a:p>
        </p:txBody>
      </p:sp>
      <p:sp>
        <p:nvSpPr>
          <p:cNvPr id="4" name="Text 2"/>
          <p:cNvSpPr/>
          <p:nvPr/>
        </p:nvSpPr>
        <p:spPr>
          <a:xfrm>
            <a:off x="685800" y="2420983"/>
            <a:ext cx="5029200" cy="1105989"/>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650" dirty="0">
                <a:solidFill>
                  <a:srgbClr val="23262F"/>
                </a:solidFill>
                <a:latin typeface="Calibri" pitchFamily="34" charset="0"/>
                <a:ea typeface="Calibri" pitchFamily="34" charset="-122"/>
                <a:cs typeface="Calibri" pitchFamily="34" charset="-120"/>
              </a:rPr>
              <a:t>Four languages looked invariant; adding Bengali &amp; Greek revealed a real effect.</a:t>
            </a:r>
            <a:endParaRPr lang="en-US" sz="1650" dirty="0"/>
          </a:p>
        </p:txBody>
      </p:sp>
      <p:graphicFrame>
        <p:nvGraphicFramePr>
          <p:cNvPr id="5" name="Chart 0"/>
          <p:cNvGraphicFramePr/>
          <p:nvPr/>
        </p:nvGraphicFramePr>
        <p:xfrm>
          <a:off x="5943600" y="1828800"/>
          <a:ext cx="566928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10</a:t>
            </a:r>
            <a:endParaRPr lang="en-US" sz="1000" dirty="0"/>
          </a:p>
        </p:txBody>
      </p:sp>
      <p:sp>
        <p:nvSpPr>
          <p:cNvPr id="7" name="椭圆 6">
            <a:extLst>
              <a:ext uri="{FF2B5EF4-FFF2-40B4-BE49-F238E27FC236}">
                <a16:creationId xmlns:a16="http://schemas.microsoft.com/office/drawing/2014/main" id="{D2EE14F0-9B3D-176F-7F11-811655CDC7B5}"/>
              </a:ext>
            </a:extLst>
          </p:cNvPr>
          <p:cNvSpPr/>
          <p:nvPr/>
        </p:nvSpPr>
        <p:spPr>
          <a:xfrm>
            <a:off x="9601200" y="2558143"/>
            <a:ext cx="2122714" cy="1328057"/>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9" name="文本框 8">
            <a:extLst>
              <a:ext uri="{FF2B5EF4-FFF2-40B4-BE49-F238E27FC236}">
                <a16:creationId xmlns:a16="http://schemas.microsoft.com/office/drawing/2014/main" id="{57EAF298-B028-65F4-E58F-20728796535C}"/>
              </a:ext>
            </a:extLst>
          </p:cNvPr>
          <p:cNvSpPr txBox="1"/>
          <p:nvPr/>
        </p:nvSpPr>
        <p:spPr>
          <a:xfrm>
            <a:off x="579120" y="3608754"/>
            <a:ext cx="5029200" cy="646331"/>
          </a:xfrm>
          <a:prstGeom prst="rect">
            <a:avLst/>
          </a:prstGeom>
          <a:noFill/>
        </p:spPr>
        <p:txBody>
          <a:bodyPr wrap="square">
            <a:spAutoFit/>
          </a:bodyPr>
          <a:lstStyle/>
          <a:p>
            <a:pPr>
              <a:lnSpc>
                <a:spcPct val="100000"/>
              </a:lnSpc>
              <a:spcAft>
                <a:spcPts val="1100"/>
              </a:spcAft>
              <a:buSzPct val="100000"/>
            </a:pPr>
            <a:r>
              <a:rPr lang="en-US" altLang="zh-CN" sz="1800" b="1" dirty="0">
                <a:solidFill>
                  <a:schemeClr val="accent1">
                    <a:lumMod val="75000"/>
                  </a:schemeClr>
                </a:solidFill>
                <a:latin typeface="Calibri" pitchFamily="34" charset="0"/>
                <a:ea typeface="Calibri" pitchFamily="34" charset="-122"/>
                <a:cs typeface="Calibri" pitchFamily="34" charset="-120"/>
              </a:rPr>
              <a:t>Bengali and Greek prompts → significantly more bias than English, in both models.</a:t>
            </a:r>
            <a:endParaRPr lang="en-US" altLang="zh-CN" sz="1800" b="1" dirty="0">
              <a:solidFill>
                <a:schemeClr val="accent1">
                  <a:lumMod val="75000"/>
                </a:schemeClr>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RESULT 2 · RIGOR</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Is it just bad translation? No.</a:t>
            </a:r>
            <a:endParaRPr lang="en-US" sz="3200" dirty="0"/>
          </a:p>
        </p:txBody>
      </p:sp>
      <p:sp>
        <p:nvSpPr>
          <p:cNvPr id="4" name="Text 2"/>
          <p:cNvSpPr/>
          <p:nvPr/>
        </p:nvSpPr>
        <p:spPr>
          <a:xfrm>
            <a:off x="685800" y="1920240"/>
            <a:ext cx="5212080" cy="42062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650" dirty="0">
                <a:solidFill>
                  <a:srgbClr val="23262F"/>
                </a:solidFill>
                <a:latin typeface="Calibri" pitchFamily="34" charset="0"/>
                <a:ea typeface="Calibri" pitchFamily="34" charset="-122"/>
                <a:cs typeface="Calibri" pitchFamily="34" charset="-120"/>
              </a:rPr>
              <a:t>We back-translated every non-English prompt and measured drift.</a:t>
            </a:r>
            <a:endParaRPr lang="en-US" sz="1650" dirty="0"/>
          </a:p>
          <a:p>
            <a:pPr marL="203200" indent="-203200">
              <a:lnSpc>
                <a:spcPct val="100000"/>
              </a:lnSpc>
              <a:spcAft>
                <a:spcPts val="1100"/>
              </a:spcAft>
              <a:buSzPct val="100000"/>
              <a:buChar char="•"/>
            </a:pPr>
            <a:r>
              <a:rPr lang="en-US" sz="1650" dirty="0">
                <a:solidFill>
                  <a:srgbClr val="23262F"/>
                </a:solidFill>
                <a:latin typeface="Calibri" pitchFamily="34" charset="0"/>
                <a:ea typeface="Calibri" pitchFamily="34" charset="-122"/>
                <a:cs typeface="Calibri" pitchFamily="34" charset="-120"/>
              </a:rPr>
              <a:t>The most-biased languages (Greek, Bengali) have the highest translation fidelity.</a:t>
            </a:r>
            <a:endParaRPr lang="en-US" sz="1650" dirty="0"/>
          </a:p>
          <a:p>
            <a:pPr marL="203200" indent="-203200">
              <a:lnSpc>
                <a:spcPct val="100000"/>
              </a:lnSpc>
              <a:spcAft>
                <a:spcPts val="1100"/>
              </a:spcAft>
              <a:buSzPct val="100000"/>
              <a:buChar char="•"/>
            </a:pPr>
            <a:r>
              <a:rPr lang="en-US" sz="1650" dirty="0">
                <a:solidFill>
                  <a:srgbClr val="23262F"/>
                </a:solidFill>
                <a:latin typeface="Calibri" pitchFamily="34" charset="0"/>
                <a:ea typeface="Calibri" pitchFamily="34" charset="-122"/>
                <a:cs typeface="Calibri" pitchFamily="34" charset="-120"/>
              </a:rPr>
              <a:t>The least-biased (Hindi, Russian) have the lowest — the opposite of a translation artifact.</a:t>
            </a:r>
            <a:endParaRPr lang="en-US" sz="16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6480" y="1965960"/>
          <a:ext cx="5394960" cy="3200400"/>
        </p:xfrm>
        <a:graphic>
          <a:graphicData uri="http://schemas.openxmlformats.org/drawingml/2006/table">
            <a:tbl>
              <a:tblPr/>
              <a:tblGrid>
                <a:gridCol w="17373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45720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Language</a:t>
                      </a:r>
                      <a:endParaRPr lang="en-US" sz="125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Bias vs English</a:t>
                      </a:r>
                      <a:endParaRPr lang="en-US" sz="125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Back-translation fidelity</a:t>
                      </a:r>
                      <a:endParaRPr lang="en-US" sz="125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Greek</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0.88  (highest)</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Bengali</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+60%</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Arabic</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+31%</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0.85</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Chinese</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0.84</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Hindi</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0.79</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Russian</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0.79  (lowest)</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6"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NEW BEHAVIOURAL METRICS</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Stable bias tracks the attribute</a:t>
            </a:r>
            <a:endParaRPr lang="en-US" sz="3200" dirty="0"/>
          </a:p>
        </p:txBody>
      </p:sp>
      <p:sp>
        <p:nvSpPr>
          <p:cNvPr id="4" name="Text 2"/>
          <p:cNvSpPr/>
          <p:nvPr/>
        </p:nvSpPr>
        <p:spPr>
          <a:xfrm>
            <a:off x="685800" y="1920240"/>
            <a:ext cx="5029200" cy="150876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650" b="1" dirty="0">
                <a:solidFill>
                  <a:srgbClr val="23262F"/>
                </a:solidFill>
                <a:latin typeface="Calibri" pitchFamily="34" charset="0"/>
                <a:ea typeface="Calibri" pitchFamily="34" charset="-122"/>
                <a:cs typeface="Calibri" pitchFamily="34" charset="-120"/>
              </a:rPr>
              <a:t>Cross-lingual Flip Rate </a:t>
            </a:r>
            <a:r>
              <a:rPr lang="en-US" sz="1650" dirty="0">
                <a:solidFill>
                  <a:srgbClr val="23262F"/>
                </a:solidFill>
                <a:latin typeface="Calibri" pitchFamily="34" charset="0"/>
                <a:ea typeface="Calibri" pitchFamily="34" charset="-122"/>
                <a:cs typeface="Calibri" pitchFamily="34" charset="-120"/>
              </a:rPr>
              <a:t>— does the choice change across languages?</a:t>
            </a:r>
            <a:endParaRPr lang="en-US" sz="1650" dirty="0"/>
          </a:p>
          <a:p>
            <a:pPr marL="203200" indent="-203200">
              <a:lnSpc>
                <a:spcPct val="100000"/>
              </a:lnSpc>
              <a:spcAft>
                <a:spcPts val="1100"/>
              </a:spcAft>
              <a:buSzPct val="100000"/>
              <a:buChar char="•"/>
            </a:pPr>
            <a:r>
              <a:rPr lang="en-US" sz="1650" b="1" dirty="0">
                <a:solidFill>
                  <a:srgbClr val="23262F"/>
                </a:solidFill>
                <a:latin typeface="Calibri" pitchFamily="34" charset="0"/>
                <a:ea typeface="Calibri" pitchFamily="34" charset="-122"/>
                <a:cs typeface="Calibri" pitchFamily="34" charset="-120"/>
              </a:rPr>
              <a:t>Stable Bias Rate </a:t>
            </a:r>
            <a:r>
              <a:rPr lang="en-US" sz="1650" dirty="0">
                <a:solidFill>
                  <a:srgbClr val="23262F"/>
                </a:solidFill>
                <a:latin typeface="Calibri" pitchFamily="34" charset="0"/>
                <a:ea typeface="Calibri" pitchFamily="34" charset="-122"/>
                <a:cs typeface="Calibri" pitchFamily="34" charset="-120"/>
              </a:rPr>
              <a:t>— does the model pick the wrong image in ALL languages?</a:t>
            </a:r>
            <a:endParaRPr lang="en-US" sz="1650" dirty="0"/>
          </a:p>
        </p:txBody>
      </p:sp>
      <p:graphicFrame>
        <p:nvGraphicFramePr>
          <p:cNvPr id="5" name="Chart 0"/>
          <p:cNvGraphicFramePr/>
          <p:nvPr/>
        </p:nvGraphicFramePr>
        <p:xfrm>
          <a:off x="5943600" y="1828800"/>
          <a:ext cx="566928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12</a:t>
            </a:r>
            <a:endParaRPr lang="en-US" sz="1000" dirty="0"/>
          </a:p>
        </p:txBody>
      </p:sp>
      <p:sp>
        <p:nvSpPr>
          <p:cNvPr id="8" name="文本框 7">
            <a:extLst>
              <a:ext uri="{FF2B5EF4-FFF2-40B4-BE49-F238E27FC236}">
                <a16:creationId xmlns:a16="http://schemas.microsoft.com/office/drawing/2014/main" id="{B220E43F-3916-0639-77A3-B617F2EB5834}"/>
              </a:ext>
            </a:extLst>
          </p:cNvPr>
          <p:cNvSpPr txBox="1"/>
          <p:nvPr/>
        </p:nvSpPr>
        <p:spPr>
          <a:xfrm>
            <a:off x="685800" y="4313200"/>
            <a:ext cx="5029200" cy="646331"/>
          </a:xfrm>
          <a:prstGeom prst="rect">
            <a:avLst/>
          </a:prstGeom>
          <a:noFill/>
        </p:spPr>
        <p:txBody>
          <a:bodyPr wrap="square">
            <a:spAutoFit/>
          </a:bodyPr>
          <a:lstStyle/>
          <a:p>
            <a:pPr>
              <a:lnSpc>
                <a:spcPct val="100000"/>
              </a:lnSpc>
              <a:spcAft>
                <a:spcPts val="1100"/>
              </a:spcAft>
              <a:buSzPct val="100000"/>
            </a:pPr>
            <a:r>
              <a:rPr lang="en-US" altLang="zh-CN" b="1" dirty="0">
                <a:solidFill>
                  <a:srgbClr val="FF0000"/>
                </a:solidFill>
                <a:latin typeface="Calibri" pitchFamily="34" charset="0"/>
                <a:ea typeface="Calibri" pitchFamily="34" charset="-122"/>
                <a:cs typeface="Calibri" pitchFamily="34" charset="-120"/>
              </a:rPr>
              <a:t>Wealth has the highest stable-bias rate in both models — it is biased everywhere, not flip-flopping.</a:t>
            </a:r>
            <a:endParaRPr lang="en-US" altLang="zh-CN" b="1" dirty="0">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GOING DEEPER · THE CONFOUND</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Is it just a low-level visual cue? No.</a:t>
            </a:r>
            <a:endParaRPr lang="en-US" sz="3200" dirty="0"/>
          </a:p>
        </p:txBody>
      </p:sp>
      <p:sp>
        <p:nvSpPr>
          <p:cNvPr id="4" name="Text 2"/>
          <p:cNvSpPr/>
          <p:nvPr/>
        </p:nvSpPr>
        <p:spPr>
          <a:xfrm>
            <a:off x="685800" y="1920240"/>
            <a:ext cx="5120640" cy="42062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600" dirty="0">
                <a:solidFill>
                  <a:srgbClr val="23262F"/>
                </a:solidFill>
                <a:latin typeface="Calibri" pitchFamily="34" charset="0"/>
                <a:ea typeface="Calibri" pitchFamily="34" charset="-122"/>
                <a:cs typeface="Calibri" pitchFamily="34" charset="-120"/>
              </a:rPr>
              <a:t>Every adversarial image also tweaks one visual knob — count / colour / scale / layout / spatial.</a:t>
            </a:r>
            <a:endParaRPr lang="en-US" sz="1600" dirty="0"/>
          </a:p>
          <a:p>
            <a:pPr marL="203200" indent="-203200">
              <a:lnSpc>
                <a:spcPct val="100000"/>
              </a:lnSpc>
              <a:spcAft>
                <a:spcPts val="1100"/>
              </a:spcAft>
              <a:buSzPct val="100000"/>
              <a:buChar char="•"/>
            </a:pPr>
            <a:r>
              <a:rPr lang="en-US" sz="1600" dirty="0">
                <a:solidFill>
                  <a:srgbClr val="23262F"/>
                </a:solidFill>
                <a:latin typeface="Calibri" pitchFamily="34" charset="0"/>
                <a:ea typeface="Calibri" pitchFamily="34" charset="-122"/>
                <a:cs typeface="Calibri" pitchFamily="34" charset="-120"/>
              </a:rPr>
              <a:t>If the bias were a colour artifact, colour would spike. Instead colour is the LOWEST (≈0.40).</a:t>
            </a:r>
            <a:endParaRPr lang="en-US" sz="1600" dirty="0"/>
          </a:p>
          <a:p>
            <a:pPr marL="203200" indent="-203200">
              <a:lnSpc>
                <a:spcPct val="100000"/>
              </a:lnSpc>
              <a:spcAft>
                <a:spcPts val="1100"/>
              </a:spcAft>
              <a:buSzPct val="100000"/>
              <a:buChar char="•"/>
            </a:pPr>
            <a:r>
              <a:rPr lang="en-US" sz="1600" dirty="0">
                <a:solidFill>
                  <a:srgbClr val="23262F"/>
                </a:solidFill>
                <a:latin typeface="Calibri" pitchFamily="34" charset="0"/>
                <a:ea typeface="Calibri" pitchFamily="34" charset="-122"/>
                <a:cs typeface="Calibri" pitchFamily="34" charset="-120"/>
              </a:rPr>
              <a:t>Bias is highest when the cue is hard to perceive (count, scale) — a fallback when the detail can't be grounded.</a:t>
            </a:r>
            <a:endParaRPr lang="en-US" sz="1600" dirty="0"/>
          </a:p>
          <a:p>
            <a:pPr marL="203200" indent="-203200">
              <a:lnSpc>
                <a:spcPct val="100000"/>
              </a:lnSpc>
              <a:spcAft>
                <a:spcPts val="1100"/>
              </a:spcAft>
              <a:buSzPct val="100000"/>
              <a:buChar char="•"/>
            </a:pPr>
            <a:r>
              <a:rPr lang="en-US" sz="1600" dirty="0">
                <a:solidFill>
                  <a:srgbClr val="23262F"/>
                </a:solidFill>
                <a:latin typeface="Calibri" pitchFamily="34" charset="0"/>
                <a:ea typeface="Calibri" pitchFamily="34" charset="-122"/>
                <a:cs typeface="Calibri" pitchFamily="34" charset="-120"/>
              </a:rPr>
              <a:t>Wealth &gt; morality holds within every knob — the attribute effect is not a knob artifact.</a:t>
            </a:r>
            <a:endParaRPr lang="en-US" sz="1600" dirty="0"/>
          </a:p>
        </p:txBody>
      </p:sp>
      <p:pic>
        <p:nvPicPr>
          <p:cNvPr id="5" name="Image 0" descr="/Users/xiaochuan/Desktop/Projects/P5_Multi_linguistic_histoBias/v3/experiments/exp3e_knob_confound/figures/figF_error_by_knob.png"/>
          <p:cNvPicPr>
            <a:picLocks noChangeAspect="1"/>
          </p:cNvPicPr>
          <p:nvPr/>
        </p:nvPicPr>
        <p:blipFill>
          <a:blip r:embed="rId3"/>
          <a:stretch>
            <a:fillRect/>
          </a:stretch>
        </p:blipFill>
        <p:spPr>
          <a:xfrm>
            <a:off x="6126480" y="2377440"/>
            <a:ext cx="5532120" cy="2993571"/>
          </a:xfrm>
          <a:prstGeom prst="rect">
            <a:avLst/>
          </a:prstGeom>
        </p:spPr>
      </p:pic>
      <p:sp>
        <p:nvSpPr>
          <p:cNvPr id="6"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GOING DEEPER · IS THE TRAP OBJECTIVE?</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The same items fool both model families</a:t>
            </a:r>
            <a:endParaRPr lang="en-US" sz="3200" dirty="0"/>
          </a:p>
        </p:txBody>
      </p:sp>
      <p:sp>
        <p:nvSpPr>
          <p:cNvPr id="4" name="Text 2"/>
          <p:cNvSpPr/>
          <p:nvPr/>
        </p:nvSpPr>
        <p:spPr>
          <a:xfrm>
            <a:off x="685800" y="1920240"/>
            <a:ext cx="5486400" cy="42062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600" dirty="0">
                <a:solidFill>
                  <a:srgbClr val="23262F"/>
                </a:solidFill>
                <a:latin typeface="Calibri" pitchFamily="34" charset="0"/>
                <a:ea typeface="Calibri" pitchFamily="34" charset="-122"/>
                <a:cs typeface="Calibri" pitchFamily="34" charset="-120"/>
              </a:rPr>
              <a:t>Two families judge the same 900 image pairs — do they err on the SAME ones?</a:t>
            </a:r>
            <a:endParaRPr lang="en-US" sz="1600" dirty="0"/>
          </a:p>
          <a:p>
            <a:pPr marL="203200" indent="-203200">
              <a:lnSpc>
                <a:spcPct val="100000"/>
              </a:lnSpc>
              <a:spcAft>
                <a:spcPts val="1100"/>
              </a:spcAft>
              <a:buSzPct val="100000"/>
              <a:buChar char="•"/>
            </a:pPr>
            <a:r>
              <a:rPr lang="en-US" sz="1600" dirty="0">
                <a:solidFill>
                  <a:srgbClr val="23262F"/>
                </a:solidFill>
                <a:latin typeface="Calibri" pitchFamily="34" charset="0"/>
                <a:ea typeface="Calibri" pitchFamily="34" charset="-122"/>
                <a:cs typeface="Calibri" pitchFamily="34" charset="-120"/>
              </a:rPr>
              <a:t>Per-item error rates correlate at r = 0.68 (Cohen's κ = 0.39).</a:t>
            </a:r>
            <a:endParaRPr lang="en-US" sz="1600" dirty="0"/>
          </a:p>
          <a:p>
            <a:pPr marL="203200" indent="-203200">
              <a:lnSpc>
                <a:spcPct val="100000"/>
              </a:lnSpc>
              <a:spcAft>
                <a:spcPts val="1100"/>
              </a:spcAft>
              <a:buSzPct val="100000"/>
              <a:buChar char="•"/>
            </a:pPr>
            <a:r>
              <a:rPr lang="en-US" sz="1600" dirty="0">
                <a:solidFill>
                  <a:srgbClr val="23262F"/>
                </a:solidFill>
                <a:latin typeface="Calibri" pitchFamily="34" charset="0"/>
                <a:ea typeface="Calibri" pitchFamily="34" charset="-122"/>
                <a:cs typeface="Calibri" pitchFamily="34" charset="-120"/>
              </a:rPr>
              <a:t>So the prototype trap is largely item-intrinsic — an objective property of the image pair, not a model quirk.</a:t>
            </a:r>
            <a:endParaRPr lang="en-US" sz="1600" dirty="0"/>
          </a:p>
          <a:p>
            <a:pPr marL="203200" indent="-203200">
              <a:lnSpc>
                <a:spcPct val="100000"/>
              </a:lnSpc>
              <a:spcAft>
                <a:spcPts val="1100"/>
              </a:spcAft>
              <a:buSzPct val="100000"/>
              <a:buChar char="•"/>
            </a:pPr>
            <a:r>
              <a:rPr lang="en-US" sz="1600" dirty="0">
                <a:solidFill>
                  <a:srgbClr val="23262F"/>
                </a:solidFill>
                <a:latin typeface="Calibri" pitchFamily="34" charset="0"/>
                <a:ea typeface="Calibri" pitchFamily="34" charset="-122"/>
                <a:cs typeface="Calibri" pitchFamily="34" charset="-120"/>
              </a:rPr>
              <a:t>(r is not 1.0: about half is still model-specific — strongest agreement on demography, weakest on objects.)</a:t>
            </a:r>
            <a:endParaRPr lang="en-US" sz="1600" dirty="0"/>
          </a:p>
        </p:txBody>
      </p:sp>
      <p:pic>
        <p:nvPicPr>
          <p:cNvPr id="5" name="Image 0" descr="/Users/xiaochuan/Desktop/Projects/P5_Multi_linguistic_histoBias/v3/experiments/exp3f_cross_model_agreement/figures/figG_item_agreement.png"/>
          <p:cNvPicPr>
            <a:picLocks noChangeAspect="1"/>
          </p:cNvPicPr>
          <p:nvPr/>
        </p:nvPicPr>
        <p:blipFill>
          <a:blip r:embed="rId3"/>
          <a:stretch>
            <a:fillRect/>
          </a:stretch>
        </p:blipFill>
        <p:spPr>
          <a:xfrm>
            <a:off x="7315200" y="1874520"/>
            <a:ext cx="4114800" cy="3964162"/>
          </a:xfrm>
          <a:prstGeom prst="rect">
            <a:avLst/>
          </a:prstGeom>
        </p:spPr>
      </p:pic>
      <p:sp>
        <p:nvSpPr>
          <p:cNvPr id="6"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B1F3B"/>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WHAT WE FOUND</a:t>
            </a:r>
            <a:endParaRPr lang="en-US" sz="1200" dirty="0"/>
          </a:p>
        </p:txBody>
      </p:sp>
      <p:sp>
        <p:nvSpPr>
          <p:cNvPr id="3" name="Text 1"/>
          <p:cNvSpPr/>
          <p:nvPr/>
        </p:nvSpPr>
        <p:spPr>
          <a:xfrm>
            <a:off x="685800" y="868680"/>
            <a:ext cx="10789920" cy="822960"/>
          </a:xfrm>
          <a:prstGeom prst="rect">
            <a:avLst/>
          </a:prstGeom>
          <a:noFill/>
          <a:ln/>
        </p:spPr>
        <p:txBody>
          <a:bodyPr wrap="square" lIns="0" tIns="0" rIns="0" bIns="0" rtlCol="0" anchor="ctr"/>
          <a:lstStyle/>
          <a:p>
            <a:pPr marL="0" indent="0">
              <a:buNone/>
            </a:pPr>
            <a:r>
              <a:rPr lang="en-US" sz="3000" b="1" dirty="0">
                <a:solidFill>
                  <a:srgbClr val="FFFFFF"/>
                </a:solidFill>
                <a:latin typeface="Georgia" pitchFamily="34" charset="0"/>
                <a:ea typeface="Georgia" pitchFamily="34" charset="-122"/>
                <a:cs typeface="Georgia" pitchFamily="34" charset="-120"/>
              </a:rPr>
              <a:t>One picture: a fallback with two factors</a:t>
            </a:r>
            <a:endParaRPr lang="en-US" sz="3000" dirty="0"/>
          </a:p>
        </p:txBody>
      </p:sp>
      <p:sp>
        <p:nvSpPr>
          <p:cNvPr id="4" name="Text 2"/>
          <p:cNvSpPr/>
          <p:nvPr/>
        </p:nvSpPr>
        <p:spPr>
          <a:xfrm>
            <a:off x="685800" y="2011680"/>
            <a:ext cx="731520" cy="1005840"/>
          </a:xfrm>
          <a:prstGeom prst="rect">
            <a:avLst/>
          </a:prstGeom>
          <a:noFill/>
          <a:ln/>
        </p:spPr>
        <p:txBody>
          <a:bodyPr wrap="square" lIns="0" tIns="0" rIns="0" bIns="0" rtlCol="0" anchor="ctr"/>
          <a:lstStyle/>
          <a:p>
            <a:pPr marL="0" indent="0">
              <a:buNone/>
            </a:pPr>
            <a:r>
              <a:rPr lang="en-US" sz="4600" b="1" dirty="0">
                <a:solidFill>
                  <a:srgbClr val="C44E52"/>
                </a:solidFill>
                <a:latin typeface="Georgia" pitchFamily="34" charset="0"/>
                <a:ea typeface="Georgia" pitchFamily="34" charset="-122"/>
                <a:cs typeface="Georgia" pitchFamily="34" charset="-120"/>
              </a:rPr>
              <a:t>1</a:t>
            </a:r>
            <a:endParaRPr lang="en-US" sz="4600" dirty="0"/>
          </a:p>
        </p:txBody>
      </p:sp>
      <p:sp>
        <p:nvSpPr>
          <p:cNvPr id="5" name="Text 3"/>
          <p:cNvSpPr/>
          <p:nvPr/>
        </p:nvSpPr>
        <p:spPr>
          <a:xfrm>
            <a:off x="1600200" y="2057400"/>
            <a:ext cx="10424160" cy="502920"/>
          </a:xfrm>
          <a:prstGeom prst="rect">
            <a:avLst/>
          </a:prstGeom>
          <a:noFill/>
          <a:ln/>
        </p:spPr>
        <p:txBody>
          <a:bodyPr wrap="square" lIns="0" tIns="0" rIns="0" bIns="0" rtlCol="0" anchor="ctr"/>
          <a:lstStyle/>
          <a:p>
            <a:pPr marL="0" indent="0">
              <a:buNone/>
            </a:pPr>
            <a:r>
              <a:rPr lang="en-US" sz="2000" b="1" dirty="0">
                <a:solidFill>
                  <a:srgbClr val="FFFFFF"/>
                </a:solidFill>
                <a:latin typeface="Georgia" pitchFamily="34" charset="0"/>
                <a:ea typeface="Georgia" pitchFamily="34" charset="-122"/>
                <a:cs typeface="Georgia" pitchFamily="34" charset="-120"/>
              </a:rPr>
              <a:t>Is there a prototype to take?  →  the attribute</a:t>
            </a:r>
            <a:endParaRPr lang="en-US" sz="2000" dirty="0"/>
          </a:p>
        </p:txBody>
      </p:sp>
      <p:sp>
        <p:nvSpPr>
          <p:cNvPr id="6" name="Text 4"/>
          <p:cNvSpPr/>
          <p:nvPr/>
        </p:nvSpPr>
        <p:spPr>
          <a:xfrm>
            <a:off x="1600200" y="2578608"/>
            <a:ext cx="10424160" cy="868680"/>
          </a:xfrm>
          <a:prstGeom prst="rect">
            <a:avLst/>
          </a:prstGeom>
          <a:noFill/>
          <a:ln/>
        </p:spPr>
        <p:txBody>
          <a:bodyPr wrap="square" lIns="0" tIns="0" rIns="0" bIns="0" rtlCol="0" anchor="ctr"/>
          <a:lstStyle/>
          <a:p>
            <a:pPr marL="0" indent="0">
              <a:buNone/>
            </a:pPr>
            <a:r>
              <a:rPr lang="en-US" sz="1500" dirty="0">
                <a:solidFill>
                  <a:srgbClr val="C9D2EC"/>
                </a:solidFill>
                <a:latin typeface="Calibri" pitchFamily="34" charset="0"/>
                <a:ea typeface="Calibri" pitchFamily="34" charset="-122"/>
                <a:cs typeface="Calibri" pitchFamily="34" charset="-120"/>
              </a:rPr>
              <a:t>A visual prototype exists for wealth and status, not for morality or intellect. That map replicates across both families, and the trap is largely item-intrinsic (the same items fool both, r = 0.68).</a:t>
            </a:r>
            <a:endParaRPr lang="en-US" sz="1500" dirty="0"/>
          </a:p>
        </p:txBody>
      </p:sp>
      <p:sp>
        <p:nvSpPr>
          <p:cNvPr id="7" name="Text 5"/>
          <p:cNvSpPr/>
          <p:nvPr/>
        </p:nvSpPr>
        <p:spPr>
          <a:xfrm>
            <a:off x="685800" y="3794760"/>
            <a:ext cx="731520" cy="1005840"/>
          </a:xfrm>
          <a:prstGeom prst="rect">
            <a:avLst/>
          </a:prstGeom>
          <a:noFill/>
          <a:ln/>
        </p:spPr>
        <p:txBody>
          <a:bodyPr wrap="square" lIns="0" tIns="0" rIns="0" bIns="0" rtlCol="0" anchor="ctr"/>
          <a:lstStyle/>
          <a:p>
            <a:pPr marL="0" indent="0">
              <a:buNone/>
            </a:pPr>
            <a:r>
              <a:rPr lang="en-US" sz="4600" b="1" dirty="0">
                <a:solidFill>
                  <a:srgbClr val="4C72B0"/>
                </a:solidFill>
                <a:latin typeface="Georgia" pitchFamily="34" charset="0"/>
                <a:ea typeface="Georgia" pitchFamily="34" charset="-122"/>
                <a:cs typeface="Georgia" pitchFamily="34" charset="-120"/>
              </a:rPr>
              <a:t>2</a:t>
            </a:r>
            <a:endParaRPr lang="en-US" sz="4600" dirty="0"/>
          </a:p>
        </p:txBody>
      </p:sp>
      <p:sp>
        <p:nvSpPr>
          <p:cNvPr id="8" name="Text 6"/>
          <p:cNvSpPr/>
          <p:nvPr/>
        </p:nvSpPr>
        <p:spPr>
          <a:xfrm>
            <a:off x="1600200" y="3840480"/>
            <a:ext cx="10424160" cy="502920"/>
          </a:xfrm>
          <a:prstGeom prst="rect">
            <a:avLst/>
          </a:prstGeom>
          <a:noFill/>
          <a:ln/>
        </p:spPr>
        <p:txBody>
          <a:bodyPr wrap="square" lIns="0" tIns="0" rIns="0" bIns="0" rtlCol="0" anchor="ctr"/>
          <a:lstStyle/>
          <a:p>
            <a:pPr marL="0" indent="0">
              <a:buNone/>
            </a:pPr>
            <a:r>
              <a:rPr lang="en-US" sz="2000" b="1" dirty="0">
                <a:solidFill>
                  <a:srgbClr val="FFFFFF"/>
                </a:solidFill>
                <a:latin typeface="Georgia" pitchFamily="34" charset="0"/>
                <a:ea typeface="Georgia" pitchFamily="34" charset="-122"/>
                <a:cs typeface="Georgia" pitchFamily="34" charset="-120"/>
              </a:rPr>
              <a:t>How weak is the signal?  →  perception &amp; language</a:t>
            </a:r>
            <a:endParaRPr lang="en-US" sz="2000" dirty="0"/>
          </a:p>
        </p:txBody>
      </p:sp>
      <p:sp>
        <p:nvSpPr>
          <p:cNvPr id="9" name="Text 7"/>
          <p:cNvSpPr/>
          <p:nvPr/>
        </p:nvSpPr>
        <p:spPr>
          <a:xfrm>
            <a:off x="1600200" y="4361688"/>
            <a:ext cx="10424160" cy="868680"/>
          </a:xfrm>
          <a:prstGeom prst="rect">
            <a:avLst/>
          </a:prstGeom>
          <a:noFill/>
          <a:ln/>
        </p:spPr>
        <p:txBody>
          <a:bodyPr wrap="square" lIns="0" tIns="0" rIns="0" bIns="0" rtlCol="0" anchor="ctr"/>
          <a:lstStyle/>
          <a:p>
            <a:pPr marL="0" indent="0">
              <a:buNone/>
            </a:pPr>
            <a:r>
              <a:rPr lang="en-US" sz="1500" dirty="0">
                <a:solidFill>
                  <a:srgbClr val="C9D2EC"/>
                </a:solidFill>
                <a:latin typeface="Calibri" pitchFamily="34" charset="0"/>
                <a:ea typeface="Calibri" pitchFamily="34" charset="-122"/>
                <a:cs typeface="Calibri" pitchFamily="34" charset="-120"/>
              </a:rPr>
              <a:t>The model falls back on the prototype when the discriminating cue is hard to perceive (count, scale) OR the prompt language is unfamiliar (Bengali, Greek). Two routes, one mechanism.</a:t>
            </a:r>
            <a:endParaRPr lang="en-US" sz="1500" dirty="0"/>
          </a:p>
        </p:txBody>
      </p:sp>
      <p:sp>
        <p:nvSpPr>
          <p:cNvPr id="10" name="Text 8"/>
          <p:cNvSpPr/>
          <p:nvPr/>
        </p:nvSpPr>
        <p:spPr>
          <a:xfrm>
            <a:off x="685800" y="5852160"/>
            <a:ext cx="10789920" cy="548640"/>
          </a:xfrm>
          <a:prstGeom prst="rect">
            <a:avLst/>
          </a:prstGeom>
          <a:noFill/>
          <a:ln/>
        </p:spPr>
        <p:txBody>
          <a:bodyPr wrap="square" lIns="0" tIns="0" rIns="0" bIns="0" rtlCol="0" anchor="ctr"/>
          <a:lstStyle/>
          <a:p>
            <a:pPr marL="0" indent="0">
              <a:buNone/>
            </a:pPr>
            <a:r>
              <a:rPr lang="en-US" sz="1600" i="1" dirty="0">
                <a:solidFill>
                  <a:srgbClr val="C44E52"/>
                </a:solidFill>
                <a:latin typeface="Georgia" pitchFamily="34" charset="0"/>
                <a:ea typeface="Georgia" pitchFamily="34" charset="-122"/>
                <a:cs typeface="Georgia" pitchFamily="34" charset="-120"/>
              </a:rPr>
              <a:t>Attribute sets whether a shortcut exists; signal-weakness sets how much the model takes it.</a:t>
            </a:r>
            <a:endParaRPr lang="en-US" sz="1600" dirty="0"/>
          </a:p>
        </p:txBody>
      </p:sp>
      <p:sp>
        <p:nvSpPr>
          <p:cNvPr id="11" name="Text 9"/>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LIMITATIONS</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What we are not yet claiming</a:t>
            </a:r>
            <a:endParaRPr lang="en-US" sz="3200" dirty="0"/>
          </a:p>
        </p:txBody>
      </p:sp>
      <p:sp>
        <p:nvSpPr>
          <p:cNvPr id="4" name="Text 2"/>
          <p:cNvSpPr/>
          <p:nvPr/>
        </p:nvSpPr>
        <p:spPr>
          <a:xfrm>
            <a:off x="685800" y="1965960"/>
            <a:ext cx="10607040" cy="402336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Single seed, single translation backend; the adversarial “knob” (color / scale) is a co-varying confound.</a:t>
            </a:r>
            <a:endParaRPr lang="en-US" sz="1700" dirty="0"/>
          </a:p>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Demography cells are small (Wealth ≈ 31 / language) — mixed-effects pools, but power is limited.</a:t>
            </a:r>
            <a:endParaRPr lang="en-US" sz="1700" dirty="0"/>
          </a:p>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Qwen-32B was dropped — infeasible runtime (≈280 s/item) on the available 2×A40 sharding.</a:t>
            </a:r>
            <a:endParaRPr lang="en-US" sz="1700" dirty="0"/>
          </a:p>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Why ar / bn / el specifically — not a clean resource gradient (Russian is non-Latin yet flat) — is open.</a:t>
            </a:r>
            <a:endParaRPr lang="en-US" sz="1700" dirty="0"/>
          </a:p>
        </p:txBody>
      </p:sp>
      <p:sp>
        <p:nvSpPr>
          <p:cNvPr id="5"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OUTLOOK</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Next steps</a:t>
            </a:r>
            <a:endParaRPr lang="en-US" sz="3200" dirty="0"/>
          </a:p>
        </p:txBody>
      </p:sp>
      <p:sp>
        <p:nvSpPr>
          <p:cNvPr id="4" name="Shape 2"/>
          <p:cNvSpPr/>
          <p:nvPr/>
        </p:nvSpPr>
        <p:spPr>
          <a:xfrm>
            <a:off x="685800" y="2103120"/>
            <a:ext cx="384048" cy="384048"/>
          </a:xfrm>
          <a:prstGeom prst="ellipse">
            <a:avLst/>
          </a:prstGeom>
          <a:solidFill>
            <a:srgbClr val="1B1F3B"/>
          </a:solidFill>
          <a:ln/>
        </p:spPr>
        <p:txBody>
          <a:bodyPr/>
          <a:lstStyle/>
          <a:p>
            <a:endParaRPr lang="zh-CN" altLang="en-US"/>
          </a:p>
        </p:txBody>
      </p:sp>
      <p:sp>
        <p:nvSpPr>
          <p:cNvPr id="5" name="Text 3"/>
          <p:cNvSpPr/>
          <p:nvPr/>
        </p:nvSpPr>
        <p:spPr>
          <a:xfrm>
            <a:off x="685800" y="210312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6" name="Text 4"/>
          <p:cNvSpPr/>
          <p:nvPr/>
        </p:nvSpPr>
        <p:spPr>
          <a:xfrm>
            <a:off x="1325880" y="2039112"/>
            <a:ext cx="2926080" cy="457200"/>
          </a:xfrm>
          <a:prstGeom prst="rect">
            <a:avLst/>
          </a:prstGeom>
          <a:noFill/>
          <a:ln/>
        </p:spPr>
        <p:txBody>
          <a:bodyPr wrap="square" lIns="0" tIns="0" rIns="0" bIns="0" rtlCol="0" anchor="ctr"/>
          <a:lstStyle/>
          <a:p>
            <a:pPr marL="0" indent="0">
              <a:buNone/>
            </a:pPr>
            <a:r>
              <a:rPr lang="en-US" sz="1700" b="1" dirty="0">
                <a:solidFill>
                  <a:srgbClr val="C44E52"/>
                </a:solidFill>
                <a:latin typeface="Georgia" pitchFamily="34" charset="0"/>
                <a:ea typeface="Georgia" pitchFamily="34" charset="-122"/>
                <a:cs typeface="Georgia" pitchFamily="34" charset="-120"/>
              </a:rPr>
              <a:t>Scale axis</a:t>
            </a:r>
            <a:endParaRPr lang="en-US" sz="1700" dirty="0"/>
          </a:p>
        </p:txBody>
      </p:sp>
      <p:sp>
        <p:nvSpPr>
          <p:cNvPr id="7" name="Text 5"/>
          <p:cNvSpPr/>
          <p:nvPr/>
        </p:nvSpPr>
        <p:spPr>
          <a:xfrm>
            <a:off x="4343400" y="2039112"/>
            <a:ext cx="7772400" cy="640080"/>
          </a:xfrm>
          <a:prstGeom prst="rect">
            <a:avLst/>
          </a:prstGeom>
          <a:noFill/>
          <a:ln/>
        </p:spPr>
        <p:txBody>
          <a:bodyPr wrap="square" lIns="0" tIns="0" rIns="0" bIns="0" rtlCol="0" anchor="t"/>
          <a:lstStyle/>
          <a:p>
            <a:pPr marL="0" indent="0">
              <a:buNone/>
            </a:pPr>
            <a:r>
              <a:rPr lang="en-US" sz="1500" dirty="0">
                <a:solidFill>
                  <a:srgbClr val="23262F"/>
                </a:solidFill>
                <a:latin typeface="Calibri" pitchFamily="34" charset="0"/>
                <a:ea typeface="Calibri" pitchFamily="34" charset="-122"/>
                <a:cs typeface="Calibri" pitchFamily="34" charset="-120"/>
              </a:rPr>
              <a:t>Qwen-32B in 4-bit on a single GPU — does the bias shrink with model size?</a:t>
            </a:r>
            <a:endParaRPr lang="en-US" sz="1500" dirty="0"/>
          </a:p>
        </p:txBody>
      </p:sp>
      <p:sp>
        <p:nvSpPr>
          <p:cNvPr id="8" name="Shape 6"/>
          <p:cNvSpPr/>
          <p:nvPr/>
        </p:nvSpPr>
        <p:spPr>
          <a:xfrm>
            <a:off x="685800" y="3127248"/>
            <a:ext cx="384048" cy="384048"/>
          </a:xfrm>
          <a:prstGeom prst="ellipse">
            <a:avLst/>
          </a:prstGeom>
          <a:solidFill>
            <a:srgbClr val="1B1F3B"/>
          </a:solidFill>
          <a:ln/>
        </p:spPr>
        <p:txBody>
          <a:bodyPr/>
          <a:lstStyle/>
          <a:p>
            <a:endParaRPr lang="zh-CN" altLang="en-US"/>
          </a:p>
        </p:txBody>
      </p:sp>
      <p:sp>
        <p:nvSpPr>
          <p:cNvPr id="9" name="Text 7"/>
          <p:cNvSpPr/>
          <p:nvPr/>
        </p:nvSpPr>
        <p:spPr>
          <a:xfrm>
            <a:off x="685800" y="3127248"/>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10" name="Text 8"/>
          <p:cNvSpPr/>
          <p:nvPr/>
        </p:nvSpPr>
        <p:spPr>
          <a:xfrm>
            <a:off x="1325880" y="3063240"/>
            <a:ext cx="2926080" cy="457200"/>
          </a:xfrm>
          <a:prstGeom prst="rect">
            <a:avLst/>
          </a:prstGeom>
          <a:noFill/>
          <a:ln/>
        </p:spPr>
        <p:txBody>
          <a:bodyPr wrap="square" lIns="0" tIns="0" rIns="0" bIns="0" rtlCol="0" anchor="ctr"/>
          <a:lstStyle/>
          <a:p>
            <a:pPr marL="0" indent="0">
              <a:buNone/>
            </a:pPr>
            <a:r>
              <a:rPr lang="en-US" sz="1700" b="1" dirty="0">
                <a:solidFill>
                  <a:srgbClr val="C44E52"/>
                </a:solidFill>
                <a:latin typeface="Georgia" pitchFamily="34" charset="0"/>
                <a:ea typeface="Georgia" pitchFamily="34" charset="-122"/>
                <a:cs typeface="Georgia" pitchFamily="34" charset="-120"/>
              </a:rPr>
              <a:t>More families</a:t>
            </a:r>
            <a:endParaRPr lang="en-US" sz="1700" dirty="0"/>
          </a:p>
        </p:txBody>
      </p:sp>
      <p:sp>
        <p:nvSpPr>
          <p:cNvPr id="11" name="Text 9"/>
          <p:cNvSpPr/>
          <p:nvPr/>
        </p:nvSpPr>
        <p:spPr>
          <a:xfrm>
            <a:off x="4343400" y="3063240"/>
            <a:ext cx="7772400" cy="640080"/>
          </a:xfrm>
          <a:prstGeom prst="rect">
            <a:avLst/>
          </a:prstGeom>
          <a:noFill/>
          <a:ln/>
        </p:spPr>
        <p:txBody>
          <a:bodyPr wrap="square" lIns="0" tIns="0" rIns="0" bIns="0" rtlCol="0" anchor="t"/>
          <a:lstStyle/>
          <a:p>
            <a:pPr marL="0" indent="0">
              <a:buNone/>
            </a:pPr>
            <a:r>
              <a:rPr lang="en-US" sz="1500" dirty="0">
                <a:solidFill>
                  <a:srgbClr val="23262F"/>
                </a:solidFill>
                <a:latin typeface="Calibri" pitchFamily="34" charset="0"/>
                <a:ea typeface="Calibri" pitchFamily="34" charset="-122"/>
                <a:cs typeface="Calibri" pitchFamily="34" charset="-120"/>
              </a:rPr>
              <a:t>Gemma-3, LLaVA-OneVision — map how general the language effect is.</a:t>
            </a:r>
            <a:endParaRPr lang="en-US" sz="1500" dirty="0"/>
          </a:p>
        </p:txBody>
      </p:sp>
      <p:sp>
        <p:nvSpPr>
          <p:cNvPr id="12" name="Shape 10"/>
          <p:cNvSpPr/>
          <p:nvPr/>
        </p:nvSpPr>
        <p:spPr>
          <a:xfrm>
            <a:off x="685800" y="4151376"/>
            <a:ext cx="384048" cy="384048"/>
          </a:xfrm>
          <a:prstGeom prst="ellipse">
            <a:avLst/>
          </a:prstGeom>
          <a:solidFill>
            <a:srgbClr val="1B1F3B"/>
          </a:solidFill>
          <a:ln/>
        </p:spPr>
        <p:txBody>
          <a:bodyPr/>
          <a:lstStyle/>
          <a:p>
            <a:endParaRPr lang="zh-CN" altLang="en-US"/>
          </a:p>
        </p:txBody>
      </p:sp>
      <p:sp>
        <p:nvSpPr>
          <p:cNvPr id="13" name="Text 11"/>
          <p:cNvSpPr/>
          <p:nvPr/>
        </p:nvSpPr>
        <p:spPr>
          <a:xfrm>
            <a:off x="685800" y="4151376"/>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14" name="Text 12"/>
          <p:cNvSpPr/>
          <p:nvPr/>
        </p:nvSpPr>
        <p:spPr>
          <a:xfrm>
            <a:off x="1325880" y="4087368"/>
            <a:ext cx="2926080" cy="457200"/>
          </a:xfrm>
          <a:prstGeom prst="rect">
            <a:avLst/>
          </a:prstGeom>
          <a:noFill/>
          <a:ln/>
        </p:spPr>
        <p:txBody>
          <a:bodyPr wrap="square" lIns="0" tIns="0" rIns="0" bIns="0" rtlCol="0" anchor="ctr"/>
          <a:lstStyle/>
          <a:p>
            <a:pPr marL="0" indent="0">
              <a:buNone/>
            </a:pPr>
            <a:r>
              <a:rPr lang="en-US" sz="1700" b="1" dirty="0">
                <a:solidFill>
                  <a:srgbClr val="C44E52"/>
                </a:solidFill>
                <a:latin typeface="Georgia" pitchFamily="34" charset="0"/>
                <a:ea typeface="Georgia" pitchFamily="34" charset="-122"/>
                <a:cs typeface="Georgia" pitchFamily="34" charset="-120"/>
              </a:rPr>
              <a:t>Shortcut-severing</a:t>
            </a:r>
            <a:endParaRPr lang="en-US" sz="1700" dirty="0"/>
          </a:p>
        </p:txBody>
      </p:sp>
      <p:sp>
        <p:nvSpPr>
          <p:cNvPr id="15" name="Text 13"/>
          <p:cNvSpPr/>
          <p:nvPr/>
        </p:nvSpPr>
        <p:spPr>
          <a:xfrm>
            <a:off x="4343400" y="4087368"/>
            <a:ext cx="7772400" cy="640080"/>
          </a:xfrm>
          <a:prstGeom prst="rect">
            <a:avLst/>
          </a:prstGeom>
          <a:noFill/>
          <a:ln/>
        </p:spPr>
        <p:txBody>
          <a:bodyPr wrap="square" lIns="0" tIns="0" rIns="0" bIns="0" rtlCol="0" anchor="t"/>
          <a:lstStyle/>
          <a:p>
            <a:pPr marL="0" indent="0">
              <a:buNone/>
            </a:pPr>
            <a:r>
              <a:rPr lang="en-US" sz="1500" dirty="0">
                <a:solidFill>
                  <a:srgbClr val="23262F"/>
                </a:solidFill>
                <a:latin typeface="Calibri" pitchFamily="34" charset="0"/>
                <a:ea typeface="Calibri" pitchFamily="34" charset="-122"/>
                <a:cs typeface="Calibri" pitchFamily="34" charset="-120"/>
              </a:rPr>
              <a:t>Remove prototype cues — is stable correctness actually grounded?</a:t>
            </a:r>
            <a:endParaRPr lang="en-US" sz="1500" dirty="0"/>
          </a:p>
        </p:txBody>
      </p:sp>
      <p:sp>
        <p:nvSpPr>
          <p:cNvPr id="16" name="Shape 14"/>
          <p:cNvSpPr/>
          <p:nvPr/>
        </p:nvSpPr>
        <p:spPr>
          <a:xfrm>
            <a:off x="685800" y="5175504"/>
            <a:ext cx="384048" cy="384048"/>
          </a:xfrm>
          <a:prstGeom prst="ellipse">
            <a:avLst/>
          </a:prstGeom>
          <a:solidFill>
            <a:srgbClr val="1B1F3B"/>
          </a:solidFill>
          <a:ln/>
        </p:spPr>
        <p:txBody>
          <a:bodyPr/>
          <a:lstStyle/>
          <a:p>
            <a:endParaRPr lang="zh-CN" altLang="en-US"/>
          </a:p>
        </p:txBody>
      </p:sp>
      <p:sp>
        <p:nvSpPr>
          <p:cNvPr id="17" name="Text 15"/>
          <p:cNvSpPr/>
          <p:nvPr/>
        </p:nvSpPr>
        <p:spPr>
          <a:xfrm>
            <a:off x="685800" y="5175504"/>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18" name="Text 16"/>
          <p:cNvSpPr/>
          <p:nvPr/>
        </p:nvSpPr>
        <p:spPr>
          <a:xfrm>
            <a:off x="1325880" y="5111496"/>
            <a:ext cx="2926080" cy="457200"/>
          </a:xfrm>
          <a:prstGeom prst="rect">
            <a:avLst/>
          </a:prstGeom>
          <a:noFill/>
          <a:ln/>
        </p:spPr>
        <p:txBody>
          <a:bodyPr wrap="square" lIns="0" tIns="0" rIns="0" bIns="0" rtlCol="0" anchor="ctr"/>
          <a:lstStyle/>
          <a:p>
            <a:pPr marL="0" indent="0">
              <a:buNone/>
            </a:pPr>
            <a:r>
              <a:rPr lang="en-US" sz="1700" b="1" dirty="0">
                <a:solidFill>
                  <a:srgbClr val="C44E52"/>
                </a:solidFill>
                <a:latin typeface="Georgia" pitchFamily="34" charset="0"/>
                <a:ea typeface="Georgia" pitchFamily="34" charset="-122"/>
                <a:cs typeface="Georgia" pitchFamily="34" charset="-120"/>
              </a:rPr>
              <a:t>Pin down language</a:t>
            </a:r>
            <a:endParaRPr lang="en-US" sz="1700" dirty="0"/>
          </a:p>
        </p:txBody>
      </p:sp>
      <p:sp>
        <p:nvSpPr>
          <p:cNvPr id="19" name="Text 17"/>
          <p:cNvSpPr/>
          <p:nvPr/>
        </p:nvSpPr>
        <p:spPr>
          <a:xfrm>
            <a:off x="4343400" y="5111496"/>
            <a:ext cx="7772400" cy="640080"/>
          </a:xfrm>
          <a:prstGeom prst="rect">
            <a:avLst/>
          </a:prstGeom>
          <a:noFill/>
          <a:ln/>
        </p:spPr>
        <p:txBody>
          <a:bodyPr wrap="square" lIns="0" tIns="0" rIns="0" bIns="0" rtlCol="0" anchor="t"/>
          <a:lstStyle/>
          <a:p>
            <a:pPr marL="0" indent="0">
              <a:buNone/>
            </a:pPr>
            <a:r>
              <a:rPr lang="en-US" sz="1500" dirty="0">
                <a:solidFill>
                  <a:srgbClr val="23262F"/>
                </a:solidFill>
                <a:latin typeface="Calibri" pitchFamily="34" charset="0"/>
                <a:ea typeface="Calibri" pitchFamily="34" charset="-122"/>
                <a:cs typeface="Calibri" pitchFamily="34" charset="-120"/>
              </a:rPr>
              <a:t>Disentangle resource vs script vs cultural loading behind the ar / bn / el spike.</a:t>
            </a:r>
            <a:endParaRPr lang="en-US" sz="1500" dirty="0"/>
          </a:p>
        </p:txBody>
      </p:sp>
      <p:sp>
        <p:nvSpPr>
          <p:cNvPr id="20" name="Text 18"/>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1F3B"/>
        </a:solidFill>
        <a:effectLst/>
      </p:bgPr>
    </p:bg>
    <p:spTree>
      <p:nvGrpSpPr>
        <p:cNvPr id="1" name=""/>
        <p:cNvGrpSpPr/>
        <p:nvPr/>
      </p:nvGrpSpPr>
      <p:grpSpPr>
        <a:xfrm>
          <a:off x="0" y="0"/>
          <a:ext cx="0" cy="0"/>
          <a:chOff x="0" y="0"/>
          <a:chExt cx="0" cy="0"/>
        </a:xfrm>
      </p:grpSpPr>
      <p:sp>
        <p:nvSpPr>
          <p:cNvPr id="2" name="Shape 0"/>
          <p:cNvSpPr/>
          <p:nvPr/>
        </p:nvSpPr>
        <p:spPr>
          <a:xfrm>
            <a:off x="685800" y="2286000"/>
            <a:ext cx="109728" cy="109728"/>
          </a:xfrm>
          <a:prstGeom prst="ellipse">
            <a:avLst/>
          </a:prstGeom>
          <a:solidFill>
            <a:srgbClr val="C44E52"/>
          </a:solidFill>
          <a:ln/>
        </p:spPr>
        <p:txBody>
          <a:bodyPr/>
          <a:lstStyle/>
          <a:p>
            <a:endParaRPr lang="zh-CN" altLang="en-US"/>
          </a:p>
        </p:txBody>
      </p:sp>
      <p:sp>
        <p:nvSpPr>
          <p:cNvPr id="3" name="Shape 1"/>
          <p:cNvSpPr/>
          <p:nvPr/>
        </p:nvSpPr>
        <p:spPr>
          <a:xfrm>
            <a:off x="886968" y="2286000"/>
            <a:ext cx="109728" cy="109728"/>
          </a:xfrm>
          <a:prstGeom prst="ellipse">
            <a:avLst/>
          </a:prstGeom>
          <a:solidFill>
            <a:srgbClr val="4C72B0"/>
          </a:solidFill>
          <a:ln/>
        </p:spPr>
        <p:txBody>
          <a:bodyPr/>
          <a:lstStyle/>
          <a:p>
            <a:endParaRPr lang="zh-CN" altLang="en-US"/>
          </a:p>
        </p:txBody>
      </p:sp>
      <p:sp>
        <p:nvSpPr>
          <p:cNvPr id="4" name="Shape 2"/>
          <p:cNvSpPr/>
          <p:nvPr/>
        </p:nvSpPr>
        <p:spPr>
          <a:xfrm>
            <a:off x="1088136" y="2286000"/>
            <a:ext cx="109728" cy="109728"/>
          </a:xfrm>
          <a:prstGeom prst="ellipse">
            <a:avLst/>
          </a:prstGeom>
          <a:solidFill>
            <a:srgbClr val="55A868"/>
          </a:solidFill>
          <a:ln/>
        </p:spPr>
        <p:txBody>
          <a:bodyPr/>
          <a:lstStyle/>
          <a:p>
            <a:endParaRPr lang="zh-CN" altLang="en-US"/>
          </a:p>
        </p:txBody>
      </p:sp>
      <p:sp>
        <p:nvSpPr>
          <p:cNvPr id="5" name="Text 3"/>
          <p:cNvSpPr/>
          <p:nvPr/>
        </p:nvSpPr>
        <p:spPr>
          <a:xfrm>
            <a:off x="685800" y="2651760"/>
            <a:ext cx="10789920" cy="1097280"/>
          </a:xfrm>
          <a:prstGeom prst="rect">
            <a:avLst/>
          </a:prstGeom>
          <a:noFill/>
          <a:ln/>
        </p:spPr>
        <p:txBody>
          <a:bodyPr wrap="square" lIns="0" tIns="0" rIns="0" bIns="0" rtlCol="0" anchor="ctr"/>
          <a:lstStyle/>
          <a:p>
            <a:pPr marL="0" indent="0">
              <a:buNone/>
            </a:pPr>
            <a:r>
              <a:rPr lang="en-US" sz="4000" b="1" dirty="0">
                <a:solidFill>
                  <a:srgbClr val="FFFFFF"/>
                </a:solidFill>
                <a:latin typeface="Georgia" pitchFamily="34" charset="0"/>
                <a:ea typeface="Georgia" pitchFamily="34" charset="-122"/>
                <a:cs typeface="Georgia" pitchFamily="34" charset="-120"/>
              </a:rPr>
              <a:t>Thank you — questions?</a:t>
            </a:r>
            <a:endParaRPr lang="en-US" sz="4000" dirty="0"/>
          </a:p>
        </p:txBody>
      </p:sp>
      <p:sp>
        <p:nvSpPr>
          <p:cNvPr id="6" name="Text 4"/>
          <p:cNvSpPr/>
          <p:nvPr/>
        </p:nvSpPr>
        <p:spPr>
          <a:xfrm>
            <a:off x="685800" y="4114800"/>
            <a:ext cx="10789920" cy="914400"/>
          </a:xfrm>
          <a:prstGeom prst="rect">
            <a:avLst/>
          </a:prstGeom>
          <a:noFill/>
          <a:ln/>
        </p:spPr>
        <p:txBody>
          <a:bodyPr wrap="square" lIns="0" tIns="0" rIns="0" bIns="0" rtlCol="0" anchor="ctr"/>
          <a:lstStyle/>
          <a:p>
            <a:pPr marL="0" indent="0">
              <a:spcAft>
                <a:spcPts val="800"/>
              </a:spcAft>
              <a:buNone/>
            </a:pPr>
            <a:r>
              <a:rPr lang="en-US" sz="1500" dirty="0">
                <a:solidFill>
                  <a:srgbClr val="C9D2EC"/>
                </a:solidFill>
                <a:latin typeface="Calibri" pitchFamily="34" charset="0"/>
                <a:ea typeface="Calibri" pitchFamily="34" charset="-122"/>
                <a:cs typeface="Calibri" pitchFamily="34" charset="-120"/>
              </a:rPr>
              <a:t>Built &amp; ran the first multilingual, multi-model ProtoBias pipeline — 7 languages, 2 model families.</a:t>
            </a:r>
            <a:endParaRPr lang="en-US" sz="1500" dirty="0"/>
          </a:p>
          <a:p>
            <a:pPr marL="0" indent="0">
              <a:spcAft>
                <a:spcPts val="800"/>
              </a:spcAft>
              <a:buNone/>
            </a:pPr>
            <a:r>
              <a:rPr lang="en-US" sz="1500" b="1" dirty="0">
                <a:solidFill>
                  <a:srgbClr val="C44E52"/>
                </a:solidFill>
                <a:latin typeface="Calibri" pitchFamily="34" charset="0"/>
                <a:ea typeface="Calibri" pitchFamily="34" charset="-122"/>
                <a:cs typeface="Calibri" pitchFamily="34" charset="-120"/>
              </a:rPr>
              <a:t>github.com/xchuan-li/cross_lingual_protobias</a:t>
            </a:r>
            <a:endParaRPr lang="en-US" sz="1500" dirty="0"/>
          </a:p>
        </p:txBody>
      </p:sp>
      <p:sp>
        <p:nvSpPr>
          <p:cNvPr id="7" name="Text 5"/>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9AA0B0"/>
                </a:solidFill>
                <a:latin typeface="Calibri" pitchFamily="34" charset="0"/>
                <a:ea typeface="Calibri" pitchFamily="34" charset="-122"/>
                <a:cs typeface="Calibri" pitchFamily="34" charset="-120"/>
              </a:rPr>
              <a:t>BACKUP</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2808"/>
              </a:lnSpc>
              <a:buNone/>
            </a:pPr>
            <a:r>
              <a:rPr lang="en-US" sz="2600" b="1" dirty="0">
                <a:solidFill>
                  <a:srgbClr val="23262F"/>
                </a:solidFill>
                <a:latin typeface="Georgia" pitchFamily="34" charset="0"/>
                <a:ea typeface="Georgia" pitchFamily="34" charset="-122"/>
                <a:cs typeface="Georgia" pitchFamily="34" charset="-120"/>
              </a:rPr>
              <a:t>Full cross-model summary</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2011680" y="1920240"/>
          <a:ext cx="8138160" cy="914400"/>
        </p:xfrm>
        <a:graphic>
          <a:graphicData uri="http://schemas.openxmlformats.org/drawingml/2006/table">
            <a:tbl>
              <a:tblPr/>
              <a:tblGrid>
                <a:gridCol w="320040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457200">
                <a:tc>
                  <a:txBody>
                    <a:bodyPr/>
                    <a:lstStyle/>
                    <a:p>
                      <a:pPr marL="0" indent="0">
                        <a:buNone/>
                      </a:pPr>
                      <a:endParaRPr lang="en-US" sz="120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Qwen2.5-VL-7B</a:t>
                      </a:r>
                      <a:endParaRPr lang="en-US" sz="120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InternVL3-8B</a:t>
                      </a:r>
                      <a:endParaRPr lang="en-US" sz="120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extLst>
                  <a:ext uri="{0D108BD9-81ED-4DB2-BD59-A6C34878D82A}">
                    <a16:rowId xmlns:a16="http://schemas.microsoft.com/office/drawing/2014/main" val="10000"/>
                  </a:ext>
                </a:extLst>
              </a:tr>
              <a:tr h="457200">
                <a:tc>
                  <a:txBody>
                    <a:bodyPr/>
                    <a:lstStyle/>
                    <a:p>
                      <a:pPr marL="0" indent="0" algn="ctr">
                        <a:buNone/>
                      </a:pPr>
                      <a:r>
                        <a:rPr lang="en-US" sz="1250" b="1" dirty="0">
                          <a:solidFill>
                            <a:srgbClr val="23262F"/>
                          </a:solidFill>
                          <a:latin typeface="Calibri" pitchFamily="34" charset="0"/>
                          <a:ea typeface="Calibri" pitchFamily="34" charset="-122"/>
                          <a:cs typeface="Calibri" pitchFamily="34" charset="-120"/>
                        </a:rPr>
                        <a:t>overall error rate</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0.547</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0.585</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ctr">
                        <a:buNone/>
                      </a:pPr>
                      <a:r>
                        <a:rPr lang="en-US" sz="1250" b="1" dirty="0">
                          <a:solidFill>
                            <a:srgbClr val="23262F"/>
                          </a:solidFill>
                          <a:latin typeface="Calibri" pitchFamily="34" charset="0"/>
                          <a:ea typeface="Calibri" pitchFamily="34" charset="-122"/>
                          <a:cs typeface="Calibri" pitchFamily="34" charset="-120"/>
                        </a:rPr>
                        <a:t>attribute effect (LRT p)</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C44E52"/>
                          </a:solidFill>
                          <a:latin typeface="Calibri" pitchFamily="34" charset="0"/>
                          <a:ea typeface="Calibri" pitchFamily="34" charset="-122"/>
                          <a:cs typeface="Calibri" pitchFamily="34" charset="-120"/>
                        </a:rPr>
                        <a:t>2.1×10⁻¹⁴</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C44E52"/>
                          </a:solidFill>
                          <a:latin typeface="Calibri" pitchFamily="34" charset="0"/>
                          <a:ea typeface="Calibri" pitchFamily="34" charset="-122"/>
                          <a:cs typeface="Calibri" pitchFamily="34" charset="-120"/>
                        </a:rPr>
                        <a:t>2.7×10⁻¹⁴</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ctr">
                        <a:buNone/>
                      </a:pPr>
                      <a:r>
                        <a:rPr lang="en-US" sz="1250" b="1" dirty="0">
                          <a:solidFill>
                            <a:srgbClr val="23262F"/>
                          </a:solidFill>
                          <a:latin typeface="Calibri" pitchFamily="34" charset="0"/>
                          <a:ea typeface="Calibri" pitchFamily="34" charset="-122"/>
                          <a:cs typeface="Calibri" pitchFamily="34" charset="-120"/>
                        </a:rPr>
                        <a:t>Wealth odds ratio</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3.67</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3.09</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ctr">
                        <a:buNone/>
                      </a:pPr>
                      <a:r>
                        <a:rPr lang="en-US" sz="1250" b="1" dirty="0">
                          <a:solidFill>
                            <a:srgbClr val="23262F"/>
                          </a:solidFill>
                          <a:latin typeface="Calibri" pitchFamily="34" charset="0"/>
                          <a:ea typeface="Calibri" pitchFamily="34" charset="-122"/>
                          <a:cs typeface="Calibri" pitchFamily="34" charset="-120"/>
                        </a:rPr>
                        <a:t>language effect (LRT p)</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C44E52"/>
                          </a:solidFill>
                          <a:latin typeface="Calibri" pitchFamily="34" charset="0"/>
                          <a:ea typeface="Calibri" pitchFamily="34" charset="-122"/>
                          <a:cs typeface="Calibri" pitchFamily="34" charset="-120"/>
                        </a:rPr>
                        <a:t>0.024</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C44E52"/>
                          </a:solidFill>
                          <a:latin typeface="Calibri" pitchFamily="34" charset="0"/>
                          <a:ea typeface="Calibri" pitchFamily="34" charset="-122"/>
                          <a:cs typeface="Calibri" pitchFamily="34" charset="-120"/>
                        </a:rPr>
                        <a:t>0.0085</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lgn="ctr">
                        <a:buNone/>
                      </a:pPr>
                      <a:r>
                        <a:rPr lang="en-US" sz="1250" b="1" dirty="0">
                          <a:solidFill>
                            <a:srgbClr val="23262F"/>
                          </a:solidFill>
                          <a:latin typeface="Calibri" pitchFamily="34" charset="0"/>
                          <a:ea typeface="Calibri" pitchFamily="34" charset="-122"/>
                          <a:cs typeface="Calibri" pitchFamily="34" charset="-120"/>
                        </a:rPr>
                        <a:t>Greek / Bengali OR</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1.49 / 1.60</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1.72 / 1.41</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lgn="ctr">
                        <a:buNone/>
                      </a:pPr>
                      <a:r>
                        <a:rPr lang="en-US" sz="1250" b="1" dirty="0">
                          <a:solidFill>
                            <a:srgbClr val="23262F"/>
                          </a:solidFill>
                          <a:latin typeface="Calibri" pitchFamily="34" charset="0"/>
                          <a:ea typeface="Calibri" pitchFamily="34" charset="-122"/>
                          <a:cs typeface="Calibri" pitchFamily="34" charset="-120"/>
                        </a:rPr>
                        <a:t>Wealth stable-bias rate</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0.58</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0.45</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6"/>
                  </a:ext>
                </a:extLst>
              </a:tr>
              <a:tr h="457200">
                <a:tc>
                  <a:txBody>
                    <a:bodyPr/>
                    <a:lstStyle/>
                    <a:p>
                      <a:pPr marL="0" indent="0" algn="ctr">
                        <a:buNone/>
                      </a:pPr>
                      <a:r>
                        <a:rPr lang="en-US" sz="1250" b="1" dirty="0">
                          <a:solidFill>
                            <a:srgbClr val="23262F"/>
                          </a:solidFill>
                          <a:latin typeface="Calibri" pitchFamily="34" charset="0"/>
                          <a:ea typeface="Calibri" pitchFamily="34" charset="-122"/>
                          <a:cs typeface="Calibri" pitchFamily="34" charset="-120"/>
                        </a:rPr>
                        <a:t>cross-lingual flip rate</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0.65</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0.69</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5" name="Text 2"/>
          <p:cNvSpPr/>
          <p:nvPr/>
        </p:nvSpPr>
        <p:spPr>
          <a:xfrm>
            <a:off x="2011680" y="5943600"/>
            <a:ext cx="8138160" cy="274320"/>
          </a:xfrm>
          <a:prstGeom prst="rect">
            <a:avLst/>
          </a:prstGeom>
          <a:noFill/>
          <a:ln/>
        </p:spPr>
        <p:txBody>
          <a:bodyPr wrap="square" lIns="0" tIns="0" rIns="0" bIns="0" rtlCol="0" anchor="ctr"/>
          <a:lstStyle/>
          <a:p>
            <a:pPr marL="0" indent="0" algn="ctr">
              <a:buNone/>
            </a:pPr>
            <a:r>
              <a:rPr lang="en-US" sz="1050" i="1" dirty="0">
                <a:solidFill>
                  <a:srgbClr val="9AA0B0"/>
                </a:solidFill>
                <a:latin typeface="Calibri" pitchFamily="34" charset="0"/>
                <a:ea typeface="Calibri" pitchFamily="34" charset="-122"/>
                <a:cs typeface="Calibri" pitchFamily="34" charset="-120"/>
              </a:rPr>
              <a:t>Item-clustered mixed-effects logistic regression; back-translation QA; numpy/scipy, no statsmodels.</a:t>
            </a:r>
            <a:endParaRPr lang="en-US" sz="1050" dirty="0"/>
          </a:p>
        </p:txBody>
      </p:sp>
      <p:sp>
        <p:nvSpPr>
          <p:cNvPr id="6"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9AA0B0"/>
                </a:solidFill>
                <a:latin typeface="Calibri" pitchFamily="34" charset="0"/>
                <a:ea typeface="Calibri" pitchFamily="34" charset="-122"/>
                <a:cs typeface="Calibri" pitchFamily="34" charset="-120"/>
              </a:rPr>
              <a:t>BACKUP · METHODS</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2916"/>
              </a:lnSpc>
              <a:buNone/>
            </a:pPr>
            <a:r>
              <a:rPr lang="en-US" sz="2700" b="1" dirty="0">
                <a:solidFill>
                  <a:srgbClr val="23262F"/>
                </a:solidFill>
                <a:latin typeface="Georgia" pitchFamily="34" charset="0"/>
                <a:ea typeface="Georgia" pitchFamily="34" charset="-122"/>
                <a:cs typeface="Georgia" pitchFamily="34" charset="-120"/>
              </a:rPr>
              <a:t>Why InternVL3-8B as the second model</a:t>
            </a:r>
            <a:endParaRPr lang="en-US" sz="2700" dirty="0"/>
          </a:p>
        </p:txBody>
      </p:sp>
      <p:sp>
        <p:nvSpPr>
          <p:cNvPr id="4" name="Text 2"/>
          <p:cNvSpPr/>
          <p:nvPr/>
        </p:nvSpPr>
        <p:spPr>
          <a:xfrm>
            <a:off x="685800" y="1645920"/>
            <a:ext cx="10820095" cy="457200"/>
          </a:xfrm>
          <a:prstGeom prst="rect">
            <a:avLst/>
          </a:prstGeom>
          <a:noFill/>
          <a:ln/>
        </p:spPr>
        <p:txBody>
          <a:bodyPr wrap="square" lIns="0" tIns="0" rIns="0" bIns="0" rtlCol="0" anchor="ctr"/>
          <a:lstStyle/>
          <a:p>
            <a:pPr marL="0" indent="0">
              <a:buNone/>
            </a:pPr>
            <a:r>
              <a:rPr lang="en-US" sz="1500" i="1" dirty="0">
                <a:solidFill>
                  <a:srgbClr val="5A6072"/>
                </a:solidFill>
                <a:latin typeface="Calibri" pitchFamily="34" charset="0"/>
                <a:ea typeface="Calibri" pitchFamily="34" charset="-122"/>
                <a:cs typeface="Calibri" pitchFamily="34" charset="-120"/>
              </a:rPr>
              <a:t>Goal: rule out “it's just a Qwen quirk.” A second, independent family tests whether the finding generalizes.</a:t>
            </a:r>
            <a:endParaRPr lang="en-US" sz="1500" dirty="0"/>
          </a:p>
        </p:txBody>
      </p:sp>
      <p:sp>
        <p:nvSpPr>
          <p:cNvPr id="5" name="Shape 3"/>
          <p:cNvSpPr/>
          <p:nvPr/>
        </p:nvSpPr>
        <p:spPr>
          <a:xfrm>
            <a:off x="685800" y="2450592"/>
            <a:ext cx="384048" cy="384048"/>
          </a:xfrm>
          <a:prstGeom prst="ellipse">
            <a:avLst/>
          </a:prstGeom>
          <a:solidFill>
            <a:srgbClr val="C44E52"/>
          </a:solidFill>
          <a:ln/>
        </p:spPr>
        <p:txBody>
          <a:bodyPr/>
          <a:lstStyle/>
          <a:p>
            <a:endParaRPr lang="zh-CN" altLang="en-US"/>
          </a:p>
        </p:txBody>
      </p:sp>
      <p:sp>
        <p:nvSpPr>
          <p:cNvPr id="6" name="Text 4"/>
          <p:cNvSpPr/>
          <p:nvPr/>
        </p:nvSpPr>
        <p:spPr>
          <a:xfrm>
            <a:off x="685800" y="245059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7" name="Text 5"/>
          <p:cNvSpPr/>
          <p:nvPr/>
        </p:nvSpPr>
        <p:spPr>
          <a:xfrm>
            <a:off x="1280160" y="2404872"/>
            <a:ext cx="3383280" cy="457200"/>
          </a:xfrm>
          <a:prstGeom prst="rect">
            <a:avLst/>
          </a:prstGeom>
          <a:noFill/>
          <a:ln/>
        </p:spPr>
        <p:txBody>
          <a:bodyPr wrap="square" lIns="0" tIns="0" rIns="0" bIns="0" rtlCol="0" anchor="t"/>
          <a:lstStyle/>
          <a:p>
            <a:pPr marL="0" indent="0">
              <a:buNone/>
            </a:pPr>
            <a:r>
              <a:rPr lang="en-US" sz="1600" b="1" dirty="0">
                <a:solidFill>
                  <a:srgbClr val="23262F"/>
                </a:solidFill>
                <a:latin typeface="Georgia" pitchFamily="34" charset="0"/>
                <a:ea typeface="Georgia" pitchFamily="34" charset="-122"/>
                <a:cs typeface="Georgia" pitchFamily="34" charset="-120"/>
              </a:rPr>
              <a:t>Different family</a:t>
            </a:r>
            <a:endParaRPr lang="en-US" sz="1600" dirty="0"/>
          </a:p>
        </p:txBody>
      </p:sp>
      <p:sp>
        <p:nvSpPr>
          <p:cNvPr id="8" name="Text 6"/>
          <p:cNvSpPr/>
          <p:nvPr/>
        </p:nvSpPr>
        <p:spPr>
          <a:xfrm>
            <a:off x="4754880" y="2404872"/>
            <a:ext cx="7406640" cy="777240"/>
          </a:xfrm>
          <a:prstGeom prst="rect">
            <a:avLst/>
          </a:prstGeom>
          <a:noFill/>
          <a:ln/>
        </p:spPr>
        <p:txBody>
          <a:bodyPr wrap="square" lIns="0" tIns="0" rIns="0" bIns="0" rtlCol="0" anchor="t"/>
          <a:lstStyle/>
          <a:p>
            <a:pPr marL="0" indent="0">
              <a:buNone/>
            </a:pPr>
            <a:r>
              <a:rPr lang="en-US" sz="1400" dirty="0">
                <a:solidFill>
                  <a:srgbClr val="5A6072"/>
                </a:solidFill>
                <a:latin typeface="Calibri" pitchFamily="34" charset="0"/>
                <a:ea typeface="Calibri" pitchFamily="34" charset="-122"/>
                <a:cs typeface="Calibri" pitchFamily="34" charset="-120"/>
              </a:rPr>
              <a:t>OpenGVLab, not Alibaba — independent architecture and training, not a Qwen variant.</a:t>
            </a:r>
            <a:endParaRPr lang="en-US" sz="1400" dirty="0"/>
          </a:p>
        </p:txBody>
      </p:sp>
      <p:sp>
        <p:nvSpPr>
          <p:cNvPr id="9" name="Shape 7"/>
          <p:cNvSpPr/>
          <p:nvPr/>
        </p:nvSpPr>
        <p:spPr>
          <a:xfrm>
            <a:off x="685800" y="3383280"/>
            <a:ext cx="384048" cy="384048"/>
          </a:xfrm>
          <a:prstGeom prst="ellipse">
            <a:avLst/>
          </a:prstGeom>
          <a:solidFill>
            <a:srgbClr val="4C72B0"/>
          </a:solidFill>
          <a:ln/>
        </p:spPr>
        <p:txBody>
          <a:bodyPr/>
          <a:lstStyle/>
          <a:p>
            <a:endParaRPr lang="zh-CN" altLang="en-US"/>
          </a:p>
        </p:txBody>
      </p:sp>
      <p:sp>
        <p:nvSpPr>
          <p:cNvPr id="10" name="Text 8"/>
          <p:cNvSpPr/>
          <p:nvPr/>
        </p:nvSpPr>
        <p:spPr>
          <a:xfrm>
            <a:off x="685800" y="338328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1" name="Text 9"/>
          <p:cNvSpPr/>
          <p:nvPr/>
        </p:nvSpPr>
        <p:spPr>
          <a:xfrm>
            <a:off x="1280160" y="3337560"/>
            <a:ext cx="3383280" cy="457200"/>
          </a:xfrm>
          <a:prstGeom prst="rect">
            <a:avLst/>
          </a:prstGeom>
          <a:noFill/>
          <a:ln/>
        </p:spPr>
        <p:txBody>
          <a:bodyPr wrap="square" lIns="0" tIns="0" rIns="0" bIns="0" rtlCol="0" anchor="t"/>
          <a:lstStyle/>
          <a:p>
            <a:pPr marL="0" indent="0">
              <a:buNone/>
            </a:pPr>
            <a:r>
              <a:rPr lang="en-US" sz="1600" b="1" dirty="0">
                <a:solidFill>
                  <a:srgbClr val="23262F"/>
                </a:solidFill>
                <a:latin typeface="Georgia" pitchFamily="34" charset="0"/>
                <a:ea typeface="Georgia" pitchFamily="34" charset="-122"/>
                <a:cs typeface="Georgia" pitchFamily="34" charset="-120"/>
              </a:rPr>
              <a:t>Size-matched</a:t>
            </a:r>
            <a:endParaRPr lang="en-US" sz="1600" dirty="0"/>
          </a:p>
        </p:txBody>
      </p:sp>
      <p:sp>
        <p:nvSpPr>
          <p:cNvPr id="12" name="Text 10"/>
          <p:cNvSpPr/>
          <p:nvPr/>
        </p:nvSpPr>
        <p:spPr>
          <a:xfrm>
            <a:off x="4754880" y="3337560"/>
            <a:ext cx="7406640" cy="777240"/>
          </a:xfrm>
          <a:prstGeom prst="rect">
            <a:avLst/>
          </a:prstGeom>
          <a:noFill/>
          <a:ln/>
        </p:spPr>
        <p:txBody>
          <a:bodyPr wrap="square" lIns="0" tIns="0" rIns="0" bIns="0" rtlCol="0" anchor="t"/>
          <a:lstStyle/>
          <a:p>
            <a:pPr marL="0" indent="0">
              <a:buNone/>
            </a:pPr>
            <a:r>
              <a:rPr lang="en-US" sz="1400" dirty="0">
                <a:solidFill>
                  <a:srgbClr val="5A6072"/>
                </a:solidFill>
                <a:latin typeface="Calibri" pitchFamily="34" charset="0"/>
                <a:ea typeface="Calibri" pitchFamily="34" charset="-122"/>
                <a:cs typeface="Calibri" pitchFamily="34" charset="-120"/>
              </a:rPr>
              <a:t>≈8B vs Qwen's 7B — controls for scale, so a difference isn't “one is far bigger.”</a:t>
            </a:r>
            <a:endParaRPr lang="en-US" sz="1400" dirty="0"/>
          </a:p>
        </p:txBody>
      </p:sp>
      <p:sp>
        <p:nvSpPr>
          <p:cNvPr id="13" name="Shape 11"/>
          <p:cNvSpPr/>
          <p:nvPr/>
        </p:nvSpPr>
        <p:spPr>
          <a:xfrm>
            <a:off x="685800" y="4315968"/>
            <a:ext cx="384048" cy="384048"/>
          </a:xfrm>
          <a:prstGeom prst="ellipse">
            <a:avLst/>
          </a:prstGeom>
          <a:solidFill>
            <a:srgbClr val="55A868"/>
          </a:solidFill>
          <a:ln/>
        </p:spPr>
        <p:txBody>
          <a:bodyPr/>
          <a:lstStyle/>
          <a:p>
            <a:endParaRPr lang="zh-CN" altLang="en-US"/>
          </a:p>
        </p:txBody>
      </p:sp>
      <p:sp>
        <p:nvSpPr>
          <p:cNvPr id="14" name="Text 12"/>
          <p:cNvSpPr/>
          <p:nvPr/>
        </p:nvSpPr>
        <p:spPr>
          <a:xfrm>
            <a:off x="685800" y="431596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15" name="Text 13"/>
          <p:cNvSpPr/>
          <p:nvPr/>
        </p:nvSpPr>
        <p:spPr>
          <a:xfrm>
            <a:off x="1280160" y="4270248"/>
            <a:ext cx="3383280" cy="457200"/>
          </a:xfrm>
          <a:prstGeom prst="rect">
            <a:avLst/>
          </a:prstGeom>
          <a:noFill/>
          <a:ln/>
        </p:spPr>
        <p:txBody>
          <a:bodyPr wrap="square" lIns="0" tIns="0" rIns="0" bIns="0" rtlCol="0" anchor="t"/>
          <a:lstStyle/>
          <a:p>
            <a:pPr marL="0" indent="0">
              <a:buNone/>
            </a:pPr>
            <a:r>
              <a:rPr lang="en-US" sz="1600" b="1" dirty="0">
                <a:solidFill>
                  <a:srgbClr val="23262F"/>
                </a:solidFill>
                <a:latin typeface="Georgia" pitchFamily="34" charset="0"/>
                <a:ea typeface="Georgia" pitchFamily="34" charset="-122"/>
                <a:cs typeface="Georgia" pitchFamily="34" charset="-120"/>
              </a:rPr>
              <a:t>Strong, standard baseline</a:t>
            </a:r>
            <a:endParaRPr lang="en-US" sz="1600" dirty="0"/>
          </a:p>
        </p:txBody>
      </p:sp>
      <p:sp>
        <p:nvSpPr>
          <p:cNvPr id="16" name="Text 14"/>
          <p:cNvSpPr/>
          <p:nvPr/>
        </p:nvSpPr>
        <p:spPr>
          <a:xfrm>
            <a:off x="4754880" y="4270248"/>
            <a:ext cx="7406640" cy="777240"/>
          </a:xfrm>
          <a:prstGeom prst="rect">
            <a:avLst/>
          </a:prstGeom>
          <a:noFill/>
          <a:ln/>
        </p:spPr>
        <p:txBody>
          <a:bodyPr wrap="square" lIns="0" tIns="0" rIns="0" bIns="0" rtlCol="0" anchor="t"/>
          <a:lstStyle/>
          <a:p>
            <a:pPr marL="0" indent="0">
              <a:buNone/>
            </a:pPr>
            <a:r>
              <a:rPr lang="en-US" sz="1400" dirty="0">
                <a:solidFill>
                  <a:srgbClr val="5A6072"/>
                </a:solidFill>
                <a:latin typeface="Calibri" pitchFamily="34" charset="0"/>
                <a:ea typeface="Calibri" pitchFamily="34" charset="-122"/>
                <a:cs typeface="Calibri" pitchFamily="34" charset="-120"/>
              </a:rPr>
              <a:t>A top open VLM family widely used in papers — credible and representative.</a:t>
            </a:r>
            <a:endParaRPr lang="en-US" sz="1400" dirty="0"/>
          </a:p>
        </p:txBody>
      </p:sp>
      <p:sp>
        <p:nvSpPr>
          <p:cNvPr id="17" name="Shape 15"/>
          <p:cNvSpPr/>
          <p:nvPr/>
        </p:nvSpPr>
        <p:spPr>
          <a:xfrm>
            <a:off x="685800" y="5248656"/>
            <a:ext cx="384048" cy="384048"/>
          </a:xfrm>
          <a:prstGeom prst="ellipse">
            <a:avLst/>
          </a:prstGeom>
          <a:solidFill>
            <a:srgbClr val="1B1F3B"/>
          </a:solidFill>
          <a:ln/>
        </p:spPr>
        <p:txBody>
          <a:bodyPr/>
          <a:lstStyle/>
          <a:p>
            <a:endParaRPr lang="zh-CN" altLang="en-US"/>
          </a:p>
        </p:txBody>
      </p:sp>
      <p:sp>
        <p:nvSpPr>
          <p:cNvPr id="18" name="Text 16"/>
          <p:cNvSpPr/>
          <p:nvPr/>
        </p:nvSpPr>
        <p:spPr>
          <a:xfrm>
            <a:off x="685800" y="5248656"/>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19" name="Text 17"/>
          <p:cNvSpPr/>
          <p:nvPr/>
        </p:nvSpPr>
        <p:spPr>
          <a:xfrm>
            <a:off x="1280160" y="5202936"/>
            <a:ext cx="3383280" cy="457200"/>
          </a:xfrm>
          <a:prstGeom prst="rect">
            <a:avLst/>
          </a:prstGeom>
          <a:noFill/>
          <a:ln/>
        </p:spPr>
        <p:txBody>
          <a:bodyPr wrap="square" lIns="0" tIns="0" rIns="0" bIns="0" rtlCol="0" anchor="t"/>
          <a:lstStyle/>
          <a:p>
            <a:pPr marL="0" indent="0">
              <a:buNone/>
            </a:pPr>
            <a:r>
              <a:rPr lang="en-US" sz="1600" b="1" dirty="0">
                <a:solidFill>
                  <a:srgbClr val="23262F"/>
                </a:solidFill>
                <a:latin typeface="Georgia" pitchFamily="34" charset="0"/>
                <a:ea typeface="Georgia" pitchFamily="34" charset="-122"/>
                <a:cs typeface="Georgia" pitchFamily="34" charset="-120"/>
              </a:rPr>
              <a:t>Fits the pipeline</a:t>
            </a:r>
            <a:endParaRPr lang="en-US" sz="1600" dirty="0"/>
          </a:p>
        </p:txBody>
      </p:sp>
      <p:sp>
        <p:nvSpPr>
          <p:cNvPr id="20" name="Text 18"/>
          <p:cNvSpPr/>
          <p:nvPr/>
        </p:nvSpPr>
        <p:spPr>
          <a:xfrm>
            <a:off x="4754880" y="5202936"/>
            <a:ext cx="7406640" cy="777240"/>
          </a:xfrm>
          <a:prstGeom prst="rect">
            <a:avLst/>
          </a:prstGeom>
          <a:noFill/>
          <a:ln/>
        </p:spPr>
        <p:txBody>
          <a:bodyPr wrap="square" lIns="0" tIns="0" rIns="0" bIns="0" rtlCol="0" anchor="t"/>
          <a:lstStyle/>
          <a:p>
            <a:pPr marL="0" indent="0">
              <a:buNone/>
            </a:pPr>
            <a:r>
              <a:rPr lang="en-US" sz="1400" dirty="0">
                <a:solidFill>
                  <a:srgbClr val="5A6072"/>
                </a:solidFill>
                <a:latin typeface="Calibri" pitchFamily="34" charset="0"/>
                <a:ea typeface="Calibri" pitchFamily="34" charset="-122"/>
                <a:cs typeface="Calibri" pitchFamily="34" charset="-120"/>
              </a:rPr>
              <a:t>Multi-image and multilingual; the HF-native checkpoint loads via the standard API.</a:t>
            </a:r>
            <a:endParaRPr lang="en-US" sz="1400" dirty="0"/>
          </a:p>
        </p:txBody>
      </p:sp>
      <p:sp>
        <p:nvSpPr>
          <p:cNvPr id="21" name="Text 19"/>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9AA0B0"/>
                </a:solidFill>
                <a:latin typeface="Calibri" pitchFamily="34" charset="0"/>
                <a:ea typeface="Calibri" pitchFamily="34" charset="-122"/>
                <a:cs typeface="Calibri" pitchFamily="34" charset="-120"/>
              </a:rPr>
              <a:t>BACKUP · METHODS</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2808"/>
              </a:lnSpc>
              <a:buNone/>
            </a:pPr>
            <a:r>
              <a:rPr lang="en-US" sz="2600" b="1" dirty="0">
                <a:solidFill>
                  <a:srgbClr val="23262F"/>
                </a:solidFill>
                <a:latin typeface="Georgia" pitchFamily="34" charset="0"/>
                <a:ea typeface="Georgia" pitchFamily="34" charset="-122"/>
                <a:cs typeface="Georgia" pitchFamily="34" charset="-120"/>
              </a:rPr>
              <a:t>Mixed-effects logistic regression &amp; the LRT</a:t>
            </a:r>
            <a:endParaRPr lang="en-US" sz="2600" dirty="0"/>
          </a:p>
        </p:txBody>
      </p:sp>
      <p:sp>
        <p:nvSpPr>
          <p:cNvPr id="4" name="Text 2"/>
          <p:cNvSpPr/>
          <p:nvPr/>
        </p:nvSpPr>
        <p:spPr>
          <a:xfrm>
            <a:off x="685800" y="1691640"/>
            <a:ext cx="5303520" cy="365760"/>
          </a:xfrm>
          <a:prstGeom prst="rect">
            <a:avLst/>
          </a:prstGeom>
          <a:noFill/>
          <a:ln/>
        </p:spPr>
        <p:txBody>
          <a:bodyPr wrap="square" lIns="0" tIns="0" rIns="0" bIns="0" rtlCol="0" anchor="ctr"/>
          <a:lstStyle/>
          <a:p>
            <a:pPr marL="0" indent="0">
              <a:buNone/>
            </a:pPr>
            <a:r>
              <a:rPr lang="en-US" sz="1600" b="1" dirty="0">
                <a:solidFill>
                  <a:srgbClr val="C44E52"/>
                </a:solidFill>
                <a:latin typeface="Georgia" pitchFamily="34" charset="0"/>
                <a:ea typeface="Georgia" pitchFamily="34" charset="-122"/>
                <a:cs typeface="Georgia" pitchFamily="34" charset="-120"/>
              </a:rPr>
              <a:t>The model</a:t>
            </a:r>
            <a:endParaRPr lang="en-US" sz="1600" dirty="0"/>
          </a:p>
        </p:txBody>
      </p:sp>
      <p:sp>
        <p:nvSpPr>
          <p:cNvPr id="5" name="Shape 3"/>
          <p:cNvSpPr/>
          <p:nvPr/>
        </p:nvSpPr>
        <p:spPr>
          <a:xfrm>
            <a:off x="685800" y="2103120"/>
            <a:ext cx="5349240" cy="640080"/>
          </a:xfrm>
          <a:prstGeom prst="roundRect">
            <a:avLst>
              <a:gd name="adj" fmla="val 11429"/>
            </a:avLst>
          </a:prstGeom>
          <a:solidFill>
            <a:srgbClr val="1B1F3B"/>
          </a:solidFill>
          <a:ln/>
        </p:spPr>
        <p:txBody>
          <a:bodyPr/>
          <a:lstStyle/>
          <a:p>
            <a:endParaRPr lang="zh-CN" altLang="en-US"/>
          </a:p>
        </p:txBody>
      </p:sp>
      <p:sp>
        <p:nvSpPr>
          <p:cNvPr id="6" name="Text 4"/>
          <p:cNvSpPr/>
          <p:nvPr/>
        </p:nvSpPr>
        <p:spPr>
          <a:xfrm>
            <a:off x="685800" y="2103120"/>
            <a:ext cx="5349240" cy="640080"/>
          </a:xfrm>
          <a:prstGeom prst="rect">
            <a:avLst/>
          </a:prstGeom>
          <a:noFill/>
          <a:ln/>
        </p:spPr>
        <p:txBody>
          <a:bodyPr wrap="square" lIns="50800" tIns="50800" rIns="50800" bIns="50800" rtlCol="0" anchor="ctr"/>
          <a:lstStyle/>
          <a:p>
            <a:pPr marL="0" indent="0" algn="ctr">
              <a:buNone/>
            </a:pPr>
            <a:r>
              <a:rPr lang="en-US" sz="1250" dirty="0">
                <a:solidFill>
                  <a:srgbClr val="FFFFFF"/>
                </a:solidFill>
                <a:latin typeface="Courier New" pitchFamily="34" charset="0"/>
                <a:ea typeface="Courier New" pitchFamily="34" charset="-122"/>
                <a:cs typeface="Courier New" pitchFamily="34" charset="-120"/>
              </a:rPr>
              <a:t>picked_adv ~ socio_attr + lang + gender + (1 | item)</a:t>
            </a:r>
            <a:endParaRPr lang="en-US" sz="1250" dirty="0"/>
          </a:p>
        </p:txBody>
      </p:sp>
      <p:sp>
        <p:nvSpPr>
          <p:cNvPr id="7" name="Text 5"/>
          <p:cNvSpPr/>
          <p:nvPr/>
        </p:nvSpPr>
        <p:spPr>
          <a:xfrm>
            <a:off x="685800" y="2971800"/>
            <a:ext cx="5349240" cy="2743200"/>
          </a:xfrm>
          <a:prstGeom prst="rect">
            <a:avLst/>
          </a:prstGeom>
          <a:noFill/>
          <a:ln/>
        </p:spPr>
        <p:txBody>
          <a:bodyPr wrap="square" lIns="0" tIns="0" rIns="0" bIns="0" rtlCol="0" anchor="t"/>
          <a:lstStyle/>
          <a:p>
            <a:pPr marL="203200" indent="-203200">
              <a:lnSpc>
                <a:spcPct val="100000"/>
              </a:lnSpc>
              <a:spcAft>
                <a:spcPts val="900"/>
              </a:spcAft>
              <a:buSzPct val="100000"/>
              <a:buChar char="•"/>
            </a:pPr>
            <a:r>
              <a:rPr lang="en-US" sz="1350" dirty="0">
                <a:solidFill>
                  <a:srgbClr val="23262F"/>
                </a:solidFill>
                <a:latin typeface="Calibri" pitchFamily="34" charset="0"/>
                <a:ea typeface="Calibri" pitchFamily="34" charset="-122"/>
                <a:cs typeface="Calibri" pitchFamily="34" charset="-120"/>
              </a:rPr>
              <a:t>Logistic → models P(pick prototype); coefficients exponentiate to odds ratios (OR).</a:t>
            </a:r>
            <a:endParaRPr lang="en-US" sz="1350" dirty="0"/>
          </a:p>
          <a:p>
            <a:pPr marL="203200" indent="-203200">
              <a:lnSpc>
                <a:spcPct val="100000"/>
              </a:lnSpc>
              <a:spcAft>
                <a:spcPts val="900"/>
              </a:spcAft>
              <a:buSzPct val="100000"/>
              <a:buChar char="•"/>
            </a:pPr>
            <a:r>
              <a:rPr lang="en-US" sz="1350" dirty="0">
                <a:solidFill>
                  <a:srgbClr val="23262F"/>
                </a:solidFill>
                <a:latin typeface="Calibri" pitchFamily="34" charset="0"/>
                <a:ea typeface="Calibri" pitchFamily="34" charset="-122"/>
                <a:cs typeface="Calibri" pitchFamily="34" charset="-120"/>
              </a:rPr>
              <a:t>Fixed effects (socio_attr, lang, gender) = what we estimate.</a:t>
            </a:r>
            <a:endParaRPr lang="en-US" sz="1350" dirty="0"/>
          </a:p>
          <a:p>
            <a:pPr marL="203200" indent="-203200">
              <a:lnSpc>
                <a:spcPct val="100000"/>
              </a:lnSpc>
              <a:spcAft>
                <a:spcPts val="900"/>
              </a:spcAft>
              <a:buSzPct val="100000"/>
              <a:buChar char="•"/>
            </a:pPr>
            <a:r>
              <a:rPr lang="en-US" sz="1350" dirty="0">
                <a:solidFill>
                  <a:srgbClr val="23262F"/>
                </a:solidFill>
                <a:latin typeface="Calibri" pitchFamily="34" charset="0"/>
                <a:ea typeface="Calibri" pitchFamily="34" charset="-122"/>
                <a:cs typeface="Calibri" pitchFamily="34" charset="-120"/>
              </a:rPr>
              <a:t>Random intercept (1 | item) = each image-pair gets its own baseline — the same item repeats in 7 languages, so those 7 views are not independent.</a:t>
            </a:r>
            <a:endParaRPr lang="en-US" sz="1350" dirty="0"/>
          </a:p>
        </p:txBody>
      </p:sp>
      <p:sp>
        <p:nvSpPr>
          <p:cNvPr id="8" name="Text 6"/>
          <p:cNvSpPr/>
          <p:nvPr/>
        </p:nvSpPr>
        <p:spPr>
          <a:xfrm>
            <a:off x="6583680" y="1691640"/>
            <a:ext cx="4937760" cy="365760"/>
          </a:xfrm>
          <a:prstGeom prst="rect">
            <a:avLst/>
          </a:prstGeom>
          <a:noFill/>
          <a:ln/>
        </p:spPr>
        <p:txBody>
          <a:bodyPr wrap="square" lIns="0" tIns="0" rIns="0" bIns="0" rtlCol="0" anchor="ctr"/>
          <a:lstStyle/>
          <a:p>
            <a:pPr marL="0" indent="0">
              <a:buNone/>
            </a:pPr>
            <a:r>
              <a:rPr lang="en-US" sz="1600" b="1" dirty="0">
                <a:solidFill>
                  <a:srgbClr val="4C72B0"/>
                </a:solidFill>
                <a:latin typeface="Georgia" pitchFamily="34" charset="0"/>
                <a:ea typeface="Georgia" pitchFamily="34" charset="-122"/>
                <a:cs typeface="Georgia" pitchFamily="34" charset="-120"/>
              </a:rPr>
              <a:t>The test  ·  LRT</a:t>
            </a:r>
            <a:endParaRPr lang="en-US" sz="1600" dirty="0"/>
          </a:p>
        </p:txBody>
      </p:sp>
      <p:sp>
        <p:nvSpPr>
          <p:cNvPr id="9" name="Text 7"/>
          <p:cNvSpPr/>
          <p:nvPr/>
        </p:nvSpPr>
        <p:spPr>
          <a:xfrm>
            <a:off x="6583680" y="2103120"/>
            <a:ext cx="4937760" cy="1554480"/>
          </a:xfrm>
          <a:prstGeom prst="rect">
            <a:avLst/>
          </a:prstGeom>
          <a:noFill/>
          <a:ln/>
        </p:spPr>
        <p:txBody>
          <a:bodyPr wrap="square" lIns="0" tIns="0" rIns="0" bIns="0" rtlCol="0" anchor="t"/>
          <a:lstStyle/>
          <a:p>
            <a:pPr marL="203200" indent="-203200">
              <a:lnSpc>
                <a:spcPct val="100000"/>
              </a:lnSpc>
              <a:spcAft>
                <a:spcPts val="900"/>
              </a:spcAft>
              <a:buSzPct val="100000"/>
              <a:buChar char="•"/>
            </a:pPr>
            <a:r>
              <a:rPr lang="en-US" sz="1350" dirty="0">
                <a:solidFill>
                  <a:srgbClr val="23262F"/>
                </a:solidFill>
                <a:latin typeface="Calibri" pitchFamily="34" charset="0"/>
                <a:ea typeface="Calibri" pitchFamily="34" charset="-122"/>
                <a:cs typeface="Calibri" pitchFamily="34" charset="-120"/>
              </a:rPr>
              <a:t>Fit two nested models (with vs without a factor); compare fit by likelihood.</a:t>
            </a:r>
            <a:endParaRPr lang="en-US" sz="1350" dirty="0"/>
          </a:p>
          <a:p>
            <a:pPr marL="203200" indent="-203200">
              <a:lnSpc>
                <a:spcPct val="100000"/>
              </a:lnSpc>
              <a:spcAft>
                <a:spcPts val="900"/>
              </a:spcAft>
              <a:buSzPct val="100000"/>
              <a:buChar char="•"/>
            </a:pPr>
            <a:r>
              <a:rPr lang="en-US" sz="1350" dirty="0">
                <a:solidFill>
                  <a:srgbClr val="23262F"/>
                </a:solidFill>
                <a:latin typeface="Calibri" pitchFamily="34" charset="0"/>
                <a:ea typeface="Calibri" pitchFamily="34" charset="-122"/>
                <a:cs typeface="Calibri" pitchFamily="34" charset="-120"/>
              </a:rPr>
              <a:t>χ² = 2×(LL_big − LL_small); p from chi-squared → one p-value per whole factor.</a:t>
            </a:r>
            <a:endParaRPr lang="en-US" sz="13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583680" y="3794760"/>
          <a:ext cx="493776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420624">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factor</a:t>
                      </a:r>
                      <a:endParaRPr lang="en-US" sz="115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χ²</a:t>
                      </a:r>
                      <a:endParaRPr lang="en-US" sz="115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a:t>
                      </a:r>
                      <a:endParaRPr lang="en-US" sz="115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verdict</a:t>
                      </a:r>
                      <a:endParaRPr lang="en-US" sz="115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extLst>
                  <a:ext uri="{0D108BD9-81ED-4DB2-BD59-A6C34878D82A}">
                    <a16:rowId xmlns:a16="http://schemas.microsoft.com/office/drawing/2014/main" val="10000"/>
                  </a:ext>
                </a:extLst>
              </a:tr>
              <a:tr h="420624">
                <a:tc>
                  <a:txBody>
                    <a:bodyPr/>
                    <a:lstStyle/>
                    <a:p>
                      <a:pPr marL="0" indent="0">
                        <a:buNone/>
                      </a:pPr>
                      <a:r>
                        <a:rPr lang="en-US" sz="1200" b="1" dirty="0">
                          <a:solidFill>
                            <a:srgbClr val="23262F"/>
                          </a:solidFill>
                          <a:latin typeface="Calibri" pitchFamily="34" charset="0"/>
                          <a:ea typeface="Calibri" pitchFamily="34" charset="-122"/>
                          <a:cs typeface="Calibri" pitchFamily="34" charset="-120"/>
                        </a:rPr>
                        <a:t>socio_attr</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dirty="0">
                          <a:solidFill>
                            <a:srgbClr val="23262F"/>
                          </a:solidFill>
                          <a:latin typeface="Calibri" pitchFamily="34" charset="0"/>
                          <a:ea typeface="Calibri" pitchFamily="34" charset="-122"/>
                          <a:cs typeface="Calibri" pitchFamily="34" charset="-120"/>
                        </a:rPr>
                        <a:t>70.1</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b="1" dirty="0">
                          <a:solidFill>
                            <a:srgbClr val="C44E52"/>
                          </a:solidFill>
                          <a:latin typeface="Calibri" pitchFamily="34" charset="0"/>
                          <a:ea typeface="Calibri" pitchFamily="34" charset="-122"/>
                          <a:cs typeface="Calibri" pitchFamily="34" charset="-120"/>
                        </a:rPr>
                        <a:t>2×10⁻¹⁴</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dirty="0">
                          <a:solidFill>
                            <a:srgbClr val="C44E52"/>
                          </a:solidFill>
                          <a:latin typeface="Calibri" pitchFamily="34" charset="0"/>
                          <a:ea typeface="Calibri" pitchFamily="34" charset="-122"/>
                          <a:cs typeface="Calibri" pitchFamily="34" charset="-120"/>
                        </a:rPr>
                        <a:t>significant</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buNone/>
                      </a:pPr>
                      <a:r>
                        <a:rPr lang="en-US" sz="1200" b="1" dirty="0">
                          <a:solidFill>
                            <a:srgbClr val="23262F"/>
                          </a:solidFill>
                          <a:latin typeface="Calibri" pitchFamily="34" charset="0"/>
                          <a:ea typeface="Calibri" pitchFamily="34" charset="-122"/>
                          <a:cs typeface="Calibri" pitchFamily="34" charset="-120"/>
                        </a:rPr>
                        <a:t>language</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dirty="0">
                          <a:solidFill>
                            <a:srgbClr val="23262F"/>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b="1" dirty="0">
                          <a:solidFill>
                            <a:srgbClr val="C44E52"/>
                          </a:solidFill>
                          <a:latin typeface="Calibri" pitchFamily="34" charset="0"/>
                          <a:ea typeface="Calibri" pitchFamily="34" charset="-122"/>
                          <a:cs typeface="Calibri" pitchFamily="34" charset="-120"/>
                        </a:rPr>
                        <a:t>0.024</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dirty="0">
                          <a:solidFill>
                            <a:srgbClr val="C44E52"/>
                          </a:solidFill>
                          <a:latin typeface="Calibri" pitchFamily="34" charset="0"/>
                          <a:ea typeface="Calibri" pitchFamily="34" charset="-122"/>
                          <a:cs typeface="Calibri" pitchFamily="34" charset="-120"/>
                        </a:rPr>
                        <a:t>significant</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buNone/>
                      </a:pPr>
                      <a:r>
                        <a:rPr lang="en-US" sz="1200" b="1" dirty="0">
                          <a:solidFill>
                            <a:srgbClr val="23262F"/>
                          </a:solidFill>
                          <a:latin typeface="Calibri" pitchFamily="34" charset="0"/>
                          <a:ea typeface="Calibri" pitchFamily="34" charset="-122"/>
                          <a:cs typeface="Calibri" pitchFamily="34" charset="-120"/>
                        </a:rPr>
                        <a:t>attr × lang</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dirty="0">
                          <a:solidFill>
                            <a:srgbClr val="23262F"/>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dirty="0">
                          <a:solidFill>
                            <a:srgbClr val="23262F"/>
                          </a:solidFill>
                          <a:latin typeface="Calibri" pitchFamily="34" charset="0"/>
                          <a:ea typeface="Calibri" pitchFamily="34" charset="-122"/>
                          <a:cs typeface="Calibri" pitchFamily="34" charset="-120"/>
                        </a:rPr>
                        <a:t>0.76</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dirty="0">
                          <a:solidFill>
                            <a:srgbClr val="5A6072"/>
                          </a:solidFill>
                          <a:latin typeface="Calibri" pitchFamily="34" charset="0"/>
                          <a:ea typeface="Calibri" pitchFamily="34" charset="-122"/>
                          <a:cs typeface="Calibri" pitchFamily="34" charset="-120"/>
                        </a:rPr>
                        <a:t>n.s.</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1" name="Text 8"/>
          <p:cNvSpPr/>
          <p:nvPr/>
        </p:nvSpPr>
        <p:spPr>
          <a:xfrm>
            <a:off x="6583680" y="5806440"/>
            <a:ext cx="4937760" cy="274320"/>
          </a:xfrm>
          <a:prstGeom prst="rect">
            <a:avLst/>
          </a:prstGeom>
          <a:noFill/>
          <a:ln/>
        </p:spPr>
        <p:txBody>
          <a:bodyPr wrap="square" lIns="0" tIns="0" rIns="0" bIns="0" rtlCol="0" anchor="ctr"/>
          <a:lstStyle/>
          <a:p>
            <a:pPr marL="0" indent="0" algn="ctr">
              <a:buNone/>
            </a:pPr>
            <a:r>
              <a:rPr lang="en-US" sz="1050" i="1" dirty="0">
                <a:solidFill>
                  <a:srgbClr val="9AA0B0"/>
                </a:solidFill>
                <a:latin typeface="Calibri" pitchFamily="34" charset="0"/>
                <a:ea typeface="Calibri" pitchFamily="34" charset="-122"/>
                <a:cs typeface="Calibri" pitchFamily="34" charset="-120"/>
              </a:rPr>
              <a:t>Qwen-7B; same pattern in InternVL3-8B. Implemented with item-clustered robust SEs (no statsmodels on the cluster).</a:t>
            </a:r>
            <a:endParaRPr lang="en-US" sz="1050" dirty="0"/>
          </a:p>
        </p:txBody>
      </p:sp>
      <p:sp>
        <p:nvSpPr>
          <p:cNvPr id="12" name="Text 9"/>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9AA0B0"/>
                </a:solidFill>
                <a:latin typeface="Calibri" pitchFamily="34" charset="0"/>
                <a:ea typeface="Calibri" pitchFamily="34" charset="-122"/>
                <a:cs typeface="Calibri" pitchFamily="34" charset="-120"/>
              </a:rPr>
              <a:t>BACKUP · METHODS</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2808"/>
              </a:lnSpc>
              <a:buNone/>
            </a:pPr>
            <a:r>
              <a:rPr lang="en-US" sz="2600" b="1" dirty="0">
                <a:solidFill>
                  <a:srgbClr val="23262F"/>
                </a:solidFill>
                <a:latin typeface="Georgia" pitchFamily="34" charset="0"/>
                <a:ea typeface="Georgia" pitchFamily="34" charset="-122"/>
                <a:cs typeface="Georgia" pitchFamily="34" charset="-120"/>
              </a:rPr>
              <a:t>Back-translation translation-quality check</a:t>
            </a:r>
            <a:endParaRPr lang="en-US" sz="2600" dirty="0"/>
          </a:p>
        </p:txBody>
      </p:sp>
      <p:sp>
        <p:nvSpPr>
          <p:cNvPr id="4" name="Text 2"/>
          <p:cNvSpPr/>
          <p:nvPr/>
        </p:nvSpPr>
        <p:spPr>
          <a:xfrm>
            <a:off x="685800" y="1645920"/>
            <a:ext cx="10820095" cy="365760"/>
          </a:xfrm>
          <a:prstGeom prst="rect">
            <a:avLst/>
          </a:prstGeom>
          <a:noFill/>
          <a:ln/>
        </p:spPr>
        <p:txBody>
          <a:bodyPr wrap="square" lIns="0" tIns="0" rIns="0" bIns="0" rtlCol="0" anchor="ctr"/>
          <a:lstStyle/>
          <a:p>
            <a:pPr marL="0" indent="0">
              <a:buNone/>
            </a:pPr>
            <a:r>
              <a:rPr lang="en-US" sz="1500" i="1" dirty="0">
                <a:solidFill>
                  <a:srgbClr val="5A6072"/>
                </a:solidFill>
                <a:latin typeface="Calibri" pitchFamily="34" charset="0"/>
                <a:ea typeface="Calibri" pitchFamily="34" charset="-122"/>
                <a:cs typeface="Calibri" pitchFamily="34" charset="-120"/>
              </a:rPr>
              <a:t>We can't read all 7 languages — so we round-trip each prompt back to English and measure how much it drifted.</a:t>
            </a:r>
            <a:endParaRPr lang="en-US" sz="1500" dirty="0"/>
          </a:p>
        </p:txBody>
      </p:sp>
      <p:sp>
        <p:nvSpPr>
          <p:cNvPr id="5" name="Shape 3"/>
          <p:cNvSpPr/>
          <p:nvPr/>
        </p:nvSpPr>
        <p:spPr>
          <a:xfrm>
            <a:off x="685800" y="2286000"/>
            <a:ext cx="2468880" cy="868680"/>
          </a:xfrm>
          <a:prstGeom prst="roundRect">
            <a:avLst>
              <a:gd name="adj" fmla="val 8421"/>
            </a:avLst>
          </a:prstGeom>
          <a:solidFill>
            <a:srgbClr val="F5F6FA"/>
          </a:solidFill>
          <a:ln w="12700">
            <a:solidFill>
              <a:srgbClr val="E4E6EF"/>
            </a:solidFill>
            <a:prstDash val="solid"/>
          </a:ln>
        </p:spPr>
        <p:txBody>
          <a:bodyPr/>
          <a:lstStyle/>
          <a:p>
            <a:endParaRPr lang="zh-CN" altLang="en-US"/>
          </a:p>
        </p:txBody>
      </p:sp>
      <p:sp>
        <p:nvSpPr>
          <p:cNvPr id="6" name="Text 4"/>
          <p:cNvSpPr/>
          <p:nvPr/>
        </p:nvSpPr>
        <p:spPr>
          <a:xfrm>
            <a:off x="685800" y="2286000"/>
            <a:ext cx="2468880" cy="868680"/>
          </a:xfrm>
          <a:prstGeom prst="rect">
            <a:avLst/>
          </a:prstGeom>
          <a:noFill/>
          <a:ln/>
        </p:spPr>
        <p:txBody>
          <a:bodyPr wrap="square" lIns="25400" tIns="25400" rIns="25400" bIns="25400" rtlCol="0" anchor="ctr"/>
          <a:lstStyle/>
          <a:p>
            <a:pPr marL="0" indent="0" algn="ctr">
              <a:buNone/>
            </a:pPr>
            <a:r>
              <a:rPr lang="en-US" sz="1300" b="1" dirty="0">
                <a:solidFill>
                  <a:srgbClr val="23262F"/>
                </a:solidFill>
                <a:latin typeface="Calibri" pitchFamily="34" charset="0"/>
                <a:ea typeface="Calibri" pitchFamily="34" charset="-122"/>
                <a:cs typeface="Calibri" pitchFamily="34" charset="-120"/>
              </a:rPr>
              <a:t>English prompt</a:t>
            </a:r>
            <a:endParaRPr lang="en-US" sz="1300" dirty="0"/>
          </a:p>
          <a:p>
            <a:pPr marL="0" indent="0" algn="ctr">
              <a:buNone/>
            </a:pPr>
            <a:r>
              <a:rPr lang="en-US" sz="1050" dirty="0">
                <a:solidFill>
                  <a:srgbClr val="5A6072"/>
                </a:solidFill>
                <a:latin typeface="Calibri" pitchFamily="34" charset="0"/>
                <a:ea typeface="Calibri" pitchFamily="34" charset="-122"/>
                <a:cs typeface="Calibri" pitchFamily="34" charset="-120"/>
              </a:rPr>
              <a:t>original E</a:t>
            </a:r>
            <a:endParaRPr lang="en-US" sz="1300" dirty="0"/>
          </a:p>
        </p:txBody>
      </p:sp>
      <p:sp>
        <p:nvSpPr>
          <p:cNvPr id="7" name="Shape 5"/>
          <p:cNvSpPr/>
          <p:nvPr/>
        </p:nvSpPr>
        <p:spPr>
          <a:xfrm>
            <a:off x="3246120" y="2715768"/>
            <a:ext cx="502920" cy="0"/>
          </a:xfrm>
          <a:prstGeom prst="line">
            <a:avLst/>
          </a:prstGeom>
          <a:noFill/>
          <a:ln w="25400">
            <a:solidFill>
              <a:srgbClr val="C44E52"/>
            </a:solidFill>
            <a:prstDash val="solid"/>
            <a:tailEnd type="triangle"/>
          </a:ln>
        </p:spPr>
        <p:txBody>
          <a:bodyPr/>
          <a:lstStyle/>
          <a:p>
            <a:endParaRPr lang="zh-CN" altLang="en-US"/>
          </a:p>
        </p:txBody>
      </p:sp>
      <p:sp>
        <p:nvSpPr>
          <p:cNvPr id="8" name="Text 6"/>
          <p:cNvSpPr/>
          <p:nvPr/>
        </p:nvSpPr>
        <p:spPr>
          <a:xfrm>
            <a:off x="3017520" y="2331720"/>
            <a:ext cx="960120" cy="274320"/>
          </a:xfrm>
          <a:prstGeom prst="rect">
            <a:avLst/>
          </a:prstGeom>
          <a:noFill/>
          <a:ln/>
        </p:spPr>
        <p:txBody>
          <a:bodyPr wrap="square" lIns="0" tIns="0" rIns="0" bIns="0" rtlCol="0" anchor="ctr"/>
          <a:lstStyle/>
          <a:p>
            <a:pPr marL="0" indent="0" algn="ctr">
              <a:buNone/>
            </a:pPr>
            <a:r>
              <a:rPr lang="en-US" sz="1000" i="1" dirty="0">
                <a:solidFill>
                  <a:srgbClr val="C44E52"/>
                </a:solidFill>
                <a:latin typeface="Calibri" pitchFamily="34" charset="0"/>
                <a:ea typeface="Calibri" pitchFamily="34" charset="-122"/>
                <a:cs typeface="Calibri" pitchFamily="34" charset="-120"/>
              </a:rPr>
              <a:t>translate</a:t>
            </a:r>
            <a:endParaRPr lang="en-US" sz="1000" dirty="0"/>
          </a:p>
        </p:txBody>
      </p:sp>
      <p:sp>
        <p:nvSpPr>
          <p:cNvPr id="9" name="Shape 7"/>
          <p:cNvSpPr/>
          <p:nvPr/>
        </p:nvSpPr>
        <p:spPr>
          <a:xfrm>
            <a:off x="3886200" y="2286000"/>
            <a:ext cx="2468880" cy="868680"/>
          </a:xfrm>
          <a:prstGeom prst="roundRect">
            <a:avLst>
              <a:gd name="adj" fmla="val 8421"/>
            </a:avLst>
          </a:prstGeom>
          <a:solidFill>
            <a:srgbClr val="F5F6FA"/>
          </a:solidFill>
          <a:ln w="12700">
            <a:solidFill>
              <a:srgbClr val="E4E6EF"/>
            </a:solidFill>
            <a:prstDash val="solid"/>
          </a:ln>
        </p:spPr>
        <p:txBody>
          <a:bodyPr/>
          <a:lstStyle/>
          <a:p>
            <a:endParaRPr lang="zh-CN" altLang="en-US"/>
          </a:p>
        </p:txBody>
      </p:sp>
      <p:sp>
        <p:nvSpPr>
          <p:cNvPr id="10" name="Text 8"/>
          <p:cNvSpPr/>
          <p:nvPr/>
        </p:nvSpPr>
        <p:spPr>
          <a:xfrm>
            <a:off x="3886200" y="2286000"/>
            <a:ext cx="2468880" cy="868680"/>
          </a:xfrm>
          <a:prstGeom prst="rect">
            <a:avLst/>
          </a:prstGeom>
          <a:noFill/>
          <a:ln/>
        </p:spPr>
        <p:txBody>
          <a:bodyPr wrap="square" lIns="25400" tIns="25400" rIns="25400" bIns="25400" rtlCol="0" anchor="ctr"/>
          <a:lstStyle/>
          <a:p>
            <a:pPr marL="0" indent="0" algn="ctr">
              <a:buNone/>
            </a:pPr>
            <a:r>
              <a:rPr lang="en-US" sz="1300" b="1" dirty="0">
                <a:solidFill>
                  <a:srgbClr val="23262F"/>
                </a:solidFill>
                <a:latin typeface="Calibri" pitchFamily="34" charset="0"/>
                <a:ea typeface="Calibri" pitchFamily="34" charset="-122"/>
                <a:cs typeface="Calibri" pitchFamily="34" charset="-120"/>
              </a:rPr>
              <a:t>Greek text</a:t>
            </a:r>
            <a:endParaRPr lang="en-US" sz="1300" dirty="0"/>
          </a:p>
          <a:p>
            <a:pPr marL="0" indent="0" algn="ctr">
              <a:buNone/>
            </a:pPr>
            <a:r>
              <a:rPr lang="en-US" sz="1050" dirty="0">
                <a:solidFill>
                  <a:srgbClr val="5A6072"/>
                </a:solidFill>
                <a:latin typeface="Calibri" pitchFamily="34" charset="0"/>
                <a:ea typeface="Calibri" pitchFamily="34" charset="-122"/>
                <a:cs typeface="Calibri" pitchFamily="34" charset="-120"/>
              </a:rPr>
              <a:t>shown to the model</a:t>
            </a:r>
            <a:endParaRPr lang="en-US" sz="1300" dirty="0"/>
          </a:p>
        </p:txBody>
      </p:sp>
      <p:sp>
        <p:nvSpPr>
          <p:cNvPr id="11" name="Shape 9"/>
          <p:cNvSpPr/>
          <p:nvPr/>
        </p:nvSpPr>
        <p:spPr>
          <a:xfrm>
            <a:off x="6446520" y="2715768"/>
            <a:ext cx="502920" cy="0"/>
          </a:xfrm>
          <a:prstGeom prst="line">
            <a:avLst/>
          </a:prstGeom>
          <a:noFill/>
          <a:ln w="25400">
            <a:solidFill>
              <a:srgbClr val="C44E52"/>
            </a:solidFill>
            <a:prstDash val="solid"/>
            <a:tailEnd type="triangle"/>
          </a:ln>
        </p:spPr>
        <p:txBody>
          <a:bodyPr/>
          <a:lstStyle/>
          <a:p>
            <a:endParaRPr lang="zh-CN" altLang="en-US"/>
          </a:p>
        </p:txBody>
      </p:sp>
      <p:sp>
        <p:nvSpPr>
          <p:cNvPr id="12" name="Text 10"/>
          <p:cNvSpPr/>
          <p:nvPr/>
        </p:nvSpPr>
        <p:spPr>
          <a:xfrm>
            <a:off x="6217920" y="2331720"/>
            <a:ext cx="960120" cy="274320"/>
          </a:xfrm>
          <a:prstGeom prst="rect">
            <a:avLst/>
          </a:prstGeom>
          <a:noFill/>
          <a:ln/>
        </p:spPr>
        <p:txBody>
          <a:bodyPr wrap="square" lIns="0" tIns="0" rIns="0" bIns="0" rtlCol="0" anchor="ctr"/>
          <a:lstStyle/>
          <a:p>
            <a:pPr marL="0" indent="0" algn="ctr">
              <a:buNone/>
            </a:pPr>
            <a:r>
              <a:rPr lang="en-US" sz="1000" i="1" dirty="0">
                <a:solidFill>
                  <a:srgbClr val="C44E52"/>
                </a:solidFill>
                <a:latin typeface="Calibri" pitchFamily="34" charset="0"/>
                <a:ea typeface="Calibri" pitchFamily="34" charset="-122"/>
                <a:cs typeface="Calibri" pitchFamily="34" charset="-120"/>
              </a:rPr>
              <a:t>back-translate</a:t>
            </a:r>
            <a:endParaRPr lang="en-US" sz="1000" dirty="0"/>
          </a:p>
        </p:txBody>
      </p:sp>
      <p:sp>
        <p:nvSpPr>
          <p:cNvPr id="13" name="Shape 11"/>
          <p:cNvSpPr/>
          <p:nvPr/>
        </p:nvSpPr>
        <p:spPr>
          <a:xfrm>
            <a:off x="7086600" y="2286000"/>
            <a:ext cx="2468880" cy="868680"/>
          </a:xfrm>
          <a:prstGeom prst="roundRect">
            <a:avLst>
              <a:gd name="adj" fmla="val 8421"/>
            </a:avLst>
          </a:prstGeom>
          <a:solidFill>
            <a:srgbClr val="F5F6FA"/>
          </a:solidFill>
          <a:ln w="12700">
            <a:solidFill>
              <a:srgbClr val="E4E6EF"/>
            </a:solidFill>
            <a:prstDash val="solid"/>
          </a:ln>
        </p:spPr>
        <p:txBody>
          <a:bodyPr/>
          <a:lstStyle/>
          <a:p>
            <a:endParaRPr lang="zh-CN" altLang="en-US"/>
          </a:p>
        </p:txBody>
      </p:sp>
      <p:sp>
        <p:nvSpPr>
          <p:cNvPr id="14" name="Text 12"/>
          <p:cNvSpPr/>
          <p:nvPr/>
        </p:nvSpPr>
        <p:spPr>
          <a:xfrm>
            <a:off x="7086600" y="2286000"/>
            <a:ext cx="2468880" cy="868680"/>
          </a:xfrm>
          <a:prstGeom prst="rect">
            <a:avLst/>
          </a:prstGeom>
          <a:noFill/>
          <a:ln/>
        </p:spPr>
        <p:txBody>
          <a:bodyPr wrap="square" lIns="25400" tIns="25400" rIns="25400" bIns="25400" rtlCol="0" anchor="ctr"/>
          <a:lstStyle/>
          <a:p>
            <a:pPr marL="0" indent="0" algn="ctr">
              <a:buNone/>
            </a:pPr>
            <a:r>
              <a:rPr lang="en-US" sz="1300" b="1" dirty="0">
                <a:solidFill>
                  <a:srgbClr val="23262F"/>
                </a:solidFill>
                <a:latin typeface="Calibri" pitchFamily="34" charset="0"/>
                <a:ea typeface="Calibri" pitchFamily="34" charset="-122"/>
                <a:cs typeface="Calibri" pitchFamily="34" charset="-120"/>
              </a:rPr>
              <a:t>English again</a:t>
            </a:r>
            <a:endParaRPr lang="en-US" sz="1300" dirty="0"/>
          </a:p>
          <a:p>
            <a:pPr marL="0" indent="0" algn="ctr">
              <a:buNone/>
            </a:pPr>
            <a:r>
              <a:rPr lang="en-US" sz="1050" dirty="0">
                <a:solidFill>
                  <a:srgbClr val="5A6072"/>
                </a:solidFill>
                <a:latin typeface="Calibri" pitchFamily="34" charset="0"/>
                <a:ea typeface="Calibri" pitchFamily="34" charset="-122"/>
                <a:cs typeface="Calibri" pitchFamily="34" charset="-120"/>
              </a:rPr>
              <a:t>E′</a:t>
            </a:r>
            <a:endParaRPr lang="en-US" sz="1300" dirty="0"/>
          </a:p>
        </p:txBody>
      </p:sp>
      <p:sp>
        <p:nvSpPr>
          <p:cNvPr id="15" name="Text 13"/>
          <p:cNvSpPr/>
          <p:nvPr/>
        </p:nvSpPr>
        <p:spPr>
          <a:xfrm>
            <a:off x="9738360" y="2286000"/>
            <a:ext cx="2103120" cy="868680"/>
          </a:xfrm>
          <a:prstGeom prst="rect">
            <a:avLst/>
          </a:prstGeom>
          <a:noFill/>
          <a:ln/>
        </p:spPr>
        <p:txBody>
          <a:bodyPr wrap="square" lIns="0" tIns="0" rIns="0" bIns="0" rtlCol="0" anchor="ctr"/>
          <a:lstStyle/>
          <a:p>
            <a:pPr marL="0" indent="0" algn="ctr">
              <a:buNone/>
            </a:pPr>
            <a:r>
              <a:rPr lang="en-US" sz="1300" b="1" dirty="0">
                <a:solidFill>
                  <a:srgbClr val="1B1F3B"/>
                </a:solidFill>
                <a:latin typeface="Georgia" pitchFamily="34" charset="0"/>
                <a:ea typeface="Georgia" pitchFamily="34" charset="-122"/>
                <a:cs typeface="Georgia" pitchFamily="34" charset="-120"/>
              </a:rPr>
              <a:t>compare  E vs E′  →  token-F1</a:t>
            </a:r>
            <a:endParaRPr lang="en-US" sz="1300" dirty="0"/>
          </a:p>
        </p:txBody>
      </p:sp>
      <p:sp>
        <p:nvSpPr>
          <p:cNvPr id="16" name="Text 14"/>
          <p:cNvSpPr/>
          <p:nvPr/>
        </p:nvSpPr>
        <p:spPr>
          <a:xfrm>
            <a:off x="685800" y="3657600"/>
            <a:ext cx="10820095" cy="23774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450" dirty="0">
                <a:solidFill>
                  <a:srgbClr val="23262F"/>
                </a:solidFill>
                <a:latin typeface="Calibri" pitchFamily="34" charset="0"/>
                <a:ea typeface="Calibri" pitchFamily="34" charset="-122"/>
                <a:cs typeface="Calibri" pitchFamily="34" charset="-120"/>
              </a:rPr>
              <a:t>If the language effect were a translation artifact, the most-biased languages would drift the MOST.</a:t>
            </a:r>
            <a:endParaRPr lang="en-US" sz="1450" dirty="0"/>
          </a:p>
          <a:p>
            <a:pPr marL="203200" indent="-203200">
              <a:lnSpc>
                <a:spcPct val="100000"/>
              </a:lnSpc>
              <a:spcAft>
                <a:spcPts val="1100"/>
              </a:spcAft>
              <a:buSzPct val="100000"/>
              <a:buChar char="•"/>
            </a:pPr>
            <a:r>
              <a:rPr lang="en-US" sz="1450" dirty="0">
                <a:solidFill>
                  <a:srgbClr val="23262F"/>
                </a:solidFill>
                <a:latin typeface="Calibri" pitchFamily="34" charset="0"/>
                <a:ea typeface="Calibri" pitchFamily="34" charset="-122"/>
                <a:cs typeface="Calibri" pitchFamily="34" charset="-120"/>
              </a:rPr>
              <a:t>Instead the opposite: Greek (0.88) and Bengali (0.86) — the most biased — have the HIGHEST fidelity; Hindi / Russian (0.79) — not biased — the lowest.</a:t>
            </a:r>
            <a:endParaRPr lang="en-US" sz="1450" dirty="0"/>
          </a:p>
          <a:p>
            <a:pPr marL="203200" indent="-203200">
              <a:lnSpc>
                <a:spcPct val="100000"/>
              </a:lnSpc>
              <a:spcAft>
                <a:spcPts val="1100"/>
              </a:spcAft>
              <a:buSzPct val="100000"/>
              <a:buChar char="•"/>
            </a:pPr>
            <a:r>
              <a:rPr lang="en-US" sz="1450" dirty="0">
                <a:solidFill>
                  <a:srgbClr val="23262F"/>
                </a:solidFill>
                <a:latin typeface="Calibri" pitchFamily="34" charset="0"/>
                <a:ea typeface="Calibri" pitchFamily="34" charset="-122"/>
                <a:cs typeface="Calibri" pitchFamily="34" charset="-120"/>
              </a:rPr>
              <a:t>Caveat: a lexical check using the same MT system — a sanity check that rules out the obvious confound, not a proof.</a:t>
            </a:r>
            <a:endParaRPr lang="en-US" sz="1450" dirty="0"/>
          </a:p>
        </p:txBody>
      </p:sp>
      <p:sp>
        <p:nvSpPr>
          <p:cNvPr id="17" name="Text 15"/>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9AA0B0"/>
                </a:solidFill>
                <a:latin typeface="Calibri" pitchFamily="34" charset="0"/>
                <a:ea typeface="Calibri" pitchFamily="34" charset="-122"/>
                <a:cs typeface="Calibri" pitchFamily="34" charset="-120"/>
              </a:rPr>
              <a:t>BACKUP · METHODS</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2808"/>
              </a:lnSpc>
              <a:buNone/>
            </a:pPr>
            <a:r>
              <a:rPr lang="en-US" sz="2600" b="1" dirty="0">
                <a:solidFill>
                  <a:srgbClr val="23262F"/>
                </a:solidFill>
                <a:latin typeface="Georgia" pitchFamily="34" charset="0"/>
                <a:ea typeface="Georgia" pitchFamily="34" charset="-122"/>
                <a:cs typeface="Georgia" pitchFamily="34" charset="-120"/>
              </a:rPr>
              <a:t>The cross-lingual metrics, defined</a:t>
            </a:r>
            <a:endParaRPr lang="en-US" sz="2600" dirty="0"/>
          </a:p>
        </p:txBody>
      </p:sp>
      <p:sp>
        <p:nvSpPr>
          <p:cNvPr id="4" name="Text 2"/>
          <p:cNvSpPr/>
          <p:nvPr/>
        </p:nvSpPr>
        <p:spPr>
          <a:xfrm>
            <a:off x="685800" y="1645920"/>
            <a:ext cx="10820095" cy="365760"/>
          </a:xfrm>
          <a:prstGeom prst="rect">
            <a:avLst/>
          </a:prstGeom>
          <a:noFill/>
          <a:ln/>
        </p:spPr>
        <p:txBody>
          <a:bodyPr wrap="square" lIns="0" tIns="0" rIns="0" bIns="0" rtlCol="0" anchor="ctr"/>
          <a:lstStyle/>
          <a:p>
            <a:pPr marL="0" indent="0">
              <a:buNone/>
            </a:pPr>
            <a:r>
              <a:rPr lang="en-US" sz="1500" i="1" dirty="0">
                <a:solidFill>
                  <a:srgbClr val="5A6072"/>
                </a:solidFill>
                <a:latin typeface="Calibri" pitchFamily="34" charset="0"/>
                <a:ea typeface="Calibri" pitchFamily="34" charset="-122"/>
                <a:cs typeface="Calibri" pitchFamily="34" charset="-120"/>
              </a:rPr>
              <a:t>For each image-pair we summarise its behaviour across all its languages (items judged in ≥ 2 languages).</a:t>
            </a:r>
            <a:endParaRPr lang="en-US" sz="1500" dirty="0"/>
          </a:p>
        </p:txBody>
      </p:sp>
      <p:sp>
        <p:nvSpPr>
          <p:cNvPr id="5" name="Shape 3"/>
          <p:cNvSpPr/>
          <p:nvPr/>
        </p:nvSpPr>
        <p:spPr>
          <a:xfrm>
            <a:off x="685800" y="2148840"/>
            <a:ext cx="10820095" cy="822960"/>
          </a:xfrm>
          <a:prstGeom prst="roundRect">
            <a:avLst>
              <a:gd name="adj" fmla="val 8889"/>
            </a:avLst>
          </a:prstGeom>
          <a:solidFill>
            <a:srgbClr val="1B1F3B"/>
          </a:solidFill>
          <a:ln/>
        </p:spPr>
        <p:txBody>
          <a:bodyPr/>
          <a:lstStyle/>
          <a:p>
            <a:endParaRPr lang="zh-CN" altLang="en-US"/>
          </a:p>
        </p:txBody>
      </p:sp>
      <p:sp>
        <p:nvSpPr>
          <p:cNvPr id="6" name="Text 4"/>
          <p:cNvSpPr/>
          <p:nvPr/>
        </p:nvSpPr>
        <p:spPr>
          <a:xfrm>
            <a:off x="685800" y="2148840"/>
            <a:ext cx="10820095" cy="822960"/>
          </a:xfrm>
          <a:prstGeom prst="rect">
            <a:avLst/>
          </a:prstGeom>
          <a:noFill/>
          <a:ln/>
        </p:spPr>
        <p:txBody>
          <a:bodyPr wrap="square" lIns="50800" tIns="50800" rIns="50800" bIns="50800" rtlCol="0" anchor="ctr"/>
          <a:lstStyle/>
          <a:p>
            <a:pPr marL="0" indent="0" algn="ctr">
              <a:buNone/>
            </a:pPr>
            <a:r>
              <a:rPr lang="en-US" sz="1250" dirty="0">
                <a:solidFill>
                  <a:srgbClr val="FFFFFF"/>
                </a:solidFill>
                <a:latin typeface="Courier New" pitchFamily="34" charset="0"/>
                <a:ea typeface="Courier New" pitchFamily="34" charset="-122"/>
                <a:cs typeface="Courier New" pitchFamily="34" charset="-120"/>
              </a:rPr>
              <a:t>per item, across languages:   all-wrong → SBR   ·   all-right → SCR   ·   mixed → CFR</a:t>
            </a:r>
            <a:endParaRPr lang="en-US" sz="1250" dirty="0"/>
          </a:p>
          <a:p>
            <a:pPr marL="0" indent="0" algn="ctr">
              <a:buNone/>
            </a:pPr>
            <a:r>
              <a:rPr lang="en-US" sz="1250" dirty="0">
                <a:solidFill>
                  <a:srgbClr val="FFFFFF"/>
                </a:solidFill>
                <a:latin typeface="Courier New" pitchFamily="34" charset="0"/>
                <a:ea typeface="Courier New" pitchFamily="34" charset="-122"/>
                <a:cs typeface="Courier New" pitchFamily="34" charset="-120"/>
              </a:rPr>
              <a:t>CFR + SBR + SCR = 1</a:t>
            </a:r>
            <a:endParaRPr lang="en-US" sz="1250" dirty="0"/>
          </a:p>
        </p:txBody>
      </p:sp>
      <p:sp>
        <p:nvSpPr>
          <p:cNvPr id="7" name="Shape 5"/>
          <p:cNvSpPr/>
          <p:nvPr/>
        </p:nvSpPr>
        <p:spPr>
          <a:xfrm>
            <a:off x="685800" y="3319272"/>
            <a:ext cx="146304" cy="146304"/>
          </a:xfrm>
          <a:prstGeom prst="ellipse">
            <a:avLst/>
          </a:prstGeom>
          <a:solidFill>
            <a:srgbClr val="C44E52"/>
          </a:solidFill>
          <a:ln/>
        </p:spPr>
        <p:txBody>
          <a:bodyPr/>
          <a:lstStyle/>
          <a:p>
            <a:endParaRPr lang="zh-CN" altLang="en-US"/>
          </a:p>
        </p:txBody>
      </p:sp>
      <p:sp>
        <p:nvSpPr>
          <p:cNvPr id="8" name="Text 6"/>
          <p:cNvSpPr/>
          <p:nvPr/>
        </p:nvSpPr>
        <p:spPr>
          <a:xfrm>
            <a:off x="1005840" y="3246120"/>
            <a:ext cx="10500055" cy="548640"/>
          </a:xfrm>
          <a:prstGeom prst="rect">
            <a:avLst/>
          </a:prstGeom>
          <a:noFill/>
          <a:ln/>
        </p:spPr>
        <p:txBody>
          <a:bodyPr wrap="square" lIns="0" tIns="0" rIns="0" bIns="0" rtlCol="0" anchor="t"/>
          <a:lstStyle/>
          <a:p>
            <a:pPr marL="0" indent="0">
              <a:buNone/>
            </a:pPr>
            <a:r>
              <a:rPr lang="en-US" sz="1550" b="1" dirty="0">
                <a:solidFill>
                  <a:srgbClr val="C44E52"/>
                </a:solidFill>
                <a:latin typeface="Calibri" pitchFamily="34" charset="0"/>
                <a:ea typeface="Calibri" pitchFamily="34" charset="-122"/>
                <a:cs typeface="Calibri" pitchFamily="34" charset="-120"/>
              </a:rPr>
              <a:t>Cross-lingual Flip Rate (CFR)  </a:t>
            </a:r>
            <a:r>
              <a:rPr lang="en-US" sz="1550" dirty="0">
                <a:solidFill>
                  <a:srgbClr val="23262F"/>
                </a:solidFill>
                <a:latin typeface="Calibri" pitchFamily="34" charset="0"/>
                <a:ea typeface="Calibri" pitchFamily="34" charset="-122"/>
                <a:cs typeface="Calibri" pitchFamily="34" charset="-120"/>
              </a:rPr>
              <a:t>— the model's choice changes across languages — the item is not stable.</a:t>
            </a:r>
            <a:endParaRPr lang="en-US" sz="1550" dirty="0"/>
          </a:p>
        </p:txBody>
      </p:sp>
      <p:sp>
        <p:nvSpPr>
          <p:cNvPr id="9" name="Shape 7"/>
          <p:cNvSpPr/>
          <p:nvPr/>
        </p:nvSpPr>
        <p:spPr>
          <a:xfrm>
            <a:off x="685800" y="4069080"/>
            <a:ext cx="146304" cy="146304"/>
          </a:xfrm>
          <a:prstGeom prst="ellipse">
            <a:avLst/>
          </a:prstGeom>
          <a:solidFill>
            <a:srgbClr val="4C72B0"/>
          </a:solidFill>
          <a:ln/>
        </p:spPr>
        <p:txBody>
          <a:bodyPr/>
          <a:lstStyle/>
          <a:p>
            <a:endParaRPr lang="zh-CN" altLang="en-US"/>
          </a:p>
        </p:txBody>
      </p:sp>
      <p:sp>
        <p:nvSpPr>
          <p:cNvPr id="10" name="Text 8"/>
          <p:cNvSpPr/>
          <p:nvPr/>
        </p:nvSpPr>
        <p:spPr>
          <a:xfrm>
            <a:off x="1005840" y="3995928"/>
            <a:ext cx="10500055" cy="548640"/>
          </a:xfrm>
          <a:prstGeom prst="rect">
            <a:avLst/>
          </a:prstGeom>
          <a:noFill/>
          <a:ln/>
        </p:spPr>
        <p:txBody>
          <a:bodyPr wrap="square" lIns="0" tIns="0" rIns="0" bIns="0" rtlCol="0" anchor="t"/>
          <a:lstStyle/>
          <a:p>
            <a:pPr marL="0" indent="0">
              <a:buNone/>
            </a:pPr>
            <a:r>
              <a:rPr lang="en-US" sz="1550" b="1" dirty="0">
                <a:solidFill>
                  <a:srgbClr val="4C72B0"/>
                </a:solidFill>
                <a:latin typeface="Calibri" pitchFamily="34" charset="0"/>
                <a:ea typeface="Calibri" pitchFamily="34" charset="-122"/>
                <a:cs typeface="Calibri" pitchFamily="34" charset="-120"/>
              </a:rPr>
              <a:t>Stable Bias Rate (SBR)  </a:t>
            </a:r>
            <a:r>
              <a:rPr lang="en-US" sz="1550" dirty="0">
                <a:solidFill>
                  <a:srgbClr val="23262F"/>
                </a:solidFill>
                <a:latin typeface="Calibri" pitchFamily="34" charset="0"/>
                <a:ea typeface="Calibri" pitchFamily="34" charset="-122"/>
                <a:cs typeface="Calibri" pitchFamily="34" charset="-120"/>
              </a:rPr>
              <a:t>— the model picks the prototypical-but-wrong image in every language.</a:t>
            </a:r>
            <a:endParaRPr lang="en-US" sz="1550" dirty="0"/>
          </a:p>
        </p:txBody>
      </p:sp>
      <p:sp>
        <p:nvSpPr>
          <p:cNvPr id="11" name="Shape 9"/>
          <p:cNvSpPr/>
          <p:nvPr/>
        </p:nvSpPr>
        <p:spPr>
          <a:xfrm>
            <a:off x="685800" y="4818888"/>
            <a:ext cx="146304" cy="146304"/>
          </a:xfrm>
          <a:prstGeom prst="ellipse">
            <a:avLst/>
          </a:prstGeom>
          <a:solidFill>
            <a:srgbClr val="55A868"/>
          </a:solidFill>
          <a:ln/>
        </p:spPr>
        <p:txBody>
          <a:bodyPr/>
          <a:lstStyle/>
          <a:p>
            <a:endParaRPr lang="zh-CN" altLang="en-US"/>
          </a:p>
        </p:txBody>
      </p:sp>
      <p:sp>
        <p:nvSpPr>
          <p:cNvPr id="12" name="Text 10"/>
          <p:cNvSpPr/>
          <p:nvPr/>
        </p:nvSpPr>
        <p:spPr>
          <a:xfrm>
            <a:off x="1005840" y="4745736"/>
            <a:ext cx="10500055" cy="548640"/>
          </a:xfrm>
          <a:prstGeom prst="rect">
            <a:avLst/>
          </a:prstGeom>
          <a:noFill/>
          <a:ln/>
        </p:spPr>
        <p:txBody>
          <a:bodyPr wrap="square" lIns="0" tIns="0" rIns="0" bIns="0" rtlCol="0" anchor="t"/>
          <a:lstStyle/>
          <a:p>
            <a:pPr marL="0" indent="0">
              <a:buNone/>
            </a:pPr>
            <a:r>
              <a:rPr lang="en-US" sz="1550" b="1" dirty="0">
                <a:solidFill>
                  <a:srgbClr val="55A868"/>
                </a:solidFill>
                <a:latin typeface="Calibri" pitchFamily="34" charset="0"/>
                <a:ea typeface="Calibri" pitchFamily="34" charset="-122"/>
                <a:cs typeface="Calibri" pitchFamily="34" charset="-120"/>
              </a:rPr>
              <a:t>Stable Correct Rate (SCR)  </a:t>
            </a:r>
            <a:r>
              <a:rPr lang="en-US" sz="1550" dirty="0">
                <a:solidFill>
                  <a:srgbClr val="23262F"/>
                </a:solidFill>
                <a:latin typeface="Calibri" pitchFamily="34" charset="0"/>
                <a:ea typeface="Calibri" pitchFamily="34" charset="-122"/>
                <a:cs typeface="Calibri" pitchFamily="34" charset="-120"/>
              </a:rPr>
              <a:t>— the model picks the correct image in every language.</a:t>
            </a:r>
            <a:endParaRPr lang="en-US" sz="1550" dirty="0"/>
          </a:p>
        </p:txBody>
      </p:sp>
      <p:sp>
        <p:nvSpPr>
          <p:cNvPr id="13" name="Text 11"/>
          <p:cNvSpPr/>
          <p:nvPr/>
        </p:nvSpPr>
        <p:spPr>
          <a:xfrm>
            <a:off x="685800" y="5669280"/>
            <a:ext cx="10820095" cy="640080"/>
          </a:xfrm>
          <a:prstGeom prst="rect">
            <a:avLst/>
          </a:prstGeom>
          <a:noFill/>
          <a:ln/>
        </p:spPr>
        <p:txBody>
          <a:bodyPr wrap="square" lIns="0" tIns="0" rIns="0" bIns="0" rtlCol="0" anchor="ctr"/>
          <a:lstStyle/>
          <a:p>
            <a:pPr marL="0" indent="0">
              <a:buNone/>
            </a:pPr>
            <a:r>
              <a:rPr lang="en-US" sz="1300" i="1" dirty="0">
                <a:solidFill>
                  <a:srgbClr val="5A6072"/>
                </a:solidFill>
                <a:latin typeface="Calibri" pitchFamily="34" charset="0"/>
                <a:ea typeface="Calibri" pitchFamily="34" charset="-122"/>
                <a:cs typeface="Calibri" pitchFamily="34" charset="-120"/>
              </a:rPr>
              <a:t>These are item-level summaries across languages, not per-judgment — which is why a flat aggregate error rate can still hide heavy item-level flipping (overall CFR ≈ 0.65).</a:t>
            </a:r>
            <a:endParaRPr lang="en-US" sz="1300" dirty="0"/>
          </a:p>
        </p:txBody>
      </p:sp>
      <p:sp>
        <p:nvSpPr>
          <p:cNvPr id="14" name="Text 12"/>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INTERACTIVE · MODEL EXPLORER</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2700"/>
              </a:lnSpc>
              <a:buNone/>
            </a:pPr>
            <a:r>
              <a:rPr lang="en-US" sz="2500" b="1" dirty="0">
                <a:solidFill>
                  <a:srgbClr val="23262F"/>
                </a:solidFill>
                <a:latin typeface="Georgia" pitchFamily="34" charset="0"/>
                <a:ea typeface="Georgia" pitchFamily="34" charset="-122"/>
                <a:cs typeface="Georgia" pitchFamily="34" charset="-120"/>
              </a:rPr>
              <a:t>Does it hold across models?  ▸ click a button</a:t>
            </a:r>
            <a:endParaRPr lang="en-US" sz="2500" dirty="0"/>
          </a:p>
        </p:txBody>
      </p:sp>
      <p:pic>
        <p:nvPicPr>
          <p:cNvPr id="4" name="Image 0" descr="/Users/xiaochuan/Desktop/Projects/P5_Multi_linguistic_histoBias/v3/experiments/exp3a_mixed_effects/figures/figC_attribute_OR_qwen7b.png"/>
          <p:cNvPicPr>
            <a:picLocks noChangeAspect="1"/>
          </p:cNvPicPr>
          <p:nvPr/>
        </p:nvPicPr>
        <p:blipFill>
          <a:blip r:embed="rId3"/>
          <a:stretch>
            <a:fillRect/>
          </a:stretch>
        </p:blipFill>
        <p:spPr>
          <a:xfrm>
            <a:off x="1709928" y="1737360"/>
            <a:ext cx="8778240" cy="3351753"/>
          </a:xfrm>
          <a:prstGeom prst="rect">
            <a:avLst/>
          </a:prstGeom>
        </p:spPr>
      </p:pic>
      <p:sp>
        <p:nvSpPr>
          <p:cNvPr id="5" name="Shape 2"/>
          <p:cNvSpPr/>
          <p:nvPr/>
        </p:nvSpPr>
        <p:spPr>
          <a:xfrm>
            <a:off x="1325880" y="5943600"/>
            <a:ext cx="3108960" cy="603504"/>
          </a:xfrm>
          <a:prstGeom prst="roundRect">
            <a:avLst>
              <a:gd name="adj" fmla="val 12121"/>
            </a:avLst>
          </a:prstGeom>
          <a:solidFill>
            <a:srgbClr val="1B1F3B"/>
          </a:solidFill>
          <a:ln w="12700">
            <a:solidFill>
              <a:srgbClr val="1B1F3B"/>
            </a:solidFill>
            <a:prstDash val="solid"/>
          </a:ln>
        </p:spPr>
        <p:txBody>
          <a:bodyPr/>
          <a:lstStyle/>
          <a:p>
            <a:endParaRPr lang="zh-CN" altLang="en-US"/>
          </a:p>
        </p:txBody>
      </p:sp>
      <p:sp>
        <p:nvSpPr>
          <p:cNvPr id="6" name="Text 3"/>
          <p:cNvSpPr/>
          <p:nvPr/>
        </p:nvSpPr>
        <p:spPr>
          <a:xfrm>
            <a:off x="1325880" y="5943600"/>
            <a:ext cx="3108960" cy="6035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Qwen-7B</a:t>
            </a:r>
            <a:endParaRPr lang="en-US" sz="1400" dirty="0"/>
          </a:p>
        </p:txBody>
      </p:sp>
      <p:sp>
        <p:nvSpPr>
          <p:cNvPr id="7" name="Shape 4"/>
          <p:cNvSpPr/>
          <p:nvPr/>
        </p:nvSpPr>
        <p:spPr>
          <a:xfrm>
            <a:off x="4544568" y="5943600"/>
            <a:ext cx="3108960" cy="603504"/>
          </a:xfrm>
          <a:prstGeom prst="roundRect">
            <a:avLst>
              <a:gd name="adj" fmla="val 12121"/>
            </a:avLst>
          </a:prstGeom>
          <a:solidFill>
            <a:srgbClr val="F5F6FA"/>
          </a:solidFill>
          <a:ln w="12700">
            <a:solidFill>
              <a:srgbClr val="E4E6EF"/>
            </a:solidFill>
            <a:prstDash val="solid"/>
          </a:ln>
        </p:spPr>
        <p:txBody>
          <a:bodyPr/>
          <a:lstStyle/>
          <a:p>
            <a:endParaRPr lang="zh-CN" altLang="en-US"/>
          </a:p>
        </p:txBody>
      </p:sp>
      <p:sp>
        <p:nvSpPr>
          <p:cNvPr id="8" name="Text 5">
            <a:hlinkClick r:id="rId4" action="ppaction://hlinksldjump"/>
          </p:cNvPr>
          <p:cNvSpPr/>
          <p:nvPr/>
        </p:nvSpPr>
        <p:spPr>
          <a:xfrm>
            <a:off x="4544568" y="5943600"/>
            <a:ext cx="3108960" cy="603504"/>
          </a:xfrm>
          <a:prstGeom prst="rect">
            <a:avLst/>
          </a:prstGeom>
          <a:noFill/>
          <a:ln/>
        </p:spPr>
        <p:txBody>
          <a:bodyPr wrap="square" lIns="0" tIns="0" rIns="0" bIns="0" rtlCol="0" anchor="ctr"/>
          <a:lstStyle/>
          <a:p>
            <a:pPr marL="0" indent="0" algn="ctr">
              <a:buNone/>
            </a:pPr>
            <a:r>
              <a:rPr lang="en-US" sz="1400" b="1" u="sng" dirty="0">
                <a:solidFill>
                  <a:srgbClr val="1B1F3B"/>
                </a:solidFill>
                <a:latin typeface="Calibri" pitchFamily="34" charset="0"/>
                <a:ea typeface="Calibri" pitchFamily="34" charset="-122"/>
                <a:cs typeface="Calibri" pitchFamily="34" charset="-120"/>
                <a:hlinkClick r:id="rId4" action="ppaction://hlinksldjump">
                  <a:extLst>
                    <a:ext uri="{A12FA001-AC4F-418D-AE19-62706E023703}">
                      <ahyp:hlinkClr xmlns:ahyp="http://schemas.microsoft.com/office/drawing/2018/hyperlinkcolor" val="tx"/>
                    </a:ext>
                  </a:extLst>
                </a:hlinkClick>
              </a:rPr>
              <a:t>InternVL3-8B</a:t>
            </a:r>
            <a:endParaRPr lang="en-US" sz="1400" dirty="0"/>
          </a:p>
        </p:txBody>
      </p:sp>
      <p:sp>
        <p:nvSpPr>
          <p:cNvPr id="9" name="Shape 6"/>
          <p:cNvSpPr/>
          <p:nvPr/>
        </p:nvSpPr>
        <p:spPr>
          <a:xfrm>
            <a:off x="7763256" y="5943600"/>
            <a:ext cx="3108960" cy="603504"/>
          </a:xfrm>
          <a:prstGeom prst="roundRect">
            <a:avLst>
              <a:gd name="adj" fmla="val 12121"/>
            </a:avLst>
          </a:prstGeom>
          <a:solidFill>
            <a:srgbClr val="F5F6FA"/>
          </a:solidFill>
          <a:ln w="12700">
            <a:solidFill>
              <a:srgbClr val="E4E6EF"/>
            </a:solidFill>
            <a:prstDash val="solid"/>
          </a:ln>
        </p:spPr>
        <p:txBody>
          <a:bodyPr/>
          <a:lstStyle/>
          <a:p>
            <a:endParaRPr lang="zh-CN" altLang="en-US"/>
          </a:p>
        </p:txBody>
      </p:sp>
      <p:sp>
        <p:nvSpPr>
          <p:cNvPr id="10" name="Text 7">
            <a:hlinkClick r:id="rId5" action="ppaction://hlinksldjump"/>
          </p:cNvPr>
          <p:cNvSpPr/>
          <p:nvPr/>
        </p:nvSpPr>
        <p:spPr>
          <a:xfrm>
            <a:off x="7763256" y="5943600"/>
            <a:ext cx="3108960" cy="603504"/>
          </a:xfrm>
          <a:prstGeom prst="rect">
            <a:avLst/>
          </a:prstGeom>
          <a:noFill/>
          <a:ln/>
        </p:spPr>
        <p:txBody>
          <a:bodyPr wrap="square" lIns="0" tIns="0" rIns="0" bIns="0" rtlCol="0" anchor="ctr"/>
          <a:lstStyle/>
          <a:p>
            <a:pPr marL="0" indent="0" algn="ctr">
              <a:buNone/>
            </a:pPr>
            <a:r>
              <a:rPr lang="en-US" sz="1400" b="1" u="sng" dirty="0">
                <a:solidFill>
                  <a:srgbClr val="1B1F3B"/>
                </a:solidFill>
                <a:latin typeface="Calibri" pitchFamily="34" charset="0"/>
                <a:ea typeface="Calibri" pitchFamily="34" charset="-122"/>
                <a:cs typeface="Calibri" pitchFamily="34" charset="-120"/>
                <a:hlinkClick r:id="rId5" action="ppaction://hlinksldjump">
                  <a:extLst>
                    <a:ext uri="{A12FA001-AC4F-418D-AE19-62706E023703}">
                      <ahyp:hlinkClr xmlns:ahyp="http://schemas.microsoft.com/office/drawing/2018/hyperlinkcolor" val="tx"/>
                    </a:ext>
                  </a:extLst>
                </a:hlinkClick>
              </a:rPr>
              <a:t>Both overlaid</a:t>
            </a:r>
            <a:endParaRPr lang="en-US" sz="1400" dirty="0"/>
          </a:p>
        </p:txBody>
      </p:sp>
      <p:sp>
        <p:nvSpPr>
          <p:cNvPr id="11" name="Text 8"/>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INTERACTIVE · MODEL EXPLORER</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2700"/>
              </a:lnSpc>
              <a:buNone/>
            </a:pPr>
            <a:r>
              <a:rPr lang="en-US" sz="2500" b="1" dirty="0">
                <a:solidFill>
                  <a:srgbClr val="23262F"/>
                </a:solidFill>
                <a:latin typeface="Georgia" pitchFamily="34" charset="0"/>
                <a:ea typeface="Georgia" pitchFamily="34" charset="-122"/>
                <a:cs typeface="Georgia" pitchFamily="34" charset="-120"/>
              </a:rPr>
              <a:t>Does it hold across models?  ▸ click a button</a:t>
            </a:r>
            <a:endParaRPr lang="en-US" sz="2500" dirty="0"/>
          </a:p>
        </p:txBody>
      </p:sp>
      <p:pic>
        <p:nvPicPr>
          <p:cNvPr id="4" name="Image 0" descr="/Users/xiaochuan/Desktop/Projects/P5_Multi_linguistic_histoBias/v3/experiments/exp3a_mixed_effects/figures/figC_attribute_OR_internvl8b.png"/>
          <p:cNvPicPr>
            <a:picLocks noChangeAspect="1"/>
          </p:cNvPicPr>
          <p:nvPr/>
        </p:nvPicPr>
        <p:blipFill>
          <a:blip r:embed="rId3"/>
          <a:stretch>
            <a:fillRect/>
          </a:stretch>
        </p:blipFill>
        <p:spPr>
          <a:xfrm>
            <a:off x="1709928" y="1737360"/>
            <a:ext cx="8778240" cy="3351753"/>
          </a:xfrm>
          <a:prstGeom prst="rect">
            <a:avLst/>
          </a:prstGeom>
        </p:spPr>
      </p:pic>
      <p:sp>
        <p:nvSpPr>
          <p:cNvPr id="5" name="Shape 2"/>
          <p:cNvSpPr/>
          <p:nvPr/>
        </p:nvSpPr>
        <p:spPr>
          <a:xfrm>
            <a:off x="1325880" y="5943600"/>
            <a:ext cx="3108960" cy="603504"/>
          </a:xfrm>
          <a:prstGeom prst="roundRect">
            <a:avLst>
              <a:gd name="adj" fmla="val 12121"/>
            </a:avLst>
          </a:prstGeom>
          <a:solidFill>
            <a:srgbClr val="F5F6FA"/>
          </a:solidFill>
          <a:ln w="12700">
            <a:solidFill>
              <a:srgbClr val="E4E6EF"/>
            </a:solidFill>
            <a:prstDash val="solid"/>
          </a:ln>
        </p:spPr>
        <p:txBody>
          <a:bodyPr/>
          <a:lstStyle/>
          <a:p>
            <a:endParaRPr lang="zh-CN" altLang="en-US"/>
          </a:p>
        </p:txBody>
      </p:sp>
      <p:sp>
        <p:nvSpPr>
          <p:cNvPr id="6" name="Text 3">
            <a:hlinkClick r:id="rId4" action="ppaction://hlinksldjump"/>
          </p:cNvPr>
          <p:cNvSpPr/>
          <p:nvPr/>
        </p:nvSpPr>
        <p:spPr>
          <a:xfrm>
            <a:off x="1325880" y="5943600"/>
            <a:ext cx="3108960" cy="603504"/>
          </a:xfrm>
          <a:prstGeom prst="rect">
            <a:avLst/>
          </a:prstGeom>
          <a:noFill/>
          <a:ln/>
        </p:spPr>
        <p:txBody>
          <a:bodyPr wrap="square" lIns="0" tIns="0" rIns="0" bIns="0" rtlCol="0" anchor="ctr"/>
          <a:lstStyle/>
          <a:p>
            <a:pPr marL="0" indent="0" algn="ctr">
              <a:buNone/>
            </a:pPr>
            <a:r>
              <a:rPr lang="en-US" sz="1400" b="1" u="sng" dirty="0">
                <a:solidFill>
                  <a:srgbClr val="1B1F3B"/>
                </a:solidFill>
                <a:latin typeface="Calibri" pitchFamily="34" charset="0"/>
                <a:ea typeface="Calibri" pitchFamily="34" charset="-122"/>
                <a:cs typeface="Calibri" pitchFamily="34" charset="-120"/>
                <a:hlinkClick r:id="rId4" action="ppaction://hlinksldjump">
                  <a:extLst>
                    <a:ext uri="{A12FA001-AC4F-418D-AE19-62706E023703}">
                      <ahyp:hlinkClr xmlns:ahyp="http://schemas.microsoft.com/office/drawing/2018/hyperlinkcolor" val="tx"/>
                    </a:ext>
                  </a:extLst>
                </a:hlinkClick>
              </a:rPr>
              <a:t>Qwen-7B</a:t>
            </a:r>
            <a:endParaRPr lang="en-US" sz="1400" dirty="0"/>
          </a:p>
        </p:txBody>
      </p:sp>
      <p:sp>
        <p:nvSpPr>
          <p:cNvPr id="7" name="Shape 4"/>
          <p:cNvSpPr/>
          <p:nvPr/>
        </p:nvSpPr>
        <p:spPr>
          <a:xfrm>
            <a:off x="4544568" y="5943600"/>
            <a:ext cx="3108960" cy="603504"/>
          </a:xfrm>
          <a:prstGeom prst="roundRect">
            <a:avLst>
              <a:gd name="adj" fmla="val 12121"/>
            </a:avLst>
          </a:prstGeom>
          <a:solidFill>
            <a:srgbClr val="1B1F3B"/>
          </a:solidFill>
          <a:ln w="12700">
            <a:solidFill>
              <a:srgbClr val="1B1F3B"/>
            </a:solidFill>
            <a:prstDash val="solid"/>
          </a:ln>
        </p:spPr>
        <p:txBody>
          <a:bodyPr/>
          <a:lstStyle/>
          <a:p>
            <a:endParaRPr lang="zh-CN" altLang="en-US"/>
          </a:p>
        </p:txBody>
      </p:sp>
      <p:sp>
        <p:nvSpPr>
          <p:cNvPr id="8" name="Text 5"/>
          <p:cNvSpPr/>
          <p:nvPr/>
        </p:nvSpPr>
        <p:spPr>
          <a:xfrm>
            <a:off x="4544568" y="5943600"/>
            <a:ext cx="3108960" cy="6035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InternVL3-8B</a:t>
            </a:r>
            <a:endParaRPr lang="en-US" sz="1400" dirty="0"/>
          </a:p>
        </p:txBody>
      </p:sp>
      <p:sp>
        <p:nvSpPr>
          <p:cNvPr id="9" name="Shape 6"/>
          <p:cNvSpPr/>
          <p:nvPr/>
        </p:nvSpPr>
        <p:spPr>
          <a:xfrm>
            <a:off x="7763256" y="5943600"/>
            <a:ext cx="3108960" cy="603504"/>
          </a:xfrm>
          <a:prstGeom prst="roundRect">
            <a:avLst>
              <a:gd name="adj" fmla="val 12121"/>
            </a:avLst>
          </a:prstGeom>
          <a:solidFill>
            <a:srgbClr val="F5F6FA"/>
          </a:solidFill>
          <a:ln w="12700">
            <a:solidFill>
              <a:srgbClr val="E4E6EF"/>
            </a:solidFill>
            <a:prstDash val="solid"/>
          </a:ln>
        </p:spPr>
        <p:txBody>
          <a:bodyPr/>
          <a:lstStyle/>
          <a:p>
            <a:endParaRPr lang="zh-CN" altLang="en-US"/>
          </a:p>
        </p:txBody>
      </p:sp>
      <p:sp>
        <p:nvSpPr>
          <p:cNvPr id="10" name="Text 7">
            <a:hlinkClick r:id="rId5" action="ppaction://hlinksldjump"/>
          </p:cNvPr>
          <p:cNvSpPr/>
          <p:nvPr/>
        </p:nvSpPr>
        <p:spPr>
          <a:xfrm>
            <a:off x="7763256" y="5943600"/>
            <a:ext cx="3108960" cy="603504"/>
          </a:xfrm>
          <a:prstGeom prst="rect">
            <a:avLst/>
          </a:prstGeom>
          <a:noFill/>
          <a:ln/>
        </p:spPr>
        <p:txBody>
          <a:bodyPr wrap="square" lIns="0" tIns="0" rIns="0" bIns="0" rtlCol="0" anchor="ctr"/>
          <a:lstStyle/>
          <a:p>
            <a:pPr marL="0" indent="0" algn="ctr">
              <a:buNone/>
            </a:pPr>
            <a:r>
              <a:rPr lang="en-US" sz="1400" b="1" u="sng" dirty="0">
                <a:solidFill>
                  <a:srgbClr val="1B1F3B"/>
                </a:solidFill>
                <a:latin typeface="Calibri" pitchFamily="34" charset="0"/>
                <a:ea typeface="Calibri" pitchFamily="34" charset="-122"/>
                <a:cs typeface="Calibri" pitchFamily="34" charset="-120"/>
                <a:hlinkClick r:id="rId5" action="ppaction://hlinksldjump">
                  <a:extLst>
                    <a:ext uri="{A12FA001-AC4F-418D-AE19-62706E023703}">
                      <ahyp:hlinkClr xmlns:ahyp="http://schemas.microsoft.com/office/drawing/2018/hyperlinkcolor" val="tx"/>
                    </a:ext>
                  </a:extLst>
                </a:hlinkClick>
              </a:rPr>
              <a:t>Both overlaid</a:t>
            </a:r>
            <a:endParaRPr lang="en-US" sz="1400" dirty="0"/>
          </a:p>
        </p:txBody>
      </p:sp>
      <p:sp>
        <p:nvSpPr>
          <p:cNvPr id="11" name="Text 8"/>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INTERACTIVE · MODEL EXPLORER</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2700"/>
              </a:lnSpc>
              <a:buNone/>
            </a:pPr>
            <a:r>
              <a:rPr lang="en-US" sz="2500" b="1" dirty="0">
                <a:solidFill>
                  <a:srgbClr val="23262F"/>
                </a:solidFill>
                <a:latin typeface="Georgia" pitchFamily="34" charset="0"/>
                <a:ea typeface="Georgia" pitchFamily="34" charset="-122"/>
                <a:cs typeface="Georgia" pitchFamily="34" charset="-120"/>
              </a:rPr>
              <a:t>Does it hold across models?  ▸ click a button</a:t>
            </a:r>
            <a:endParaRPr lang="en-US" sz="2500" dirty="0"/>
          </a:p>
        </p:txBody>
      </p:sp>
      <p:pic>
        <p:nvPicPr>
          <p:cNvPr id="4" name="Image 0" descr="/Users/xiaochuan/Desktop/Projects/P5_Multi_linguistic_histoBias/v3/experiments/exp3a_mixed_effects/figures/figE_cross_model_OR.png"/>
          <p:cNvPicPr>
            <a:picLocks noChangeAspect="1"/>
          </p:cNvPicPr>
          <p:nvPr/>
        </p:nvPicPr>
        <p:blipFill>
          <a:blip r:embed="rId3"/>
          <a:stretch>
            <a:fillRect/>
          </a:stretch>
        </p:blipFill>
        <p:spPr>
          <a:xfrm>
            <a:off x="1709928" y="1737360"/>
            <a:ext cx="8778240" cy="3364599"/>
          </a:xfrm>
          <a:prstGeom prst="rect">
            <a:avLst/>
          </a:prstGeom>
        </p:spPr>
      </p:pic>
      <p:sp>
        <p:nvSpPr>
          <p:cNvPr id="5" name="Shape 2"/>
          <p:cNvSpPr/>
          <p:nvPr/>
        </p:nvSpPr>
        <p:spPr>
          <a:xfrm>
            <a:off x="1325880" y="5943600"/>
            <a:ext cx="3108960" cy="603504"/>
          </a:xfrm>
          <a:prstGeom prst="roundRect">
            <a:avLst>
              <a:gd name="adj" fmla="val 12121"/>
            </a:avLst>
          </a:prstGeom>
          <a:solidFill>
            <a:srgbClr val="F5F6FA"/>
          </a:solidFill>
          <a:ln w="12700">
            <a:solidFill>
              <a:srgbClr val="E4E6EF"/>
            </a:solidFill>
            <a:prstDash val="solid"/>
          </a:ln>
        </p:spPr>
        <p:txBody>
          <a:bodyPr/>
          <a:lstStyle/>
          <a:p>
            <a:endParaRPr lang="zh-CN" altLang="en-US"/>
          </a:p>
        </p:txBody>
      </p:sp>
      <p:sp>
        <p:nvSpPr>
          <p:cNvPr id="6" name="Text 3">
            <a:hlinkClick r:id="rId4" action="ppaction://hlinksldjump"/>
          </p:cNvPr>
          <p:cNvSpPr/>
          <p:nvPr/>
        </p:nvSpPr>
        <p:spPr>
          <a:xfrm>
            <a:off x="1325880" y="5943600"/>
            <a:ext cx="3108960" cy="603504"/>
          </a:xfrm>
          <a:prstGeom prst="rect">
            <a:avLst/>
          </a:prstGeom>
          <a:noFill/>
          <a:ln/>
        </p:spPr>
        <p:txBody>
          <a:bodyPr wrap="square" lIns="0" tIns="0" rIns="0" bIns="0" rtlCol="0" anchor="ctr"/>
          <a:lstStyle/>
          <a:p>
            <a:pPr marL="0" indent="0" algn="ctr">
              <a:buNone/>
            </a:pPr>
            <a:r>
              <a:rPr lang="en-US" sz="1400" b="1" u="sng" dirty="0">
                <a:solidFill>
                  <a:srgbClr val="1B1F3B"/>
                </a:solidFill>
                <a:latin typeface="Calibri" pitchFamily="34" charset="0"/>
                <a:ea typeface="Calibri" pitchFamily="34" charset="-122"/>
                <a:cs typeface="Calibri" pitchFamily="34" charset="-120"/>
                <a:hlinkClick r:id="rId4" action="ppaction://hlinksldjump">
                  <a:extLst>
                    <a:ext uri="{A12FA001-AC4F-418D-AE19-62706E023703}">
                      <ahyp:hlinkClr xmlns:ahyp="http://schemas.microsoft.com/office/drawing/2018/hyperlinkcolor" val="tx"/>
                    </a:ext>
                  </a:extLst>
                </a:hlinkClick>
              </a:rPr>
              <a:t>Qwen-7B</a:t>
            </a:r>
            <a:endParaRPr lang="en-US" sz="1400" dirty="0"/>
          </a:p>
        </p:txBody>
      </p:sp>
      <p:sp>
        <p:nvSpPr>
          <p:cNvPr id="7" name="Shape 4"/>
          <p:cNvSpPr/>
          <p:nvPr/>
        </p:nvSpPr>
        <p:spPr>
          <a:xfrm>
            <a:off x="4544568" y="5943600"/>
            <a:ext cx="3108960" cy="603504"/>
          </a:xfrm>
          <a:prstGeom prst="roundRect">
            <a:avLst>
              <a:gd name="adj" fmla="val 12121"/>
            </a:avLst>
          </a:prstGeom>
          <a:solidFill>
            <a:srgbClr val="F5F6FA"/>
          </a:solidFill>
          <a:ln w="12700">
            <a:solidFill>
              <a:srgbClr val="E4E6EF"/>
            </a:solidFill>
            <a:prstDash val="solid"/>
          </a:ln>
        </p:spPr>
        <p:txBody>
          <a:bodyPr/>
          <a:lstStyle/>
          <a:p>
            <a:endParaRPr lang="zh-CN" altLang="en-US"/>
          </a:p>
        </p:txBody>
      </p:sp>
      <p:sp>
        <p:nvSpPr>
          <p:cNvPr id="8" name="Text 5">
            <a:hlinkClick r:id="rId5" action="ppaction://hlinksldjump"/>
          </p:cNvPr>
          <p:cNvSpPr/>
          <p:nvPr/>
        </p:nvSpPr>
        <p:spPr>
          <a:xfrm>
            <a:off x="4544568" y="5943600"/>
            <a:ext cx="3108960" cy="603504"/>
          </a:xfrm>
          <a:prstGeom prst="rect">
            <a:avLst/>
          </a:prstGeom>
          <a:noFill/>
          <a:ln/>
        </p:spPr>
        <p:txBody>
          <a:bodyPr wrap="square" lIns="0" tIns="0" rIns="0" bIns="0" rtlCol="0" anchor="ctr"/>
          <a:lstStyle/>
          <a:p>
            <a:pPr marL="0" indent="0" algn="ctr">
              <a:buNone/>
            </a:pPr>
            <a:r>
              <a:rPr lang="en-US" sz="1400" b="1" u="sng" dirty="0">
                <a:solidFill>
                  <a:srgbClr val="1B1F3B"/>
                </a:solidFill>
                <a:latin typeface="Calibri" pitchFamily="34" charset="0"/>
                <a:ea typeface="Calibri" pitchFamily="34" charset="-122"/>
                <a:cs typeface="Calibri" pitchFamily="34" charset="-120"/>
                <a:hlinkClick r:id="rId5" action="ppaction://hlinksldjump">
                  <a:extLst>
                    <a:ext uri="{A12FA001-AC4F-418D-AE19-62706E023703}">
                      <ahyp:hlinkClr xmlns:ahyp="http://schemas.microsoft.com/office/drawing/2018/hyperlinkcolor" val="tx"/>
                    </a:ext>
                  </a:extLst>
                </a:hlinkClick>
              </a:rPr>
              <a:t>InternVL3-8B</a:t>
            </a:r>
            <a:endParaRPr lang="en-US" sz="1400" dirty="0"/>
          </a:p>
        </p:txBody>
      </p:sp>
      <p:sp>
        <p:nvSpPr>
          <p:cNvPr id="9" name="Shape 6"/>
          <p:cNvSpPr/>
          <p:nvPr/>
        </p:nvSpPr>
        <p:spPr>
          <a:xfrm>
            <a:off x="7763256" y="5943600"/>
            <a:ext cx="3108960" cy="603504"/>
          </a:xfrm>
          <a:prstGeom prst="roundRect">
            <a:avLst>
              <a:gd name="adj" fmla="val 12121"/>
            </a:avLst>
          </a:prstGeom>
          <a:solidFill>
            <a:srgbClr val="1B1F3B"/>
          </a:solidFill>
          <a:ln w="12700">
            <a:solidFill>
              <a:srgbClr val="1B1F3B"/>
            </a:solidFill>
            <a:prstDash val="solid"/>
          </a:ln>
        </p:spPr>
        <p:txBody>
          <a:bodyPr/>
          <a:lstStyle/>
          <a:p>
            <a:endParaRPr lang="zh-CN" altLang="en-US"/>
          </a:p>
        </p:txBody>
      </p:sp>
      <p:sp>
        <p:nvSpPr>
          <p:cNvPr id="10" name="Text 7"/>
          <p:cNvSpPr/>
          <p:nvPr/>
        </p:nvSpPr>
        <p:spPr>
          <a:xfrm>
            <a:off x="7763256" y="5943600"/>
            <a:ext cx="3108960" cy="6035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Both overlaid</a:t>
            </a:r>
            <a:endParaRPr lang="en-US" sz="1400" dirty="0"/>
          </a:p>
        </p:txBody>
      </p:sp>
      <p:sp>
        <p:nvSpPr>
          <p:cNvPr id="11" name="Text 8"/>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57200"/>
            <a:ext cx="8229600" cy="320040"/>
          </a:xfrm>
          <a:prstGeom prst="rect">
            <a:avLst/>
          </a:prstGeom>
          <a:noFill/>
        </p:spPr>
        <p:txBody>
          <a:bodyPr wrap="square" anchor="t">
            <a:spAutoFit/>
          </a:bodyPr>
          <a:lstStyle/>
          <a:p>
            <a:pPr algn="l">
              <a:spcAft>
                <a:spcPts val="800"/>
              </a:spcAft>
            </a:pPr>
            <a:r>
              <a:rPr sz="1200" b="1" i="0">
                <a:solidFill>
                  <a:srgbClr val="C44E52"/>
                </a:solidFill>
                <a:latin typeface="Calibri"/>
              </a:rPr>
              <a:t>NEW BEHAVIOURAL METRIC · 1 OF 2</a:t>
            </a:r>
          </a:p>
        </p:txBody>
      </p:sp>
      <p:sp>
        <p:nvSpPr>
          <p:cNvPr id="3" name="TextBox 2"/>
          <p:cNvSpPr txBox="1"/>
          <p:nvPr/>
        </p:nvSpPr>
        <p:spPr>
          <a:xfrm>
            <a:off x="658368" y="822960"/>
            <a:ext cx="10789920" cy="914400"/>
          </a:xfrm>
          <a:prstGeom prst="rect">
            <a:avLst/>
          </a:prstGeom>
          <a:noFill/>
        </p:spPr>
        <p:txBody>
          <a:bodyPr wrap="square" anchor="t">
            <a:spAutoFit/>
          </a:bodyPr>
          <a:lstStyle/>
          <a:p>
            <a:pPr algn="l">
              <a:spcAft>
                <a:spcPts val="800"/>
              </a:spcAft>
            </a:pPr>
            <a:r>
              <a:rPr sz="3000" b="1" i="0">
                <a:solidFill>
                  <a:srgbClr val="23262F"/>
                </a:solidFill>
                <a:latin typeface="Georgia"/>
              </a:rPr>
              <a:t>Cross-lingual Flip Rate (CFR)</a:t>
            </a:r>
          </a:p>
        </p:txBody>
      </p:sp>
      <p:sp>
        <p:nvSpPr>
          <p:cNvPr id="4" name="TextBox 3"/>
          <p:cNvSpPr txBox="1"/>
          <p:nvPr/>
        </p:nvSpPr>
        <p:spPr>
          <a:xfrm>
            <a:off x="685800" y="1965960"/>
            <a:ext cx="5120640" cy="2194560"/>
          </a:xfrm>
          <a:prstGeom prst="rect">
            <a:avLst/>
          </a:prstGeom>
          <a:noFill/>
        </p:spPr>
        <p:txBody>
          <a:bodyPr wrap="square" anchor="t">
            <a:spAutoFit/>
          </a:bodyPr>
          <a:lstStyle/>
          <a:p>
            <a:pPr algn="l">
              <a:spcAft>
                <a:spcPts val="800"/>
              </a:spcAft>
            </a:pPr>
            <a:r>
              <a:rPr sz="1650" b="0" i="0">
                <a:solidFill>
                  <a:srgbClr val="23262F"/>
                </a:solidFill>
                <a:latin typeface="Calibri"/>
              </a:rPr>
              <a:t>Does the model's choice change when only the language changes?</a:t>
            </a:r>
          </a:p>
          <a:p>
            <a:pPr algn="l">
              <a:spcAft>
                <a:spcPts val="800"/>
              </a:spcAft>
            </a:pPr>
            <a:r>
              <a:rPr sz="1650" b="0" i="0">
                <a:solidFill>
                  <a:srgbClr val="23262F"/>
                </a:solidFill>
                <a:latin typeface="Calibri"/>
              </a:rPr>
              <a:t>Overall CFR ≈ 0.65 — about two-thirds of image-pairs flip at least once.</a:t>
            </a:r>
          </a:p>
          <a:p>
            <a:pPr algn="l">
              <a:spcAft>
                <a:spcPts val="800"/>
              </a:spcAft>
            </a:pPr>
            <a:r>
              <a:rPr sz="1650" b="0" i="0">
                <a:solidFill>
                  <a:srgbClr val="23262F"/>
                </a:solidFill>
                <a:latin typeface="Calibri"/>
              </a:rPr>
              <a:t>Wealth flips the LEAST — it is locked in (low flip = high stable bias).</a:t>
            </a:r>
          </a:p>
        </p:txBody>
      </p:sp>
      <p:sp>
        <p:nvSpPr>
          <p:cNvPr id="5" name="Rounded Rectangle 4"/>
          <p:cNvSpPr/>
          <p:nvPr/>
        </p:nvSpPr>
        <p:spPr>
          <a:xfrm>
            <a:off x="685800" y="4297680"/>
            <a:ext cx="5120640" cy="777240"/>
          </a:xfrm>
          <a:prstGeom prst="roundRect">
            <a:avLst/>
          </a:prstGeom>
          <a:solidFill>
            <a:srgbClr val="1B1F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FFFFFF"/>
                </a:solidFill>
                <a:latin typeface="Courier New"/>
              </a:rPr>
              <a:t>CFR  =  #(items whose answer differs across languages)  /  #(items)</a:t>
            </a:r>
          </a:p>
        </p:txBody>
      </p:sp>
      <p:graphicFrame>
        <p:nvGraphicFramePr>
          <p:cNvPr id="6" name="Chart 5"/>
          <p:cNvGraphicFramePr>
            <a:graphicFrameLocks noGrp="1"/>
          </p:cNvGraphicFramePr>
          <p:nvPr/>
        </p:nvGraphicFramePr>
        <p:xfrm>
          <a:off x="6126480" y="1737360"/>
          <a:ext cx="5486400" cy="4297680"/>
        </p:xfrm>
        <a:graphic>
          <a:graphicData uri="http://schemas.openxmlformats.org/drawingml/2006/chart">
            <c:chart xmlns:c="http://schemas.openxmlformats.org/drawingml/2006/chart" r:id="rId2"/>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57200"/>
            <a:ext cx="8229600" cy="320040"/>
          </a:xfrm>
          <a:prstGeom prst="rect">
            <a:avLst/>
          </a:prstGeom>
          <a:noFill/>
        </p:spPr>
        <p:txBody>
          <a:bodyPr wrap="square" anchor="t">
            <a:spAutoFit/>
          </a:bodyPr>
          <a:lstStyle/>
          <a:p>
            <a:pPr algn="l">
              <a:spcAft>
                <a:spcPts val="800"/>
              </a:spcAft>
            </a:pPr>
            <a:r>
              <a:rPr sz="1200" b="1" i="0">
                <a:solidFill>
                  <a:srgbClr val="C44E52"/>
                </a:solidFill>
                <a:latin typeface="Calibri"/>
              </a:rPr>
              <a:t>NEW BEHAVIOURAL METRIC · 2 OF 2</a:t>
            </a:r>
          </a:p>
        </p:txBody>
      </p:sp>
      <p:sp>
        <p:nvSpPr>
          <p:cNvPr id="3" name="TextBox 2"/>
          <p:cNvSpPr txBox="1"/>
          <p:nvPr/>
        </p:nvSpPr>
        <p:spPr>
          <a:xfrm>
            <a:off x="658368" y="822960"/>
            <a:ext cx="10789920" cy="914400"/>
          </a:xfrm>
          <a:prstGeom prst="rect">
            <a:avLst/>
          </a:prstGeom>
          <a:noFill/>
        </p:spPr>
        <p:txBody>
          <a:bodyPr wrap="square" anchor="t">
            <a:spAutoFit/>
          </a:bodyPr>
          <a:lstStyle/>
          <a:p>
            <a:pPr algn="l">
              <a:spcAft>
                <a:spcPts val="800"/>
              </a:spcAft>
            </a:pPr>
            <a:r>
              <a:rPr sz="3000" b="1" i="0">
                <a:solidFill>
                  <a:srgbClr val="23262F"/>
                </a:solidFill>
                <a:latin typeface="Georgia"/>
              </a:rPr>
              <a:t>Stable Bias Rate (SBR)</a:t>
            </a:r>
          </a:p>
        </p:txBody>
      </p:sp>
      <p:sp>
        <p:nvSpPr>
          <p:cNvPr id="4" name="TextBox 3"/>
          <p:cNvSpPr txBox="1"/>
          <p:nvPr/>
        </p:nvSpPr>
        <p:spPr>
          <a:xfrm>
            <a:off x="685800" y="1965960"/>
            <a:ext cx="5120640" cy="1828800"/>
          </a:xfrm>
          <a:prstGeom prst="rect">
            <a:avLst/>
          </a:prstGeom>
          <a:noFill/>
        </p:spPr>
        <p:txBody>
          <a:bodyPr wrap="square" anchor="t">
            <a:spAutoFit/>
          </a:bodyPr>
          <a:lstStyle/>
          <a:p>
            <a:pPr algn="l">
              <a:spcAft>
                <a:spcPts val="800"/>
              </a:spcAft>
            </a:pPr>
            <a:r>
              <a:rPr sz="1650" b="0" i="0">
                <a:solidFill>
                  <a:srgbClr val="23262F"/>
                </a:solidFill>
                <a:latin typeface="Calibri"/>
              </a:rPr>
              <a:t>Does the model pick the wrong (prototypical) image in ALL seven languages?</a:t>
            </a:r>
          </a:p>
          <a:p>
            <a:pPr algn="l">
              <a:spcAft>
                <a:spcPts val="800"/>
              </a:spcAft>
            </a:pPr>
            <a:r>
              <a:rPr sz="1650" b="1" i="0">
                <a:solidFill>
                  <a:srgbClr val="C44E52"/>
                </a:solidFill>
                <a:latin typeface="Calibri"/>
              </a:rPr>
              <a:t>Wealth has the highest SBR in both models — biased everywhere, not flip-flopping.</a:t>
            </a:r>
          </a:p>
        </p:txBody>
      </p:sp>
      <p:sp>
        <p:nvSpPr>
          <p:cNvPr id="5" name="Rounded Rectangle 4"/>
          <p:cNvSpPr/>
          <p:nvPr/>
        </p:nvSpPr>
        <p:spPr>
          <a:xfrm>
            <a:off x="685800" y="4297680"/>
            <a:ext cx="5120640" cy="777240"/>
          </a:xfrm>
          <a:prstGeom prst="roundRect">
            <a:avLst/>
          </a:prstGeom>
          <a:solidFill>
            <a:srgbClr val="1B1F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FFFFFF"/>
                </a:solidFill>
                <a:latin typeface="Courier New"/>
              </a:rPr>
              <a:t>SBR  =  #(items with the prototype chosen in every language)  /  #(items)</a:t>
            </a:r>
          </a:p>
        </p:txBody>
      </p:sp>
      <p:graphicFrame>
        <p:nvGraphicFramePr>
          <p:cNvPr id="6" name="Chart 5"/>
          <p:cNvGraphicFramePr>
            <a:graphicFrameLocks noGrp="1"/>
          </p:cNvGraphicFramePr>
          <p:nvPr/>
        </p:nvGraphicFramePr>
        <p:xfrm>
          <a:off x="6126480" y="1737360"/>
          <a:ext cx="5486400" cy="4297680"/>
        </p:xfrm>
        <a:graphic>
          <a:graphicData uri="http://schemas.openxmlformats.org/drawingml/2006/chart">
            <c:chart xmlns:c="http://schemas.openxmlformats.org/drawingml/2006/chart" r:id="rId2"/>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2153</Words>
  <Application>Microsoft Macintosh PowerPoint</Application>
  <PresentationFormat>宽屏</PresentationFormat>
  <Paragraphs>345</Paragraphs>
  <Slides>26</Slides>
  <Notes>26</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26</vt:i4>
      </vt:variant>
    </vt:vector>
  </HeadingPairs>
  <TitlesOfParts>
    <vt:vector size="31" baseType="lpstr">
      <vt:lpstr>Arial</vt:lpstr>
      <vt:lpstr>Calibri</vt:lpstr>
      <vt:lpstr>Courier New</vt:lpstr>
      <vt:lpstr>Georgia</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Cross-lingual Prototypicality Bias — Progress Report II</dc:title>
  <dc:subject>PptxGenJS Presentation</dc:subject>
  <dc:creator>Xiaochuan Li</dc:creator>
  <cp:lastModifiedBy>a64123</cp:lastModifiedBy>
  <cp:revision>3</cp:revision>
  <dcterms:created xsi:type="dcterms:W3CDTF">2026-06-23T07:43:40Z</dcterms:created>
  <dcterms:modified xsi:type="dcterms:W3CDTF">2026-06-23T07:55:08Z</dcterms:modified>
</cp:coreProperties>
</file>