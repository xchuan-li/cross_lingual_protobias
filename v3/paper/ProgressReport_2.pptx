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3262F"/>
                </a:solidFill>
                <a:latin typeface="Arial"/>
              </a:defRPr>
            </a:pPr>
            <a:r>
              <a:rPr sz="1200" b="0" i="0" u="none" strike="noStrike">
                <a:solidFill>
                  <a:srgbClr val="23262F"/>
                </a:solidFill>
                <a:latin typeface="Arial"/>
              </a:rPr>
              <a:t>Odds ratio of bias vs English  (1.0 = same as English)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Qwen2.5-VL-7B</c:v>
                </c:pt>
              </c:strCache>
            </c:strRef>
          </c:tx>
          <c:spPr>
            <a:solidFill>
              <a:srgbClr val="4C72B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zh</c:v>
                  </c:pt>
                  <c:pt idx="1">
                    <c:v>ru</c:v>
                  </c:pt>
                  <c:pt idx="2">
                    <c:v>ar</c:v>
                  </c:pt>
                  <c:pt idx="3">
                    <c:v>hi</c:v>
                  </c:pt>
                  <c:pt idx="4">
                    <c:v>bn</c:v>
                  </c:pt>
                  <c:pt idx="5">
                    <c:v>el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1.13</c:v>
                </c:pt>
                <c:pt idx="1">
                  <c:v>1.06</c:v>
                </c:pt>
                <c:pt idx="2">
                  <c:v>1.31</c:v>
                </c:pt>
                <c:pt idx="3">
                  <c:v>1.04</c:v>
                </c:pt>
                <c:pt idx="4">
                  <c:v>1.6</c:v>
                </c:pt>
                <c:pt idx="5">
                  <c:v>1.49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InternVL3-8B</c:v>
                </c:pt>
              </c:strCache>
            </c:strRef>
          </c:tx>
          <c:spPr>
            <a:solidFill>
              <a:srgbClr val="C44E5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zh</c:v>
                  </c:pt>
                  <c:pt idx="1">
                    <c:v>ru</c:v>
                  </c:pt>
                  <c:pt idx="2">
                    <c:v>ar</c:v>
                  </c:pt>
                  <c:pt idx="3">
                    <c:v>hi</c:v>
                  </c:pt>
                  <c:pt idx="4">
                    <c:v>bn</c:v>
                  </c:pt>
                  <c:pt idx="5">
                    <c:v>el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0.96</c:v>
                </c:pt>
                <c:pt idx="1">
                  <c:v>1.17</c:v>
                </c:pt>
                <c:pt idx="2">
                  <c:v>1.12</c:v>
                </c:pt>
                <c:pt idx="3">
                  <c:v>1.33</c:v>
                </c:pt>
                <c:pt idx="4">
                  <c:v>1.41</c:v>
                </c:pt>
                <c:pt idx="5">
                  <c:v>1.72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07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"/>
          <c:min val="0"/>
        </c:scaling>
        <c:delete val="0"/>
        <c:axPos val="l"/>
        <c:majorGridlines>
          <c:spPr>
            <a:ln w="6350" cap="flat">
              <a:solidFill>
                <a:srgbClr val="ECEE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0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A6072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3262F"/>
                </a:solidFill>
                <a:latin typeface="Arial"/>
              </a:defRPr>
            </a:pPr>
            <a:r>
              <a:rPr sz="1200" b="0" i="0" u="none" strike="noStrike">
                <a:solidFill>
                  <a:srgbClr val="23262F"/>
                </a:solidFill>
                <a:latin typeface="Arial"/>
              </a:rPr>
              <a:t>Stable Bias Rate by attribute  (chose wrong image in all 7 languages)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Qwen2.5-VL-7B</c:v>
                </c:pt>
              </c:strCache>
            </c:strRef>
          </c:tx>
          <c:spPr>
            <a:solidFill>
              <a:srgbClr val="4C72B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Wealth</c:v>
                  </c:pt>
                  <c:pt idx="1">
                    <c:v>Power</c:v>
                  </c:pt>
                  <c:pt idx="2">
                    <c:v>Civility</c:v>
                  </c:pt>
                  <c:pt idx="3">
                    <c:v>Morality</c:v>
                  </c:pt>
                  <c:pt idx="4">
                    <c:v>Intellect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0.58</c:v>
                </c:pt>
                <c:pt idx="1">
                  <c:v>0.28</c:v>
                </c:pt>
                <c:pt idx="2">
                  <c:v>0.22</c:v>
                </c:pt>
                <c:pt idx="3">
                  <c:v>0.18</c:v>
                </c:pt>
                <c:pt idx="4">
                  <c:v>0.17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InternVL3-8B</c:v>
                </c:pt>
              </c:strCache>
            </c:strRef>
          </c:tx>
          <c:spPr>
            <a:solidFill>
              <a:srgbClr val="C44E5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Wealth</c:v>
                  </c:pt>
                  <c:pt idx="1">
                    <c:v>Power</c:v>
                  </c:pt>
                  <c:pt idx="2">
                    <c:v>Civility</c:v>
                  </c:pt>
                  <c:pt idx="3">
                    <c:v>Morality</c:v>
                  </c:pt>
                  <c:pt idx="4">
                    <c:v>Intellect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0.45</c:v>
                </c:pt>
                <c:pt idx="1">
                  <c:v>0.36</c:v>
                </c:pt>
                <c:pt idx="2">
                  <c:v>0.3</c:v>
                </c:pt>
                <c:pt idx="3">
                  <c:v>0.23</c:v>
                </c:pt>
                <c:pt idx="4">
                  <c:v>0.19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07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"/>
          <c:min val="0"/>
        </c:scaling>
        <c:delete val="0"/>
        <c:axPos val="l"/>
        <c:majorGridlines>
          <c:spPr>
            <a:ln w="6350" cap="flat">
              <a:solidFill>
                <a:srgbClr val="ECEE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0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A6072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" Target="slide21.xml"/><Relationship Id="rId3" Type="http://schemas.openxmlformats.org/officeDocument/2006/relationships/slide" Target="slide22.xml"/><Relationship Id="rId1" Type="http://schemas.openxmlformats.org/officeDocument/2006/relationships/image" Target="../media/image-20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" Target="slide20.xml"/><Relationship Id="rId3" Type="http://schemas.openxmlformats.org/officeDocument/2006/relationships/slide" Target="slide22.xml"/><Relationship Id="rId1" Type="http://schemas.openxmlformats.org/officeDocument/2006/relationships/image" Target="../media/image-2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" Target="slide20.xml"/><Relationship Id="rId3" Type="http://schemas.openxmlformats.org/officeDocument/2006/relationships/slide" Target="slide21.xml"/><Relationship Id="rId1" Type="http://schemas.openxmlformats.org/officeDocument/2006/relationships/image" Target="../media/image-2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554480"/>
            <a:ext cx="109728" cy="109728"/>
          </a:xfrm>
          <a:prstGeom prst="ellipse">
            <a:avLst/>
          </a:prstGeom>
          <a:solidFill>
            <a:srgbClr val="C44E52"/>
          </a:solidFill>
          <a:ln/>
        </p:spPr>
      </p:sp>
      <p:sp>
        <p:nvSpPr>
          <p:cNvPr id="3" name="Shape 1"/>
          <p:cNvSpPr/>
          <p:nvPr/>
        </p:nvSpPr>
        <p:spPr>
          <a:xfrm>
            <a:off x="886968" y="1554480"/>
            <a:ext cx="109728" cy="109728"/>
          </a:xfrm>
          <a:prstGeom prst="ellipse">
            <a:avLst/>
          </a:prstGeom>
          <a:solidFill>
            <a:srgbClr val="4C72B0"/>
          </a:solidFill>
          <a:ln/>
        </p:spPr>
      </p:sp>
      <p:sp>
        <p:nvSpPr>
          <p:cNvPr id="4" name="Shape 2"/>
          <p:cNvSpPr/>
          <p:nvPr/>
        </p:nvSpPr>
        <p:spPr>
          <a:xfrm>
            <a:off x="1088136" y="1554480"/>
            <a:ext cx="109728" cy="109728"/>
          </a:xfrm>
          <a:prstGeom prst="ellipse">
            <a:avLst/>
          </a:prstGeom>
          <a:solidFill>
            <a:srgbClr val="55A868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874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9D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REPORT II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228600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Cross-lingual Prototypicality Bias</a:t>
            </a:r>
            <a:endParaRPr lang="en-US" sz="44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Vision-Language Models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85800" y="416052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D2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a vision-language model track meaning — or lean on language- and culture-specific prototypes?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5800" y="571500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Xiaochuan Li · Rishav Chandra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Mentor: Subhadeep Roy   ·   Extending ProtoBias (Roy, Bhatia &amp; Eger 2026)   ·   June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Prototypicality bias: judging by looks, not meaning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59436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metrics and VLMs increasingly replace humans for image–text evaluation.</a:t>
            </a:r>
            <a:endParaRPr lang="en-US" sz="17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mode: they reward the image that looks typical — even when it is wrong for the prompt.</a:t>
            </a:r>
            <a:endParaRPr lang="en-US" sz="17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ProtoBias pairs a semantically-correct but atypical image with a prototypical but wrong one.</a:t>
            </a:r>
            <a:endParaRPr lang="en-US" sz="17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judge that prefers the typical-but-wrong image is riding a shortcut, not the meaning.</a:t>
            </a:r>
            <a:endParaRPr lang="en-US" sz="1750" dirty="0"/>
          </a:p>
        </p:txBody>
      </p:sp>
      <p:pic>
        <p:nvPicPr>
          <p:cNvPr id="5" name="Image 0" descr="/Users/xiaochuan/Desktop/Projects/P5_Multi_linguistic_histoBias/v1/paper/assets/protobias_examples_animals_objec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2514600"/>
            <a:ext cx="4983480" cy="241681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720840" y="507492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Correct-but-atypical (left) vs prototypical-but-wrong (right).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EXTENSION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the bias depend on the language you ask in?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6126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ProtoBias is English-only and studies evaluation metrics.</a:t>
            </a:r>
            <a:endParaRPr lang="en-US" sz="17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turn: translate only the prompt, hold the image pair fixed.</a:t>
            </a:r>
            <a:endParaRPr lang="en-US" sz="17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verdict moves with language, the model is importing language-specific expectations.</a:t>
            </a:r>
            <a:endParaRPr lang="en-US" sz="17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RQ1 — is the bias consistent across languages?   RQ2 — worse in socially sensitive domains?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7040880" y="2286000"/>
            <a:ext cx="4480560" cy="777240"/>
          </a:xfrm>
          <a:prstGeom prst="roundRect">
            <a:avLst>
              <a:gd name="adj" fmla="val 9412"/>
            </a:avLst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40880" y="2286000"/>
            <a:ext cx="44805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pair  +  prompt in language L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9281160" y="3063240"/>
            <a:ext cx="0" cy="457200"/>
          </a:xfrm>
          <a:prstGeom prst="line">
            <a:avLst/>
          </a:prstGeom>
          <a:noFill/>
          <a:ln w="25400">
            <a:solidFill>
              <a:srgbClr val="C44E52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680960" y="3611880"/>
            <a:ext cx="3200400" cy="777240"/>
          </a:xfrm>
          <a:prstGeom prst="roundRect">
            <a:avLst>
              <a:gd name="adj" fmla="val 9412"/>
            </a:avLst>
          </a:prstGeom>
          <a:solidFill>
            <a:srgbClr val="1B1F3B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80960" y="3611880"/>
            <a:ext cx="320040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VLM judge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281160" y="4389120"/>
            <a:ext cx="0" cy="457200"/>
          </a:xfrm>
          <a:prstGeom prst="line">
            <a:avLst/>
          </a:prstGeom>
          <a:noFill/>
          <a:ln w="25400">
            <a:solidFill>
              <a:srgbClr val="C44E52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040880" y="4937760"/>
            <a:ext cx="4480560" cy="777240"/>
          </a:xfrm>
          <a:prstGeom prst="roundRect">
            <a:avLst>
              <a:gd name="adj" fmla="val 9412"/>
            </a:avLst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40880" y="4937760"/>
            <a:ext cx="44805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picks image 1 or 2  →  error rate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040880" y="58064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images, language swapped — a controlled cross-lingual probe.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WORK · NEW SINCE REPORT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this sits — bias structure &amp; multilingual bias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2057400"/>
            <a:ext cx="5349240" cy="1783080"/>
          </a:xfrm>
          <a:prstGeom prst="rect">
            <a:avLst/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2057400"/>
            <a:ext cx="82296" cy="1783080"/>
          </a:xfrm>
          <a:prstGeom prst="rect">
            <a:avLst/>
          </a:prstGeom>
          <a:solidFill>
            <a:srgbClr val="C44E52"/>
          </a:solidFill>
          <a:ln/>
        </p:spPr>
      </p:sp>
      <p:sp>
        <p:nvSpPr>
          <p:cNvPr id="6" name="Text 4"/>
          <p:cNvSpPr/>
          <p:nvPr/>
        </p:nvSpPr>
        <p:spPr>
          <a:xfrm>
            <a:off x="941832" y="2221992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FACCT 2025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41832" y="251460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Hausladen et al. — Social Perception of Faces in a VLM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41832" y="3044952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concentrates unevenly across social-trait dimensions — parallels our attribute-specific result.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55080" y="2057400"/>
            <a:ext cx="5349240" cy="1783080"/>
          </a:xfrm>
          <a:prstGeom prst="rect">
            <a:avLst/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55080" y="2057400"/>
            <a:ext cx="82296" cy="1783080"/>
          </a:xfrm>
          <a:prstGeom prst="rect">
            <a:avLst/>
          </a:prstGeom>
          <a:solidFill>
            <a:srgbClr val="4C72B0"/>
          </a:solidFill>
          <a:ln/>
        </p:spPr>
      </p:sp>
      <p:sp>
        <p:nvSpPr>
          <p:cNvPr id="11" name="Text 9"/>
          <p:cNvSpPr/>
          <p:nvPr/>
        </p:nvSpPr>
        <p:spPr>
          <a:xfrm>
            <a:off x="6611112" y="2221992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AACL 2025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611112" y="251460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 Sahili et al. — Breaking Language Barriers or Reinforcing Bias?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11112" y="3044952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VLMs are more biased than English, worst in low-resource languages — the closest mirror.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4114800"/>
            <a:ext cx="5349240" cy="1783080"/>
          </a:xfrm>
          <a:prstGeom prst="rect">
            <a:avLst/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4114800"/>
            <a:ext cx="82296" cy="1783080"/>
          </a:xfrm>
          <a:prstGeom prst="rect">
            <a:avLst/>
          </a:prstGeom>
          <a:solidFill>
            <a:srgbClr val="4C72B0"/>
          </a:solidFill>
          <a:ln/>
        </p:spPr>
      </p:sp>
      <p:sp>
        <p:nvSpPr>
          <p:cNvPr id="16" name="Text 14"/>
          <p:cNvSpPr/>
          <p:nvPr/>
        </p:nvSpPr>
        <p:spPr>
          <a:xfrm>
            <a:off x="941832" y="4279392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COLM 2024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941832" y="457200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Neplenbroek et al. — MBBQ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41832" y="5102352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Non-English stereotypes exceed English even controlling for culture; control parallels our back-translation check.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355080" y="4114800"/>
            <a:ext cx="5349240" cy="1783080"/>
          </a:xfrm>
          <a:prstGeom prst="rect">
            <a:avLst/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55080" y="4114800"/>
            <a:ext cx="82296" cy="1783080"/>
          </a:xfrm>
          <a:prstGeom prst="rect">
            <a:avLst/>
          </a:prstGeom>
          <a:solidFill>
            <a:srgbClr val="55A868"/>
          </a:solidFill>
          <a:ln/>
        </p:spPr>
      </p:sp>
      <p:sp>
        <p:nvSpPr>
          <p:cNvPr id="21" name="Text 19"/>
          <p:cNvSpPr/>
          <p:nvPr/>
        </p:nvSpPr>
        <p:spPr>
          <a:xfrm>
            <a:off x="6611112" y="4279392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5A8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ACL 2025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611112" y="457200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Friedrich et al. — MAGBIG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11112" y="5102352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Cross-lingual bias variation in text-to-image generation — a contrasting modality.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2-alternative forced choice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6126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two images: correct (atypical) vs prototypical (wrong).</a:t>
            </a:r>
            <a:endParaRPr lang="en-US" sz="17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in the target language which image matches; answer is a single digit (1 or 2).</a:t>
            </a:r>
            <a:endParaRPr lang="en-US" sz="17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Left/right randomized so image position cannot be a confound.</a:t>
            </a:r>
            <a:endParaRPr lang="en-US" sz="17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= error rate = how often the judge picks the prototypical-but-wrong image.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7315200" y="2286000"/>
            <a:ext cx="4023360" cy="2286000"/>
          </a:xfrm>
          <a:prstGeom prst="roundRect">
            <a:avLst>
              <a:gd name="adj" fmla="val 4000"/>
            </a:avLst>
          </a:prstGeom>
          <a:solidFill>
            <a:srgbClr val="1B1F3B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0" y="260604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0.50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7315200" y="35661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chance · no bias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0" y="39776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0.50  →  prototypicality bias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NEW SINCE REPORT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Acting on the feedback: more metrics, more models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103120"/>
          <a:ext cx="1082009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114800"/>
                <a:gridCol w="43434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 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 2  (now)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 —  en · zh · ar · hi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 —  + Russian · Bengali · Greek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 —  Qwen2.5-VL-7B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families  —  + InternVL3-8B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Statistics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 estimates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mixed-effects regression + LRT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Rigor checks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back-translation QA · flip / stable-bias rates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85800" y="594360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items the mentor flagged after Report 1 — additional metrics and additional models — are exactly the two new columns.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SETUP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ProtoBias across a resource × script design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59436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Domains: Animals / Objects (neutral) and Demography (socially sensitive).</a:t>
            </a:r>
            <a:endParaRPr lang="en-US" sz="17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Demography rows carry a socio-attribute: Wealth · Power · Civility · Morality · Intellect.</a:t>
            </a:r>
            <a:endParaRPr lang="en-US" sz="17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languages × 900 items × 2 models  ≈  12,500 judgments.</a:t>
            </a:r>
            <a:endParaRPr lang="en-US" sz="17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Qwen2.5-VL-7B &amp; InternVL3-8B on NHR@FAU Alex A40 GPUs.</a:t>
            </a:r>
            <a:endParaRPr lang="en-US" sz="17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2057400"/>
          <a:ext cx="44805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554480"/>
                <a:gridCol w="10972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 / Chinese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Latin / Han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Cyrillic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Arabic / Hindi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Arabic / Devanagari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Bengali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Bengali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 · distinct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bias follows the attribute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52120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Demography's flat ~0.56 average hides a 0.30 spread.</a:t>
            </a:r>
            <a:endParaRPr lang="en-US" sz="17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bias for social-status attributes — Wealth, Power.</a:t>
            </a:r>
            <a:endParaRPr lang="en-US" sz="17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Near-chance for Morality and Intellect.</a:t>
            </a:r>
            <a:endParaRPr lang="en-US" sz="17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data encodes what “rich / powerful” looks like; there is no stable visual prototype for “moral” or “smart.”</a:t>
            </a:r>
            <a:endParaRPr lang="en-US" sz="1700" dirty="0"/>
          </a:p>
        </p:txBody>
      </p:sp>
      <p:pic>
        <p:nvPicPr>
          <p:cNvPr id="5" name="Image 0" descr="/Users/xiaochuan/Desktop/Projects/P5_Multi_linguistic_histoBias/v2/experiments/exp2_attribute_bias/figures/figA_bias_by_attrib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2103120"/>
            <a:ext cx="5120640" cy="315116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355080" y="54406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Prototypicality error rate by socio-attribute (Qwen2.5-VL-7B).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1 · REPLICATION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…and it replicates across model families</a:t>
            </a:r>
            <a:endParaRPr lang="en-US" sz="3200" dirty="0"/>
          </a:p>
        </p:txBody>
      </p:sp>
      <p:pic>
        <p:nvPicPr>
          <p:cNvPr id="4" name="Image 0" descr="/Users/xiaochuan/Desktop/Projects/P5_Multi_linguistic_histoBias/v3/experiments/exp3a_mixed_effects/figures/figE_cross_model_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4248" y="1783080"/>
            <a:ext cx="8229600" cy="31543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77240" y="51663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44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 ≈ 3.7 / 3.1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777240" y="58064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 bias vs morality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 / InternVL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434840" y="51663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44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 ≈ 2×10⁻¹⁴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4434840" y="58064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 effect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both families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955280" y="51663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44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quirk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955280" y="58064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structure across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independent VLMs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Language is not flat after all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20240"/>
            <a:ext cx="50292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languages looked invariant; adding Bengali &amp; Greek revealed a real effect.</a:t>
            </a:r>
            <a:endParaRPr lang="en-US" sz="16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Bengali and Greek prompts → significantly more bias than English, in both models.</a:t>
            </a:r>
            <a:endParaRPr lang="en-US" sz="16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attribute pattern stays the same; the overall level shifts up (no interaction).</a:t>
            </a:r>
            <a:endParaRPr lang="en-US" sz="16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943600" y="1828800"/>
          <a:ext cx="56692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2 · RIGOR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it just bad translation? No.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20240"/>
            <a:ext cx="52120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back-translated every non-English prompt and measured drift.</a:t>
            </a:r>
            <a:endParaRPr lang="en-US" sz="16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most-biased languages (Greek, Bengali) have the highest translation fidelity.</a:t>
            </a:r>
            <a:endParaRPr lang="en-US" sz="16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least-biased (Hindi, Russian) have the lowest — the opposite of a translation artifact.</a:t>
            </a:r>
            <a:endParaRPr lang="en-US" sz="16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1965960"/>
          <a:ext cx="53949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737360"/>
                <a:gridCol w="1920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Bias vs English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Back-translation fidelity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  (highest)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Bengali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Arabic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Chinese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Hindi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  (lowest)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BEHAVIOURAL METRICS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Stable bias tracks the attribute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20240"/>
            <a:ext cx="50292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Cross-lingual Flip Rate — does the choice change across languages?</a:t>
            </a:r>
            <a:endParaRPr lang="en-US" sz="16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Bias Rate — does the model pick the wrong image in ALL languages?</a:t>
            </a:r>
            <a:endParaRPr lang="en-US" sz="16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 has the highest stable-bias rate in both models — it is biased everywhere, not flip-flopping.</a:t>
            </a:r>
            <a:endParaRPr lang="en-US" sz="16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943600" y="1828800"/>
          <a:ext cx="56692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DEEPER · THE CONFOUND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it just a low-level visual cue? No.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2024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adversarial image also tweaks one visual knob — count / colour / scale / layout / spatial.</a:t>
            </a:r>
            <a:endParaRPr lang="en-US" sz="16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bias were a colour artifact, colour would spike. Instead colour is the LOWEST (≈0.40).</a:t>
            </a:r>
            <a:endParaRPr lang="en-US" sz="16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is highest when the cue is hard to perceive (count, scale) — a fallback when the detail can't be grounded.</a:t>
            </a:r>
            <a:endParaRPr lang="en-US" sz="16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 &gt; morality holds within every knob — the attribute effect is not a knob artifact.</a:t>
            </a:r>
            <a:endParaRPr lang="en-US" sz="1600" dirty="0"/>
          </a:p>
        </p:txBody>
      </p:sp>
      <p:pic>
        <p:nvPicPr>
          <p:cNvPr id="5" name="Image 0" descr="/Users/xiaochuan/Desktop/Projects/P5_Multi_linguistic_histoBias/v3/experiments/exp3e_knob_confound/figures/figF_error_by_kno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0" y="2377440"/>
            <a:ext cx="5532120" cy="299357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DEEPER · IS THE TRAP OBJECTIVE?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same items fool both model families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20240"/>
            <a:ext cx="54864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families judge the same 900 image pairs — do they err on the SAME ones?</a:t>
            </a:r>
            <a:endParaRPr lang="en-US" sz="16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Per-item error rates correlate at r = 0.68 (Cohen's κ = 0.39).</a:t>
            </a:r>
            <a:endParaRPr lang="en-US" sz="16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prototype trap is largely item-intrinsic — an objective property of the image pair, not a model quirk.</a:t>
            </a:r>
            <a:endParaRPr lang="en-US" sz="16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 is not 1.0: about half is still model-specific — strongest agreement on demography, weakest on objects.)</a:t>
            </a:r>
            <a:endParaRPr lang="en-US" sz="1600" dirty="0"/>
          </a:p>
        </p:txBody>
      </p:sp>
      <p:pic>
        <p:nvPicPr>
          <p:cNvPr id="5" name="Image 0" descr="/Users/xiaochuan/Desktop/Projects/P5_Multi_linguistic_histoBias/v3/experiments/exp3f_cross_model_agreement/figures/figG_item_agre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874520"/>
            <a:ext cx="4114800" cy="396416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FOUND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picture: a fallback with two factors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2011680"/>
            <a:ext cx="731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C44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1600200" y="205740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there a prototype to take?  →  the attribute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600200" y="2578608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visual prototype exists for wealth and status, not for morality or intellect. That map replicates across both families, and the trap is largely item-intrinsic (the same items fool both, r = 0.68).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3794760"/>
            <a:ext cx="731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4C72B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1600200" y="384048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weak is the signal?  →  perception &amp; language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600200" y="4361688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falls back on the prototype when the discriminating cue is hard to perceive (count, scale) OR the prompt language is unfamiliar (Bengali, Greek). Two routes, one mechanism.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85800" y="585216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44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Attribute sets whether a shortcut exists; signal-weakness sets how much the model takes it.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are not yet claiming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10607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seed, single translation backend; the adversarial “knob” (color / scale) is a co-varying confound.</a:t>
            </a:r>
            <a:endParaRPr lang="en-US" sz="17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Demography cells are small (Wealth ≈ 31 / language) — mixed-effects pools, but power is limited.</a:t>
            </a:r>
            <a:endParaRPr lang="en-US" sz="17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Qwen-32B was dropped — infeasible runtime (≈280 s/item) on the available 2×A40 sharding.</a:t>
            </a:r>
            <a:endParaRPr lang="en-US" sz="17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ar / bn / el specifically — not a clean resource gradient (Russian is non-Latin yet flat) — is open.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OUTLOOK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steps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2103120"/>
            <a:ext cx="384048" cy="384048"/>
          </a:xfrm>
          <a:prstGeom prst="ellipse">
            <a:avLst/>
          </a:prstGeom>
          <a:solidFill>
            <a:srgbClr val="1B1F3B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25880" y="203911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44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Scale axis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343400" y="203911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Qwen-32B in 4-bit on a single GPU — does the bias shrink with model size?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127248"/>
            <a:ext cx="384048" cy="384048"/>
          </a:xfrm>
          <a:prstGeom prst="ellipse">
            <a:avLst/>
          </a:prstGeom>
          <a:solidFill>
            <a:srgbClr val="1B1F3B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3127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25880" y="30632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44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More families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343400" y="30632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Gemma-3, LLaVA-OneVision — map how general the language effect is.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85800" y="4151376"/>
            <a:ext cx="384048" cy="384048"/>
          </a:xfrm>
          <a:prstGeom prst="ellipse">
            <a:avLst/>
          </a:prstGeom>
          <a:solidFill>
            <a:srgbClr val="1B1F3B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4151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25880" y="408736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44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Shortcut-severing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343400" y="4087368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prototype cues — is stable correctness actually grounded?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5175504"/>
            <a:ext cx="384048" cy="384048"/>
          </a:xfrm>
          <a:prstGeom prst="ellipse">
            <a:avLst/>
          </a:prstGeom>
          <a:solidFill>
            <a:srgbClr val="1B1F3B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5175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25880" y="5111496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44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Pin down language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343400" y="5111496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Disentangle resource vs script vs cultural loading behind the ar / bn / el spike.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2286000"/>
            <a:ext cx="109728" cy="109728"/>
          </a:xfrm>
          <a:prstGeom prst="ellipse">
            <a:avLst/>
          </a:prstGeom>
          <a:solidFill>
            <a:srgbClr val="C44E52"/>
          </a:solidFill>
          <a:ln/>
        </p:spPr>
      </p:sp>
      <p:sp>
        <p:nvSpPr>
          <p:cNvPr id="3" name="Shape 1"/>
          <p:cNvSpPr/>
          <p:nvPr/>
        </p:nvSpPr>
        <p:spPr>
          <a:xfrm>
            <a:off x="886968" y="2286000"/>
            <a:ext cx="109728" cy="109728"/>
          </a:xfrm>
          <a:prstGeom prst="ellipse">
            <a:avLst/>
          </a:prstGeom>
          <a:solidFill>
            <a:srgbClr val="4C72B0"/>
          </a:solidFill>
          <a:ln/>
        </p:spPr>
      </p:sp>
      <p:sp>
        <p:nvSpPr>
          <p:cNvPr id="4" name="Shape 2"/>
          <p:cNvSpPr/>
          <p:nvPr/>
        </p:nvSpPr>
        <p:spPr>
          <a:xfrm>
            <a:off x="1088136" y="2286000"/>
            <a:ext cx="109728" cy="109728"/>
          </a:xfrm>
          <a:prstGeom prst="ellipse">
            <a:avLst/>
          </a:prstGeom>
          <a:solidFill>
            <a:srgbClr val="55A868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65176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 — questions?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85800" y="41148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C9D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&amp; ran the first multilingual, multi-model ProtoBias pipeline — 7 languages, 2 model families.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github.com/xchuan-li/cross_lingual_protobias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8"/>
              </a:lnSpc>
              <a:buNone/>
            </a:pPr>
            <a:r>
              <a:rPr lang="en-US" sz="26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cross-model summary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920240"/>
          <a:ext cx="81381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468880"/>
                <a:gridCol w="24688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Qwen2.5-VL-7B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InternVL3-8B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overall error rate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attribute effect (LRT p)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2.1×10⁻¹⁴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2.7×10⁻¹⁴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Wealth odds ratio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 effect (LRT p)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0.0085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Greek / Bengali 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1.49 / 1.60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1.72 / 1.41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Wealth stable-bias rate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cross-lingual flip rate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2011680" y="594360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Item-clustered mixed-effects logistic regression; back-translation QA; numpy/scipy, no statsmodels.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· MODEL EXPLORER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it hold across models?  ▸ click a button</a:t>
            </a:r>
            <a:endParaRPr lang="en-US" sz="2500" dirty="0"/>
          </a:p>
        </p:txBody>
      </p:sp>
      <p:pic>
        <p:nvPicPr>
          <p:cNvPr id="4" name="Image 0" descr="/Users/xiaochuan/Desktop/Projects/P5_Multi_linguistic_histoBias/v3/experiments/exp3a_mixed_effects/figures/figC_attribute_OR_qwen7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9928" y="1737360"/>
            <a:ext cx="8778240" cy="335175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325880" y="5943600"/>
            <a:ext cx="3108960" cy="603504"/>
          </a:xfrm>
          <a:prstGeom prst="roundRect">
            <a:avLst>
              <a:gd name="adj" fmla="val 12121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325880" y="594360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Qwen-7B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44568" y="5943600"/>
            <a:ext cx="3108960" cy="603504"/>
          </a:xfrm>
          <a:prstGeom prst="roundRect">
            <a:avLst>
              <a:gd name="adj" fmla="val 12121"/>
            </a:avLst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8" name="Text 5">
            <a:hlinkClick r:id="rId2" tooltip="" action="ppaction://hlinksldjump"/>
          </p:cNvPr>
          <p:cNvSpPr/>
          <p:nvPr/>
        </p:nvSpPr>
        <p:spPr>
          <a:xfrm>
            <a:off x="4544568" y="594360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InternVL3-8B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763256" y="5943600"/>
            <a:ext cx="3108960" cy="603504"/>
          </a:xfrm>
          <a:prstGeom prst="roundRect">
            <a:avLst>
              <a:gd name="adj" fmla="val 12121"/>
            </a:avLst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10" name="Text 7">
            <a:hlinkClick r:id="rId3" tooltip="" action="ppaction://hlinksldjump"/>
          </p:cNvPr>
          <p:cNvSpPr/>
          <p:nvPr/>
        </p:nvSpPr>
        <p:spPr>
          <a:xfrm>
            <a:off x="7763256" y="594360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Both overlaid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· MODEL EXPLORER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it hold across models?  ▸ click a button</a:t>
            </a:r>
            <a:endParaRPr lang="en-US" sz="2500" dirty="0"/>
          </a:p>
        </p:txBody>
      </p:sp>
      <p:pic>
        <p:nvPicPr>
          <p:cNvPr id="4" name="Image 0" descr="/Users/xiaochuan/Desktop/Projects/P5_Multi_linguistic_histoBias/v3/experiments/exp3a_mixed_effects/figures/figC_attribute_OR_internvl8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9928" y="1737360"/>
            <a:ext cx="8778240" cy="335175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325880" y="5943600"/>
            <a:ext cx="3108960" cy="603504"/>
          </a:xfrm>
          <a:prstGeom prst="roundRect">
            <a:avLst>
              <a:gd name="adj" fmla="val 12121"/>
            </a:avLst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6" name="Text 3">
            <a:hlinkClick r:id="rId2" tooltip="" action="ppaction://hlinksldjump"/>
          </p:cNvPr>
          <p:cNvSpPr/>
          <p:nvPr/>
        </p:nvSpPr>
        <p:spPr>
          <a:xfrm>
            <a:off x="1325880" y="594360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Qwen-7B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44568" y="5943600"/>
            <a:ext cx="3108960" cy="603504"/>
          </a:xfrm>
          <a:prstGeom prst="roundRect">
            <a:avLst>
              <a:gd name="adj" fmla="val 12121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44568" y="594360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InternVL3-8B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763256" y="5943600"/>
            <a:ext cx="3108960" cy="603504"/>
          </a:xfrm>
          <a:prstGeom prst="roundRect">
            <a:avLst>
              <a:gd name="adj" fmla="val 12121"/>
            </a:avLst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10" name="Text 7">
            <a:hlinkClick r:id="rId3" tooltip="" action="ppaction://hlinksldjump"/>
          </p:cNvPr>
          <p:cNvSpPr/>
          <p:nvPr/>
        </p:nvSpPr>
        <p:spPr>
          <a:xfrm>
            <a:off x="7763256" y="594360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Both overlaid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· MODEL EXPLORER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it hold across models?  ▸ click a button</a:t>
            </a:r>
            <a:endParaRPr lang="en-US" sz="2500" dirty="0"/>
          </a:p>
        </p:txBody>
      </p:sp>
      <p:pic>
        <p:nvPicPr>
          <p:cNvPr id="4" name="Image 0" descr="/Users/xiaochuan/Desktop/Projects/P5_Multi_linguistic_histoBias/v3/experiments/exp3a_mixed_effects/figures/figE_cross_model_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9928" y="1737360"/>
            <a:ext cx="8778240" cy="3364599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325880" y="5943600"/>
            <a:ext cx="3108960" cy="603504"/>
          </a:xfrm>
          <a:prstGeom prst="roundRect">
            <a:avLst>
              <a:gd name="adj" fmla="val 12121"/>
            </a:avLst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6" name="Text 3">
            <a:hlinkClick r:id="rId2" tooltip="" action="ppaction://hlinksldjump"/>
          </p:cNvPr>
          <p:cNvSpPr/>
          <p:nvPr/>
        </p:nvSpPr>
        <p:spPr>
          <a:xfrm>
            <a:off x="1325880" y="594360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Qwen-7B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44568" y="5943600"/>
            <a:ext cx="3108960" cy="603504"/>
          </a:xfrm>
          <a:prstGeom prst="roundRect">
            <a:avLst>
              <a:gd name="adj" fmla="val 12121"/>
            </a:avLst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8" name="Text 5">
            <a:hlinkClick r:id="rId3" tooltip="" action="ppaction://hlinksldjump"/>
          </p:cNvPr>
          <p:cNvSpPr/>
          <p:nvPr/>
        </p:nvSpPr>
        <p:spPr>
          <a:xfrm>
            <a:off x="4544568" y="594360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InternVL3-8B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763256" y="5943600"/>
            <a:ext cx="3108960" cy="603504"/>
          </a:xfrm>
          <a:prstGeom prst="roundRect">
            <a:avLst>
              <a:gd name="adj" fmla="val 12121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63256" y="594360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overlaid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Cross-lingual Prototypicality Bias — Progress Report II</dc:title>
  <dc:subject>PptxGenJS Presentation</dc:subject>
  <dc:creator>Xiaochuan Li</dc:creator>
  <cp:lastModifiedBy>Xiaochuan Li</cp:lastModifiedBy>
  <cp:revision>1</cp:revision>
  <dcterms:created xsi:type="dcterms:W3CDTF">2026-06-21T21:07:33Z</dcterms:created>
  <dcterms:modified xsi:type="dcterms:W3CDTF">2026-06-21T21:07:33Z</dcterms:modified>
</cp:coreProperties>
</file>