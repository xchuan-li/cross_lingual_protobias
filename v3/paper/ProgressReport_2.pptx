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Odds ratio of bias vs English  (1.0 = same as English)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1.13</c:v>
                </c:pt>
                <c:pt idx="1">
                  <c:v>1.06</c:v>
                </c:pt>
                <c:pt idx="2">
                  <c:v>1.31</c:v>
                </c:pt>
                <c:pt idx="3">
                  <c:v>1.04</c:v>
                </c:pt>
                <c:pt idx="4">
                  <c:v>1.6</c:v>
                </c:pt>
                <c:pt idx="5">
                  <c:v>1.49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zh</c:v>
                  </c:pt>
                  <c:pt idx="1">
                    <c:v>ru</c:v>
                  </c:pt>
                  <c:pt idx="2">
                    <c:v>ar</c:v>
                  </c:pt>
                  <c:pt idx="3">
                    <c:v>hi</c:v>
                  </c:pt>
                  <c:pt idx="4">
                    <c:v>bn</c:v>
                  </c:pt>
                  <c:pt idx="5">
                    <c:v>el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0.96</c:v>
                </c:pt>
                <c:pt idx="1">
                  <c:v>1.17</c:v>
                </c:pt>
                <c:pt idx="2">
                  <c:v>1.12</c:v>
                </c:pt>
                <c:pt idx="3">
                  <c:v>1.33</c:v>
                </c:pt>
                <c:pt idx="4">
                  <c:v>1.41</c:v>
                </c:pt>
                <c:pt idx="5">
                  <c:v>1.72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3262F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3262F"/>
                </a:solidFill>
                <a:latin typeface="Arial"/>
              </a:rPr>
              <a:t>Stable Bias Rate by attribute  (chose wrong image in all 7 languages)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Qwen2.5-VL-7B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</c:v>
                </c:pt>
                <c:pt idx="1">
                  <c:v>0.28</c:v>
                </c:pt>
                <c:pt idx="2">
                  <c:v>0.22</c:v>
                </c:pt>
                <c:pt idx="3">
                  <c:v>0.18</c:v>
                </c:pt>
                <c:pt idx="4">
                  <c:v>0.17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InternVL3-8B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Wealth</c:v>
                  </c:pt>
                  <c:pt idx="1">
                    <c:v>Power</c:v>
                  </c:pt>
                  <c:pt idx="2">
                    <c:v>Civility</c:v>
                  </c:pt>
                  <c:pt idx="3">
                    <c:v>Morality</c:v>
                  </c:pt>
                  <c:pt idx="4">
                    <c:v>Intellect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0.45</c:v>
                </c:pt>
                <c:pt idx="1">
                  <c:v>0.36</c:v>
                </c:pt>
                <c:pt idx="2">
                  <c:v>0.3</c:v>
                </c:pt>
                <c:pt idx="3">
                  <c:v>0.23</c:v>
                </c:pt>
                <c:pt idx="4">
                  <c:v>0.19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l"/>
        <c:majorGridlines>
          <c:spPr>
            <a:ln w="6350" cap="flat">
              <a:solidFill>
                <a:srgbClr val="ECEE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A60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5.xml"/><Relationship Id="rId3" Type="http://schemas.openxmlformats.org/officeDocument/2006/relationships/slide" Target="slide26.xml"/><Relationship Id="rId1" Type="http://schemas.openxmlformats.org/officeDocument/2006/relationships/image" Target="../media/image-2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24.xml"/><Relationship Id="rId3" Type="http://schemas.openxmlformats.org/officeDocument/2006/relationships/slide" Target="slide26.xml"/><Relationship Id="rId1" Type="http://schemas.openxmlformats.org/officeDocument/2006/relationships/image" Target="../media/image-2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24.xml"/><Relationship Id="rId3" Type="http://schemas.openxmlformats.org/officeDocument/2006/relationships/slide" Target="slide25.xml"/><Relationship Id="rId1" Type="http://schemas.openxmlformats.org/officeDocument/2006/relationships/image" Target="../media/image-2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55448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155448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55448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II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Cross-lingual Prototypicality Bias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41605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D2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 vision-language model track meaning — or lean on language- and culture-specific prototypes?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57150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Xiaochuan Li · Rishav Chandra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Subhadeep Roy   ·   Extending ProtoBias (Roy, Bhatia &amp; Eger 2026)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Prototypicality bias: judging by looks, not meaning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metrics and VLMs increasingly replace humans for image–text evaluation.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mode: they reward the image that looks typical — even when it is wrong for the prompt.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pairs a semantically-correct but atypical image with a prototypical but wrong one.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judge that prefers the typical-but-wrong image is riding a shortcut, not the meaning.</a:t>
            </a:r>
            <a:endParaRPr lang="en-US" sz="1750" dirty="0"/>
          </a:p>
        </p:txBody>
      </p:sp>
      <p:pic>
        <p:nvPicPr>
          <p:cNvPr id="5" name="Image 0" descr="/Users/xiaochuan/Desktop/Projects/P5_Multi_linguistic_histoBias/v1/paper/assets/protobias_examples_animals_obj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2514600"/>
            <a:ext cx="4983480" cy="24168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20840" y="50749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Correct-but-atypical (left) vs prototypical-but-wrong (right).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EXTENSION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bias depend on the language you ask in?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ProtoBias is English-only and studies evaluation metrics.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turn: translate only the prompt, hold the image pair fixed.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verdict moves with language, the model is importing language-specific expectations.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is the bias consistent across languages?   RQ2 — worse in socially sensitive domains?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040880" y="228600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0" y="228600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pair  +  prompt in language 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281160" y="306324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680960" y="3611880"/>
            <a:ext cx="3200400" cy="777240"/>
          </a:xfrm>
          <a:prstGeom prst="roundRect">
            <a:avLst>
              <a:gd name="adj" fmla="val 9412"/>
            </a:avLst>
          </a:prstGeom>
          <a:solidFill>
            <a:srgbClr val="1B1F3B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3611880"/>
            <a:ext cx="320040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judge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281160" y="4389120"/>
            <a:ext cx="0" cy="45720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040880" y="493776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0" y="4937760"/>
            <a:ext cx="44805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image 1 or 2  →  error rate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0" y="58064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images, language swapped — a controlled cross-lingual probe.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·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sits — bias structure &amp; multilingual bias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57400"/>
            <a:ext cx="82296" cy="1783080"/>
          </a:xfrm>
          <a:prstGeom prst="rect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94183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FACCT 2025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Hausladen et al. — Social Perception of Faces in a VLM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4183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concentrates unevenly across social-trait dimensions — parallels our attribute-specific result.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20574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0574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2219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AACL 2025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11112" y="25146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 Sahili et al. — Breaking Language Barriers or Reinforcing Bias?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11112" y="30449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VLMs are more biased than English, worst in low-resource languages — the closest mirror.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4114800"/>
            <a:ext cx="82296" cy="1783080"/>
          </a:xfrm>
          <a:prstGeom prst="rect">
            <a:avLst/>
          </a:prstGeom>
          <a:solidFill>
            <a:srgbClr val="4C72B0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COLM 2024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4183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Neplenbroek et al. — MBBQ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4183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 stereotypes exceed English even controlling for culture; control parallels our back-translation check.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114800"/>
            <a:ext cx="5349240" cy="1783080"/>
          </a:xfrm>
          <a:prstGeom prst="rect">
            <a:avLst/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114800"/>
            <a:ext cx="82296" cy="1783080"/>
          </a:xfrm>
          <a:prstGeom prst="rect">
            <a:avLst/>
          </a:prstGeom>
          <a:solidFill>
            <a:srgbClr val="55A868"/>
          </a:solidFill>
          <a:ln/>
        </p:spPr>
      </p:sp>
      <p:sp>
        <p:nvSpPr>
          <p:cNvPr id="21" name="Text 19"/>
          <p:cNvSpPr/>
          <p:nvPr/>
        </p:nvSpPr>
        <p:spPr>
          <a:xfrm>
            <a:off x="6611112" y="42793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5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2025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11112" y="4572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Friedrich et al. — MAGBIG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11112" y="5102352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bias variation in text-to-image generation — a contrasting modality.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2-alternative forced choice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two images: correct (atypical) vs prototypical (wrong).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the target language which image matches; answer is a single digit (1 or 2).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Left/right randomized so image position cannot be a confound.</a:t>
            </a:r>
            <a:endParaRPr lang="en-US" sz="17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= error rate = how often the judge picks the prototypical-but-wrong image.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7315200" y="228600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2606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31520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chance · no bias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0.50  →  prototypicality bias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SINCE REPORT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Acting on the feedback: more metrics, more models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03120"/>
          <a:ext cx="1082009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2  (now)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—  en · zh · ar · hi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—  + Russian · Bengali · Greek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—  Qwen2.5-VL-7B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families  —  + InternVL3-8B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estimates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mixed-effects regression + LRT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Rigor checks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QA · flip / stable-bias rates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5943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items the mentor flagged after Report 1 — additional metrics and additional models — are exactly the two new columns.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ProtoBias across a resource × script design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Domains: Animals / Objects (neutral) and Demography (socially sensitive).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rows carry a socio-attribute: Wealth · Power · Civility · Morality ·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languages × 900 items × 2 models  ≈  12,500 judgments.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Qwen2.5-VL-7B &amp; InternVL3-8B on NHR@FAU Alex A40 GPUs.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2057400"/>
          <a:ext cx="4480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/ Chinese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Latin / Han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Cyrillic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Hindi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Devanagari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· distinct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follows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Demography's flat ~0.58 average hides a ~0.28 spread across attributes.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bias for social-status attributes — Wealth, Power.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Near-chance for Morality and Intellect.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data encodes what “rich / powerful” looks like; there is no stable visual prototype for “moral” or “smart.”</a:t>
            </a:r>
            <a:endParaRPr lang="en-US" sz="1700" dirty="0"/>
          </a:p>
        </p:txBody>
      </p:sp>
      <p:pic>
        <p:nvPicPr>
          <p:cNvPr id="5" name="Image 0" descr="/Users/xiaochuan/Desktop/Projects/P5_Multi_linguistic_histoBias/v3/experiments/exp3a_mixed_effects/figures/figA7_attribute_qwen7l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103120"/>
            <a:ext cx="5120640" cy="31511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5508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Prototypicality error rate by socio-attribute — Qwen2.5-VL-7B, all 7 languages.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· REPLICATION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…and it replicates across model families</a:t>
            </a:r>
            <a:endParaRPr lang="en-US" sz="32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1783080"/>
            <a:ext cx="8229600" cy="3154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 ≈ 3.7 / 3.1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772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bias vs morality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/ InternVL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43484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≈ 2×10⁻¹⁴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43484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effect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families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955280" y="5166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quirk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955280" y="5806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 across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VLMs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 is not flat after all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languages looked invariant; adding Bengali &amp; Greek revealed a real effect.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 and Greek prompts → significantly more bias than English, in both models.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attribute pattern stays the same; the overall level shifts up (no interaction).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· RIGOR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bad translation?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back-translated every non-English prompt and measured drift.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most-biased languages (Greek, Bengali) have the highest translation fidelity.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least-biased (Hindi, Russian) have the lowest — the opposite of a translation artifact.</a:t>
            </a:r>
            <a:endParaRPr lang="en-US" sz="16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vs 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Back-translation fidelity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 (highest)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Bengali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Chinese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  (lowest)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BEHAVIOURAL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 bias tracks the attribute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Flip Rate — does the choice change across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Bias Rate — does the model pick the wrong image in ALL languages?</a:t>
            </a:r>
            <a:endParaRPr lang="en-US" sz="16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has the highest stable-bias rate in both models — it is biased everywhere, not flip-flopping.</a:t>
            </a:r>
            <a:endParaRPr lang="en-US" sz="16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8288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THE CONFOUND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it just a low-level visual cue? No.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adversarial image also tweaks one visual knob — count / colour / scale / layout / spatial.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bias were a colour artifact, colour would spike. Instead colour is the LOWEST (≈0.40).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highest when the cue is hard to perceive (count, scale) — a fallback when the detail can't be grounded.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&gt; morality holds within every knob — the attribute effect is not a knob artifact.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e_knob_confound/figures/figF_error_by_kn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2377440"/>
            <a:ext cx="5532120" cy="299357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· IS THE TRAP OBJECTIVE?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items fool both model families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families judge the same 900 image pairs — do they err on the SAME ones?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Per-item error rates correlate at r = 0.68 (Cohen's κ = 0.39).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prototype trap is largely item-intrinsic — an objective property of the image pair, not a model quirk.</a:t>
            </a:r>
            <a:endParaRPr lang="en-US" sz="16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is not 1.0: about half is still model-specific — strongest agreement on demography, weakest on objects.)</a:t>
            </a:r>
            <a:endParaRPr lang="en-US" sz="1600" dirty="0"/>
          </a:p>
        </p:txBody>
      </p:sp>
      <p:pic>
        <p:nvPicPr>
          <p:cNvPr id="5" name="Image 0" descr="/Users/xiaochuan/Desktop/Projects/P5_Multi_linguistic_histoBias/v3/experiments/exp3f_cross_model_agreement/figures/figG_item_agre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874520"/>
            <a:ext cx="4114800" cy="3964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picture: a fallback with two factors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0116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600200" y="20574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there a prototype to take?  →  the attribute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257860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prototype exists for wealth and status, not for morality or intellect. That map replicates across both families, and the trap is largely item-intrinsic (the same items fool both, r = 0.68).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79476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1600200" y="38404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weak is the signal?  →  perception &amp; language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436168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falls back on the prototype when the discriminating cue is hard to perceive (count, scale) OR the prompt language is unfamiliar (Bengali, Greek). Two routes, one mechanism.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Attribute sets whether a shortcut exists; signal-weakness sets how much the model takes it.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not yet claiming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seed, single translation backend; the adversarial “knob” (color / scale) is a co-varying confound.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Demography cells are small (Wealth ≈ 31 / language) — mixed-effects pools, but power is limited.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was dropped — infeasible runtime (≈280 s/item) on the available 2×A40 sharding.</a:t>
            </a:r>
            <a:endParaRPr lang="en-US" sz="170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 / bn / el specifically — not a clean resource gradient (Russian is non-Latin yet flat) — is open.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56"/>
              </a:lnSpc>
              <a:buNone/>
            </a:pPr>
            <a:r>
              <a:rPr lang="en-US" sz="32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203911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axis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343400" y="20391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Qwen-32B in 4-bit on a single GPU — does the bias shrink with model size?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127248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43400" y="3063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Gemma-3, LLaVA-OneVision — map how general the language effect is.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15137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0873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Shortcut-severing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43400" y="4087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prototype cues — is stable correctness actually grounded?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175504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51114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 down language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343400" y="5111496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Disentangle resource vs script vs cultural loading behind the ar / bn / el spike.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" y="2286000"/>
            <a:ext cx="109728" cy="10972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2286000"/>
            <a:ext cx="109728" cy="10972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6517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1148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9D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ran the first multilingual, multi-model ProtoBias pipeline — 7 languages, 2 model families.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github.com/xchuan-li/cross_lingual_protobias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cross-model summary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920240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Qwen2.5-VL-7B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InternVL3-8B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error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2.7×10⁻¹⁴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odds ratio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effect (LRT 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Greek / Bengali 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 / 1.60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 / 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 stable-bias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cross-lingual flip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011680" y="59436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Item-clustered mixed-effects logistic regression; back-translation QA; numpy/scipy, no statsmodels.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16"/>
              </a:lnSpc>
              <a:buNone/>
            </a:pPr>
            <a:r>
              <a:rPr lang="en-US" sz="27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InternVL3-8B as the second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rule out “it's just a Qwen quirk.” A second, independent family tests whether the finding generalizes.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50592"/>
            <a:ext cx="384048" cy="384048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4048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family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404872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OpenGVLab, not Alibaba — independent architecture and training, not a Qwen variant.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384048" cy="384048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337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Size-matched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0" y="33375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≈8B vs Qwen's 7B — controls for scale, so a difference isn't “one is far bigger.”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315968"/>
            <a:ext cx="384048" cy="384048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2702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Strong, standard baseline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54880" y="4270248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 open VLM family widely used in papers — credible and representative.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248656"/>
            <a:ext cx="384048" cy="384048"/>
          </a:xfrm>
          <a:prstGeom prst="ellipse">
            <a:avLst/>
          </a:prstGeom>
          <a:solidFill>
            <a:srgbClr val="1B1F3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52029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Fits the pipeline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54880" y="5202936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Multi-image and multilingual; the HF-native checkpoint loads via the standard API.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Mixed-effects logistic regression &amp; the LRT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53492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picked_adv ~ socio_attr + lang + gender + (1 | item)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→ models P(pick prototype); coefficients exponentiate to odds ratios (OR).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effects (socio_attr, lang, gender) = what we estimate.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intercept (1 | item) = each image-pair gets its own baseline — the same item repeats in 7 languages, so those 7 views are not independent.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test  ·  LRT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031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two nested models (with vs without a factor); compare fit by likelihood.</a:t>
            </a:r>
            <a:endParaRPr lang="en-US" sz="1350" dirty="0"/>
          </a:p>
          <a:p>
            <a:pPr marL="203200" indent="-203200">
              <a:lnSpc>
                <a:spcPct val="1000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2×(LL_big − LL_small); p from chi-squared → one p-value per whole factor.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37947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28016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socio_attr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 × 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583680" y="5806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Qwen-7B; same pattern in InternVL3-8B. Implemented with item-clustered robust SEs (no statsmodels on the cluster).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Back-translation translation-quality check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can't read all 7 languages — so we round-trip each prompt back to English and measure how much it drifted.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prompt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 text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to the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2715768"/>
            <a:ext cx="502920" cy="0"/>
          </a:xfrm>
          <a:prstGeom prst="line">
            <a:avLst/>
          </a:prstGeom>
          <a:noFill/>
          <a:ln w="25400">
            <a:solidFill>
              <a:srgbClr val="C44E52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217920" y="23317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back-translate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86600" y="22860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286000"/>
            <a:ext cx="246888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again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3836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compare  E vs E′  →  token-F1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language effect were a translation artifact, the most-biased languages would drift the MOST.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the opposite: Greek (0.88) and Bengali (0.86) — the most biased — have the HIGHEST fidelity; Hindi / Russian (0.79) — not biased — the lowest.</a:t>
            </a:r>
            <a:endParaRPr lang="en-US" sz="1450" dirty="0"/>
          </a:p>
          <a:p>
            <a:pPr marL="203200" indent="-2032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lexical check using the same MT system — a sanity check that rules out the obvious confound, not a proof.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8"/>
              </a:lnSpc>
              <a:buNone/>
            </a:pPr>
            <a:r>
              <a:rPr lang="en-US" sz="26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cross-lingual metrics, defined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image-pair we summarise its behaviour across all its languages (items judged in ≥ 2 languages).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20095" cy="822960"/>
          </a:xfrm>
          <a:prstGeom prst="roundRect">
            <a:avLst>
              <a:gd name="adj" fmla="val 8889"/>
            </a:avLst>
          </a:prstGeom>
          <a:solidFill>
            <a:srgbClr val="1B1F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48840"/>
            <a:ext cx="10820095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item, across languages:   all-wrong → SBR   ·   all-right → SCR   ·   mixed → CFR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CFR + SBR + SCR = 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3319272"/>
            <a:ext cx="146304" cy="146304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2461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Cross-lingual Flip Rate (CFR)  </a:t>
            </a:r>
            <a:pPr indent="0" marL="0">
              <a:buNone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model's choice changes across languages — the item is not stable.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85800" y="4069080"/>
            <a:ext cx="146304" cy="146304"/>
          </a:xfrm>
          <a:prstGeom prst="ellipse">
            <a:avLst/>
          </a:prstGeom>
          <a:solidFill>
            <a:srgbClr val="4C72B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Bias Rate (SBR)  </a:t>
            </a:r>
            <a:pPr indent="0" marL="0">
              <a:buNone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model picks the prototypical-but-wrong image in every language.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85800" y="4818888"/>
            <a:ext cx="146304" cy="146304"/>
          </a:xfrm>
          <a:prstGeom prst="ellipse">
            <a:avLst/>
          </a:prstGeom>
          <a:solidFill>
            <a:srgbClr val="55A868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745736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5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Correct Rate (SCR)  </a:t>
            </a:r>
            <a:pPr indent="0" marL="0">
              <a:buNone/>
            </a:pPr>
            <a:r>
              <a:rPr lang="en-US" sz="155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model picks the correct image in every language.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85800" y="566928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item-level summaries across languages, not per-judgment — which is why a flat aggregate error rate can still hide heavy item-level flipping (overall CFR ≈ 0.65).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qwen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2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C_attribute_OR_internvl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517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10" name="Text 7">
            <a:hlinkClick r:id="rId3" tooltip="" action="ppaction://hlinksldjump"/>
          </p:cNvPr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· MODEL EXPLORER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4124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232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it hold across models?  ▸ click a button</a:t>
            </a:r>
            <a:endParaRPr lang="en-US" sz="2500" dirty="0"/>
          </a:p>
        </p:txBody>
      </p:sp>
      <p:pic>
        <p:nvPicPr>
          <p:cNvPr id="4" name="Image 0" descr="/Users/xiaochuan/Desktop/Projects/P5_Multi_linguistic_histoBias/v3/experiments/exp3a_mixed_effects/figures/figE_cross_model_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928" y="1737360"/>
            <a:ext cx="8778240" cy="33645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6" name="Text 3">
            <a:hlinkClick r:id="rId2" tooltip="" action="ppaction://hlinksldjump"/>
          </p:cNvPr>
          <p:cNvSpPr/>
          <p:nvPr/>
        </p:nvSpPr>
        <p:spPr>
          <a:xfrm>
            <a:off x="1325880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Qwen-7B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44568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F5F6FA"/>
          </a:solidFill>
          <a:ln w="12700">
            <a:solidFill>
              <a:srgbClr val="E4E6EF"/>
            </a:solidFill>
            <a:prstDash val="solid"/>
          </a:ln>
        </p:spPr>
      </p:sp>
      <p:sp>
        <p:nvSpPr>
          <p:cNvPr id="8" name="Text 5">
            <a:hlinkClick r:id="rId3" tooltip="" action="ppaction://hlinksldjump"/>
          </p:cNvPr>
          <p:cNvSpPr/>
          <p:nvPr/>
        </p:nvSpPr>
        <p:spPr>
          <a:xfrm>
            <a:off x="4544568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InternVL3-8B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63256" y="5943600"/>
            <a:ext cx="3108960" cy="603504"/>
          </a:xfrm>
          <a:prstGeom prst="roundRect">
            <a:avLst>
              <a:gd name="adj" fmla="val 12121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63256" y="594360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overlaid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Cross-lingual Prototypicality Bias — Progress Report II</dc:title>
  <dc:subject>PptxGenJS Presentation</dc:subject>
  <dc:creator>Xiaochuan Li</dc:creator>
  <cp:lastModifiedBy>Xiaochuan Li</cp:lastModifiedBy>
  <cp:revision>1</cp:revision>
  <dcterms:created xsi:type="dcterms:W3CDTF">2026-06-23T07:43:40Z</dcterms:created>
  <dcterms:modified xsi:type="dcterms:W3CDTF">2026-06-23T07:43:40Z</dcterms:modified>
</cp:coreProperties>
</file>