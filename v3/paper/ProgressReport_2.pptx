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62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3262F"/>
                </a:solidFill>
                <a:latin typeface="Arial"/>
              </a:rPr>
              <a:t>Odds ratio of bias vs English  (1.0 = same as English)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Qwen2.5-VL-7B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zh</c:v>
                  </c:pt>
                  <c:pt idx="1">
                    <c:v>ru</c:v>
                  </c:pt>
                  <c:pt idx="2">
                    <c:v>ar</c:v>
                  </c:pt>
                  <c:pt idx="3">
                    <c:v>hi</c:v>
                  </c:pt>
                  <c:pt idx="4">
                    <c:v>bn</c:v>
                  </c:pt>
                  <c:pt idx="5">
                    <c:v>el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1.13</c:v>
                </c:pt>
                <c:pt idx="1">
                  <c:v>1.06</c:v>
                </c:pt>
                <c:pt idx="2">
                  <c:v>1.31</c:v>
                </c:pt>
                <c:pt idx="3">
                  <c:v>1.04</c:v>
                </c:pt>
                <c:pt idx="4">
                  <c:v>1.6</c:v>
                </c:pt>
                <c:pt idx="5">
                  <c:v>1.49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InternVL3-8B</c:v>
                </c:pt>
              </c:strCache>
            </c:strRef>
          </c:tx>
          <c:spPr>
            <a:solidFill>
              <a:srgbClr val="C44E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zh</c:v>
                  </c:pt>
                  <c:pt idx="1">
                    <c:v>ru</c:v>
                  </c:pt>
                  <c:pt idx="2">
                    <c:v>ar</c:v>
                  </c:pt>
                  <c:pt idx="3">
                    <c:v>hi</c:v>
                  </c:pt>
                  <c:pt idx="4">
                    <c:v>bn</c:v>
                  </c:pt>
                  <c:pt idx="5">
                    <c:v>el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0.96</c:v>
                </c:pt>
                <c:pt idx="1">
                  <c:v>1.17</c:v>
                </c:pt>
                <c:pt idx="2">
                  <c:v>1.12</c:v>
                </c:pt>
                <c:pt idx="3">
                  <c:v>1.33</c:v>
                </c:pt>
                <c:pt idx="4">
                  <c:v>1.41</c:v>
                </c:pt>
                <c:pt idx="5">
                  <c:v>1.72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EC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A60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62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3262F"/>
                </a:solidFill>
                <a:latin typeface="Arial"/>
              </a:rPr>
              <a:t>Stable Bias Rate by attribute  (chose wrong image in all 7 languages)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Qwen2.5-VL-7B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Wealth</c:v>
                  </c:pt>
                  <c:pt idx="1">
                    <c:v>Power</c:v>
                  </c:pt>
                  <c:pt idx="2">
                    <c:v>Civility</c:v>
                  </c:pt>
                  <c:pt idx="3">
                    <c:v>Morality</c:v>
                  </c:pt>
                  <c:pt idx="4">
                    <c:v>Intellect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</c:v>
                </c:pt>
                <c:pt idx="1">
                  <c:v>0.28</c:v>
                </c:pt>
                <c:pt idx="2">
                  <c:v>0.22</c:v>
                </c:pt>
                <c:pt idx="3">
                  <c:v>0.18</c:v>
                </c:pt>
                <c:pt idx="4">
                  <c:v>0.17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InternVL3-8B</c:v>
                </c:pt>
              </c:strCache>
            </c:strRef>
          </c:tx>
          <c:spPr>
            <a:solidFill>
              <a:srgbClr val="C44E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Wealth</c:v>
                  </c:pt>
                  <c:pt idx="1">
                    <c:v>Power</c:v>
                  </c:pt>
                  <c:pt idx="2">
                    <c:v>Civility</c:v>
                  </c:pt>
                  <c:pt idx="3">
                    <c:v>Morality</c:v>
                  </c:pt>
                  <c:pt idx="4">
                    <c:v>Intellect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0.45</c:v>
                </c:pt>
                <c:pt idx="1">
                  <c:v>0.36</c:v>
                </c:pt>
                <c:pt idx="2">
                  <c:v>0.3</c:v>
                </c:pt>
                <c:pt idx="3">
                  <c:v>0.23</c:v>
                </c:pt>
                <c:pt idx="4">
                  <c:v>0.19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EC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A60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554480"/>
            <a:ext cx="109728" cy="109728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" y="1554480"/>
            <a:ext cx="109728" cy="109728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" y="1554480"/>
            <a:ext cx="109728" cy="109728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 II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Cross-lingual Prototypicality Bias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Vision-Language Models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41605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 vision-language model track meaning — or lean on language- and culture-specific prototypes?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57150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Xiaochuan Li · Rishav Chandra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Subhadeep Roy   ·   Extending ProtoBias (Roy, Bhatia &amp; Eger 2026)   ·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Prototypicality bias: judging by looks, not meaning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metrics and VLMs increasingly replace humans for image–text evaluation.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they reward the image that looks typical — even when it is wrong for the prompt.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ProtoBias pairs a semantically-correct but atypical image with a prototypical but wrong one.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that prefers the typical-but-wrong image is riding a shortcut, not the meaning.</a:t>
            </a:r>
            <a:endParaRPr lang="en-US" sz="1750" dirty="0"/>
          </a:p>
        </p:txBody>
      </p:sp>
      <p:pic>
        <p:nvPicPr>
          <p:cNvPr id="5" name="Image 0" descr="/Users/xiaochuan/Desktop/Projects/P5_Multi_linguistic_histoBias/v1/paper/assets/protobias_examples_animals_ob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514600"/>
            <a:ext cx="4983480" cy="24168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20840" y="5074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Correct-but-atypical (left) vs prototypical-but-wrong (right).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bias depend on the language you ask in?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ProtoBias is English-only and studies evaluation metrics.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turn: translate only the prompt, hold the image pair fixed.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verdict moves with language, the model is importing language-specific expectations.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is the bias consistent across languages?   RQ2 — worse in socially sensitive domains?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040880" y="228600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286000"/>
            <a:ext cx="4480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pair  +  prompt in language 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281160" y="3063240"/>
            <a:ext cx="0" cy="457200"/>
          </a:xfrm>
          <a:prstGeom prst="line">
            <a:avLst/>
          </a:prstGeom>
          <a:noFill/>
          <a:ln w="25400">
            <a:solidFill>
              <a:srgbClr val="C44E5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80960" y="36118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1B1F3B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3611880"/>
            <a:ext cx="32004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judge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281160" y="4389120"/>
            <a:ext cx="0" cy="457200"/>
          </a:xfrm>
          <a:prstGeom prst="line">
            <a:avLst/>
          </a:prstGeom>
          <a:noFill/>
          <a:ln w="25400">
            <a:solidFill>
              <a:srgbClr val="C44E5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40880" y="493776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937760"/>
            <a:ext cx="4480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image 1 or 2  →  error rate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40880" y="5806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images, language swapped — a controlled cross-lingual probe.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· NEW SINCE REPORT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sits — bias structure &amp; multilingual bias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349240" cy="1783080"/>
          </a:xfrm>
          <a:prstGeom prst="rect">
            <a:avLst/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82296" cy="178308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222199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FACCT 2025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41832" y="25146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Hausladen et al. — Social Perception of Faces in a VLM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304495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concentrates unevenly across social-trait dimensions — parallels our attribute-specific result.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5349240" cy="1783080"/>
          </a:xfrm>
          <a:prstGeom prst="rect">
            <a:avLst/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057400"/>
            <a:ext cx="82296" cy="1783080"/>
          </a:xfrm>
          <a:prstGeom prst="rect">
            <a:avLst/>
          </a:prstGeom>
          <a:solidFill>
            <a:srgbClr val="4C72B0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222199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AACL 2025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11112" y="25146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Sahili et al. — Breaking Language Barriers or Reinforcing Bias?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11112" y="304495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VLMs are more biased than English, worst in low-resource languages — the closest mirror.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114800"/>
            <a:ext cx="5349240" cy="1783080"/>
          </a:xfrm>
          <a:prstGeom prst="rect">
            <a:avLst/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114800"/>
            <a:ext cx="82296" cy="1783080"/>
          </a:xfrm>
          <a:prstGeom prst="rect">
            <a:avLst/>
          </a:prstGeom>
          <a:solidFill>
            <a:srgbClr val="4C72B0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427939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 2024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41832" y="45720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Neplenbroek et al. — MBBQ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" y="510235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stereotypes exceed English even controlling for culture; control parallels our back-translation check.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4114800"/>
            <a:ext cx="5349240" cy="1783080"/>
          </a:xfrm>
          <a:prstGeom prst="rect">
            <a:avLst/>
          </a:prstGeom>
          <a:solidFill>
            <a:srgbClr val="F5F6FA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4114800"/>
            <a:ext cx="82296" cy="1783080"/>
          </a:xfrm>
          <a:prstGeom prst="rect">
            <a:avLst/>
          </a:prstGeom>
          <a:solidFill>
            <a:srgbClr val="55A868"/>
          </a:solidFill>
          <a:ln/>
        </p:spPr>
      </p:sp>
      <p:sp>
        <p:nvSpPr>
          <p:cNvPr id="21" name="Text 19"/>
          <p:cNvSpPr/>
          <p:nvPr/>
        </p:nvSpPr>
        <p:spPr>
          <a:xfrm>
            <a:off x="6611112" y="427939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2025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11112" y="45720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Friedrich et al. — MAGBIG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11112" y="510235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bias variation in text-to-image generation — a contrasting modality.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2-alternative forced choice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two images: correct (atypical) vs prototypical (wrong).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the target language which image matches; answer is a single digit (1 or 2).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randomized so image position cannot be a confound.</a:t>
            </a:r>
            <a:endParaRPr lang="en-US" sz="17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= error rate = how often the judge picks the prototypical-but-wrong image.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606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chance · no bias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0" y="3977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0.50  →  prototypicality bias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SINCE REPORT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Acting on the feedback: more metrics, more models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03120"/>
          <a:ext cx="108200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343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2  (now)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—  en · zh · ar · hi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—  + Russian · Bengali · Greek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—  Qwen2.5-VL-7B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families  —  + InternVL3-8B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estimates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mixed-effects regression + LRT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Rigor checks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back-translation QA · flip / stable-bias rates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items the mentor flagged after Report 1 — additional metrics and additional models — are exactly the two new columns.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ProtoBias across a resource × script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Domains: Animals / Objects (neutral) and Demography (socially sensitive).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Demography rows carry a socio-attribute: Wealth · Power · Civility · Morality · Intellect.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languages × 900 items × 2 models  ≈  12,500 judgments.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Qwen2.5-VL-7B &amp; InternVL3-8B on NHR@FAU Alex A40 GPUs.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057400"/>
          <a:ext cx="4480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/ Chinese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/ Han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Cyrillic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 / Hindi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 / Devanagari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· distinct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bias follows the attribute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Demography's flat ~0.56 average hides a 0.30 spread.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bias for social-status attributes — Wealth, Power.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Near-chance for Morality and Intellect.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data encodes what “rich / powerful” looks like; there is no stable visual prototype for “moral” or “smart.”</a:t>
            </a:r>
            <a:endParaRPr lang="en-US" sz="1700" dirty="0"/>
          </a:p>
        </p:txBody>
      </p:sp>
      <p:pic>
        <p:nvPicPr>
          <p:cNvPr id="5" name="Image 0" descr="/Users/xiaochuan/Desktop/Projects/P5_Multi_linguistic_histoBias/v2/experiments/exp2_attribute_bias/figures/figA_bias_by_attrib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103120"/>
            <a:ext cx="5120640" cy="31511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5080" y="5440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Prototypicality error rate by socio-attribute (Qwen2.5-VL-7B).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REPLICATION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…and it replicates across model families</a:t>
            </a:r>
            <a:endParaRPr lang="en-US" sz="3200" dirty="0"/>
          </a:p>
        </p:txBody>
      </p:sp>
      <p:pic>
        <p:nvPicPr>
          <p:cNvPr id="4" name="Image 0" descr="/Users/xiaochuan/Desktop/Projects/P5_Multi_linguistic_histoBias/v3/experiments/exp3a_mixed_effects/figures/figE_cross_model_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783080"/>
            <a:ext cx="8229600" cy="3154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5166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≈ 3.7 / 3.1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" y="5806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bias vs morality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/ InternVL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34840" y="5166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≈ 2×10⁻¹⁴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434840" y="5806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effect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families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55280" y="5166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quirk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955280" y="5806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 across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VLMs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is not flat after 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languages looked invariant; adding Bengali &amp; Greek revealed a real effect.</a:t>
            </a:r>
            <a:endParaRPr lang="en-US" sz="16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and Greek prompts → significantly more bias than English, in both models.</a:t>
            </a:r>
            <a:endParaRPr lang="en-US" sz="16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attribute pattern stays the same; the overall level shifts up (no interaction).</a:t>
            </a:r>
            <a:endParaRPr lang="en-US" sz="16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0" y="18288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just bad translation? No.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back-translated every non-English prompt and measured drift.</a:t>
            </a:r>
            <a:endParaRPr lang="en-US" sz="16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most-biased languages (Greek, Bengali) have the highest translation fidelity.</a:t>
            </a:r>
            <a:endParaRPr lang="en-US" sz="16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least-biased (Hindi, Russian) have the lowest — the opposite of a translation artifact.</a:t>
            </a:r>
            <a:endParaRPr lang="en-US" sz="16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6596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vs English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Back-translation fidelity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  (highest)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  (lowest)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BEHAVIOURAL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bias tracks the attribute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Flip Rate — does the choice change across languages?</a:t>
            </a:r>
            <a:endParaRPr lang="en-US" sz="16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Bias Rate — does the model pick the wrong image in ALL languages?</a:t>
            </a:r>
            <a:endParaRPr lang="en-US" sz="16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has the highest stable-bias rate in both models — it is biased everywhere, not flip-flopping.</a:t>
            </a:r>
            <a:endParaRPr lang="en-US" sz="16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0" y="182880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results, both robust across model families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00200" y="2103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bias is attribute-specific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262432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on wealth and social status, near-chance for morality and intellect — and the same in Qwen2.5-VL-7B and InternVL3-8B.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C72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600200" y="3840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bias is language-modulated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43616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Lower-resource and distinct-script prompts (Bengali, Greek) elicit more bias — replicated across both families, and not a translation artifact.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which-attribute structure is universal; the overall susceptibility scales with language.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not yet claiming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seed, single translation backend; the adversarial “knob” (color / scale) is a co-varying confound.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Demography cells are small (Wealth ≈ 31 / language) — mixed-effects pools, but power is limited.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Qwen-32B was dropped — infeasible runtime (≈280 s/item) on the available 2×A40 sharding.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 / bn / el specifically — not a clean resource gradient (Russian is non-Latin yet flat) — is open.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2039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axis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20391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Qwen-32B in 4-bit on a single GPU — does the bias shrink with model size?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127248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families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43400" y="3063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Gemma-3, LLaVA-OneVision — map how general the language effect is.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151376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087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Shortcut-severing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4087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prototype cues — is stable correctness actually grounded?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175504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1114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 down language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43400" y="511149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Disentangle resource vs script vs cultural loading behind the ar / bn / el spike.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286000"/>
            <a:ext cx="109728" cy="109728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" y="2286000"/>
            <a:ext cx="109728" cy="109728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" y="2286000"/>
            <a:ext cx="109728" cy="109728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6517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114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9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ran the first multilingual, multi-model ProtoBias pipeline — 7 languages, 2 model families.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github.com/xchuan-li/cross_lingual_protobias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2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cross-model summary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920240"/>
          <a:ext cx="81381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Qwen2.5-VL-7B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InternVL3-8B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error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effect (LRT 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2.1×10⁻¹⁴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2.7×10⁻¹⁴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 odds ratio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effect (LRT 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Greek / Bengali 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 / 1.60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 / 1.41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 stable-bias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cross-lingual flip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011680" y="5943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Item-clustered mixed-effects logistic regression; back-translation QA; numpy/scipy, no statsmodels.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Cross-lingual Prototypicality Bias — Progress Report II</dc:title>
  <dc:subject>PptxGenJS Presentation</dc:subject>
  <dc:creator>Xiaochuan Li</dc:creator>
  <cp:lastModifiedBy>Xiaochuan Li</cp:lastModifiedBy>
  <cp:revision>1</cp:revision>
  <dcterms:created xsi:type="dcterms:W3CDTF">2026-06-21T20:33:17Z</dcterms:created>
  <dcterms:modified xsi:type="dcterms:W3CDTF">2026-06-21T20:33:17Z</dcterms:modified>
</cp:coreProperties>
</file>