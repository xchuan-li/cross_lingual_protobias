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charts/chart2.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5" r:id="rId20"/>
    <p:sldId id="276" r:id="rId21"/>
    <p:sldId id="279" r:id="rId22"/>
    <p:sldId id="277" r:id="rId23"/>
    <p:sldId id="278"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708"/>
    <p:restoredTop sz="97812"/>
  </p:normalViewPr>
  <p:slideViewPr>
    <p:cSldViewPr snapToGrid="0" snapToObjects="1">
      <p:cViewPr>
        <p:scale>
          <a:sx n="179" d="100"/>
          <a:sy n="179" d="100"/>
        </p:scale>
        <p:origin x="1320" y="10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___.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___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2"/>
  <c:chart>
    <c:autoTitleDeleted val="1"/>
    <c:plotArea>
      <c:layout/>
      <c:barChart>
        <c:barDir val="col"/>
        <c:grouping val="clustered"/>
        <c:varyColors val="0"/>
        <c:ser>
          <c:idx val="0"/>
          <c:order val="0"/>
          <c:tx>
            <c:strRef>
              <c:f>Sheet1!$B$1</c:f>
              <c:strCache>
                <c:ptCount val="1"/>
                <c:pt idx="0">
                  <c:v>Error rate</c:v>
                </c:pt>
              </c:strCache>
            </c:strRef>
          </c:tx>
          <c:spPr>
            <a:solidFill>
              <a:srgbClr val="C44E52"/>
            </a:solidFill>
            <a:effectLst/>
          </c:spPr>
          <c:invertIfNegative val="0"/>
          <c:dPt>
            <c:idx val="0"/>
            <c:invertIfNegative val="0"/>
            <c:bubble3D val="0"/>
            <c:extLst>
              <c:ext xmlns:c16="http://schemas.microsoft.com/office/drawing/2014/chart" uri="{C3380CC4-5D6E-409C-BE32-E72D297353CC}">
                <c16:uniqueId val="{00000001-4E43-1445-B0E0-9497103B5788}"/>
              </c:ext>
            </c:extLst>
          </c:dPt>
          <c:dPt>
            <c:idx val="1"/>
            <c:invertIfNegative val="0"/>
            <c:bubble3D val="0"/>
            <c:extLst>
              <c:ext xmlns:c16="http://schemas.microsoft.com/office/drawing/2014/chart" uri="{C3380CC4-5D6E-409C-BE32-E72D297353CC}">
                <c16:uniqueId val="{00000003-4E43-1445-B0E0-9497103B5788}"/>
              </c:ext>
            </c:extLst>
          </c:dPt>
          <c:dPt>
            <c:idx val="2"/>
            <c:invertIfNegative val="0"/>
            <c:bubble3D val="0"/>
            <c:spPr>
              <a:solidFill>
                <a:srgbClr val="9AA5B1"/>
              </a:solidFill>
              <a:effectLst/>
            </c:spPr>
            <c:extLst>
              <c:ext xmlns:c16="http://schemas.microsoft.com/office/drawing/2014/chart" uri="{C3380CC4-5D6E-409C-BE32-E72D297353CC}">
                <c16:uniqueId val="{00000005-4E43-1445-B0E0-9497103B5788}"/>
              </c:ext>
            </c:extLst>
          </c:dPt>
          <c:dPt>
            <c:idx val="3"/>
            <c:invertIfNegative val="0"/>
            <c:bubble3D val="0"/>
            <c:spPr>
              <a:solidFill>
                <a:srgbClr val="4C72B0"/>
              </a:solidFill>
              <a:effectLst/>
            </c:spPr>
            <c:extLst>
              <c:ext xmlns:c16="http://schemas.microsoft.com/office/drawing/2014/chart" uri="{C3380CC4-5D6E-409C-BE32-E72D297353CC}">
                <c16:uniqueId val="{00000007-4E43-1445-B0E0-9497103B5788}"/>
              </c:ext>
            </c:extLst>
          </c:dPt>
          <c:dPt>
            <c:idx val="4"/>
            <c:invertIfNegative val="0"/>
            <c:bubble3D val="0"/>
            <c:spPr>
              <a:solidFill>
                <a:srgbClr val="4C72B0"/>
              </a:solidFill>
              <a:effectLst/>
            </c:spPr>
            <c:extLst>
              <c:ext xmlns:c16="http://schemas.microsoft.com/office/drawing/2014/chart" uri="{C3380CC4-5D6E-409C-BE32-E72D297353CC}">
                <c16:uniqueId val="{00000009-4E43-1445-B0E0-9497103B5788}"/>
              </c:ext>
            </c:extLst>
          </c:dPt>
          <c:dLbls>
            <c:numFmt formatCode="0.00" sourceLinked="0"/>
            <c:spPr>
              <a:noFill/>
              <a:ln>
                <a:noFill/>
              </a:ln>
              <a:effectLst/>
            </c:spPr>
            <c:txPr>
              <a:bodyPr/>
              <a:lstStyle/>
              <a:p>
                <a:pPr>
                  <a:defRPr sz="1200" b="0" i="0" u="none" strike="noStrike">
                    <a:solidFill>
                      <a:srgbClr val="1F2933"/>
                    </a:solidFill>
                    <a:latin typeface="Calibri"/>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Wealth</c:v>
                </c:pt>
                <c:pt idx="1">
                  <c:v>Power</c:v>
                </c:pt>
                <c:pt idx="2">
                  <c:v>Civility</c:v>
                </c:pt>
                <c:pt idx="3">
                  <c:v>Morality</c:v>
                </c:pt>
                <c:pt idx="4">
                  <c:v>Intellect</c:v>
                </c:pt>
              </c:strCache>
            </c:strRef>
          </c:cat>
          <c:val>
            <c:numRef>
              <c:f>Sheet1!$B$2:$B$6</c:f>
              <c:numCache>
                <c:formatCode>General</c:formatCode>
                <c:ptCount val="5"/>
                <c:pt idx="0">
                  <c:v>0.77400000000000002</c:v>
                </c:pt>
                <c:pt idx="1">
                  <c:v>0.67200000000000004</c:v>
                </c:pt>
                <c:pt idx="2">
                  <c:v>0.53900000000000003</c:v>
                </c:pt>
                <c:pt idx="3">
                  <c:v>0.48699999999999999</c:v>
                </c:pt>
                <c:pt idx="4">
                  <c:v>0.47899999999999998</c:v>
                </c:pt>
              </c:numCache>
            </c:numRef>
          </c:val>
          <c:extLst>
            <c:ext xmlns:c16="http://schemas.microsoft.com/office/drawing/2014/chart" uri="{C3380CC4-5D6E-409C-BE32-E72D297353CC}">
              <c16:uniqueId val="{0000000A-4E43-1445-B0E0-9497103B5788}"/>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2933"/>
                </a:solidFill>
                <a:latin typeface="Calibri"/>
              </a:defRPr>
            </a:pPr>
            <a:endParaRPr lang="en-US"/>
          </a:p>
        </c:txPr>
        <c:crossAx val="2094734552"/>
        <c:crosses val="autoZero"/>
        <c:auto val="1"/>
        <c:lblAlgn val="ctr"/>
        <c:lblOffset val="100"/>
        <c:noMultiLvlLbl val="1"/>
      </c:catAx>
      <c:valAx>
        <c:axId val="2094734552"/>
        <c:scaling>
          <c:orientation val="minMax"/>
          <c:max val="1"/>
          <c:min val="0"/>
        </c:scaling>
        <c:delete val="0"/>
        <c:axPos val="l"/>
        <c:majorGridlines>
          <c:spPr>
            <a:ln w="6350" cap="flat">
              <a:solidFill>
                <a:srgbClr val="E8EB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B8794"/>
                </a:solidFill>
                <a:latin typeface="Calibri"/>
              </a:defRPr>
            </a:pPr>
            <a:endParaRPr lang="en-US"/>
          </a:p>
        </c:txPr>
        <c:crossAx val="2094734554"/>
        <c:crosses val="autoZero"/>
        <c:crossBetween val="between"/>
        <c:majorUnit val="0.25"/>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2"/>
  <c:chart>
    <c:autoTitleDeleted val="1"/>
    <c:plotArea>
      <c:layout/>
      <c:barChart>
        <c:barDir val="col"/>
        <c:grouping val="clustered"/>
        <c:varyColors val="0"/>
        <c:ser>
          <c:idx val="0"/>
          <c:order val="0"/>
          <c:tx>
            <c:strRef>
              <c:f>Sheet1!$B$1</c:f>
              <c:strCache>
                <c:ptCount val="1"/>
                <c:pt idx="0">
                  <c:v>English</c:v>
                </c:pt>
              </c:strCache>
            </c:strRef>
          </c:tx>
          <c:spPr>
            <a:solidFill>
              <a:srgbClr val="1F2933"/>
            </a:solidFill>
            <a:effectLst/>
          </c:spPr>
          <c:invertIfNegative val="0"/>
          <c:cat>
            <c:strRef>
              <c:f>Sheet1!$A$2:$A$6</c:f>
              <c:strCache>
                <c:ptCount val="5"/>
                <c:pt idx="0">
                  <c:v>Wealth</c:v>
                </c:pt>
                <c:pt idx="1">
                  <c:v>Power</c:v>
                </c:pt>
                <c:pt idx="2">
                  <c:v>Civility</c:v>
                </c:pt>
                <c:pt idx="3">
                  <c:v>Morality</c:v>
                </c:pt>
                <c:pt idx="4">
                  <c:v>Intellect</c:v>
                </c:pt>
              </c:strCache>
            </c:strRef>
          </c:cat>
          <c:val>
            <c:numRef>
              <c:f>Sheet1!$B$2:$B$6</c:f>
              <c:numCache>
                <c:formatCode>General</c:formatCode>
                <c:ptCount val="5"/>
                <c:pt idx="0">
                  <c:v>0.77400000000000002</c:v>
                </c:pt>
                <c:pt idx="1">
                  <c:v>0.70299999999999996</c:v>
                </c:pt>
                <c:pt idx="2">
                  <c:v>0.54700000000000004</c:v>
                </c:pt>
                <c:pt idx="3">
                  <c:v>0.47299999999999998</c:v>
                </c:pt>
                <c:pt idx="4">
                  <c:v>0.41699999999999998</c:v>
                </c:pt>
              </c:numCache>
            </c:numRef>
          </c:val>
          <c:extLst>
            <c:ext xmlns:c16="http://schemas.microsoft.com/office/drawing/2014/chart" uri="{C3380CC4-5D6E-409C-BE32-E72D297353CC}">
              <c16:uniqueId val="{00000000-D4B4-4D4B-BA57-6219A7FFBFCD}"/>
            </c:ext>
          </c:extLst>
        </c:ser>
        <c:ser>
          <c:idx val="1"/>
          <c:order val="1"/>
          <c:tx>
            <c:strRef>
              <c:f>Sheet1!$C$1</c:f>
              <c:strCache>
                <c:ptCount val="1"/>
                <c:pt idx="0">
                  <c:v>Chinese</c:v>
                </c:pt>
              </c:strCache>
            </c:strRef>
          </c:tx>
          <c:spPr>
            <a:solidFill>
              <a:srgbClr val="C44E52"/>
            </a:solidFill>
            <a:effectLst/>
          </c:spPr>
          <c:invertIfNegative val="0"/>
          <c:cat>
            <c:strRef>
              <c:f>Sheet1!$A$2:$A$6</c:f>
              <c:strCache>
                <c:ptCount val="5"/>
                <c:pt idx="0">
                  <c:v>Wealth</c:v>
                </c:pt>
                <c:pt idx="1">
                  <c:v>Power</c:v>
                </c:pt>
                <c:pt idx="2">
                  <c:v>Civility</c:v>
                </c:pt>
                <c:pt idx="3">
                  <c:v>Morality</c:v>
                </c:pt>
                <c:pt idx="4">
                  <c:v>Intellect</c:v>
                </c:pt>
              </c:strCache>
            </c:strRef>
          </c:cat>
          <c:val>
            <c:numRef>
              <c:f>Sheet1!$C$2:$C$6</c:f>
              <c:numCache>
                <c:formatCode>General</c:formatCode>
                <c:ptCount val="5"/>
                <c:pt idx="0">
                  <c:v>0.77400000000000002</c:v>
                </c:pt>
                <c:pt idx="1">
                  <c:v>0.67200000000000004</c:v>
                </c:pt>
                <c:pt idx="2">
                  <c:v>0.48399999999999999</c:v>
                </c:pt>
                <c:pt idx="3">
                  <c:v>0.55900000000000005</c:v>
                </c:pt>
                <c:pt idx="4">
                  <c:v>0.47899999999999998</c:v>
                </c:pt>
              </c:numCache>
            </c:numRef>
          </c:val>
          <c:extLst>
            <c:ext xmlns:c16="http://schemas.microsoft.com/office/drawing/2014/chart" uri="{C3380CC4-5D6E-409C-BE32-E72D297353CC}">
              <c16:uniqueId val="{00000001-D4B4-4D4B-BA57-6219A7FFBFCD}"/>
            </c:ext>
          </c:extLst>
        </c:ser>
        <c:ser>
          <c:idx val="2"/>
          <c:order val="2"/>
          <c:tx>
            <c:strRef>
              <c:f>Sheet1!$D$1</c:f>
              <c:strCache>
                <c:ptCount val="1"/>
                <c:pt idx="0">
                  <c:v>Arabic</c:v>
                </c:pt>
              </c:strCache>
            </c:strRef>
          </c:tx>
          <c:spPr>
            <a:solidFill>
              <a:srgbClr val="5E81AC"/>
            </a:solidFill>
            <a:effectLst/>
          </c:spPr>
          <c:invertIfNegative val="0"/>
          <c:cat>
            <c:strRef>
              <c:f>Sheet1!$A$2:$A$6</c:f>
              <c:strCache>
                <c:ptCount val="5"/>
                <c:pt idx="0">
                  <c:v>Wealth</c:v>
                </c:pt>
                <c:pt idx="1">
                  <c:v>Power</c:v>
                </c:pt>
                <c:pt idx="2">
                  <c:v>Civility</c:v>
                </c:pt>
                <c:pt idx="3">
                  <c:v>Morality</c:v>
                </c:pt>
                <c:pt idx="4">
                  <c:v>Intellect</c:v>
                </c:pt>
              </c:strCache>
            </c:strRef>
          </c:cat>
          <c:val>
            <c:numRef>
              <c:f>Sheet1!$D$2:$D$6</c:f>
              <c:numCache>
                <c:formatCode>General</c:formatCode>
                <c:ptCount val="5"/>
                <c:pt idx="0">
                  <c:v>0.83899999999999997</c:v>
                </c:pt>
                <c:pt idx="1">
                  <c:v>0.59399999999999997</c:v>
                </c:pt>
                <c:pt idx="2">
                  <c:v>0.54700000000000004</c:v>
                </c:pt>
                <c:pt idx="3">
                  <c:v>0.505</c:v>
                </c:pt>
                <c:pt idx="4">
                  <c:v>0.54200000000000004</c:v>
                </c:pt>
              </c:numCache>
            </c:numRef>
          </c:val>
          <c:extLst>
            <c:ext xmlns:c16="http://schemas.microsoft.com/office/drawing/2014/chart" uri="{C3380CC4-5D6E-409C-BE32-E72D297353CC}">
              <c16:uniqueId val="{00000002-D4B4-4D4B-BA57-6219A7FFBFCD}"/>
            </c:ext>
          </c:extLst>
        </c:ser>
        <c:ser>
          <c:idx val="3"/>
          <c:order val="3"/>
          <c:tx>
            <c:strRef>
              <c:f>Sheet1!$E$1</c:f>
              <c:strCache>
                <c:ptCount val="1"/>
                <c:pt idx="0">
                  <c:v>Hindi</c:v>
                </c:pt>
              </c:strCache>
            </c:strRef>
          </c:tx>
          <c:spPr>
            <a:solidFill>
              <a:srgbClr val="9AA5B1"/>
            </a:solidFill>
            <a:effectLst/>
          </c:spPr>
          <c:invertIfNegative val="0"/>
          <c:cat>
            <c:strRef>
              <c:f>Sheet1!$A$2:$A$6</c:f>
              <c:strCache>
                <c:ptCount val="5"/>
                <c:pt idx="0">
                  <c:v>Wealth</c:v>
                </c:pt>
                <c:pt idx="1">
                  <c:v>Power</c:v>
                </c:pt>
                <c:pt idx="2">
                  <c:v>Civility</c:v>
                </c:pt>
                <c:pt idx="3">
                  <c:v>Morality</c:v>
                </c:pt>
                <c:pt idx="4">
                  <c:v>Intellect</c:v>
                </c:pt>
              </c:strCache>
            </c:strRef>
          </c:cat>
          <c:val>
            <c:numRef>
              <c:f>Sheet1!$E$2:$E$6</c:f>
              <c:numCache>
                <c:formatCode>General</c:formatCode>
                <c:ptCount val="5"/>
                <c:pt idx="0">
                  <c:v>0.71</c:v>
                </c:pt>
                <c:pt idx="1">
                  <c:v>0.71899999999999997</c:v>
                </c:pt>
                <c:pt idx="2">
                  <c:v>0.57799999999999996</c:v>
                </c:pt>
                <c:pt idx="3">
                  <c:v>0.40899999999999997</c:v>
                </c:pt>
                <c:pt idx="4">
                  <c:v>0.47899999999999998</c:v>
                </c:pt>
              </c:numCache>
            </c:numRef>
          </c:val>
          <c:extLst>
            <c:ext xmlns:c16="http://schemas.microsoft.com/office/drawing/2014/chart" uri="{C3380CC4-5D6E-409C-BE32-E72D297353CC}">
              <c16:uniqueId val="{00000003-D4B4-4D4B-BA57-6219A7FFBFCD}"/>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933"/>
                </a:solidFill>
                <a:latin typeface="Calibri"/>
              </a:defRPr>
            </a:pPr>
            <a:endParaRPr lang="en-US"/>
          </a:p>
        </c:txPr>
        <c:crossAx val="2094734552"/>
        <c:crosses val="autoZero"/>
        <c:auto val="1"/>
        <c:lblAlgn val="ctr"/>
        <c:lblOffset val="100"/>
        <c:noMultiLvlLbl val="1"/>
      </c:catAx>
      <c:valAx>
        <c:axId val="2094734552"/>
        <c:scaling>
          <c:orientation val="minMax"/>
          <c:max val="1"/>
          <c:min val="0"/>
        </c:scaling>
        <c:delete val="0"/>
        <c:axPos val="l"/>
        <c:majorGridlines>
          <c:spPr>
            <a:ln w="6350" cap="flat">
              <a:solidFill>
                <a:srgbClr val="E8EB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B8794"/>
                </a:solidFill>
                <a:latin typeface="Calibri"/>
              </a:defRPr>
            </a:pPr>
            <a:endParaRPr lang="en-US"/>
          </a:p>
        </c:txPr>
        <c:crossAx val="2094734554"/>
        <c:crosses val="autoZero"/>
        <c:crossBetween val="between"/>
        <c:majorUnit val="0.25"/>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778500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Hi everyone. Our project is about a vision-language model — a model that looks at a picture and reads text. We're checking one specific failure: does it pick the image that just *looks* typical, even when that image is actually wrong for the sentence? </a:t>
            </a:r>
            <a:endParaRPr lang="de-DE" dirty="0"/>
          </a:p>
          <a:p>
            <a:endParaRPr lang="de-DE" dirty="0"/>
          </a:p>
          <a:p>
            <a:r>
              <a:rPr dirty="0"/>
              <a:t>And the twist we added: does that change depending on which language we ask in — English, Chinese, Arabic, or Hindi.</a:t>
            </a:r>
          </a:p>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First, what is this bias. These days we use automatic scorers — things like </a:t>
            </a:r>
            <a:r>
              <a:rPr dirty="0" err="1"/>
              <a:t>CLIPScore</a:t>
            </a:r>
            <a:r>
              <a:rPr dirty="0"/>
              <a:t> — to grade AI-generated images instead of asking humans. The problem is they cheat: they give high scores to images that look stereotypical, even when the image doesn't match the prompt. </a:t>
            </a:r>
            <a:endParaRPr lang="de-DE" dirty="0"/>
          </a:p>
          <a:p>
            <a:endParaRPr lang="de-DE" dirty="0"/>
          </a:p>
          <a:p>
            <a:r>
              <a:rPr dirty="0"/>
              <a:t>Take the animal example: the prompt only says "an animal near a pond with two bamboo stalks." The correct image has the bamboo but an unusual animal; the wrong image is just a typical dog by a pond. Many scorers still prefer the dog. That's the bias.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original paper only did this in English, and only looked at scoring metrics. </a:t>
            </a:r>
            <a:r>
              <a:rPr lang="en-US" altLang="zh-CN" dirty="0"/>
              <a:t>Now we are </a:t>
            </a:r>
            <a:r>
              <a:rPr dirty="0"/>
              <a:t>add</a:t>
            </a:r>
            <a:r>
              <a:rPr lang="de-DE" dirty="0" err="1"/>
              <a:t>ing</a:t>
            </a:r>
            <a:r>
              <a:rPr dirty="0"/>
              <a:t> the language angle. So we have two questions. </a:t>
            </a:r>
            <a:endParaRPr lang="de-DE" dirty="0"/>
          </a:p>
          <a:p>
            <a:endParaRPr lang="de-DE" dirty="0"/>
          </a:p>
          <a:p>
            <a:r>
              <a:rPr dirty="0"/>
              <a:t>One: does the bias stay the same, or get worse, in other languages — including low-resource ones like Hindi? </a:t>
            </a:r>
            <a:endParaRPr lang="de-DE" dirty="0"/>
          </a:p>
          <a:p>
            <a:endParaRPr lang="de-DE" dirty="0"/>
          </a:p>
          <a:p>
            <a:r>
              <a:rPr dirty="0"/>
              <a:t>Two: is the bias stronger for socially sensitive things — like wealth and power — than for neutral stuff like animals and objects?</a:t>
            </a:r>
          </a:p>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Two papers set up how we read our own numbers. Chen and colleagues showed that when you use an LLM as a judge, the judge brings its own biases — gender, authority, looks. We're using a model as a judge too, so that's exactly what we have to watch. </a:t>
            </a:r>
            <a:endParaRPr lang="de-DE" dirty="0"/>
          </a:p>
          <a:p>
            <a:endParaRPr lang="de-DE" dirty="0"/>
          </a:p>
          <a:p>
            <a:r>
              <a:rPr dirty="0" err="1"/>
              <a:t>Akyurek</a:t>
            </a:r>
            <a:r>
              <a:rPr dirty="0"/>
              <a:t> and colleagues showed bias measurements are fragile — change the prompt or the metric and the number flips. That's a warning we'll come back to.</a:t>
            </a:r>
          </a:p>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Two more. Jin and colleagues built a social-bias benchmark in English and Korean, and found you get different answers depending on how you ask — that's a precedent for testing bias across languages. </a:t>
            </a:r>
            <a:endParaRPr lang="de-DE" dirty="0"/>
          </a:p>
          <a:p>
            <a:endParaRPr lang="de-DE" dirty="0"/>
          </a:p>
          <a:p>
            <a:r>
              <a:rPr dirty="0"/>
              <a:t>Hida and colleagues showed bias rankings wobble when you vary the prompt; our different languages are basically prompt variations, and that also flags translation quality as something we have to be careful about. </a:t>
            </a:r>
            <a:endParaRPr lang="en-US" dirty="0"/>
          </a:p>
          <a:p>
            <a:endParaRPr lang="en-US" dirty="0"/>
          </a:p>
          <a:p>
            <a:r>
              <a:rPr dirty="0"/>
              <a:t>Bottom line: we sit right where judge-bias meets multilingual bias — and we're the first to test this visual bias across languages.</a:t>
            </a:r>
          </a:p>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T</a:t>
            </a:r>
            <a:r>
              <a:rPr dirty="0"/>
              <a:t>he method is simple. We show the model two images — the correct one and the typical-but-wrong one — and ask, in the target language, "which one matches this description?" We randomly flip which side is left or right, so it can't just always pick the left. </a:t>
            </a:r>
            <a:endParaRPr lang="de-DE" dirty="0"/>
          </a:p>
          <a:p>
            <a:endParaRPr lang="de-DE" dirty="0"/>
          </a:p>
          <a:p>
            <a:r>
              <a:rPr dirty="0"/>
              <a:t>Our number is the error rate: how often it picks the wrong, typical image. Half — 0.5 — means it's just guessing, no bias. Above 0.5 means there's bias.</a:t>
            </a:r>
          </a:p>
          <a:p>
            <a:endParaRPr lang="de-DE" dirty="0"/>
          </a:p>
          <a:p>
            <a:endParaRPr lang="de-DE" dirty="0"/>
          </a:p>
          <a:p>
            <a:endParaRPr lang="de-DE" dirty="0"/>
          </a:p>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Okay, now the experiment. The data has three groups: animals, objects, and demography — pictures of people. </a:t>
            </a:r>
            <a:endParaRPr lang="de-DE" dirty="0"/>
          </a:p>
          <a:p>
            <a:endParaRPr lang="de-DE" dirty="0"/>
          </a:p>
          <a:p>
            <a:r>
              <a:rPr dirty="0"/>
              <a:t>The demography ones carry an extra tag saying which stereotype they probe: wealth, power, civility, morality, or intellect. Keep that tag in mind — it's the hero of this talk. </a:t>
            </a:r>
            <a:endParaRPr lang="de-DE" dirty="0"/>
          </a:p>
          <a:p>
            <a:endParaRPr lang="de-DE" dirty="0"/>
          </a:p>
          <a:p>
            <a:r>
              <a:rPr dirty="0"/>
              <a:t>We ran 300 items per group, times three groups, times four languages — that's 3,600 judgments. Model is Qwen2.5-VL, translations from Google, run on one A40 GPU.</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Here's our first look — just average everything by group and language. And honestly? It looks like nothing. Every number hugs 0.5, the gaps between languages are tiny and overlap. At this level, both our questions look flat — no language effect, no domain effect.</a:t>
            </a:r>
            <a:endParaRPr lang="de-DE" dirty="0"/>
          </a:p>
          <a:p>
            <a:endParaRPr lang="de-DE" dirty="0"/>
          </a:p>
          <a:p>
            <a:r>
              <a:rPr dirty="0"/>
              <a:t> If we stopped here, the story would be "we found nothing." But we didn't stop here.</a:t>
            </a:r>
          </a:p>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H</a:t>
            </a:r>
            <a:r>
              <a:rPr dirty="0" err="1"/>
              <a:t>ere's</a:t>
            </a:r>
            <a:r>
              <a:rPr dirty="0"/>
              <a:t> the trick. Remember that tag on the demography pictures — wealth, power, and so on? The default analysis just lumped all of them into one average. So "demography" became a single number, around .56, and whatever was inside got blended away. </a:t>
            </a:r>
            <a:endParaRPr lang="de-DE" dirty="0"/>
          </a:p>
          <a:p>
            <a:endParaRPr lang="de-DE" dirty="0"/>
          </a:p>
          <a:p>
            <a:r>
              <a:rPr dirty="0"/>
              <a:t>Our hunch: the average is hiding the real pattern. So we split it back out by that tag.</a:t>
            </a:r>
          </a:p>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And this is the whole report in one slide. Once we split it, that flat .56 blows apart into a huge spread. Wealth: the model picks the stereotype 77% of the time. Power: 67%. But morality and intellect? Right at chance — basically no bias. </a:t>
            </a:r>
            <a:endParaRPr lang="de-DE" dirty="0"/>
          </a:p>
          <a:p>
            <a:endParaRPr lang="de-DE" dirty="0"/>
          </a:p>
          <a:p>
            <a:r>
              <a:rPr lang="zh-CN" altLang="zh-CN" dirty="0"/>
              <a:t>This means the bias is not uniform across all social attributes. It is especially strong for social-status attributes such as wealth and power: the model often prefers the stereotypical-looking but semantically wrong image.</a:t>
            </a:r>
          </a:p>
          <a:p>
            <a:endParaRPr dirty="0"/>
          </a:p>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Now back to the language question. Here's the same breakdown, split by language. And the pattern just... repeats. Wealth and power high, morality and intellect at chance — in English, in Chinese, in Arabic, and in Hindi.</a:t>
            </a:r>
            <a:endParaRPr lang="de-DE" dirty="0"/>
          </a:p>
          <a:p>
            <a:endParaRPr lang="de-DE" dirty="0"/>
          </a:p>
          <a:p>
            <a:r>
              <a:rPr dirty="0"/>
              <a:t>The per-language differences are small and within the noise. So the bias isn't coming from any one language's wording — it's baked into the visual side. Language barely moves it; the attribute is what matters.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Two takeaways. One: the bias is attribute-specific — it lives on social-status attributes like wealth and power. </a:t>
            </a:r>
            <a:endParaRPr lang="de-DE" dirty="0"/>
          </a:p>
          <a:p>
            <a:endParaRPr lang="de-DE" dirty="0"/>
          </a:p>
          <a:p>
            <a:r>
              <a:rPr dirty="0"/>
              <a:t>Two: it's basically the same across all four languages. And I want to be clear — "language doesn't change it" is not a boring null result. It actually *strengthens* the original paper: it says this failure is structural, built into the model, not some quirk of English.</a:t>
            </a:r>
          </a:p>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Being honest about the weak spots. The effects are real but our error bars are wide — wealth only has about 31 items per language, so we're underpowered for fine language comparisons. </a:t>
            </a:r>
            <a:endParaRPr lang="en-US" dirty="0"/>
          </a:p>
          <a:p>
            <a:endParaRPr lang="en-US" dirty="0"/>
          </a:p>
          <a:p>
            <a:r>
              <a:rPr lang="en-US" altLang="zh-CN" dirty="0"/>
              <a:t>I</a:t>
            </a:r>
            <a:r>
              <a:rPr dirty="0"/>
              <a:t>t's one model, one seed, one translation tool. We haven't yet checked the Arabic and Hindi translation quality, which is a confound for any language claim. And we haven't audited position bias or how often parsing failed per language. We're naming these before anyone asks.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What's next — and none of it needs a GPU first. Step one: run a proper statistical model to confirm "attribute matters way more than language" is real, not luck. Step two: collect more wealth and power items to tighten those error bars. </a:t>
            </a:r>
            <a:endParaRPr lang="en-US" dirty="0"/>
          </a:p>
          <a:p>
            <a:endParaRPr lang="en-US" dirty="0"/>
          </a:p>
          <a:p>
            <a:r>
              <a:rPr dirty="0"/>
              <a:t>Step three: add more low-resource languages to directly test the "low-resource is worse" idea. Step four: validate the translations by translating back and checking drift. And here's the nice part: either way we win — if it stays flat, that's language-invariance; if a low-resource language spikes, we've recovered the authors' original hypothesis.</a:t>
            </a:r>
          </a:p>
          <a:p>
            <a:endParaRPr dirty="0"/>
          </a:p>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To sum up: we built and ran the first multilingual version of this benchmark — 3,600 judgments across four languages. We found the bias is attribute-specific, concentrated on wealth and power, and consistent across languages — and we only saw it because we caught the standard averaging hiding it. </a:t>
            </a:r>
            <a:endParaRPr lang="en-US" dirty="0"/>
          </a:p>
          <a:p>
            <a:endParaRPr lang="en-US" dirty="0"/>
          </a:p>
          <a:p>
            <a:r>
              <a:rPr dirty="0"/>
              <a:t>And we've laid out a concrete, doable plan for experiment two. That's it from us.</a:t>
            </a:r>
          </a:p>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EN</a:t>
            </a:r>
          </a:p>
          <a:p>
            <a:r>
              <a:rPr dirty="0"/>
              <a:t>Thanks for listening — happy to take questions. The code's in the repo if you want the details.</a:t>
            </a:r>
          </a:p>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EN</a:t>
            </a:r>
          </a:p>
          <a:p>
            <a:r>
              <a:rPr dirty="0"/>
              <a:t>(Don't present. Just say if asked:) I've got some backup slides for the details — let me pull the relevant one up.</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EN</a:t>
            </a:r>
          </a:p>
          <a:p>
            <a:r>
              <a:rPr dirty="0"/>
              <a:t>This is the full attribute table pooled across languages, with the gender split at the bottom — males .573, females .558, though we haven't tested that difference yet. Happy to walk through any row.</a:t>
            </a:r>
          </a:p>
          <a:p>
            <a:endParaRPr dirty="0"/>
          </a:p>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dirty="0"/>
              <a:t>EN</a:t>
            </a:r>
          </a:p>
          <a:p>
            <a:r>
              <a:rPr dirty="0"/>
              <a:t>This is for the obvious question — "how do you know the translations are any good?" Here's one item in all four languages. Chinese I verified myself since I read it. For Arabic and Hindi, the plan is back-translation checking, which is in our next steps. We're not claiming they're perfect — we're claiming we know it's a risk and we're handling it.</a:t>
            </a:r>
          </a:p>
          <a:p>
            <a:endParaRPr dirty="0"/>
          </a:p>
          <a:p>
            <a:endParaRP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dirty="0"/>
              <a:t>EN</a:t>
            </a:r>
          </a:p>
          <a:p>
            <a:r>
              <a:rPr dirty="0"/>
              <a:t>This is the number behind slide 12 — every attribute, every language. The thing to notice: wealth and power, shaded, sit high in *all four* columns; morality and intellect sit near .5 in all four. The order of attributes doesn't change across languages — which is exactly why we say it's the attribute, not the language.</a:t>
            </a:r>
          </a:p>
          <a:p>
            <a:endParaRPr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dirty="0"/>
              <a:t>EN</a:t>
            </a:r>
          </a:p>
          <a:p>
            <a:r>
              <a:rPr dirty="0"/>
              <a:t>Let me be precise here, because this cut is easy to overclaim. In these demography items the CORRECT image is the one showing a marked identity — a pride flag, a kippah — and the trap image is the plain, unmarked 'default' person. On the sexual-orientation items the model picks that unmarked default about 75% of the time, even though it's the wrong answer; religion and nationality are at chance. And this same effect is what inflates the wealth number — wealth-by-sexual-orientation is .97. The honest caveat: those pride markers are visually loud, so we can't yet separate 'the model avoids LGBTQ-coded images' from 'the model avoids the busier image.' Exp2 adds sub-population and the visual knob to the model to pull those apart. And to be clear — we're measuring the model's bias, not endorsing any stereotype, and we only show numbers.</a:t>
            </a:r>
          </a:p>
          <a:p>
            <a:endParaRPr dirty="0"/>
          </a:p>
          <a:p>
            <a:r>
              <a:rPr dirty="0" err="1"/>
              <a:t>中文</a:t>
            </a:r>
            <a:endParaRPr dirty="0"/>
          </a:p>
          <a:p>
            <a:r>
              <a:rPr dirty="0" err="1"/>
              <a:t>这里我要讲准一点，因为这个切片很容易被过度解读。在这些</a:t>
            </a:r>
            <a:r>
              <a:rPr dirty="0"/>
              <a:t> demography </a:t>
            </a:r>
            <a:r>
              <a:rPr dirty="0" err="1"/>
              <a:t>样本里</a:t>
            </a:r>
            <a:r>
              <a:rPr dirty="0"/>
              <a:t>，“</a:t>
            </a:r>
            <a:r>
              <a:rPr dirty="0" err="1"/>
              <a:t>语义正确”的那张图恰好是带可见少数群体标记的（彩虹旗、犹太基帕</a:t>
            </a:r>
            <a:r>
              <a:rPr dirty="0"/>
              <a:t>），而“典型陷阱”图是那个没有任何标记的“</a:t>
            </a:r>
            <a:r>
              <a:rPr dirty="0" err="1"/>
              <a:t>默认人</a:t>
            </a:r>
            <a:r>
              <a:rPr dirty="0"/>
              <a:t>”。</a:t>
            </a:r>
            <a:r>
              <a:rPr dirty="0" err="1"/>
              <a:t>在性取向这一类上，模型大约</a:t>
            </a:r>
            <a:r>
              <a:rPr dirty="0"/>
              <a:t> 75% </a:t>
            </a:r>
            <a:r>
              <a:rPr dirty="0" err="1"/>
              <a:t>的时候选了那个无标记默认人，哪怕它是错的答案；宗教和国籍则在随机线上。而且正是这个效应把财富那个数顶高了</a:t>
            </a:r>
            <a:r>
              <a:rPr dirty="0"/>
              <a:t>——</a:t>
            </a:r>
            <a:r>
              <a:rPr dirty="0" err="1"/>
              <a:t>财富</a:t>
            </a:r>
            <a:r>
              <a:rPr dirty="0"/>
              <a:t> × </a:t>
            </a:r>
            <a:r>
              <a:rPr dirty="0" err="1"/>
              <a:t>性取向那格是</a:t>
            </a:r>
            <a:r>
              <a:rPr dirty="0"/>
              <a:t> .97。要诚实说的 </a:t>
            </a:r>
            <a:r>
              <a:rPr dirty="0" err="1"/>
              <a:t>caveat：那些彩虹标记在视觉上很显眼，所以我们目前分不开“模型在回避</a:t>
            </a:r>
            <a:r>
              <a:rPr dirty="0"/>
              <a:t> LGBTQ 相关的图”和“模型只是在回避更花哨的图”。Exp2 </a:t>
            </a:r>
            <a:r>
              <a:rPr dirty="0" err="1"/>
              <a:t>会把人群类型和视觉旋钮一起放进模型来拆开这两者。还有，我们是在测量模型的偏见，不是认同任何刻板印象，而且只展示数字</a:t>
            </a:r>
            <a:r>
              <a:rPr dirty="0"/>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dirty="0"/>
              <a:t>EN</a:t>
            </a:r>
          </a:p>
          <a:p>
            <a:r>
              <a:rPr dirty="0"/>
              <a:t>One interesting exception worth flagging. On objects, English, Chinese, and Arabic all sit at .46–.47 — no bias. But Hindi alone jumps to .55. It's the one cell where the low-resource language behaves differently — which is a little hint toward "low-resource is worse." But I won't over-sell it: the sample's small and the confidence interval still touches 0.5. It's a lead to chase in experiment two, not a result.</a:t>
            </a:r>
          </a:p>
          <a:p>
            <a:endParaRPr dirty="0"/>
          </a:p>
          <a:p>
            <a:endParaRPr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dirty="0"/>
              <a:t>EN</a:t>
            </a:r>
          </a:p>
          <a:p>
            <a:r>
              <a:rPr dirty="0"/>
              <a:t>Two honest points. First, a confound: the wrong image is made by turning one visual knob — count, color, layout, and so on — so a wrong pick might track that low-level change, not "typicality" itself. Our next-step model will control for it. Second, ethics: the demography data encodes race, religion, and orientation stereotypes — sensitive stuff. So in public slides we only show animal and object images; demography stays as labels and numbers. We study the stereotype to measure it, never to endorse it.</a:t>
            </a:r>
          </a:p>
          <a:p>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933"/>
        </a:solidFill>
        <a:effectLst/>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C44E52"/>
          </a:solidFill>
          <a:ln/>
        </p:spPr>
        <p:txBody>
          <a:bodyPr/>
          <a:lstStyle/>
          <a:p>
            <a:endParaRPr lang="zh-CN" altLang="en-US"/>
          </a:p>
        </p:txBody>
      </p:sp>
      <p:sp>
        <p:nvSpPr>
          <p:cNvPr id="3" name="Text 1"/>
          <p:cNvSpPr/>
          <p:nvPr/>
        </p:nvSpPr>
        <p:spPr>
          <a:xfrm>
            <a:off x="914400" y="2011680"/>
            <a:ext cx="10058400" cy="365760"/>
          </a:xfrm>
          <a:prstGeom prst="rect">
            <a:avLst/>
          </a:prstGeom>
          <a:noFill/>
          <a:ln/>
        </p:spPr>
        <p:txBody>
          <a:bodyPr wrap="square" lIns="0" tIns="0" rIns="0" bIns="0" rtlCol="0" anchor="ctr"/>
          <a:lstStyle/>
          <a:p>
            <a:pPr marL="0" indent="0">
              <a:buNone/>
            </a:pPr>
            <a:r>
              <a:rPr lang="en-US" sz="1400" b="1" kern="0" spc="300" dirty="0">
                <a:solidFill>
                  <a:srgbClr val="9FB3C8"/>
                </a:solidFill>
                <a:latin typeface="Calibri" pitchFamily="34" charset="0"/>
                <a:ea typeface="Calibri" pitchFamily="34" charset="-122"/>
                <a:cs typeface="Calibri" pitchFamily="34" charset="-120"/>
              </a:rPr>
              <a:t>MULTILINGUAL EXTENSION OF PROTOBIAS</a:t>
            </a:r>
            <a:endParaRPr lang="en-US" sz="1400" dirty="0"/>
          </a:p>
        </p:txBody>
      </p:sp>
      <p:sp>
        <p:nvSpPr>
          <p:cNvPr id="4" name="Text 2"/>
          <p:cNvSpPr/>
          <p:nvPr/>
        </p:nvSpPr>
        <p:spPr>
          <a:xfrm>
            <a:off x="914400" y="2423160"/>
            <a:ext cx="10332720" cy="1097280"/>
          </a:xfrm>
          <a:prstGeom prst="rect">
            <a:avLst/>
          </a:prstGeom>
          <a:noFill/>
          <a:ln/>
        </p:spPr>
        <p:txBody>
          <a:bodyPr wrap="square" lIns="0" tIns="0" rIns="0" bIns="0" rtlCol="0" anchor="ctr"/>
          <a:lstStyle/>
          <a:p>
            <a:pPr marL="0" indent="0">
              <a:buNone/>
            </a:pPr>
            <a:r>
              <a:rPr lang="en-US" sz="4000" b="1" dirty="0">
                <a:solidFill>
                  <a:srgbClr val="FFFFFF"/>
                </a:solidFill>
                <a:latin typeface="Georgia" pitchFamily="34" charset="0"/>
                <a:ea typeface="Georgia" pitchFamily="34" charset="-122"/>
                <a:cs typeface="Georgia" pitchFamily="34" charset="-120"/>
              </a:rPr>
              <a:t>Prototypicality Bias in MLLM Judges</a:t>
            </a:r>
            <a:endParaRPr lang="en-US" sz="4000" dirty="0"/>
          </a:p>
        </p:txBody>
      </p:sp>
      <p:sp>
        <p:nvSpPr>
          <p:cNvPr id="5" name="Text 3"/>
          <p:cNvSpPr/>
          <p:nvPr/>
        </p:nvSpPr>
        <p:spPr>
          <a:xfrm>
            <a:off x="914400" y="3611880"/>
            <a:ext cx="10058400" cy="457200"/>
          </a:xfrm>
          <a:prstGeom prst="rect">
            <a:avLst/>
          </a:prstGeom>
          <a:noFill/>
          <a:ln/>
        </p:spPr>
        <p:txBody>
          <a:bodyPr wrap="square" lIns="0" tIns="0" rIns="0" bIns="0" rtlCol="0" anchor="ctr"/>
          <a:lstStyle/>
          <a:p>
            <a:pPr marL="0" indent="0">
              <a:buNone/>
            </a:pPr>
            <a:r>
              <a:rPr lang="en-US" sz="1700" i="1" dirty="0">
                <a:solidFill>
                  <a:srgbClr val="CADCFC"/>
                </a:solidFill>
                <a:latin typeface="Calibri" pitchFamily="34" charset="0"/>
                <a:ea typeface="Calibri" pitchFamily="34" charset="-122"/>
                <a:cs typeface="Calibri" pitchFamily="34" charset="-120"/>
              </a:rPr>
              <a:t>Does the bias depend on the language we ask in?  English · Chinese · Arabic · Hindi</a:t>
            </a:r>
            <a:endParaRPr lang="en-US" sz="1700" dirty="0"/>
          </a:p>
        </p:txBody>
      </p:sp>
      <p:sp>
        <p:nvSpPr>
          <p:cNvPr id="6" name="Text 4"/>
          <p:cNvSpPr/>
          <p:nvPr/>
        </p:nvSpPr>
        <p:spPr>
          <a:xfrm>
            <a:off x="914400" y="5120640"/>
            <a:ext cx="10058400" cy="91440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Progress Report</a:t>
            </a:r>
            <a:r>
              <a:rPr lang="zh-CN" altLang="en-US" sz="1300" b="1" dirty="0">
                <a:solidFill>
                  <a:srgbClr val="FFFFFF"/>
                </a:solidFill>
                <a:latin typeface="Calibri" pitchFamily="34" charset="0"/>
                <a:ea typeface="Calibri" pitchFamily="34" charset="-122"/>
                <a:cs typeface="Calibri" pitchFamily="34" charset="-120"/>
              </a:rPr>
              <a:t> </a:t>
            </a:r>
            <a:r>
              <a:rPr lang="en-US" altLang="zh-CN" sz="1300" b="1" dirty="0">
                <a:solidFill>
                  <a:srgbClr val="FFFFFF"/>
                </a:solidFill>
                <a:latin typeface="Calibri" pitchFamily="34" charset="0"/>
                <a:ea typeface="Calibri" pitchFamily="34" charset="-122"/>
                <a:cs typeface="Calibri" pitchFamily="34" charset="-120"/>
              </a:rPr>
              <a:t>  </a:t>
            </a:r>
            <a:r>
              <a:rPr lang="de-DE" altLang="zh-CN" sz="1300" b="1" dirty="0">
                <a:solidFill>
                  <a:srgbClr val="FFFFFF"/>
                </a:solidFill>
                <a:latin typeface="Calibri" pitchFamily="34" charset="0"/>
                <a:ea typeface="Calibri" pitchFamily="34" charset="-122"/>
                <a:cs typeface="Calibri" pitchFamily="34" charset="-120"/>
              </a:rPr>
              <a:t>06.08.2026</a:t>
            </a:r>
            <a:endParaRPr lang="en-US" sz="1300" dirty="0"/>
          </a:p>
          <a:p>
            <a:pPr marL="0" indent="0">
              <a:buNone/>
            </a:pPr>
            <a:r>
              <a:rPr lang="en-US" sz="1300" dirty="0">
                <a:solidFill>
                  <a:srgbClr val="9FB3C8"/>
                </a:solidFill>
                <a:latin typeface="Calibri" pitchFamily="34" charset="0"/>
                <a:ea typeface="Calibri" pitchFamily="34" charset="-122"/>
                <a:cs typeface="Calibri" pitchFamily="34" charset="-120"/>
              </a:rPr>
              <a:t>Xiaochuan Li  ·</a:t>
            </a:r>
            <a:r>
              <a:rPr lang="zh-CN" altLang="en-US" sz="1300" dirty="0">
                <a:solidFill>
                  <a:srgbClr val="9FB3C8"/>
                </a:solidFill>
                <a:latin typeface="Calibri" pitchFamily="34" charset="0"/>
                <a:ea typeface="Calibri" pitchFamily="34" charset="-122"/>
                <a:cs typeface="Calibri" pitchFamily="34" charset="-120"/>
              </a:rPr>
              <a:t> </a:t>
            </a:r>
            <a:r>
              <a:rPr lang="en-US" altLang="zh-CN" sz="1300" dirty="0">
                <a:solidFill>
                  <a:srgbClr val="9FB3C8"/>
                </a:solidFill>
                <a:latin typeface="Calibri" pitchFamily="34" charset="0"/>
                <a:ea typeface="Calibri" pitchFamily="34" charset="-122"/>
                <a:cs typeface="Calibri" pitchFamily="34" charset="-120"/>
              </a:rPr>
              <a:t>Rishav Chandra </a:t>
            </a:r>
          </a:p>
          <a:p>
            <a:pPr marL="0" indent="0">
              <a:buNone/>
            </a:pPr>
            <a:r>
              <a:rPr lang="en-US" altLang="zh-CN" sz="1300" dirty="0">
                <a:solidFill>
                  <a:srgbClr val="9FB3C8"/>
                </a:solidFill>
                <a:latin typeface="Calibri" pitchFamily="34" charset="0"/>
                <a:ea typeface="Calibri" pitchFamily="34" charset="-122"/>
                <a:cs typeface="Calibri" pitchFamily="34" charset="-120"/>
              </a:rPr>
              <a:t>Mentor: </a:t>
            </a:r>
            <a:r>
              <a:rPr lang="en-US" altLang="zh-CN" sz="1300" dirty="0" err="1">
                <a:solidFill>
                  <a:srgbClr val="9FB3C8"/>
                </a:solidFill>
                <a:latin typeface="Calibri" pitchFamily="34" charset="0"/>
                <a:ea typeface="Calibri" pitchFamily="34" charset="-122"/>
                <a:cs typeface="Calibri" pitchFamily="34" charset="-120"/>
              </a:rPr>
              <a:t>Subhadeep</a:t>
            </a:r>
            <a:r>
              <a:rPr lang="en-US" altLang="zh-CN" sz="1300" dirty="0">
                <a:solidFill>
                  <a:srgbClr val="9FB3C8"/>
                </a:solidFill>
                <a:latin typeface="Calibri" pitchFamily="34" charset="0"/>
                <a:ea typeface="Calibri" pitchFamily="34" charset="-122"/>
                <a:cs typeface="Calibri" pitchFamily="34" charset="-120"/>
              </a:rPr>
              <a:t> Roy</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8" name="Shape 6"/>
          <p:cNvSpPr/>
          <p:nvPr/>
        </p:nvSpPr>
        <p:spPr>
          <a:xfrm>
            <a:off x="554198" y="1737360"/>
            <a:ext cx="4209775" cy="4023360"/>
          </a:xfrm>
          <a:prstGeom prst="rect">
            <a:avLst/>
          </a:prstGeom>
          <a:solidFill>
            <a:srgbClr val="F4F5F7"/>
          </a:solidFill>
          <a:ln/>
        </p:spPr>
        <p:txBody>
          <a:bodyPr/>
          <a:lstStyle/>
          <a:p>
            <a:endParaRPr lang="zh-CN" altLang="en-US"/>
          </a:p>
        </p:txBody>
      </p:sp>
      <p:sp>
        <p:nvSpPr>
          <p:cNvPr id="9" name="Shape 7"/>
          <p:cNvSpPr/>
          <p:nvPr/>
        </p:nvSpPr>
        <p:spPr>
          <a:xfrm>
            <a:off x="723346" y="1737360"/>
            <a:ext cx="109728" cy="4023360"/>
          </a:xfrm>
          <a:prstGeom prst="rect">
            <a:avLst/>
          </a:prstGeom>
          <a:solidFill>
            <a:srgbClr val="C44E52"/>
          </a:solidFill>
          <a:ln/>
        </p:spPr>
        <p:txBody>
          <a:bodyPr/>
          <a:lstStyle/>
          <a:p>
            <a:endParaRPr lang="zh-CN" altLang="en-US"/>
          </a:p>
        </p:txBody>
      </p:sp>
      <p:sp>
        <p:nvSpPr>
          <p:cNvPr id="2" name="Text 0"/>
          <p:cNvSpPr/>
          <p:nvPr/>
        </p:nvSpPr>
        <p:spPr>
          <a:xfrm>
            <a:off x="640080" y="6473952"/>
            <a:ext cx="8229600" cy="274320"/>
          </a:xfrm>
          <a:prstGeom prst="rect">
            <a:avLst/>
          </a:prstGeom>
          <a:noFill/>
          <a:ln/>
        </p:spPr>
        <p:txBody>
          <a:bodyPr wrap="square" lIns="0" tIns="0" rIns="0" bIns="0" rtlCol="0" anchor="ctr"/>
          <a:lstStyle/>
          <a:p>
            <a:pPr marL="0" indent="0">
              <a:buNone/>
            </a:pPr>
            <a:r>
              <a:rPr lang="en-US" sz="900" dirty="0">
                <a:solidFill>
                  <a:srgbClr val="7B8794"/>
                </a:solidFill>
                <a:latin typeface="Calibri" pitchFamily="34" charset="0"/>
                <a:ea typeface="Calibri" pitchFamily="34" charset="-122"/>
                <a:cs typeface="Calibri" pitchFamily="34" charset="-120"/>
              </a:rPr>
              <a:t>Multilingual Prototypicality Bias  ·  Progress Report</a:t>
            </a:r>
            <a:endParaRPr lang="en-US" sz="900" dirty="0"/>
          </a:p>
        </p:txBody>
      </p:sp>
      <p:sp>
        <p:nvSpPr>
          <p:cNvPr id="3" name="Text 1"/>
          <p:cNvSpPr/>
          <p:nvPr/>
        </p:nvSpPr>
        <p:spPr>
          <a:xfrm>
            <a:off x="11183112" y="6473952"/>
            <a:ext cx="457200" cy="274320"/>
          </a:xfrm>
          <a:prstGeom prst="rect">
            <a:avLst/>
          </a:prstGeom>
          <a:noFill/>
          <a:ln/>
        </p:spPr>
        <p:txBody>
          <a:bodyPr wrap="square" lIns="0" tIns="0" rIns="0" bIns="0" rtlCol="0" anchor="ctr"/>
          <a:lstStyle/>
          <a:p>
            <a:pPr marL="0" indent="0" algn="r">
              <a:buNone/>
            </a:pPr>
            <a:r>
              <a:rPr lang="en-US" sz="900" dirty="0">
                <a:solidFill>
                  <a:srgbClr val="7B8794"/>
                </a:solidFill>
                <a:latin typeface="Calibri" pitchFamily="34" charset="0"/>
                <a:ea typeface="Calibri" pitchFamily="34" charset="-122"/>
                <a:cs typeface="Calibri" pitchFamily="34" charset="-120"/>
              </a:rPr>
              <a:t>2</a:t>
            </a:r>
            <a:endParaRPr lang="en-US" sz="900" dirty="0"/>
          </a:p>
        </p:txBody>
      </p:sp>
      <p:sp>
        <p:nvSpPr>
          <p:cNvPr id="4" name="Shape 2"/>
          <p:cNvSpPr/>
          <p:nvPr/>
        </p:nvSpPr>
        <p:spPr>
          <a:xfrm>
            <a:off x="640080" y="566928"/>
            <a:ext cx="146304" cy="146304"/>
          </a:xfrm>
          <a:prstGeom prst="rect">
            <a:avLst/>
          </a:prstGeom>
          <a:solidFill>
            <a:srgbClr val="C44E52"/>
          </a:solidFill>
          <a:ln/>
        </p:spPr>
        <p:txBody>
          <a:bodyPr/>
          <a:lstStyle/>
          <a:p>
            <a:endParaRPr lang="zh-CN" altLang="en-US"/>
          </a:p>
        </p:txBody>
      </p:sp>
      <p:sp>
        <p:nvSpPr>
          <p:cNvPr id="5" name="Text 3"/>
          <p:cNvSpPr/>
          <p:nvPr/>
        </p:nvSpPr>
        <p:spPr>
          <a:xfrm>
            <a:off x="932688" y="509750"/>
            <a:ext cx="10908792" cy="274320"/>
          </a:xfrm>
          <a:prstGeom prst="rect">
            <a:avLst/>
          </a:prstGeom>
          <a:noFill/>
          <a:ln/>
        </p:spPr>
        <p:txBody>
          <a:bodyPr wrap="square" lIns="0" tIns="0" rIns="0" bIns="0" rtlCol="0" anchor="ctr"/>
          <a:lstStyle/>
          <a:p>
            <a:pPr marL="0" indent="0">
              <a:buNone/>
            </a:pPr>
            <a:r>
              <a:rPr lang="en-US" sz="1100" b="1" kern="0" spc="200" dirty="0">
                <a:solidFill>
                  <a:srgbClr val="C44E52"/>
                </a:solidFill>
                <a:latin typeface="Calibri" pitchFamily="34" charset="0"/>
                <a:ea typeface="Calibri" pitchFamily="34" charset="-122"/>
                <a:cs typeface="Calibri" pitchFamily="34" charset="-120"/>
              </a:rPr>
              <a:t>THE PROBLEM</a:t>
            </a:r>
            <a:endParaRPr lang="en-US" sz="1100" dirty="0"/>
          </a:p>
        </p:txBody>
      </p:sp>
      <p:sp>
        <p:nvSpPr>
          <p:cNvPr id="6" name="Text 4"/>
          <p:cNvSpPr/>
          <p:nvPr/>
        </p:nvSpPr>
        <p:spPr>
          <a:xfrm>
            <a:off x="640080" y="749808"/>
            <a:ext cx="10908792" cy="822960"/>
          </a:xfrm>
          <a:prstGeom prst="rect">
            <a:avLst/>
          </a:prstGeom>
          <a:noFill/>
          <a:ln/>
        </p:spPr>
        <p:txBody>
          <a:bodyPr wrap="square" lIns="0" tIns="0" rIns="0" bIns="0" rtlCol="0" anchor="ctr"/>
          <a:lstStyle/>
          <a:p>
            <a:pPr marL="0" indent="0">
              <a:buNone/>
            </a:pPr>
            <a:r>
              <a:rPr lang="en-US" sz="3000" b="1" dirty="0">
                <a:solidFill>
                  <a:srgbClr val="1F2933"/>
                </a:solidFill>
                <a:latin typeface="Georgia" pitchFamily="34" charset="0"/>
                <a:ea typeface="Georgia" pitchFamily="34" charset="-122"/>
                <a:cs typeface="Georgia" pitchFamily="34" charset="-120"/>
              </a:rPr>
              <a:t>What is prototypicality bias?</a:t>
            </a:r>
            <a:endParaRPr lang="en-US" sz="3000" dirty="0"/>
          </a:p>
        </p:txBody>
      </p:sp>
      <p:sp>
        <p:nvSpPr>
          <p:cNvPr id="7" name="Text 5"/>
          <p:cNvSpPr/>
          <p:nvPr/>
        </p:nvSpPr>
        <p:spPr>
          <a:xfrm>
            <a:off x="853440" y="1828800"/>
            <a:ext cx="3766223" cy="4389120"/>
          </a:xfrm>
          <a:prstGeom prst="rect">
            <a:avLst/>
          </a:prstGeom>
          <a:noFill/>
          <a:ln/>
        </p:spPr>
        <p:txBody>
          <a:bodyPr wrap="square" rtlCol="0" anchor="t"/>
          <a:lstStyle/>
          <a:p>
            <a:pPr marL="228600" indent="-228600">
              <a:spcAft>
                <a:spcPts val="1000"/>
              </a:spcAft>
              <a:buSzPct val="100000"/>
              <a:buChar char="•"/>
            </a:pPr>
            <a:r>
              <a:rPr lang="en-US" sz="1600" dirty="0">
                <a:solidFill>
                  <a:srgbClr val="1F2933"/>
                </a:solidFill>
                <a:latin typeface="Calibri" pitchFamily="34" charset="0"/>
                <a:ea typeface="Calibri" pitchFamily="34" charset="-122"/>
                <a:cs typeface="Calibri" pitchFamily="34" charset="-120"/>
              </a:rPr>
              <a:t>Automatic metrics (CLIPScore, VQAScore, GPT-judges) increasingly replace humans for evaluating text-to-image models.</a:t>
            </a:r>
            <a:endParaRPr lang="en-US" sz="1600" dirty="0"/>
          </a:p>
          <a:p>
            <a:pPr marL="228600" indent="-228600">
              <a:spcAft>
                <a:spcPts val="1000"/>
              </a:spcAft>
              <a:buSzPct val="100000"/>
              <a:buChar char="•"/>
            </a:pPr>
            <a:r>
              <a:rPr lang="en-US" sz="1600" dirty="0">
                <a:solidFill>
                  <a:srgbClr val="1F2933"/>
                </a:solidFill>
                <a:latin typeface="Calibri" pitchFamily="34" charset="0"/>
                <a:ea typeface="Calibri" pitchFamily="34" charset="-122"/>
                <a:cs typeface="Calibri" pitchFamily="34" charset="-120"/>
              </a:rPr>
              <a:t>Failure mode: they reward images that LOOK typical or stereotypical — even when the image is semantically WRONG for the prompt.</a:t>
            </a:r>
            <a:endParaRPr lang="en-US" sz="1600" dirty="0"/>
          </a:p>
          <a:p>
            <a:pPr marL="228600" indent="-228600">
              <a:spcAft>
                <a:spcPts val="1000"/>
              </a:spcAft>
              <a:buSzPct val="100000"/>
              <a:buChar char="•"/>
            </a:pPr>
            <a:r>
              <a:rPr lang="en-US" sz="1600" dirty="0">
                <a:solidFill>
                  <a:srgbClr val="1F2933"/>
                </a:solidFill>
                <a:latin typeface="Calibri" pitchFamily="34" charset="0"/>
                <a:ea typeface="Calibri" pitchFamily="34" charset="-122"/>
                <a:cs typeface="Calibri" pitchFamily="34" charset="-120"/>
              </a:rPr>
              <a:t>ProtoBias pits a Semantically-Correct but non-prototypical image (SC) against a Prototypical but wrong Adversarial image (PA).</a:t>
            </a:r>
            <a:endParaRPr lang="en-US" sz="1600" dirty="0"/>
          </a:p>
        </p:txBody>
      </p:sp>
      <p:sp>
        <p:nvSpPr>
          <p:cNvPr id="10" name="Text 8"/>
          <p:cNvSpPr/>
          <p:nvPr/>
        </p:nvSpPr>
        <p:spPr>
          <a:xfrm>
            <a:off x="5178554" y="1966221"/>
            <a:ext cx="4297680" cy="365760"/>
          </a:xfrm>
          <a:prstGeom prst="rect">
            <a:avLst/>
          </a:prstGeom>
          <a:noFill/>
          <a:ln/>
        </p:spPr>
        <p:txBody>
          <a:bodyPr wrap="square" lIns="0" tIns="0" rIns="0" bIns="0" rtlCol="0" anchor="ctr"/>
          <a:lstStyle/>
          <a:p>
            <a:pPr marL="0" indent="0">
              <a:buNone/>
            </a:pPr>
            <a:endParaRPr lang="en-US" sz="1300" dirty="0"/>
          </a:p>
        </p:txBody>
      </p:sp>
      <p:sp>
        <p:nvSpPr>
          <p:cNvPr id="11" name="Text 9"/>
          <p:cNvSpPr/>
          <p:nvPr/>
        </p:nvSpPr>
        <p:spPr>
          <a:xfrm>
            <a:off x="5166360" y="2328498"/>
            <a:ext cx="4297680" cy="455052"/>
          </a:xfrm>
          <a:prstGeom prst="rect">
            <a:avLst/>
          </a:prstGeom>
          <a:noFill/>
          <a:ln/>
        </p:spPr>
        <p:txBody>
          <a:bodyPr wrap="square" lIns="0" tIns="0" rIns="0" bIns="0" rtlCol="0" anchor="ctr"/>
          <a:lstStyle/>
          <a:p>
            <a:pPr marL="0" indent="0">
              <a:buNone/>
            </a:pPr>
            <a:endParaRPr lang="en-US" sz="1400" dirty="0"/>
          </a:p>
        </p:txBody>
      </p:sp>
      <p:sp>
        <p:nvSpPr>
          <p:cNvPr id="12" name="Text 10"/>
          <p:cNvSpPr/>
          <p:nvPr/>
        </p:nvSpPr>
        <p:spPr>
          <a:xfrm>
            <a:off x="6285795" y="5251581"/>
            <a:ext cx="4297680" cy="361464"/>
          </a:xfrm>
          <a:prstGeom prst="rect">
            <a:avLst/>
          </a:prstGeom>
          <a:noFill/>
          <a:ln/>
        </p:spPr>
        <p:txBody>
          <a:bodyPr wrap="square" rtlCol="0" anchor="ctr"/>
          <a:lstStyle/>
          <a:p>
            <a:pPr marL="0" indent="0">
              <a:spcAft>
                <a:spcPts val="800"/>
              </a:spcAft>
              <a:buNone/>
            </a:pPr>
            <a:r>
              <a:rPr lang="en-US" sz="1400" b="1" dirty="0">
                <a:solidFill>
                  <a:srgbClr val="4C72B0"/>
                </a:solidFill>
                <a:latin typeface="Calibri" pitchFamily="34" charset="0"/>
                <a:ea typeface="Calibri" pitchFamily="34" charset="-122"/>
                <a:cs typeface="Calibri" pitchFamily="34" charset="-120"/>
              </a:rPr>
              <a:t>SC  </a:t>
            </a:r>
            <a:r>
              <a:rPr lang="en-US" sz="1400" dirty="0">
                <a:solidFill>
                  <a:srgbClr val="1F2933"/>
                </a:solidFill>
                <a:latin typeface="Calibri" pitchFamily="34" charset="0"/>
                <a:ea typeface="Calibri" pitchFamily="34" charset="-122"/>
                <a:cs typeface="Calibri" pitchFamily="34" charset="-120"/>
              </a:rPr>
              <a:t>correct: two bamboo stalks, no typical scene</a:t>
            </a:r>
            <a:endParaRPr lang="en-US" sz="1400" dirty="0"/>
          </a:p>
          <a:p>
            <a:pPr marL="0" indent="0">
              <a:spcAft>
                <a:spcPts val="800"/>
              </a:spcAft>
              <a:buNone/>
            </a:pPr>
            <a:r>
              <a:rPr lang="en-US" sz="1400" b="1" dirty="0">
                <a:solidFill>
                  <a:srgbClr val="C44E52"/>
                </a:solidFill>
                <a:latin typeface="Calibri" pitchFamily="34" charset="0"/>
                <a:ea typeface="Calibri" pitchFamily="34" charset="-122"/>
                <a:cs typeface="Calibri" pitchFamily="34" charset="-120"/>
              </a:rPr>
              <a:t>PA  </a:t>
            </a:r>
            <a:r>
              <a:rPr lang="en-US" sz="1400" dirty="0">
                <a:solidFill>
                  <a:srgbClr val="1F2933"/>
                </a:solidFill>
                <a:latin typeface="Calibri" pitchFamily="34" charset="0"/>
                <a:ea typeface="Calibri" pitchFamily="34" charset="-122"/>
                <a:cs typeface="Calibri" pitchFamily="34" charset="-120"/>
              </a:rPr>
              <a:t>prototypical dog by a pond — violates the prompt</a:t>
            </a:r>
            <a:endParaRPr lang="en-US" sz="1400" dirty="0"/>
          </a:p>
        </p:txBody>
      </p:sp>
      <p:pic>
        <p:nvPicPr>
          <p:cNvPr id="14" name="Picture 8" descr="protobias_examples.png">
            <a:extLst>
              <a:ext uri="{FF2B5EF4-FFF2-40B4-BE49-F238E27FC236}">
                <a16:creationId xmlns:a16="http://schemas.microsoft.com/office/drawing/2014/main" id="{A4CAC3FA-B053-C9E9-A5CA-89F8721272CF}"/>
              </a:ext>
            </a:extLst>
          </p:cNvPr>
          <p:cNvPicPr>
            <a:picLocks noChangeAspect="1"/>
          </p:cNvPicPr>
          <p:nvPr/>
        </p:nvPicPr>
        <p:blipFill>
          <a:blip r:embed="rId3"/>
          <a:srcRect t="5274" b="21235"/>
          <a:stretch>
            <a:fillRect/>
          </a:stretch>
        </p:blipFill>
        <p:spPr>
          <a:xfrm>
            <a:off x="5027790" y="1710086"/>
            <a:ext cx="6813690" cy="346619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40080" y="6473952"/>
            <a:ext cx="8229600" cy="274320"/>
          </a:xfrm>
          <a:prstGeom prst="rect">
            <a:avLst/>
          </a:prstGeom>
          <a:noFill/>
          <a:ln/>
        </p:spPr>
        <p:txBody>
          <a:bodyPr wrap="square" lIns="0" tIns="0" rIns="0" bIns="0" rtlCol="0" anchor="ctr"/>
          <a:lstStyle/>
          <a:p>
            <a:pPr marL="0" indent="0">
              <a:buNone/>
            </a:pPr>
            <a:r>
              <a:rPr lang="en-US" sz="900" dirty="0">
                <a:solidFill>
                  <a:srgbClr val="7B8794"/>
                </a:solidFill>
                <a:latin typeface="Calibri" pitchFamily="34" charset="0"/>
                <a:ea typeface="Calibri" pitchFamily="34" charset="-122"/>
                <a:cs typeface="Calibri" pitchFamily="34" charset="-120"/>
              </a:rPr>
              <a:t>Multilingual Prototypicality Bias  ·  Progress Report</a:t>
            </a:r>
            <a:endParaRPr lang="en-US" sz="900" dirty="0"/>
          </a:p>
        </p:txBody>
      </p:sp>
      <p:sp>
        <p:nvSpPr>
          <p:cNvPr id="3" name="Text 1"/>
          <p:cNvSpPr/>
          <p:nvPr/>
        </p:nvSpPr>
        <p:spPr>
          <a:xfrm>
            <a:off x="11183112" y="6473952"/>
            <a:ext cx="457200" cy="274320"/>
          </a:xfrm>
          <a:prstGeom prst="rect">
            <a:avLst/>
          </a:prstGeom>
          <a:noFill/>
          <a:ln/>
        </p:spPr>
        <p:txBody>
          <a:bodyPr wrap="square" lIns="0" tIns="0" rIns="0" bIns="0" rtlCol="0" anchor="ctr"/>
          <a:lstStyle/>
          <a:p>
            <a:pPr marL="0" indent="0" algn="r">
              <a:buNone/>
            </a:pPr>
            <a:r>
              <a:rPr lang="en-US" sz="900" dirty="0">
                <a:solidFill>
                  <a:srgbClr val="7B8794"/>
                </a:solidFill>
                <a:latin typeface="Calibri" pitchFamily="34" charset="0"/>
                <a:ea typeface="Calibri" pitchFamily="34" charset="-122"/>
                <a:cs typeface="Calibri" pitchFamily="34" charset="-120"/>
              </a:rPr>
              <a:t>3</a:t>
            </a:r>
            <a:endParaRPr lang="en-US" sz="900" dirty="0"/>
          </a:p>
        </p:txBody>
      </p:sp>
      <p:sp>
        <p:nvSpPr>
          <p:cNvPr id="4" name="Shape 2"/>
          <p:cNvSpPr/>
          <p:nvPr/>
        </p:nvSpPr>
        <p:spPr>
          <a:xfrm>
            <a:off x="640080" y="566928"/>
            <a:ext cx="146304" cy="146304"/>
          </a:xfrm>
          <a:prstGeom prst="rect">
            <a:avLst/>
          </a:prstGeom>
          <a:solidFill>
            <a:srgbClr val="C44E52"/>
          </a:solidFill>
          <a:ln/>
        </p:spPr>
        <p:txBody>
          <a:bodyPr/>
          <a:lstStyle/>
          <a:p>
            <a:endParaRPr lang="zh-CN" altLang="en-US"/>
          </a:p>
        </p:txBody>
      </p:sp>
      <p:sp>
        <p:nvSpPr>
          <p:cNvPr id="5" name="Text 3"/>
          <p:cNvSpPr/>
          <p:nvPr/>
        </p:nvSpPr>
        <p:spPr>
          <a:xfrm>
            <a:off x="932688" y="499240"/>
            <a:ext cx="10908792" cy="274320"/>
          </a:xfrm>
          <a:prstGeom prst="rect">
            <a:avLst/>
          </a:prstGeom>
          <a:noFill/>
          <a:ln/>
        </p:spPr>
        <p:txBody>
          <a:bodyPr wrap="square" lIns="0" tIns="0" rIns="0" bIns="0" rtlCol="0" anchor="ctr"/>
          <a:lstStyle/>
          <a:p>
            <a:pPr marL="0" indent="0">
              <a:buNone/>
            </a:pPr>
            <a:r>
              <a:rPr lang="en-US" sz="1100" b="1" kern="0" spc="200" dirty="0">
                <a:solidFill>
                  <a:srgbClr val="C44E52"/>
                </a:solidFill>
                <a:latin typeface="Calibri" pitchFamily="34" charset="0"/>
                <a:ea typeface="Calibri" pitchFamily="34" charset="-122"/>
                <a:cs typeface="Calibri" pitchFamily="34" charset="-120"/>
              </a:rPr>
              <a:t>RESEARCH QUESTIONS</a:t>
            </a:r>
            <a:endParaRPr lang="en-US" sz="1100" dirty="0"/>
          </a:p>
        </p:txBody>
      </p:sp>
      <p:sp>
        <p:nvSpPr>
          <p:cNvPr id="6" name="Text 4"/>
          <p:cNvSpPr/>
          <p:nvPr/>
        </p:nvSpPr>
        <p:spPr>
          <a:xfrm>
            <a:off x="640080" y="749808"/>
            <a:ext cx="10908792" cy="822960"/>
          </a:xfrm>
          <a:prstGeom prst="rect">
            <a:avLst/>
          </a:prstGeom>
          <a:noFill/>
          <a:ln/>
        </p:spPr>
        <p:txBody>
          <a:bodyPr wrap="square" lIns="0" tIns="0" rIns="0" bIns="0" rtlCol="0" anchor="ctr"/>
          <a:lstStyle/>
          <a:p>
            <a:pPr marL="0" indent="0">
              <a:buNone/>
            </a:pPr>
            <a:r>
              <a:rPr lang="en-US" sz="3000" b="1" dirty="0">
                <a:solidFill>
                  <a:srgbClr val="1F2933"/>
                </a:solidFill>
                <a:latin typeface="Georgia" pitchFamily="34" charset="0"/>
                <a:ea typeface="Georgia" pitchFamily="34" charset="-122"/>
                <a:cs typeface="Georgia" pitchFamily="34" charset="-120"/>
              </a:rPr>
              <a:t>Our assignment: two research questions</a:t>
            </a:r>
            <a:endParaRPr lang="en-US" sz="3000" dirty="0"/>
          </a:p>
        </p:txBody>
      </p:sp>
      <p:sp>
        <p:nvSpPr>
          <p:cNvPr id="7" name="Text 5"/>
          <p:cNvSpPr/>
          <p:nvPr/>
        </p:nvSpPr>
        <p:spPr>
          <a:xfrm>
            <a:off x="640080" y="1828800"/>
            <a:ext cx="10789920" cy="2011680"/>
          </a:xfrm>
          <a:prstGeom prst="rect">
            <a:avLst/>
          </a:prstGeom>
          <a:noFill/>
          <a:ln/>
        </p:spPr>
        <p:txBody>
          <a:bodyPr wrap="square" rtlCol="0" anchor="t"/>
          <a:lstStyle/>
          <a:p>
            <a:pPr marL="228600" indent="-228600">
              <a:spcAft>
                <a:spcPts val="1000"/>
              </a:spcAft>
              <a:buSzPct val="100000"/>
              <a:buChar char="•"/>
            </a:pPr>
            <a:r>
              <a:rPr lang="en-US" sz="1600" dirty="0">
                <a:solidFill>
                  <a:srgbClr val="1F2933"/>
                </a:solidFill>
                <a:latin typeface="Calibri" pitchFamily="34" charset="0"/>
                <a:ea typeface="Calibri" pitchFamily="34" charset="-122"/>
                <a:cs typeface="Calibri" pitchFamily="34" charset="-120"/>
              </a:rPr>
              <a:t>The original ProtoBias paper is ENGLISH-ONLY and studies evaluation metrics.</a:t>
            </a:r>
            <a:endParaRPr lang="en-US" sz="1600" dirty="0"/>
          </a:p>
          <a:p>
            <a:pPr marL="228600" indent="-228600">
              <a:spcAft>
                <a:spcPts val="1000"/>
              </a:spcAft>
              <a:buSzPct val="100000"/>
              <a:buChar char="•"/>
            </a:pPr>
            <a:r>
              <a:rPr lang="en-US" sz="1600" b="1" dirty="0">
                <a:solidFill>
                  <a:srgbClr val="1F2933"/>
                </a:solidFill>
                <a:latin typeface="Calibri" pitchFamily="34" charset="0"/>
                <a:ea typeface="Calibri" pitchFamily="34" charset="-122"/>
                <a:cs typeface="Calibri" pitchFamily="34" charset="-120"/>
              </a:rPr>
              <a:t>Our project has</a:t>
            </a:r>
            <a:r>
              <a:rPr lang="zh-CN" altLang="en-US" sz="1600" b="1" dirty="0">
                <a:solidFill>
                  <a:srgbClr val="1F2933"/>
                </a:solidFill>
                <a:latin typeface="Calibri" pitchFamily="34" charset="0"/>
                <a:ea typeface="Calibri" pitchFamily="34" charset="-122"/>
                <a:cs typeface="Calibri" pitchFamily="34" charset="-120"/>
              </a:rPr>
              <a:t> </a:t>
            </a:r>
            <a:r>
              <a:rPr lang="en-US" sz="1600" b="1" dirty="0">
                <a:solidFill>
                  <a:srgbClr val="1F2933"/>
                </a:solidFill>
                <a:latin typeface="Calibri" pitchFamily="34" charset="0"/>
                <a:ea typeface="Calibri" pitchFamily="34" charset="-122"/>
                <a:cs typeface="Calibri" pitchFamily="34" charset="-120"/>
              </a:rPr>
              <a:t>two questions to answer —</a:t>
            </a:r>
            <a:endParaRPr lang="en-US" sz="1600" dirty="0"/>
          </a:p>
          <a:p>
            <a:pPr marL="685800" lvl="1" indent="-228600">
              <a:spcAft>
                <a:spcPts val="1000"/>
              </a:spcAft>
              <a:buSzPct val="100000"/>
              <a:buChar char="•"/>
            </a:pPr>
            <a:r>
              <a:rPr lang="en-US" sz="1600" b="1" dirty="0">
                <a:solidFill>
                  <a:srgbClr val="C44E52"/>
                </a:solidFill>
                <a:latin typeface="Calibri" pitchFamily="34" charset="0"/>
                <a:ea typeface="Calibri" pitchFamily="34" charset="-122"/>
                <a:cs typeface="Calibri" pitchFamily="34" charset="-120"/>
              </a:rPr>
              <a:t>RQ1 · Cross-lingual:  </a:t>
            </a:r>
            <a:r>
              <a:rPr lang="en-US" sz="1600" dirty="0">
                <a:solidFill>
                  <a:srgbClr val="1F2933"/>
                </a:solidFill>
                <a:latin typeface="Calibri" pitchFamily="34" charset="0"/>
                <a:ea typeface="Calibri" pitchFamily="34" charset="-122"/>
                <a:cs typeface="Calibri" pitchFamily="34" charset="-120"/>
              </a:rPr>
              <a:t>Does prototypicality bias persist — or worsen — across languages, incl. low-resource ones (en/zh/ar/hi)?</a:t>
            </a:r>
            <a:endParaRPr lang="en-US" sz="1600" dirty="0"/>
          </a:p>
          <a:p>
            <a:pPr marL="685800" lvl="1" indent="-228600">
              <a:spcAft>
                <a:spcPts val="1000"/>
              </a:spcAft>
              <a:buSzPct val="100000"/>
              <a:buChar char="•"/>
            </a:pPr>
            <a:r>
              <a:rPr lang="en-US" sz="1600" b="1" dirty="0">
                <a:solidFill>
                  <a:srgbClr val="C44E52"/>
                </a:solidFill>
                <a:latin typeface="Calibri" pitchFamily="34" charset="0"/>
                <a:ea typeface="Calibri" pitchFamily="34" charset="-122"/>
                <a:cs typeface="Calibri" pitchFamily="34" charset="-120"/>
              </a:rPr>
              <a:t>RQ2 · Sensitive contexts:  </a:t>
            </a:r>
            <a:r>
              <a:rPr lang="en-US" sz="1600" dirty="0">
                <a:solidFill>
                  <a:srgbClr val="1F2933"/>
                </a:solidFill>
                <a:latin typeface="Calibri" pitchFamily="34" charset="0"/>
                <a:ea typeface="Calibri" pitchFamily="34" charset="-122"/>
                <a:cs typeface="Calibri" pitchFamily="34" charset="-120"/>
              </a:rPr>
              <a:t>Is the bias stronger for socially sensitive attributes (wealth, power) than for neutral domains (animals, objects)?</a:t>
            </a:r>
            <a:endParaRPr lang="en-US" sz="1600" dirty="0"/>
          </a:p>
        </p:txBody>
      </p:sp>
      <p:sp>
        <p:nvSpPr>
          <p:cNvPr id="8" name="Shape 6"/>
          <p:cNvSpPr/>
          <p:nvPr/>
        </p:nvSpPr>
        <p:spPr>
          <a:xfrm>
            <a:off x="402547" y="4297680"/>
            <a:ext cx="2468880" cy="1005840"/>
          </a:xfrm>
          <a:prstGeom prst="rect">
            <a:avLst/>
          </a:prstGeom>
          <a:solidFill>
            <a:srgbClr val="F4F5F7"/>
          </a:solidFill>
          <a:ln/>
        </p:spPr>
        <p:txBody>
          <a:bodyPr/>
          <a:lstStyle/>
          <a:p>
            <a:endParaRPr lang="zh-CN" altLang="en-US"/>
          </a:p>
        </p:txBody>
      </p:sp>
      <p:sp>
        <p:nvSpPr>
          <p:cNvPr id="9" name="Text 7"/>
          <p:cNvSpPr/>
          <p:nvPr/>
        </p:nvSpPr>
        <p:spPr>
          <a:xfrm>
            <a:off x="539707" y="4462272"/>
            <a:ext cx="2194560" cy="731520"/>
          </a:xfrm>
          <a:prstGeom prst="rect">
            <a:avLst/>
          </a:prstGeom>
          <a:noFill/>
          <a:ln/>
        </p:spPr>
        <p:txBody>
          <a:bodyPr wrap="square" rtlCol="0" anchor="ctr"/>
          <a:lstStyle/>
          <a:p>
            <a:pPr marL="0" indent="0" algn="ctr">
              <a:buNone/>
            </a:pPr>
            <a:r>
              <a:rPr lang="en-US" sz="1400" b="1" dirty="0">
                <a:solidFill>
                  <a:srgbClr val="1F2933"/>
                </a:solidFill>
                <a:latin typeface="Calibri" pitchFamily="34" charset="0"/>
                <a:ea typeface="Calibri" pitchFamily="34" charset="-122"/>
                <a:cs typeface="Calibri" pitchFamily="34" charset="-120"/>
              </a:rPr>
              <a:t>Image pair</a:t>
            </a:r>
            <a:endParaRPr lang="en-US" sz="1400" dirty="0"/>
          </a:p>
          <a:p>
            <a:pPr marL="0" indent="0" algn="ctr">
              <a:buNone/>
            </a:pPr>
            <a:r>
              <a:rPr lang="en-US" sz="1100" dirty="0">
                <a:solidFill>
                  <a:srgbClr val="7B8794"/>
                </a:solidFill>
                <a:latin typeface="Calibri" pitchFamily="34" charset="0"/>
                <a:ea typeface="Calibri" pitchFamily="34" charset="-122"/>
                <a:cs typeface="Calibri" pitchFamily="34" charset="-120"/>
              </a:rPr>
              <a:t>SC vs PA</a:t>
            </a:r>
            <a:endParaRPr lang="en-US" sz="1400" dirty="0"/>
          </a:p>
        </p:txBody>
      </p:sp>
      <p:sp>
        <p:nvSpPr>
          <p:cNvPr id="10" name="Text 8"/>
          <p:cNvSpPr/>
          <p:nvPr/>
        </p:nvSpPr>
        <p:spPr>
          <a:xfrm>
            <a:off x="2898859" y="4297680"/>
            <a:ext cx="502920" cy="1005840"/>
          </a:xfrm>
          <a:prstGeom prst="rect">
            <a:avLst/>
          </a:prstGeom>
          <a:noFill/>
          <a:ln/>
        </p:spPr>
        <p:txBody>
          <a:bodyPr wrap="square" lIns="0" tIns="0" rIns="0" bIns="0" rtlCol="0" anchor="ctr"/>
          <a:lstStyle/>
          <a:p>
            <a:pPr marL="0" indent="0" algn="ctr">
              <a:buNone/>
            </a:pPr>
            <a:r>
              <a:rPr lang="en-US" sz="2600" dirty="0">
                <a:solidFill>
                  <a:srgbClr val="7B8794"/>
                </a:solidFill>
                <a:latin typeface="Georgia" pitchFamily="34" charset="0"/>
                <a:ea typeface="Georgia" pitchFamily="34" charset="-122"/>
                <a:cs typeface="Georgia" pitchFamily="34" charset="-120"/>
              </a:rPr>
              <a:t>›</a:t>
            </a:r>
            <a:endParaRPr lang="en-US" sz="2600" dirty="0"/>
          </a:p>
        </p:txBody>
      </p:sp>
      <p:sp>
        <p:nvSpPr>
          <p:cNvPr id="11" name="Shape 9"/>
          <p:cNvSpPr/>
          <p:nvPr/>
        </p:nvSpPr>
        <p:spPr>
          <a:xfrm>
            <a:off x="3374347" y="4297680"/>
            <a:ext cx="2468880" cy="1005840"/>
          </a:xfrm>
          <a:prstGeom prst="rect">
            <a:avLst/>
          </a:prstGeom>
          <a:solidFill>
            <a:srgbClr val="F4F5F7"/>
          </a:solidFill>
          <a:ln/>
        </p:spPr>
        <p:txBody>
          <a:bodyPr/>
          <a:lstStyle/>
          <a:p>
            <a:endParaRPr lang="zh-CN" altLang="en-US"/>
          </a:p>
        </p:txBody>
      </p:sp>
      <p:sp>
        <p:nvSpPr>
          <p:cNvPr id="12" name="Text 10"/>
          <p:cNvSpPr/>
          <p:nvPr/>
        </p:nvSpPr>
        <p:spPr>
          <a:xfrm>
            <a:off x="3511507" y="4462272"/>
            <a:ext cx="2194560" cy="731520"/>
          </a:xfrm>
          <a:prstGeom prst="rect">
            <a:avLst/>
          </a:prstGeom>
          <a:noFill/>
          <a:ln/>
        </p:spPr>
        <p:txBody>
          <a:bodyPr wrap="square" rtlCol="0" anchor="ctr"/>
          <a:lstStyle/>
          <a:p>
            <a:pPr marL="0" indent="0" algn="ctr">
              <a:buNone/>
            </a:pPr>
            <a:r>
              <a:rPr lang="en-US" sz="1400" b="1" dirty="0">
                <a:solidFill>
                  <a:srgbClr val="1F2933"/>
                </a:solidFill>
                <a:latin typeface="Calibri" pitchFamily="34" charset="0"/>
                <a:ea typeface="Calibri" pitchFamily="34" charset="-122"/>
                <a:cs typeface="Calibri" pitchFamily="34" charset="-120"/>
              </a:rPr>
              <a:t>Prompt in language L</a:t>
            </a:r>
            <a:endParaRPr lang="en-US" sz="1400" dirty="0"/>
          </a:p>
          <a:p>
            <a:pPr marL="0" indent="0" algn="ctr">
              <a:buNone/>
            </a:pPr>
            <a:r>
              <a:rPr lang="en-US" sz="1100" dirty="0">
                <a:solidFill>
                  <a:srgbClr val="7B8794"/>
                </a:solidFill>
                <a:latin typeface="Calibri" pitchFamily="34" charset="0"/>
                <a:ea typeface="Calibri" pitchFamily="34" charset="-122"/>
                <a:cs typeface="Calibri" pitchFamily="34" charset="-120"/>
              </a:rPr>
              <a:t>en / zh / ar / hi</a:t>
            </a:r>
            <a:endParaRPr lang="en-US" sz="1400" dirty="0"/>
          </a:p>
        </p:txBody>
      </p:sp>
      <p:sp>
        <p:nvSpPr>
          <p:cNvPr id="13" name="Text 11"/>
          <p:cNvSpPr/>
          <p:nvPr/>
        </p:nvSpPr>
        <p:spPr>
          <a:xfrm>
            <a:off x="5870659" y="4297680"/>
            <a:ext cx="502920" cy="1005840"/>
          </a:xfrm>
          <a:prstGeom prst="rect">
            <a:avLst/>
          </a:prstGeom>
          <a:noFill/>
          <a:ln/>
        </p:spPr>
        <p:txBody>
          <a:bodyPr wrap="square" lIns="0" tIns="0" rIns="0" bIns="0" rtlCol="0" anchor="ctr"/>
          <a:lstStyle/>
          <a:p>
            <a:pPr marL="0" indent="0" algn="ctr">
              <a:buNone/>
            </a:pPr>
            <a:r>
              <a:rPr lang="en-US" sz="2600" dirty="0">
                <a:solidFill>
                  <a:srgbClr val="7B8794"/>
                </a:solidFill>
                <a:latin typeface="Georgia" pitchFamily="34" charset="0"/>
                <a:ea typeface="Georgia" pitchFamily="34" charset="-122"/>
                <a:cs typeface="Georgia" pitchFamily="34" charset="-120"/>
              </a:rPr>
              <a:t>›</a:t>
            </a:r>
            <a:endParaRPr lang="en-US" sz="2600" dirty="0"/>
          </a:p>
        </p:txBody>
      </p:sp>
      <p:sp>
        <p:nvSpPr>
          <p:cNvPr id="14" name="Shape 12"/>
          <p:cNvSpPr/>
          <p:nvPr/>
        </p:nvSpPr>
        <p:spPr>
          <a:xfrm>
            <a:off x="6346147" y="4297680"/>
            <a:ext cx="2468880" cy="1005840"/>
          </a:xfrm>
          <a:prstGeom prst="rect">
            <a:avLst/>
          </a:prstGeom>
          <a:solidFill>
            <a:srgbClr val="F4F5F7"/>
          </a:solidFill>
          <a:ln/>
        </p:spPr>
        <p:txBody>
          <a:bodyPr/>
          <a:lstStyle/>
          <a:p>
            <a:endParaRPr lang="zh-CN" altLang="en-US"/>
          </a:p>
        </p:txBody>
      </p:sp>
      <p:sp>
        <p:nvSpPr>
          <p:cNvPr id="15" name="Text 13"/>
          <p:cNvSpPr/>
          <p:nvPr/>
        </p:nvSpPr>
        <p:spPr>
          <a:xfrm>
            <a:off x="6483307" y="4462272"/>
            <a:ext cx="2194560" cy="731520"/>
          </a:xfrm>
          <a:prstGeom prst="rect">
            <a:avLst/>
          </a:prstGeom>
          <a:noFill/>
          <a:ln/>
        </p:spPr>
        <p:txBody>
          <a:bodyPr wrap="square" rtlCol="0" anchor="ctr"/>
          <a:lstStyle/>
          <a:p>
            <a:pPr marL="0" indent="0" algn="ctr">
              <a:buNone/>
            </a:pPr>
            <a:r>
              <a:rPr lang="en-US" sz="1400" b="1" dirty="0">
                <a:solidFill>
                  <a:srgbClr val="1F2933"/>
                </a:solidFill>
                <a:latin typeface="Calibri" pitchFamily="34" charset="0"/>
                <a:ea typeface="Calibri" pitchFamily="34" charset="-122"/>
                <a:cs typeface="Calibri" pitchFamily="34" charset="-120"/>
              </a:rPr>
              <a:t>Qwen2.5-VL-7B judge</a:t>
            </a:r>
            <a:endParaRPr lang="en-US" sz="1400" dirty="0"/>
          </a:p>
          <a:p>
            <a:pPr marL="0" indent="0" algn="ctr">
              <a:buNone/>
            </a:pPr>
            <a:r>
              <a:rPr lang="en-US" sz="1100" dirty="0">
                <a:solidFill>
                  <a:srgbClr val="7B8794"/>
                </a:solidFill>
                <a:latin typeface="Calibri" pitchFamily="34" charset="0"/>
                <a:ea typeface="Calibri" pitchFamily="34" charset="-122"/>
                <a:cs typeface="Calibri" pitchFamily="34" charset="-120"/>
              </a:rPr>
              <a:t>2-AFC choice</a:t>
            </a:r>
            <a:endParaRPr lang="en-US" sz="1400" dirty="0"/>
          </a:p>
        </p:txBody>
      </p:sp>
      <p:sp>
        <p:nvSpPr>
          <p:cNvPr id="16" name="Text 14"/>
          <p:cNvSpPr/>
          <p:nvPr/>
        </p:nvSpPr>
        <p:spPr>
          <a:xfrm>
            <a:off x="8842459" y="4297680"/>
            <a:ext cx="502920" cy="1005840"/>
          </a:xfrm>
          <a:prstGeom prst="rect">
            <a:avLst/>
          </a:prstGeom>
          <a:noFill/>
          <a:ln/>
        </p:spPr>
        <p:txBody>
          <a:bodyPr wrap="square" lIns="0" tIns="0" rIns="0" bIns="0" rtlCol="0" anchor="ctr"/>
          <a:lstStyle/>
          <a:p>
            <a:pPr marL="0" indent="0" algn="ctr">
              <a:buNone/>
            </a:pPr>
            <a:r>
              <a:rPr lang="en-US" sz="2600" dirty="0">
                <a:solidFill>
                  <a:srgbClr val="7B8794"/>
                </a:solidFill>
                <a:latin typeface="Georgia" pitchFamily="34" charset="0"/>
                <a:ea typeface="Georgia" pitchFamily="34" charset="-122"/>
                <a:cs typeface="Georgia" pitchFamily="34" charset="-120"/>
              </a:rPr>
              <a:t>›</a:t>
            </a:r>
            <a:endParaRPr lang="en-US" sz="2600" dirty="0"/>
          </a:p>
        </p:txBody>
      </p:sp>
      <p:sp>
        <p:nvSpPr>
          <p:cNvPr id="17" name="Shape 15"/>
          <p:cNvSpPr/>
          <p:nvPr/>
        </p:nvSpPr>
        <p:spPr>
          <a:xfrm>
            <a:off x="9317947" y="4297680"/>
            <a:ext cx="2468880" cy="1005840"/>
          </a:xfrm>
          <a:prstGeom prst="rect">
            <a:avLst/>
          </a:prstGeom>
          <a:solidFill>
            <a:srgbClr val="C44E52"/>
          </a:solidFill>
          <a:ln/>
        </p:spPr>
        <p:txBody>
          <a:bodyPr/>
          <a:lstStyle/>
          <a:p>
            <a:endParaRPr lang="zh-CN" altLang="en-US"/>
          </a:p>
        </p:txBody>
      </p:sp>
      <p:sp>
        <p:nvSpPr>
          <p:cNvPr id="18" name="Text 16"/>
          <p:cNvSpPr/>
          <p:nvPr/>
        </p:nvSpPr>
        <p:spPr>
          <a:xfrm>
            <a:off x="9455107" y="4462272"/>
            <a:ext cx="2194560" cy="7315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Pick 1 or 2</a:t>
            </a:r>
            <a:endParaRPr lang="en-US" sz="1400" dirty="0"/>
          </a:p>
          <a:p>
            <a:pPr marL="0" indent="0" algn="ctr">
              <a:buNone/>
            </a:pPr>
            <a:r>
              <a:rPr lang="en-US" sz="1100" dirty="0">
                <a:solidFill>
                  <a:srgbClr val="FFE3E3"/>
                </a:solidFill>
                <a:latin typeface="Calibri" pitchFamily="34" charset="0"/>
                <a:ea typeface="Calibri" pitchFamily="34" charset="-122"/>
                <a:cs typeface="Calibri" pitchFamily="34" charset="-120"/>
              </a:rPr>
              <a:t>PA = bias</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40080" y="6473952"/>
            <a:ext cx="8229600" cy="274320"/>
          </a:xfrm>
          <a:prstGeom prst="rect">
            <a:avLst/>
          </a:prstGeom>
          <a:noFill/>
          <a:ln/>
        </p:spPr>
        <p:txBody>
          <a:bodyPr wrap="square" lIns="0" tIns="0" rIns="0" bIns="0" rtlCol="0" anchor="ctr"/>
          <a:lstStyle/>
          <a:p>
            <a:pPr marL="0" indent="0">
              <a:buNone/>
            </a:pPr>
            <a:r>
              <a:rPr lang="en-US" sz="900" dirty="0">
                <a:solidFill>
                  <a:srgbClr val="7B8794"/>
                </a:solidFill>
                <a:latin typeface="Calibri" pitchFamily="34" charset="0"/>
                <a:ea typeface="Calibri" pitchFamily="34" charset="-122"/>
                <a:cs typeface="Calibri" pitchFamily="34" charset="-120"/>
              </a:rPr>
              <a:t>Multilingual Prototypicality Bias  ·  Progress Report</a:t>
            </a:r>
            <a:endParaRPr lang="en-US" sz="900" dirty="0"/>
          </a:p>
        </p:txBody>
      </p:sp>
      <p:sp>
        <p:nvSpPr>
          <p:cNvPr id="3" name="Text 1"/>
          <p:cNvSpPr/>
          <p:nvPr/>
        </p:nvSpPr>
        <p:spPr>
          <a:xfrm>
            <a:off x="11183112" y="6473952"/>
            <a:ext cx="457200" cy="274320"/>
          </a:xfrm>
          <a:prstGeom prst="rect">
            <a:avLst/>
          </a:prstGeom>
          <a:noFill/>
          <a:ln/>
        </p:spPr>
        <p:txBody>
          <a:bodyPr wrap="square" lIns="0" tIns="0" rIns="0" bIns="0" rtlCol="0" anchor="ctr"/>
          <a:lstStyle/>
          <a:p>
            <a:pPr marL="0" indent="0" algn="r">
              <a:buNone/>
            </a:pPr>
            <a:r>
              <a:rPr lang="en-US" sz="900" dirty="0">
                <a:solidFill>
                  <a:srgbClr val="7B8794"/>
                </a:solidFill>
                <a:latin typeface="Calibri" pitchFamily="34" charset="0"/>
                <a:ea typeface="Calibri" pitchFamily="34" charset="-122"/>
                <a:cs typeface="Calibri" pitchFamily="34" charset="-120"/>
              </a:rPr>
              <a:t>4</a:t>
            </a:r>
            <a:endParaRPr lang="en-US" sz="900" dirty="0"/>
          </a:p>
        </p:txBody>
      </p:sp>
      <p:sp>
        <p:nvSpPr>
          <p:cNvPr id="4" name="Shape 2"/>
          <p:cNvSpPr/>
          <p:nvPr/>
        </p:nvSpPr>
        <p:spPr>
          <a:xfrm>
            <a:off x="640080" y="566928"/>
            <a:ext cx="146304" cy="146304"/>
          </a:xfrm>
          <a:prstGeom prst="rect">
            <a:avLst/>
          </a:prstGeom>
          <a:solidFill>
            <a:srgbClr val="C44E52"/>
          </a:solidFill>
          <a:ln/>
        </p:spPr>
        <p:txBody>
          <a:bodyPr/>
          <a:lstStyle/>
          <a:p>
            <a:endParaRPr lang="zh-CN" altLang="en-US"/>
          </a:p>
        </p:txBody>
      </p:sp>
      <p:sp>
        <p:nvSpPr>
          <p:cNvPr id="5" name="Text 3"/>
          <p:cNvSpPr/>
          <p:nvPr/>
        </p:nvSpPr>
        <p:spPr>
          <a:xfrm>
            <a:off x="932688" y="509750"/>
            <a:ext cx="10908792" cy="274320"/>
          </a:xfrm>
          <a:prstGeom prst="rect">
            <a:avLst/>
          </a:prstGeom>
          <a:noFill/>
          <a:ln/>
        </p:spPr>
        <p:txBody>
          <a:bodyPr wrap="square" lIns="0" tIns="0" rIns="0" bIns="0" rtlCol="0" anchor="ctr"/>
          <a:lstStyle/>
          <a:p>
            <a:pPr marL="0" indent="0">
              <a:buNone/>
            </a:pPr>
            <a:r>
              <a:rPr lang="en-US" sz="1100" b="1" kern="0" spc="200" dirty="0">
                <a:solidFill>
                  <a:srgbClr val="C44E52"/>
                </a:solidFill>
                <a:latin typeface="Calibri" pitchFamily="34" charset="0"/>
                <a:ea typeface="Calibri" pitchFamily="34" charset="-122"/>
                <a:cs typeface="Calibri" pitchFamily="34" charset="-120"/>
              </a:rPr>
              <a:t>RELATED WORK  1 / 2</a:t>
            </a:r>
            <a:endParaRPr lang="en-US" sz="1100" dirty="0"/>
          </a:p>
        </p:txBody>
      </p:sp>
      <p:sp>
        <p:nvSpPr>
          <p:cNvPr id="6" name="Text 4"/>
          <p:cNvSpPr/>
          <p:nvPr/>
        </p:nvSpPr>
        <p:spPr>
          <a:xfrm>
            <a:off x="640080" y="749808"/>
            <a:ext cx="10908792" cy="822960"/>
          </a:xfrm>
          <a:prstGeom prst="rect">
            <a:avLst/>
          </a:prstGeom>
          <a:noFill/>
          <a:ln/>
        </p:spPr>
        <p:txBody>
          <a:bodyPr wrap="square" lIns="0" tIns="0" rIns="0" bIns="0" rtlCol="0" anchor="ctr"/>
          <a:lstStyle/>
          <a:p>
            <a:pPr marL="0" indent="0">
              <a:buNone/>
            </a:pPr>
            <a:r>
              <a:rPr lang="en-US" sz="3000" b="1" dirty="0">
                <a:solidFill>
                  <a:srgbClr val="1F2933"/>
                </a:solidFill>
                <a:latin typeface="Georgia" pitchFamily="34" charset="0"/>
                <a:ea typeface="Georgia" pitchFamily="34" charset="-122"/>
                <a:cs typeface="Georgia" pitchFamily="34" charset="-120"/>
              </a:rPr>
              <a:t>Bias in judges &amp; in measurement</a:t>
            </a:r>
            <a:endParaRPr lang="en-US" sz="3000" dirty="0"/>
          </a:p>
        </p:txBody>
      </p:sp>
      <p:sp>
        <p:nvSpPr>
          <p:cNvPr id="7" name="Shape 5"/>
          <p:cNvSpPr/>
          <p:nvPr/>
        </p:nvSpPr>
        <p:spPr>
          <a:xfrm>
            <a:off x="640080" y="1920240"/>
            <a:ext cx="5394960" cy="3931920"/>
          </a:xfrm>
          <a:prstGeom prst="rect">
            <a:avLst/>
          </a:prstGeom>
          <a:solidFill>
            <a:srgbClr val="F4F5F7"/>
          </a:solidFill>
          <a:ln/>
        </p:spPr>
        <p:txBody>
          <a:bodyPr/>
          <a:lstStyle/>
          <a:p>
            <a:endParaRPr lang="zh-CN" altLang="en-US"/>
          </a:p>
        </p:txBody>
      </p:sp>
      <p:sp>
        <p:nvSpPr>
          <p:cNvPr id="8" name="Shape 6"/>
          <p:cNvSpPr/>
          <p:nvPr/>
        </p:nvSpPr>
        <p:spPr>
          <a:xfrm>
            <a:off x="640080" y="1920240"/>
            <a:ext cx="109728" cy="3931920"/>
          </a:xfrm>
          <a:prstGeom prst="rect">
            <a:avLst/>
          </a:prstGeom>
          <a:solidFill>
            <a:srgbClr val="C44E52"/>
          </a:solidFill>
          <a:ln/>
        </p:spPr>
        <p:txBody>
          <a:bodyPr/>
          <a:lstStyle/>
          <a:p>
            <a:endParaRPr lang="zh-CN" altLang="en-US"/>
          </a:p>
        </p:txBody>
      </p:sp>
      <p:sp>
        <p:nvSpPr>
          <p:cNvPr id="9" name="Text 7"/>
          <p:cNvSpPr/>
          <p:nvPr/>
        </p:nvSpPr>
        <p:spPr>
          <a:xfrm>
            <a:off x="914400" y="2103120"/>
            <a:ext cx="4937760" cy="274320"/>
          </a:xfrm>
          <a:prstGeom prst="rect">
            <a:avLst/>
          </a:prstGeom>
          <a:noFill/>
          <a:ln/>
        </p:spPr>
        <p:txBody>
          <a:bodyPr wrap="square" lIns="0" tIns="0" rIns="0" bIns="0" rtlCol="0" anchor="ctr"/>
          <a:lstStyle/>
          <a:p>
            <a:pPr marL="0" indent="0">
              <a:buNone/>
            </a:pPr>
            <a:r>
              <a:rPr lang="en-US" sz="1000" b="1" kern="0" spc="100" dirty="0">
                <a:solidFill>
                  <a:srgbClr val="C44E52"/>
                </a:solidFill>
                <a:latin typeface="Calibri" pitchFamily="34" charset="0"/>
                <a:ea typeface="Calibri" pitchFamily="34" charset="-122"/>
                <a:cs typeface="Calibri" pitchFamily="34" charset="-120"/>
              </a:rPr>
              <a:t>CHEN ET AL., 2024 · EMNLP</a:t>
            </a:r>
            <a:endParaRPr lang="en-US" sz="1000" dirty="0"/>
          </a:p>
        </p:txBody>
      </p:sp>
      <p:sp>
        <p:nvSpPr>
          <p:cNvPr id="10" name="Text 8"/>
          <p:cNvSpPr/>
          <p:nvPr/>
        </p:nvSpPr>
        <p:spPr>
          <a:xfrm>
            <a:off x="914400" y="2377440"/>
            <a:ext cx="4937760" cy="731520"/>
          </a:xfrm>
          <a:prstGeom prst="rect">
            <a:avLst/>
          </a:prstGeom>
          <a:noFill/>
          <a:ln/>
        </p:spPr>
        <p:txBody>
          <a:bodyPr wrap="square" lIns="0" tIns="0" rIns="0" bIns="0" rtlCol="0" anchor="ctr"/>
          <a:lstStyle/>
          <a:p>
            <a:pPr marL="0" indent="0">
              <a:buNone/>
            </a:pPr>
            <a:r>
              <a:rPr lang="en-US" sz="1600" b="1" dirty="0">
                <a:solidFill>
                  <a:srgbClr val="1F2933"/>
                </a:solidFill>
                <a:latin typeface="Georgia" pitchFamily="34" charset="0"/>
                <a:ea typeface="Georgia" pitchFamily="34" charset="-122"/>
                <a:cs typeface="Georgia" pitchFamily="34" charset="-120"/>
              </a:rPr>
              <a:t>Humans or LLMs as the Judge?</a:t>
            </a:r>
            <a:endParaRPr lang="en-US" sz="1600" dirty="0"/>
          </a:p>
        </p:txBody>
      </p:sp>
      <p:sp>
        <p:nvSpPr>
          <p:cNvPr id="11" name="Text 9"/>
          <p:cNvSpPr/>
          <p:nvPr/>
        </p:nvSpPr>
        <p:spPr>
          <a:xfrm>
            <a:off x="914400" y="3063240"/>
            <a:ext cx="4937760" cy="274320"/>
          </a:xfrm>
          <a:prstGeom prst="rect">
            <a:avLst/>
          </a:prstGeom>
          <a:noFill/>
          <a:ln/>
        </p:spPr>
        <p:txBody>
          <a:bodyPr wrap="square" lIns="0" tIns="0" rIns="0" bIns="0" rtlCol="0" anchor="ctr"/>
          <a:lstStyle/>
          <a:p>
            <a:pPr marL="0" indent="0">
              <a:buNone/>
            </a:pPr>
            <a:r>
              <a:rPr lang="en-US" sz="1100" i="1" dirty="0">
                <a:solidFill>
                  <a:srgbClr val="7B8794"/>
                </a:solidFill>
                <a:latin typeface="Calibri" pitchFamily="34" charset="0"/>
                <a:ea typeface="Calibri" pitchFamily="34" charset="-122"/>
                <a:cs typeface="Calibri" pitchFamily="34" charset="-120"/>
              </a:rPr>
              <a:t>A Study on Judgement Bias</a:t>
            </a:r>
            <a:endParaRPr lang="en-US" sz="1100" dirty="0"/>
          </a:p>
        </p:txBody>
      </p:sp>
      <p:sp>
        <p:nvSpPr>
          <p:cNvPr id="12" name="Text 10"/>
          <p:cNvSpPr/>
          <p:nvPr/>
        </p:nvSpPr>
        <p:spPr>
          <a:xfrm>
            <a:off x="914400" y="3429000"/>
            <a:ext cx="4937760" cy="2286000"/>
          </a:xfrm>
          <a:prstGeom prst="rect">
            <a:avLst/>
          </a:prstGeom>
          <a:noFill/>
          <a:ln/>
        </p:spPr>
        <p:txBody>
          <a:bodyPr wrap="square" lIns="0" tIns="0" rIns="0" bIns="0" rtlCol="0" anchor="t"/>
          <a:lstStyle/>
          <a:p>
            <a:pPr marL="0" indent="0">
              <a:buNone/>
            </a:pPr>
            <a:r>
              <a:rPr lang="en-US" sz="1300" b="1" dirty="0">
                <a:solidFill>
                  <a:srgbClr val="C44E52"/>
                </a:solidFill>
                <a:latin typeface="Calibri" pitchFamily="34" charset="0"/>
                <a:ea typeface="Calibri" pitchFamily="34" charset="-122"/>
                <a:cs typeface="Calibri" pitchFamily="34" charset="-120"/>
              </a:rPr>
              <a:t>→ </a:t>
            </a:r>
            <a:r>
              <a:rPr lang="en-US" sz="1300" dirty="0">
                <a:solidFill>
                  <a:srgbClr val="1F2933"/>
                </a:solidFill>
                <a:latin typeface="Calibri" pitchFamily="34" charset="0"/>
                <a:ea typeface="Calibri" pitchFamily="34" charset="-122"/>
                <a:cs typeface="Calibri" pitchFamily="34" charset="-120"/>
              </a:rPr>
              <a:t>LLM-as-judge carries its own biases (gender, authority, beauty). We use an MLLM as judge — its biases are exactly what we must watch.</a:t>
            </a:r>
            <a:endParaRPr lang="en-US" sz="1300" dirty="0"/>
          </a:p>
        </p:txBody>
      </p:sp>
      <p:sp>
        <p:nvSpPr>
          <p:cNvPr id="13" name="Shape 11"/>
          <p:cNvSpPr/>
          <p:nvPr/>
        </p:nvSpPr>
        <p:spPr>
          <a:xfrm>
            <a:off x="6263640" y="1920240"/>
            <a:ext cx="5394960" cy="3931920"/>
          </a:xfrm>
          <a:prstGeom prst="rect">
            <a:avLst/>
          </a:prstGeom>
          <a:solidFill>
            <a:srgbClr val="F4F5F7"/>
          </a:solidFill>
          <a:ln/>
        </p:spPr>
        <p:txBody>
          <a:bodyPr/>
          <a:lstStyle/>
          <a:p>
            <a:endParaRPr lang="zh-CN" altLang="en-US"/>
          </a:p>
        </p:txBody>
      </p:sp>
      <p:sp>
        <p:nvSpPr>
          <p:cNvPr id="14" name="Shape 12"/>
          <p:cNvSpPr/>
          <p:nvPr/>
        </p:nvSpPr>
        <p:spPr>
          <a:xfrm>
            <a:off x="6263640" y="1920240"/>
            <a:ext cx="109728" cy="3931920"/>
          </a:xfrm>
          <a:prstGeom prst="rect">
            <a:avLst/>
          </a:prstGeom>
          <a:solidFill>
            <a:srgbClr val="C44E52"/>
          </a:solidFill>
          <a:ln/>
        </p:spPr>
        <p:txBody>
          <a:bodyPr/>
          <a:lstStyle/>
          <a:p>
            <a:endParaRPr lang="zh-CN" altLang="en-US"/>
          </a:p>
        </p:txBody>
      </p:sp>
      <p:sp>
        <p:nvSpPr>
          <p:cNvPr id="15" name="Text 13"/>
          <p:cNvSpPr/>
          <p:nvPr/>
        </p:nvSpPr>
        <p:spPr>
          <a:xfrm>
            <a:off x="6537960" y="2103120"/>
            <a:ext cx="4937760" cy="274320"/>
          </a:xfrm>
          <a:prstGeom prst="rect">
            <a:avLst/>
          </a:prstGeom>
          <a:noFill/>
          <a:ln/>
        </p:spPr>
        <p:txBody>
          <a:bodyPr wrap="square" lIns="0" tIns="0" rIns="0" bIns="0" rtlCol="0" anchor="ctr"/>
          <a:lstStyle/>
          <a:p>
            <a:pPr marL="0" indent="0">
              <a:buNone/>
            </a:pPr>
            <a:r>
              <a:rPr lang="en-US" sz="1000" b="1" kern="0" spc="100" dirty="0">
                <a:solidFill>
                  <a:srgbClr val="C44E52"/>
                </a:solidFill>
                <a:latin typeface="Calibri" pitchFamily="34" charset="0"/>
                <a:ea typeface="Calibri" pitchFamily="34" charset="-122"/>
                <a:cs typeface="Calibri" pitchFamily="34" charset="-120"/>
              </a:rPr>
              <a:t>AKYUREK ET AL., 2022 · GEBNLP</a:t>
            </a:r>
            <a:endParaRPr lang="en-US" sz="1000" dirty="0"/>
          </a:p>
        </p:txBody>
      </p:sp>
      <p:sp>
        <p:nvSpPr>
          <p:cNvPr id="16" name="Text 14"/>
          <p:cNvSpPr/>
          <p:nvPr/>
        </p:nvSpPr>
        <p:spPr>
          <a:xfrm>
            <a:off x="6537960" y="2377440"/>
            <a:ext cx="4937760" cy="731520"/>
          </a:xfrm>
          <a:prstGeom prst="rect">
            <a:avLst/>
          </a:prstGeom>
          <a:noFill/>
          <a:ln/>
        </p:spPr>
        <p:txBody>
          <a:bodyPr wrap="square" lIns="0" tIns="0" rIns="0" bIns="0" rtlCol="0" anchor="ctr"/>
          <a:lstStyle/>
          <a:p>
            <a:pPr marL="0" indent="0">
              <a:buNone/>
            </a:pPr>
            <a:r>
              <a:rPr lang="en-US" sz="1600" b="1" dirty="0">
                <a:solidFill>
                  <a:srgbClr val="1F2933"/>
                </a:solidFill>
                <a:latin typeface="Georgia" pitchFamily="34" charset="0"/>
                <a:ea typeface="Georgia" pitchFamily="34" charset="-122"/>
                <a:cs typeface="Georgia" pitchFamily="34" charset="-120"/>
              </a:rPr>
              <a:t>Challenges in Measuring Bias via Open-Ended Generation</a:t>
            </a:r>
            <a:endParaRPr lang="en-US" sz="1600" dirty="0"/>
          </a:p>
        </p:txBody>
      </p:sp>
      <p:sp>
        <p:nvSpPr>
          <p:cNvPr id="17" name="Text 15"/>
          <p:cNvSpPr/>
          <p:nvPr/>
        </p:nvSpPr>
        <p:spPr>
          <a:xfrm>
            <a:off x="6537960" y="3063240"/>
            <a:ext cx="4937760" cy="274320"/>
          </a:xfrm>
          <a:prstGeom prst="rect">
            <a:avLst/>
          </a:prstGeom>
          <a:noFill/>
          <a:ln/>
        </p:spPr>
        <p:txBody>
          <a:bodyPr wrap="square" lIns="0" tIns="0" rIns="0" bIns="0" rtlCol="0" anchor="ctr"/>
          <a:lstStyle/>
          <a:p>
            <a:pPr marL="0" indent="0">
              <a:buNone/>
            </a:pPr>
            <a:r>
              <a:rPr lang="en-US" sz="1100" i="1" dirty="0">
                <a:solidFill>
                  <a:srgbClr val="7B8794"/>
                </a:solidFill>
                <a:latin typeface="Calibri" pitchFamily="34" charset="0"/>
                <a:ea typeface="Calibri" pitchFamily="34" charset="-122"/>
                <a:cs typeface="Calibri" pitchFamily="34" charset="-120"/>
              </a:rPr>
              <a:t>Workshop on Gender Bias in NLP</a:t>
            </a:r>
            <a:endParaRPr lang="en-US" sz="1100" dirty="0"/>
          </a:p>
        </p:txBody>
      </p:sp>
      <p:sp>
        <p:nvSpPr>
          <p:cNvPr id="18" name="Text 16"/>
          <p:cNvSpPr/>
          <p:nvPr/>
        </p:nvSpPr>
        <p:spPr>
          <a:xfrm>
            <a:off x="6537960" y="3429000"/>
            <a:ext cx="4937760" cy="2286000"/>
          </a:xfrm>
          <a:prstGeom prst="rect">
            <a:avLst/>
          </a:prstGeom>
          <a:noFill/>
          <a:ln/>
        </p:spPr>
        <p:txBody>
          <a:bodyPr wrap="square" lIns="0" tIns="0" rIns="0" bIns="0" rtlCol="0" anchor="t"/>
          <a:lstStyle/>
          <a:p>
            <a:pPr marL="0" indent="0">
              <a:buNone/>
            </a:pPr>
            <a:r>
              <a:rPr lang="en-US" sz="1300" b="1" dirty="0">
                <a:solidFill>
                  <a:srgbClr val="C44E52"/>
                </a:solidFill>
                <a:latin typeface="Calibri" pitchFamily="34" charset="0"/>
                <a:ea typeface="Calibri" pitchFamily="34" charset="-122"/>
                <a:cs typeface="Calibri" pitchFamily="34" charset="-120"/>
              </a:rPr>
              <a:t>→ </a:t>
            </a:r>
            <a:r>
              <a:rPr lang="en-US" sz="1300" dirty="0">
                <a:solidFill>
                  <a:srgbClr val="1F2933"/>
                </a:solidFill>
                <a:latin typeface="Calibri" pitchFamily="34" charset="0"/>
                <a:ea typeface="Calibri" pitchFamily="34" charset="-122"/>
                <a:cs typeface="Calibri" pitchFamily="34" charset="-120"/>
              </a:rPr>
              <a:t>Bias estimates flip with the choice of prompts / metrics / sampling. Motivates our finding that HOW you aggregate decides the conclusion.</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0080" y="6473952"/>
            <a:ext cx="8229600" cy="274320"/>
          </a:xfrm>
          <a:prstGeom prst="rect">
            <a:avLst/>
          </a:prstGeom>
          <a:noFill/>
          <a:ln/>
        </p:spPr>
        <p:txBody>
          <a:bodyPr wrap="square" lIns="0" tIns="0" rIns="0" bIns="0" rtlCol="0" anchor="ctr"/>
          <a:lstStyle/>
          <a:p>
            <a:pPr marL="0" indent="0">
              <a:buNone/>
            </a:pPr>
            <a:r>
              <a:rPr lang="en-US" sz="900" dirty="0">
                <a:solidFill>
                  <a:srgbClr val="7B8794"/>
                </a:solidFill>
                <a:latin typeface="Calibri" pitchFamily="34" charset="0"/>
                <a:ea typeface="Calibri" pitchFamily="34" charset="-122"/>
                <a:cs typeface="Calibri" pitchFamily="34" charset="-120"/>
              </a:rPr>
              <a:t>Multilingual Prototypicality Bias  ·  Progress Report</a:t>
            </a:r>
            <a:endParaRPr lang="en-US" sz="900" dirty="0"/>
          </a:p>
        </p:txBody>
      </p:sp>
      <p:sp>
        <p:nvSpPr>
          <p:cNvPr id="3" name="Text 1"/>
          <p:cNvSpPr/>
          <p:nvPr/>
        </p:nvSpPr>
        <p:spPr>
          <a:xfrm>
            <a:off x="11183112" y="6473952"/>
            <a:ext cx="457200" cy="274320"/>
          </a:xfrm>
          <a:prstGeom prst="rect">
            <a:avLst/>
          </a:prstGeom>
          <a:noFill/>
          <a:ln/>
        </p:spPr>
        <p:txBody>
          <a:bodyPr wrap="square" lIns="0" tIns="0" rIns="0" bIns="0" rtlCol="0" anchor="ctr"/>
          <a:lstStyle/>
          <a:p>
            <a:pPr marL="0" indent="0" algn="r">
              <a:buNone/>
            </a:pPr>
            <a:r>
              <a:rPr lang="en-US" sz="900" dirty="0">
                <a:solidFill>
                  <a:srgbClr val="7B8794"/>
                </a:solidFill>
                <a:latin typeface="Calibri" pitchFamily="34" charset="0"/>
                <a:ea typeface="Calibri" pitchFamily="34" charset="-122"/>
                <a:cs typeface="Calibri" pitchFamily="34" charset="-120"/>
              </a:rPr>
              <a:t>5</a:t>
            </a:r>
            <a:endParaRPr lang="en-US" sz="900" dirty="0"/>
          </a:p>
        </p:txBody>
      </p:sp>
      <p:sp>
        <p:nvSpPr>
          <p:cNvPr id="4" name="Shape 2"/>
          <p:cNvSpPr/>
          <p:nvPr/>
        </p:nvSpPr>
        <p:spPr>
          <a:xfrm>
            <a:off x="640080" y="566928"/>
            <a:ext cx="146304" cy="146304"/>
          </a:xfrm>
          <a:prstGeom prst="rect">
            <a:avLst/>
          </a:prstGeom>
          <a:solidFill>
            <a:srgbClr val="C44E52"/>
          </a:solidFill>
          <a:ln/>
        </p:spPr>
        <p:txBody>
          <a:bodyPr/>
          <a:lstStyle/>
          <a:p>
            <a:endParaRPr lang="zh-CN" altLang="en-US"/>
          </a:p>
        </p:txBody>
      </p:sp>
      <p:sp>
        <p:nvSpPr>
          <p:cNvPr id="5" name="Text 3"/>
          <p:cNvSpPr/>
          <p:nvPr/>
        </p:nvSpPr>
        <p:spPr>
          <a:xfrm>
            <a:off x="932688" y="509751"/>
            <a:ext cx="10908792" cy="274320"/>
          </a:xfrm>
          <a:prstGeom prst="rect">
            <a:avLst/>
          </a:prstGeom>
          <a:noFill/>
          <a:ln/>
        </p:spPr>
        <p:txBody>
          <a:bodyPr wrap="square" lIns="0" tIns="0" rIns="0" bIns="0" rtlCol="0" anchor="ctr"/>
          <a:lstStyle/>
          <a:p>
            <a:pPr marL="0" indent="0">
              <a:buNone/>
            </a:pPr>
            <a:r>
              <a:rPr lang="en-US" sz="1100" b="1" kern="0" spc="200" dirty="0">
                <a:solidFill>
                  <a:srgbClr val="C44E52"/>
                </a:solidFill>
                <a:latin typeface="Calibri" pitchFamily="34" charset="0"/>
                <a:ea typeface="Calibri" pitchFamily="34" charset="-122"/>
                <a:cs typeface="Calibri" pitchFamily="34" charset="-120"/>
              </a:rPr>
              <a:t>RELATED WORK  2 / 2</a:t>
            </a:r>
            <a:endParaRPr lang="en-US" sz="1100" dirty="0"/>
          </a:p>
        </p:txBody>
      </p:sp>
      <p:sp>
        <p:nvSpPr>
          <p:cNvPr id="6" name="Text 4"/>
          <p:cNvSpPr/>
          <p:nvPr/>
        </p:nvSpPr>
        <p:spPr>
          <a:xfrm>
            <a:off x="640080" y="749808"/>
            <a:ext cx="10908792" cy="822960"/>
          </a:xfrm>
          <a:prstGeom prst="rect">
            <a:avLst/>
          </a:prstGeom>
          <a:noFill/>
          <a:ln/>
        </p:spPr>
        <p:txBody>
          <a:bodyPr wrap="square" lIns="0" tIns="0" rIns="0" bIns="0" rtlCol="0" anchor="ctr"/>
          <a:lstStyle/>
          <a:p>
            <a:pPr marL="0" indent="0">
              <a:buNone/>
            </a:pPr>
            <a:r>
              <a:rPr lang="en-US" sz="3000" b="1" dirty="0">
                <a:solidFill>
                  <a:srgbClr val="1F2933"/>
                </a:solidFill>
                <a:latin typeface="Georgia" pitchFamily="34" charset="0"/>
                <a:ea typeface="Georgia" pitchFamily="34" charset="-122"/>
                <a:cs typeface="Georgia" pitchFamily="34" charset="-120"/>
              </a:rPr>
              <a:t>Multilingual bias &amp; prompt sensitivity</a:t>
            </a:r>
            <a:endParaRPr lang="en-US" sz="3000" dirty="0"/>
          </a:p>
        </p:txBody>
      </p:sp>
      <p:sp>
        <p:nvSpPr>
          <p:cNvPr id="7" name="Shape 5"/>
          <p:cNvSpPr/>
          <p:nvPr/>
        </p:nvSpPr>
        <p:spPr>
          <a:xfrm>
            <a:off x="640080" y="1920240"/>
            <a:ext cx="5394960" cy="3200400"/>
          </a:xfrm>
          <a:prstGeom prst="rect">
            <a:avLst/>
          </a:prstGeom>
          <a:solidFill>
            <a:srgbClr val="F4F5F7"/>
          </a:solidFill>
          <a:ln/>
        </p:spPr>
        <p:txBody>
          <a:bodyPr/>
          <a:lstStyle/>
          <a:p>
            <a:endParaRPr lang="zh-CN" altLang="en-US"/>
          </a:p>
        </p:txBody>
      </p:sp>
      <p:sp>
        <p:nvSpPr>
          <p:cNvPr id="8" name="Shape 6"/>
          <p:cNvSpPr/>
          <p:nvPr/>
        </p:nvSpPr>
        <p:spPr>
          <a:xfrm>
            <a:off x="640080" y="1920240"/>
            <a:ext cx="109728" cy="3200400"/>
          </a:xfrm>
          <a:prstGeom prst="rect">
            <a:avLst/>
          </a:prstGeom>
          <a:solidFill>
            <a:srgbClr val="C44E52"/>
          </a:solidFill>
          <a:ln/>
        </p:spPr>
        <p:txBody>
          <a:bodyPr/>
          <a:lstStyle/>
          <a:p>
            <a:endParaRPr lang="zh-CN" altLang="en-US"/>
          </a:p>
        </p:txBody>
      </p:sp>
      <p:sp>
        <p:nvSpPr>
          <p:cNvPr id="9" name="Text 7"/>
          <p:cNvSpPr/>
          <p:nvPr/>
        </p:nvSpPr>
        <p:spPr>
          <a:xfrm>
            <a:off x="914400" y="2103120"/>
            <a:ext cx="4937760" cy="274320"/>
          </a:xfrm>
          <a:prstGeom prst="rect">
            <a:avLst/>
          </a:prstGeom>
          <a:noFill/>
          <a:ln/>
        </p:spPr>
        <p:txBody>
          <a:bodyPr wrap="square" lIns="0" tIns="0" rIns="0" bIns="0" rtlCol="0" anchor="ctr"/>
          <a:lstStyle/>
          <a:p>
            <a:pPr marL="0" indent="0">
              <a:buNone/>
            </a:pPr>
            <a:r>
              <a:rPr lang="en-US" sz="1000" b="1" kern="0" spc="100" dirty="0">
                <a:solidFill>
                  <a:srgbClr val="C44E52"/>
                </a:solidFill>
                <a:latin typeface="Calibri" pitchFamily="34" charset="0"/>
                <a:ea typeface="Calibri" pitchFamily="34" charset="-122"/>
                <a:cs typeface="Calibri" pitchFamily="34" charset="-120"/>
              </a:rPr>
              <a:t>JIN ET AL., 2025 · ACL FINDINGS</a:t>
            </a:r>
            <a:endParaRPr lang="en-US" sz="1000" dirty="0"/>
          </a:p>
        </p:txBody>
      </p:sp>
      <p:sp>
        <p:nvSpPr>
          <p:cNvPr id="10" name="Text 8"/>
          <p:cNvSpPr/>
          <p:nvPr/>
        </p:nvSpPr>
        <p:spPr>
          <a:xfrm>
            <a:off x="914400" y="2377440"/>
            <a:ext cx="4937760" cy="731520"/>
          </a:xfrm>
          <a:prstGeom prst="rect">
            <a:avLst/>
          </a:prstGeom>
          <a:noFill/>
          <a:ln/>
        </p:spPr>
        <p:txBody>
          <a:bodyPr wrap="square" lIns="0" tIns="0" rIns="0" bIns="0" rtlCol="0" anchor="ctr"/>
          <a:lstStyle/>
          <a:p>
            <a:pPr marL="0" indent="0">
              <a:buNone/>
            </a:pPr>
            <a:r>
              <a:rPr lang="en-US" sz="1600" b="1" dirty="0">
                <a:solidFill>
                  <a:srgbClr val="1F2933"/>
                </a:solidFill>
                <a:latin typeface="Georgia" pitchFamily="34" charset="0"/>
                <a:ea typeface="Georgia" pitchFamily="34" charset="-122"/>
                <a:cs typeface="Georgia" pitchFamily="34" charset="-120"/>
              </a:rPr>
              <a:t>Social Bias Benchmark for Generation (BBG)</a:t>
            </a:r>
            <a:endParaRPr lang="en-US" sz="1600" dirty="0"/>
          </a:p>
        </p:txBody>
      </p:sp>
      <p:sp>
        <p:nvSpPr>
          <p:cNvPr id="11" name="Text 9"/>
          <p:cNvSpPr/>
          <p:nvPr/>
        </p:nvSpPr>
        <p:spPr>
          <a:xfrm>
            <a:off x="914400" y="3063240"/>
            <a:ext cx="4937760" cy="274320"/>
          </a:xfrm>
          <a:prstGeom prst="rect">
            <a:avLst/>
          </a:prstGeom>
          <a:noFill/>
          <a:ln/>
        </p:spPr>
        <p:txBody>
          <a:bodyPr wrap="square" lIns="0" tIns="0" rIns="0" bIns="0" rtlCol="0" anchor="ctr"/>
          <a:lstStyle/>
          <a:p>
            <a:pPr marL="0" indent="0">
              <a:buNone/>
            </a:pPr>
            <a:r>
              <a:rPr lang="en-US" sz="1100" i="1" dirty="0">
                <a:solidFill>
                  <a:srgbClr val="7B8794"/>
                </a:solidFill>
                <a:latin typeface="Calibri" pitchFamily="34" charset="0"/>
                <a:ea typeface="Calibri" pitchFamily="34" charset="-122"/>
                <a:cs typeface="Calibri" pitchFamily="34" charset="-120"/>
              </a:rPr>
              <a:t>English + Korean</a:t>
            </a:r>
            <a:endParaRPr lang="en-US" sz="1100" dirty="0"/>
          </a:p>
        </p:txBody>
      </p:sp>
      <p:sp>
        <p:nvSpPr>
          <p:cNvPr id="12" name="Text 10"/>
          <p:cNvSpPr/>
          <p:nvPr/>
        </p:nvSpPr>
        <p:spPr>
          <a:xfrm>
            <a:off x="914400" y="3429000"/>
            <a:ext cx="4937760" cy="1554480"/>
          </a:xfrm>
          <a:prstGeom prst="rect">
            <a:avLst/>
          </a:prstGeom>
          <a:noFill/>
          <a:ln/>
        </p:spPr>
        <p:txBody>
          <a:bodyPr wrap="square" lIns="0" tIns="0" rIns="0" bIns="0" rtlCol="0" anchor="t"/>
          <a:lstStyle/>
          <a:p>
            <a:pPr marL="0" indent="0">
              <a:buNone/>
            </a:pPr>
            <a:r>
              <a:rPr lang="en-US" sz="1300" b="1" dirty="0">
                <a:solidFill>
                  <a:srgbClr val="C44E52"/>
                </a:solidFill>
                <a:latin typeface="Calibri" pitchFamily="34" charset="0"/>
                <a:ea typeface="Calibri" pitchFamily="34" charset="-122"/>
                <a:cs typeface="Calibri" pitchFamily="34" charset="-120"/>
              </a:rPr>
              <a:t>→ </a:t>
            </a:r>
            <a:r>
              <a:rPr lang="en-US" sz="1300" dirty="0">
                <a:solidFill>
                  <a:srgbClr val="1F2933"/>
                </a:solidFill>
                <a:latin typeface="Calibri" pitchFamily="34" charset="0"/>
                <a:ea typeface="Calibri" pitchFamily="34" charset="-122"/>
                <a:cs typeface="Calibri" pitchFamily="34" charset="-120"/>
              </a:rPr>
              <a:t>Cross-lingual social-bias eval; generation vs QA give inconsistent results. A precedent for evaluating social bias across languages.</a:t>
            </a:r>
            <a:endParaRPr lang="en-US" sz="1300" dirty="0"/>
          </a:p>
        </p:txBody>
      </p:sp>
      <p:sp>
        <p:nvSpPr>
          <p:cNvPr id="13" name="Shape 11"/>
          <p:cNvSpPr/>
          <p:nvPr/>
        </p:nvSpPr>
        <p:spPr>
          <a:xfrm>
            <a:off x="6263640" y="1920240"/>
            <a:ext cx="5394960" cy="3200400"/>
          </a:xfrm>
          <a:prstGeom prst="rect">
            <a:avLst/>
          </a:prstGeom>
          <a:solidFill>
            <a:srgbClr val="F4F5F7"/>
          </a:solidFill>
          <a:ln/>
        </p:spPr>
        <p:txBody>
          <a:bodyPr/>
          <a:lstStyle/>
          <a:p>
            <a:endParaRPr lang="zh-CN" altLang="en-US"/>
          </a:p>
        </p:txBody>
      </p:sp>
      <p:sp>
        <p:nvSpPr>
          <p:cNvPr id="14" name="Shape 12"/>
          <p:cNvSpPr/>
          <p:nvPr/>
        </p:nvSpPr>
        <p:spPr>
          <a:xfrm>
            <a:off x="6263640" y="1920240"/>
            <a:ext cx="109728" cy="3200400"/>
          </a:xfrm>
          <a:prstGeom prst="rect">
            <a:avLst/>
          </a:prstGeom>
          <a:solidFill>
            <a:srgbClr val="C44E52"/>
          </a:solidFill>
          <a:ln/>
        </p:spPr>
        <p:txBody>
          <a:bodyPr/>
          <a:lstStyle/>
          <a:p>
            <a:endParaRPr lang="zh-CN" altLang="en-US"/>
          </a:p>
        </p:txBody>
      </p:sp>
      <p:sp>
        <p:nvSpPr>
          <p:cNvPr id="15" name="Text 13"/>
          <p:cNvSpPr/>
          <p:nvPr/>
        </p:nvSpPr>
        <p:spPr>
          <a:xfrm>
            <a:off x="6537960" y="2103120"/>
            <a:ext cx="4937760" cy="274320"/>
          </a:xfrm>
          <a:prstGeom prst="rect">
            <a:avLst/>
          </a:prstGeom>
          <a:noFill/>
          <a:ln/>
        </p:spPr>
        <p:txBody>
          <a:bodyPr wrap="square" lIns="0" tIns="0" rIns="0" bIns="0" rtlCol="0" anchor="ctr"/>
          <a:lstStyle/>
          <a:p>
            <a:pPr marL="0" indent="0">
              <a:buNone/>
            </a:pPr>
            <a:r>
              <a:rPr lang="en-US" sz="1000" b="1" kern="0" spc="100" dirty="0">
                <a:solidFill>
                  <a:srgbClr val="C44E52"/>
                </a:solidFill>
                <a:latin typeface="Calibri" pitchFamily="34" charset="0"/>
                <a:ea typeface="Calibri" pitchFamily="34" charset="-122"/>
                <a:cs typeface="Calibri" pitchFamily="34" charset="-120"/>
              </a:rPr>
              <a:t>HIDA, KANEKO &amp; OKAZAKI, 2025 · EMNLP FINDINGS</a:t>
            </a:r>
            <a:endParaRPr lang="en-US" sz="1000" dirty="0"/>
          </a:p>
        </p:txBody>
      </p:sp>
      <p:sp>
        <p:nvSpPr>
          <p:cNvPr id="16" name="Text 14"/>
          <p:cNvSpPr/>
          <p:nvPr/>
        </p:nvSpPr>
        <p:spPr>
          <a:xfrm>
            <a:off x="6537960" y="2377440"/>
            <a:ext cx="4937760" cy="731520"/>
          </a:xfrm>
          <a:prstGeom prst="rect">
            <a:avLst/>
          </a:prstGeom>
          <a:noFill/>
          <a:ln/>
        </p:spPr>
        <p:txBody>
          <a:bodyPr wrap="square" lIns="0" tIns="0" rIns="0" bIns="0" rtlCol="0" anchor="ctr"/>
          <a:lstStyle/>
          <a:p>
            <a:pPr marL="0" indent="0">
              <a:buNone/>
            </a:pPr>
            <a:r>
              <a:rPr lang="en-US" sz="1600" b="1" dirty="0">
                <a:solidFill>
                  <a:srgbClr val="1F2933"/>
                </a:solidFill>
                <a:latin typeface="Georgia" pitchFamily="34" charset="0"/>
                <a:ea typeface="Georgia" pitchFamily="34" charset="-122"/>
                <a:cs typeface="Georgia" pitchFamily="34" charset="-120"/>
              </a:rPr>
              <a:t>Social Bias Evaluation Requires Prompt Variations</a:t>
            </a:r>
            <a:endParaRPr lang="en-US" sz="1600" dirty="0"/>
          </a:p>
        </p:txBody>
      </p:sp>
      <p:sp>
        <p:nvSpPr>
          <p:cNvPr id="17" name="Text 15"/>
          <p:cNvSpPr/>
          <p:nvPr/>
        </p:nvSpPr>
        <p:spPr>
          <a:xfrm>
            <a:off x="6537960" y="3063240"/>
            <a:ext cx="4937760" cy="274320"/>
          </a:xfrm>
          <a:prstGeom prst="rect">
            <a:avLst/>
          </a:prstGeom>
          <a:noFill/>
          <a:ln/>
        </p:spPr>
        <p:txBody>
          <a:bodyPr wrap="square" lIns="0" tIns="0" rIns="0" bIns="0" rtlCol="0" anchor="ctr"/>
          <a:lstStyle/>
          <a:p>
            <a:pPr marL="0" indent="0">
              <a:buNone/>
            </a:pPr>
            <a:r>
              <a:rPr lang="en-US" sz="1100" i="1" dirty="0">
                <a:solidFill>
                  <a:srgbClr val="7B8794"/>
                </a:solidFill>
                <a:latin typeface="Calibri" pitchFamily="34" charset="0"/>
                <a:ea typeface="Calibri" pitchFamily="34" charset="-122"/>
                <a:cs typeface="Calibri" pitchFamily="34" charset="-120"/>
              </a:rPr>
              <a:t>EMNLP Findings</a:t>
            </a:r>
            <a:endParaRPr lang="en-US" sz="1100" dirty="0"/>
          </a:p>
        </p:txBody>
      </p:sp>
      <p:sp>
        <p:nvSpPr>
          <p:cNvPr id="18" name="Text 16"/>
          <p:cNvSpPr/>
          <p:nvPr/>
        </p:nvSpPr>
        <p:spPr>
          <a:xfrm>
            <a:off x="6537960" y="3429000"/>
            <a:ext cx="4937760" cy="1554480"/>
          </a:xfrm>
          <a:prstGeom prst="rect">
            <a:avLst/>
          </a:prstGeom>
          <a:noFill/>
          <a:ln/>
        </p:spPr>
        <p:txBody>
          <a:bodyPr wrap="square" lIns="0" tIns="0" rIns="0" bIns="0" rtlCol="0" anchor="t"/>
          <a:lstStyle/>
          <a:p>
            <a:pPr marL="0" indent="0">
              <a:buNone/>
            </a:pPr>
            <a:r>
              <a:rPr lang="en-US" sz="1300" b="1" dirty="0">
                <a:solidFill>
                  <a:srgbClr val="C44E52"/>
                </a:solidFill>
                <a:latin typeface="Calibri" pitchFamily="34" charset="0"/>
                <a:ea typeface="Calibri" pitchFamily="34" charset="-122"/>
                <a:cs typeface="Calibri" pitchFamily="34" charset="-120"/>
              </a:rPr>
              <a:t>→ </a:t>
            </a:r>
            <a:r>
              <a:rPr lang="en-US" sz="1300" dirty="0">
                <a:solidFill>
                  <a:srgbClr val="1F2933"/>
                </a:solidFill>
                <a:latin typeface="Calibri" pitchFamily="34" charset="0"/>
                <a:ea typeface="Calibri" pitchFamily="34" charset="-122"/>
                <a:cs typeface="Calibri" pitchFamily="34" charset="-120"/>
              </a:rPr>
              <a:t>LLM bias rankings fluctuate across prompts. Our cross-lingual prompts ARE prompt variation — flags translation quality as a confound.</a:t>
            </a:r>
            <a:endParaRPr lang="en-US" sz="1300" dirty="0"/>
          </a:p>
        </p:txBody>
      </p:sp>
      <p:sp>
        <p:nvSpPr>
          <p:cNvPr id="19" name="Text 17"/>
          <p:cNvSpPr/>
          <p:nvPr/>
        </p:nvSpPr>
        <p:spPr>
          <a:xfrm>
            <a:off x="640080" y="5440680"/>
            <a:ext cx="10908792" cy="640080"/>
          </a:xfrm>
          <a:prstGeom prst="rect">
            <a:avLst/>
          </a:prstGeom>
          <a:noFill/>
          <a:ln/>
        </p:spPr>
        <p:txBody>
          <a:bodyPr wrap="square" rtlCol="0" anchor="ctr"/>
          <a:lstStyle/>
          <a:p>
            <a:pPr marL="0" indent="0">
              <a:buNone/>
            </a:pPr>
            <a:r>
              <a:rPr lang="en-US" sz="1500" b="1" i="1" dirty="0">
                <a:solidFill>
                  <a:srgbClr val="C44E52"/>
                </a:solidFill>
                <a:latin typeface="Calibri" pitchFamily="34" charset="0"/>
                <a:ea typeface="Calibri" pitchFamily="34" charset="-122"/>
                <a:cs typeface="Calibri" pitchFamily="34" charset="-120"/>
              </a:rPr>
              <a:t>Where we sit:  </a:t>
            </a:r>
            <a:r>
              <a:rPr lang="en-US" sz="1500" i="1" dirty="0">
                <a:solidFill>
                  <a:srgbClr val="1F2933"/>
                </a:solidFill>
                <a:latin typeface="Calibri" pitchFamily="34" charset="0"/>
                <a:ea typeface="Calibri" pitchFamily="34" charset="-122"/>
                <a:cs typeface="Calibri" pitchFamily="34" charset="-120"/>
              </a:rPr>
              <a:t>the intersection of judge-bias and multilingual bias evaluation — the first cross-lingual test of visual prototypicality bias.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0080" y="6473952"/>
            <a:ext cx="8229600" cy="274320"/>
          </a:xfrm>
          <a:prstGeom prst="rect">
            <a:avLst/>
          </a:prstGeom>
          <a:noFill/>
          <a:ln/>
        </p:spPr>
        <p:txBody>
          <a:bodyPr wrap="square" lIns="0" tIns="0" rIns="0" bIns="0" rtlCol="0" anchor="ctr"/>
          <a:lstStyle/>
          <a:p>
            <a:pPr marL="0" indent="0">
              <a:buNone/>
            </a:pPr>
            <a:r>
              <a:rPr lang="en-US" sz="900" dirty="0">
                <a:solidFill>
                  <a:srgbClr val="7B8794"/>
                </a:solidFill>
                <a:latin typeface="Calibri" pitchFamily="34" charset="0"/>
                <a:ea typeface="Calibri" pitchFamily="34" charset="-122"/>
                <a:cs typeface="Calibri" pitchFamily="34" charset="-120"/>
              </a:rPr>
              <a:t>Multilingual Prototypicality Bias  ·  Progress Report</a:t>
            </a:r>
            <a:endParaRPr lang="en-US" sz="900" dirty="0"/>
          </a:p>
        </p:txBody>
      </p:sp>
      <p:sp>
        <p:nvSpPr>
          <p:cNvPr id="3" name="Text 1"/>
          <p:cNvSpPr/>
          <p:nvPr/>
        </p:nvSpPr>
        <p:spPr>
          <a:xfrm>
            <a:off x="11183112" y="6473952"/>
            <a:ext cx="457200" cy="274320"/>
          </a:xfrm>
          <a:prstGeom prst="rect">
            <a:avLst/>
          </a:prstGeom>
          <a:noFill/>
          <a:ln/>
        </p:spPr>
        <p:txBody>
          <a:bodyPr wrap="square" lIns="0" tIns="0" rIns="0" bIns="0" rtlCol="0" anchor="ctr"/>
          <a:lstStyle/>
          <a:p>
            <a:pPr marL="0" indent="0" algn="r">
              <a:buNone/>
            </a:pPr>
            <a:r>
              <a:rPr lang="en-US" sz="900" dirty="0">
                <a:solidFill>
                  <a:srgbClr val="7B8794"/>
                </a:solidFill>
                <a:latin typeface="Calibri" pitchFamily="34" charset="0"/>
                <a:ea typeface="Calibri" pitchFamily="34" charset="-122"/>
                <a:cs typeface="Calibri" pitchFamily="34" charset="-120"/>
              </a:rPr>
              <a:t>6</a:t>
            </a:r>
            <a:endParaRPr lang="en-US" sz="900" dirty="0"/>
          </a:p>
        </p:txBody>
      </p:sp>
      <p:sp>
        <p:nvSpPr>
          <p:cNvPr id="4" name="Shape 2"/>
          <p:cNvSpPr/>
          <p:nvPr/>
        </p:nvSpPr>
        <p:spPr>
          <a:xfrm>
            <a:off x="640080" y="566928"/>
            <a:ext cx="146304" cy="146304"/>
          </a:xfrm>
          <a:prstGeom prst="rect">
            <a:avLst/>
          </a:prstGeom>
          <a:solidFill>
            <a:srgbClr val="C44E52"/>
          </a:solidFill>
          <a:ln/>
        </p:spPr>
        <p:txBody>
          <a:bodyPr/>
          <a:lstStyle/>
          <a:p>
            <a:endParaRPr lang="zh-CN" altLang="en-US"/>
          </a:p>
        </p:txBody>
      </p:sp>
      <p:sp>
        <p:nvSpPr>
          <p:cNvPr id="5" name="Text 3"/>
          <p:cNvSpPr/>
          <p:nvPr/>
        </p:nvSpPr>
        <p:spPr>
          <a:xfrm>
            <a:off x="932688" y="509750"/>
            <a:ext cx="10908792" cy="274320"/>
          </a:xfrm>
          <a:prstGeom prst="rect">
            <a:avLst/>
          </a:prstGeom>
          <a:noFill/>
          <a:ln/>
        </p:spPr>
        <p:txBody>
          <a:bodyPr wrap="square" lIns="0" tIns="0" rIns="0" bIns="0" rtlCol="0" anchor="ctr"/>
          <a:lstStyle/>
          <a:p>
            <a:pPr marL="0" indent="0">
              <a:buNone/>
            </a:pPr>
            <a:r>
              <a:rPr lang="en-US" sz="1100" b="1" kern="0" spc="200" dirty="0">
                <a:solidFill>
                  <a:srgbClr val="C44E52"/>
                </a:solidFill>
                <a:latin typeface="Calibri" pitchFamily="34" charset="0"/>
                <a:ea typeface="Calibri" pitchFamily="34" charset="-122"/>
                <a:cs typeface="Calibri" pitchFamily="34" charset="-120"/>
              </a:rPr>
              <a:t>HOW WE MEASURE</a:t>
            </a:r>
            <a:endParaRPr lang="en-US" sz="1100" dirty="0"/>
          </a:p>
        </p:txBody>
      </p:sp>
      <p:sp>
        <p:nvSpPr>
          <p:cNvPr id="6" name="Text 4"/>
          <p:cNvSpPr/>
          <p:nvPr/>
        </p:nvSpPr>
        <p:spPr>
          <a:xfrm>
            <a:off x="640080" y="749808"/>
            <a:ext cx="10908792" cy="822960"/>
          </a:xfrm>
          <a:prstGeom prst="rect">
            <a:avLst/>
          </a:prstGeom>
          <a:noFill/>
          <a:ln/>
        </p:spPr>
        <p:txBody>
          <a:bodyPr wrap="square" lIns="0" tIns="0" rIns="0" bIns="0" rtlCol="0" anchor="ctr"/>
          <a:lstStyle/>
          <a:p>
            <a:pPr marL="0" indent="0">
              <a:buNone/>
            </a:pPr>
            <a:r>
              <a:rPr lang="en-US" sz="3000" b="1" dirty="0">
                <a:solidFill>
                  <a:srgbClr val="1F2933"/>
                </a:solidFill>
                <a:latin typeface="Georgia" pitchFamily="34" charset="0"/>
                <a:ea typeface="Georgia" pitchFamily="34" charset="-122"/>
                <a:cs typeface="Georgia" pitchFamily="34" charset="-120"/>
              </a:rPr>
              <a:t>Method: 2-alternative forced choice</a:t>
            </a:r>
            <a:endParaRPr lang="en-US" sz="3000" dirty="0"/>
          </a:p>
        </p:txBody>
      </p:sp>
      <p:sp>
        <p:nvSpPr>
          <p:cNvPr id="7" name="Text 5"/>
          <p:cNvSpPr/>
          <p:nvPr/>
        </p:nvSpPr>
        <p:spPr>
          <a:xfrm>
            <a:off x="640080" y="2514600"/>
            <a:ext cx="6035040" cy="2377440"/>
          </a:xfrm>
          <a:prstGeom prst="rect">
            <a:avLst/>
          </a:prstGeom>
          <a:noFill/>
          <a:ln/>
        </p:spPr>
        <p:txBody>
          <a:bodyPr wrap="square" rtlCol="0" anchor="t"/>
          <a:lstStyle/>
          <a:p>
            <a:pPr marL="228600" indent="-228600">
              <a:spcAft>
                <a:spcPts val="1000"/>
              </a:spcAft>
              <a:buSzPct val="100000"/>
              <a:buChar char="•"/>
            </a:pPr>
            <a:r>
              <a:rPr lang="en-US" sz="1600" dirty="0">
                <a:solidFill>
                  <a:srgbClr val="1F2933"/>
                </a:solidFill>
                <a:latin typeface="Calibri" pitchFamily="34" charset="0"/>
                <a:ea typeface="Calibri" pitchFamily="34" charset="-122"/>
                <a:cs typeface="Calibri" pitchFamily="34" charset="-120"/>
              </a:rPr>
              <a:t>Show two images: SC (correct, non-prototypical) vs PA (prototypical, wrong).</a:t>
            </a:r>
            <a:endParaRPr lang="en-US" sz="1600" dirty="0"/>
          </a:p>
          <a:p>
            <a:pPr marL="228600" indent="-228600">
              <a:spcAft>
                <a:spcPts val="1000"/>
              </a:spcAft>
              <a:buSzPct val="100000"/>
              <a:buChar char="•"/>
            </a:pPr>
            <a:r>
              <a:rPr lang="en-US" sz="1600" dirty="0">
                <a:solidFill>
                  <a:srgbClr val="1F2933"/>
                </a:solidFill>
                <a:latin typeface="Calibri" pitchFamily="34" charset="0"/>
                <a:ea typeface="Calibri" pitchFamily="34" charset="-122"/>
                <a:cs typeface="Calibri" pitchFamily="34" charset="-120"/>
              </a:rPr>
              <a:t>Ask, in the target language: "Which image matches this description?"</a:t>
            </a:r>
            <a:endParaRPr lang="en-US" sz="1600" dirty="0"/>
          </a:p>
          <a:p>
            <a:pPr marL="228600" indent="-228600">
              <a:spcAft>
                <a:spcPts val="1000"/>
              </a:spcAft>
              <a:buSzPct val="100000"/>
              <a:buChar char="•"/>
            </a:pPr>
            <a:r>
              <a:rPr lang="en-US" sz="1600" dirty="0">
                <a:solidFill>
                  <a:srgbClr val="1F2933"/>
                </a:solidFill>
                <a:latin typeface="Calibri" pitchFamily="34" charset="0"/>
                <a:ea typeface="Calibri" pitchFamily="34" charset="-122"/>
                <a:cs typeface="Calibri" pitchFamily="34" charset="-120"/>
              </a:rPr>
              <a:t>Left / right position randomized — controls for position bias.</a:t>
            </a:r>
            <a:endParaRPr lang="en-US" sz="1600" dirty="0"/>
          </a:p>
        </p:txBody>
      </p:sp>
      <p:sp>
        <p:nvSpPr>
          <p:cNvPr id="8" name="Shape 6"/>
          <p:cNvSpPr/>
          <p:nvPr/>
        </p:nvSpPr>
        <p:spPr>
          <a:xfrm>
            <a:off x="7040880" y="1920240"/>
            <a:ext cx="4480560" cy="2743200"/>
          </a:xfrm>
          <a:prstGeom prst="rect">
            <a:avLst/>
          </a:prstGeom>
          <a:solidFill>
            <a:srgbClr val="1F2933"/>
          </a:solidFill>
          <a:ln/>
        </p:spPr>
        <p:txBody>
          <a:bodyPr/>
          <a:lstStyle/>
          <a:p>
            <a:endParaRPr lang="zh-CN" altLang="en-US"/>
          </a:p>
        </p:txBody>
      </p:sp>
      <p:sp>
        <p:nvSpPr>
          <p:cNvPr id="9" name="Text 7"/>
          <p:cNvSpPr/>
          <p:nvPr/>
        </p:nvSpPr>
        <p:spPr>
          <a:xfrm>
            <a:off x="7315200" y="2103120"/>
            <a:ext cx="3931920" cy="274320"/>
          </a:xfrm>
          <a:prstGeom prst="rect">
            <a:avLst/>
          </a:prstGeom>
          <a:noFill/>
          <a:ln/>
        </p:spPr>
        <p:txBody>
          <a:bodyPr wrap="square" lIns="0" tIns="0" rIns="0" bIns="0" rtlCol="0" anchor="ctr"/>
          <a:lstStyle/>
          <a:p>
            <a:pPr marL="0" indent="0">
              <a:buNone/>
            </a:pPr>
            <a:r>
              <a:rPr lang="en-US" sz="1100" b="1" kern="0" spc="200" dirty="0">
                <a:solidFill>
                  <a:srgbClr val="9FB3C8"/>
                </a:solidFill>
                <a:latin typeface="Calibri" pitchFamily="34" charset="0"/>
                <a:ea typeface="Calibri" pitchFamily="34" charset="-122"/>
                <a:cs typeface="Calibri" pitchFamily="34" charset="-120"/>
              </a:rPr>
              <a:t>METRIC</a:t>
            </a:r>
            <a:endParaRPr lang="en-US" sz="1100" dirty="0"/>
          </a:p>
        </p:txBody>
      </p:sp>
      <p:sp>
        <p:nvSpPr>
          <p:cNvPr id="10" name="Text 8"/>
          <p:cNvSpPr/>
          <p:nvPr/>
        </p:nvSpPr>
        <p:spPr>
          <a:xfrm>
            <a:off x="7315200" y="2395728"/>
            <a:ext cx="3931920" cy="54864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Error rate</a:t>
            </a:r>
            <a:endParaRPr lang="en-US" sz="2600" dirty="0"/>
          </a:p>
        </p:txBody>
      </p:sp>
      <p:sp>
        <p:nvSpPr>
          <p:cNvPr id="11" name="Text 9"/>
          <p:cNvSpPr/>
          <p:nvPr/>
        </p:nvSpPr>
        <p:spPr>
          <a:xfrm>
            <a:off x="7315200" y="2971800"/>
            <a:ext cx="3931920" cy="731520"/>
          </a:xfrm>
          <a:prstGeom prst="rect">
            <a:avLst/>
          </a:prstGeom>
          <a:noFill/>
          <a:ln/>
        </p:spPr>
        <p:txBody>
          <a:bodyPr wrap="square" lIns="0" tIns="0" rIns="0" bIns="0" rtlCol="0" anchor="ctr"/>
          <a:lstStyle/>
          <a:p>
            <a:pPr marL="0" indent="0">
              <a:buNone/>
            </a:pPr>
            <a:r>
              <a:rPr lang="en-US" sz="1300" dirty="0">
                <a:solidFill>
                  <a:srgbClr val="CADCFC"/>
                </a:solidFill>
                <a:latin typeface="Calibri" pitchFamily="34" charset="0"/>
                <a:ea typeface="Calibri" pitchFamily="34" charset="-122"/>
                <a:cs typeface="Calibri" pitchFamily="34" charset="-120"/>
              </a:rPr>
              <a:t>= fraction of times the judge picks the prototypical-but-wrong image (PA)</a:t>
            </a:r>
            <a:endParaRPr lang="en-US" sz="1300" dirty="0"/>
          </a:p>
        </p:txBody>
      </p:sp>
      <p:sp>
        <p:nvSpPr>
          <p:cNvPr id="12" name="Text 10"/>
          <p:cNvSpPr/>
          <p:nvPr/>
        </p:nvSpPr>
        <p:spPr>
          <a:xfrm>
            <a:off x="7315200" y="3886200"/>
            <a:ext cx="3931920" cy="5486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0.50</a:t>
            </a:r>
            <a:r>
              <a:rPr lang="en-US" sz="1400" dirty="0">
                <a:solidFill>
                  <a:srgbClr val="9FB3C8"/>
                </a:solidFill>
                <a:latin typeface="Calibri" pitchFamily="34" charset="0"/>
                <a:ea typeface="Calibri" pitchFamily="34" charset="-122"/>
                <a:cs typeface="Calibri" pitchFamily="34" charset="-120"/>
              </a:rPr>
              <a:t> = chance / no bias        </a:t>
            </a:r>
            <a:r>
              <a:rPr lang="en-US" sz="1400" b="1" dirty="0">
                <a:solidFill>
                  <a:srgbClr val="C44E52"/>
                </a:solidFill>
                <a:latin typeface="Calibri" pitchFamily="34" charset="0"/>
                <a:ea typeface="Calibri" pitchFamily="34" charset="-122"/>
                <a:cs typeface="Calibri" pitchFamily="34" charset="-120"/>
              </a:rPr>
              <a:t>&gt; 0.50</a:t>
            </a:r>
            <a:r>
              <a:rPr lang="en-US" sz="1400" dirty="0">
                <a:solidFill>
                  <a:srgbClr val="9FB3C8"/>
                </a:solidFill>
                <a:latin typeface="Calibri" pitchFamily="34" charset="0"/>
                <a:ea typeface="Calibri" pitchFamily="34" charset="-122"/>
                <a:cs typeface="Calibri" pitchFamily="34" charset="-120"/>
              </a:rPr>
              <a:t> = bias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40080" y="6473952"/>
            <a:ext cx="8229600" cy="274320"/>
          </a:xfrm>
          <a:prstGeom prst="rect">
            <a:avLst/>
          </a:prstGeom>
          <a:noFill/>
          <a:ln/>
        </p:spPr>
        <p:txBody>
          <a:bodyPr wrap="square" lIns="0" tIns="0" rIns="0" bIns="0" rtlCol="0" anchor="ctr"/>
          <a:lstStyle/>
          <a:p>
            <a:pPr marL="0" indent="0">
              <a:buNone/>
            </a:pPr>
            <a:r>
              <a:rPr lang="en-US" sz="900" dirty="0">
                <a:solidFill>
                  <a:srgbClr val="7B8794"/>
                </a:solidFill>
                <a:latin typeface="Calibri" pitchFamily="34" charset="0"/>
                <a:ea typeface="Calibri" pitchFamily="34" charset="-122"/>
                <a:cs typeface="Calibri" pitchFamily="34" charset="-120"/>
              </a:rPr>
              <a:t>Multilingual Prototypicality Bias  ·  Progress Report</a:t>
            </a:r>
            <a:endParaRPr lang="en-US" sz="900" dirty="0"/>
          </a:p>
        </p:txBody>
      </p:sp>
      <p:sp>
        <p:nvSpPr>
          <p:cNvPr id="3" name="Text 1"/>
          <p:cNvSpPr/>
          <p:nvPr/>
        </p:nvSpPr>
        <p:spPr>
          <a:xfrm>
            <a:off x="11183112" y="6473952"/>
            <a:ext cx="457200" cy="274320"/>
          </a:xfrm>
          <a:prstGeom prst="rect">
            <a:avLst/>
          </a:prstGeom>
          <a:noFill/>
          <a:ln/>
        </p:spPr>
        <p:txBody>
          <a:bodyPr wrap="square" lIns="0" tIns="0" rIns="0" bIns="0" rtlCol="0" anchor="ctr"/>
          <a:lstStyle/>
          <a:p>
            <a:pPr marL="0" indent="0" algn="r">
              <a:buNone/>
            </a:pPr>
            <a:r>
              <a:rPr lang="en-US" sz="900" dirty="0">
                <a:solidFill>
                  <a:srgbClr val="7B8794"/>
                </a:solidFill>
                <a:latin typeface="Calibri" pitchFamily="34" charset="0"/>
                <a:ea typeface="Calibri" pitchFamily="34" charset="-122"/>
                <a:cs typeface="Calibri" pitchFamily="34" charset="-120"/>
              </a:rPr>
              <a:t>7</a:t>
            </a:r>
            <a:endParaRPr lang="en-US" sz="900" dirty="0"/>
          </a:p>
        </p:txBody>
      </p:sp>
      <p:sp>
        <p:nvSpPr>
          <p:cNvPr id="4" name="Shape 2"/>
          <p:cNvSpPr/>
          <p:nvPr/>
        </p:nvSpPr>
        <p:spPr>
          <a:xfrm>
            <a:off x="640080" y="566928"/>
            <a:ext cx="146304" cy="146304"/>
          </a:xfrm>
          <a:prstGeom prst="rect">
            <a:avLst/>
          </a:prstGeom>
          <a:solidFill>
            <a:srgbClr val="C44E52"/>
          </a:solidFill>
          <a:ln/>
        </p:spPr>
        <p:txBody>
          <a:bodyPr/>
          <a:lstStyle/>
          <a:p>
            <a:endParaRPr lang="zh-CN" altLang="en-US"/>
          </a:p>
        </p:txBody>
      </p:sp>
      <p:sp>
        <p:nvSpPr>
          <p:cNvPr id="5" name="Text 3"/>
          <p:cNvSpPr/>
          <p:nvPr/>
        </p:nvSpPr>
        <p:spPr>
          <a:xfrm>
            <a:off x="932688" y="509750"/>
            <a:ext cx="10908792" cy="274320"/>
          </a:xfrm>
          <a:prstGeom prst="rect">
            <a:avLst/>
          </a:prstGeom>
          <a:noFill/>
          <a:ln/>
        </p:spPr>
        <p:txBody>
          <a:bodyPr wrap="square" lIns="0" tIns="0" rIns="0" bIns="0" rtlCol="0" anchor="ctr"/>
          <a:lstStyle/>
          <a:p>
            <a:pPr marL="0" indent="0">
              <a:buNone/>
            </a:pPr>
            <a:r>
              <a:rPr lang="en-US" sz="1100" b="1" kern="0" spc="200" dirty="0">
                <a:solidFill>
                  <a:srgbClr val="C44E52"/>
                </a:solidFill>
                <a:latin typeface="Calibri" pitchFamily="34" charset="0"/>
                <a:ea typeface="Calibri" pitchFamily="34" charset="-122"/>
                <a:cs typeface="Calibri" pitchFamily="34" charset="-120"/>
              </a:rPr>
              <a:t>SETUP</a:t>
            </a:r>
            <a:endParaRPr lang="en-US" sz="1100" dirty="0"/>
          </a:p>
        </p:txBody>
      </p:sp>
      <p:sp>
        <p:nvSpPr>
          <p:cNvPr id="6" name="Text 4"/>
          <p:cNvSpPr/>
          <p:nvPr/>
        </p:nvSpPr>
        <p:spPr>
          <a:xfrm>
            <a:off x="640080" y="749808"/>
            <a:ext cx="10908792" cy="822960"/>
          </a:xfrm>
          <a:prstGeom prst="rect">
            <a:avLst/>
          </a:prstGeom>
          <a:noFill/>
          <a:ln/>
        </p:spPr>
        <p:txBody>
          <a:bodyPr wrap="square" lIns="0" tIns="0" rIns="0" bIns="0" rtlCol="0" anchor="ctr"/>
          <a:lstStyle/>
          <a:p>
            <a:pPr marL="0" indent="0">
              <a:buNone/>
            </a:pPr>
            <a:r>
              <a:rPr lang="en-US" sz="3000" b="1" dirty="0">
                <a:solidFill>
                  <a:srgbClr val="1F2933"/>
                </a:solidFill>
                <a:latin typeface="Georgia" pitchFamily="34" charset="0"/>
                <a:ea typeface="Georgia" pitchFamily="34" charset="-122"/>
                <a:cs typeface="Georgia" pitchFamily="34" charset="-120"/>
              </a:rPr>
              <a:t>Data &amp; experimental setup</a:t>
            </a:r>
            <a:endParaRPr lang="en-US" sz="3000" dirty="0"/>
          </a:p>
        </p:txBody>
      </p:sp>
      <p:sp>
        <p:nvSpPr>
          <p:cNvPr id="7" name="Text 5"/>
          <p:cNvSpPr/>
          <p:nvPr/>
        </p:nvSpPr>
        <p:spPr>
          <a:xfrm>
            <a:off x="640080" y="1828800"/>
            <a:ext cx="6583680" cy="4389120"/>
          </a:xfrm>
          <a:prstGeom prst="rect">
            <a:avLst/>
          </a:prstGeom>
          <a:noFill/>
          <a:ln/>
        </p:spPr>
        <p:txBody>
          <a:bodyPr wrap="square" rtlCol="0" anchor="t"/>
          <a:lstStyle/>
          <a:p>
            <a:pPr marL="228600" indent="-228600">
              <a:spcAft>
                <a:spcPts val="1000"/>
              </a:spcAft>
              <a:buSzPct val="100000"/>
              <a:buChar char="•"/>
            </a:pPr>
            <a:r>
              <a:rPr lang="en-US" sz="1600" dirty="0">
                <a:solidFill>
                  <a:srgbClr val="1F2933"/>
                </a:solidFill>
                <a:latin typeface="Calibri" pitchFamily="34" charset="0"/>
                <a:ea typeface="Calibri" pitchFamily="34" charset="-122"/>
                <a:cs typeface="Calibri" pitchFamily="34" charset="-120"/>
              </a:rPr>
              <a:t>Dataset: ProtoBias test set — domains Animals / Objects / Demography.</a:t>
            </a:r>
            <a:endParaRPr lang="en-US" sz="1600" dirty="0"/>
          </a:p>
          <a:p>
            <a:pPr marL="228600" indent="-228600">
              <a:spcAft>
                <a:spcPts val="1000"/>
              </a:spcAft>
              <a:buSzPct val="100000"/>
              <a:buChar char="•"/>
            </a:pPr>
            <a:r>
              <a:rPr lang="en-US" sz="1600" b="1" dirty="0">
                <a:solidFill>
                  <a:srgbClr val="1F2933"/>
                </a:solidFill>
                <a:latin typeface="Calibri" pitchFamily="34" charset="0"/>
                <a:ea typeface="Calibri" pitchFamily="34" charset="-122"/>
                <a:cs typeface="Calibri" pitchFamily="34" charset="-120"/>
              </a:rPr>
              <a:t>Demography rows carry a socio_attr label: Wealth, Power, Civility, Morality, Intellect — the social-hierarchy axis the paper designed in.</a:t>
            </a:r>
            <a:endParaRPr lang="en-US" sz="1600" dirty="0"/>
          </a:p>
          <a:p>
            <a:pPr marL="228600" indent="-228600">
              <a:spcAft>
                <a:spcPts val="1000"/>
              </a:spcAft>
              <a:buSzPct val="100000"/>
              <a:buChar char="•"/>
            </a:pPr>
            <a:r>
              <a:rPr lang="en-US" sz="1600" dirty="0">
                <a:solidFill>
                  <a:srgbClr val="1F2933"/>
                </a:solidFill>
                <a:latin typeface="Calibri" pitchFamily="34" charset="0"/>
                <a:ea typeface="Calibri" pitchFamily="34" charset="-122"/>
                <a:cs typeface="Calibri" pitchFamily="34" charset="-120"/>
              </a:rPr>
              <a:t>Sample: 300 rows/domain × 3 = 900 items  ×  4 languages = 3,600 judgments.</a:t>
            </a:r>
            <a:endParaRPr lang="en-US" sz="1600" dirty="0"/>
          </a:p>
          <a:p>
            <a:pPr marL="228600" indent="-228600">
              <a:spcAft>
                <a:spcPts val="1000"/>
              </a:spcAft>
              <a:buSzPct val="100000"/>
              <a:buChar char="•"/>
            </a:pPr>
            <a:r>
              <a:rPr lang="en-US" sz="1600" dirty="0">
                <a:solidFill>
                  <a:srgbClr val="1F2933"/>
                </a:solidFill>
                <a:latin typeface="Calibri" pitchFamily="34" charset="0"/>
                <a:ea typeface="Calibri" pitchFamily="34" charset="-122"/>
                <a:cs typeface="Calibri" pitchFamily="34" charset="-120"/>
              </a:rPr>
              <a:t>Model: Qwen2.5-VL-7B-Instruct.   Translation: Google (deep-translator).</a:t>
            </a:r>
            <a:endParaRPr lang="en-US" sz="1600" dirty="0"/>
          </a:p>
          <a:p>
            <a:pPr marL="228600" indent="-228600">
              <a:spcAft>
                <a:spcPts val="1000"/>
              </a:spcAft>
              <a:buSzPct val="100000"/>
              <a:buChar char="•"/>
            </a:pPr>
            <a:r>
              <a:rPr lang="en-US" sz="1600" dirty="0">
                <a:solidFill>
                  <a:srgbClr val="1F2933"/>
                </a:solidFill>
                <a:latin typeface="Calibri" pitchFamily="34" charset="0"/>
                <a:ea typeface="Calibri" pitchFamily="34" charset="-122"/>
                <a:cs typeface="Calibri" pitchFamily="34" charset="-120"/>
              </a:rPr>
              <a:t>Compute: NHR@FAU Alex, 1× A40 GPU (SLURM job 3687960).</a:t>
            </a:r>
            <a:endParaRPr lang="en-US" sz="1600" dirty="0"/>
          </a:p>
        </p:txBody>
      </p:sp>
      <p:sp>
        <p:nvSpPr>
          <p:cNvPr id="8" name="Shape 6"/>
          <p:cNvSpPr/>
          <p:nvPr/>
        </p:nvSpPr>
        <p:spPr>
          <a:xfrm>
            <a:off x="7680960" y="1920240"/>
            <a:ext cx="3840480" cy="1143000"/>
          </a:xfrm>
          <a:prstGeom prst="rect">
            <a:avLst/>
          </a:prstGeom>
          <a:solidFill>
            <a:srgbClr val="F4F5F7"/>
          </a:solidFill>
          <a:ln/>
        </p:spPr>
        <p:txBody>
          <a:bodyPr/>
          <a:lstStyle/>
          <a:p>
            <a:endParaRPr lang="zh-CN" altLang="en-US"/>
          </a:p>
        </p:txBody>
      </p:sp>
      <p:sp>
        <p:nvSpPr>
          <p:cNvPr id="9" name="Text 7"/>
          <p:cNvSpPr/>
          <p:nvPr/>
        </p:nvSpPr>
        <p:spPr>
          <a:xfrm>
            <a:off x="7863840" y="2029968"/>
            <a:ext cx="1737360" cy="914400"/>
          </a:xfrm>
          <a:prstGeom prst="rect">
            <a:avLst/>
          </a:prstGeom>
          <a:noFill/>
          <a:ln/>
        </p:spPr>
        <p:txBody>
          <a:bodyPr wrap="square" lIns="0" tIns="0" rIns="0" bIns="0" rtlCol="0" anchor="ctr"/>
          <a:lstStyle/>
          <a:p>
            <a:pPr marL="0" indent="0" algn="l">
              <a:buNone/>
            </a:pPr>
            <a:r>
              <a:rPr lang="en-US" sz="3400" b="1" dirty="0">
                <a:solidFill>
                  <a:srgbClr val="C44E52"/>
                </a:solidFill>
                <a:latin typeface="Georgia" pitchFamily="34" charset="0"/>
                <a:ea typeface="Georgia" pitchFamily="34" charset="-122"/>
                <a:cs typeface="Georgia" pitchFamily="34" charset="-120"/>
              </a:rPr>
              <a:t>3,600</a:t>
            </a:r>
            <a:endParaRPr lang="en-US" sz="3400" dirty="0"/>
          </a:p>
        </p:txBody>
      </p:sp>
      <p:sp>
        <p:nvSpPr>
          <p:cNvPr id="10" name="Text 8"/>
          <p:cNvSpPr/>
          <p:nvPr/>
        </p:nvSpPr>
        <p:spPr>
          <a:xfrm>
            <a:off x="9509760" y="2029968"/>
            <a:ext cx="1828800" cy="914400"/>
          </a:xfrm>
          <a:prstGeom prst="rect">
            <a:avLst/>
          </a:prstGeom>
          <a:noFill/>
          <a:ln/>
        </p:spPr>
        <p:txBody>
          <a:bodyPr wrap="square" lIns="0" tIns="0" rIns="0" bIns="0" rtlCol="0" anchor="ctr"/>
          <a:lstStyle/>
          <a:p>
            <a:pPr marL="0" indent="0">
              <a:buNone/>
            </a:pPr>
            <a:r>
              <a:rPr lang="en-US" sz="1400" dirty="0">
                <a:solidFill>
                  <a:srgbClr val="1F2933"/>
                </a:solidFill>
                <a:latin typeface="Calibri" pitchFamily="34" charset="0"/>
                <a:ea typeface="Calibri" pitchFamily="34" charset="-122"/>
                <a:cs typeface="Calibri" pitchFamily="34" charset="-120"/>
              </a:rPr>
              <a:t>judgments</a:t>
            </a:r>
            <a:endParaRPr lang="en-US" sz="1400" dirty="0"/>
          </a:p>
        </p:txBody>
      </p:sp>
      <p:sp>
        <p:nvSpPr>
          <p:cNvPr id="11" name="Shape 9"/>
          <p:cNvSpPr/>
          <p:nvPr/>
        </p:nvSpPr>
        <p:spPr>
          <a:xfrm>
            <a:off x="7680960" y="3246120"/>
            <a:ext cx="3840480" cy="1143000"/>
          </a:xfrm>
          <a:prstGeom prst="rect">
            <a:avLst/>
          </a:prstGeom>
          <a:solidFill>
            <a:srgbClr val="F4F5F7"/>
          </a:solidFill>
          <a:ln/>
        </p:spPr>
        <p:txBody>
          <a:bodyPr/>
          <a:lstStyle/>
          <a:p>
            <a:endParaRPr lang="zh-CN" altLang="en-US"/>
          </a:p>
        </p:txBody>
      </p:sp>
      <p:sp>
        <p:nvSpPr>
          <p:cNvPr id="12" name="Text 10"/>
          <p:cNvSpPr/>
          <p:nvPr/>
        </p:nvSpPr>
        <p:spPr>
          <a:xfrm>
            <a:off x="7863840" y="3355848"/>
            <a:ext cx="1737360" cy="914400"/>
          </a:xfrm>
          <a:prstGeom prst="rect">
            <a:avLst/>
          </a:prstGeom>
          <a:noFill/>
          <a:ln/>
        </p:spPr>
        <p:txBody>
          <a:bodyPr wrap="square" lIns="0" tIns="0" rIns="0" bIns="0" rtlCol="0" anchor="ctr"/>
          <a:lstStyle/>
          <a:p>
            <a:pPr marL="0" indent="0" algn="l">
              <a:buNone/>
            </a:pPr>
            <a:r>
              <a:rPr lang="en-US" sz="3400" b="1" dirty="0">
                <a:solidFill>
                  <a:srgbClr val="C44E52"/>
                </a:solidFill>
                <a:latin typeface="Georgia" pitchFamily="34" charset="0"/>
                <a:ea typeface="Georgia" pitchFamily="34" charset="-122"/>
                <a:cs typeface="Georgia" pitchFamily="34" charset="-120"/>
              </a:rPr>
              <a:t>4</a:t>
            </a:r>
            <a:endParaRPr lang="en-US" sz="3400" dirty="0"/>
          </a:p>
        </p:txBody>
      </p:sp>
      <p:sp>
        <p:nvSpPr>
          <p:cNvPr id="13" name="Text 11"/>
          <p:cNvSpPr/>
          <p:nvPr/>
        </p:nvSpPr>
        <p:spPr>
          <a:xfrm>
            <a:off x="9509760" y="3355848"/>
            <a:ext cx="1828800" cy="914400"/>
          </a:xfrm>
          <a:prstGeom prst="rect">
            <a:avLst/>
          </a:prstGeom>
          <a:noFill/>
          <a:ln/>
        </p:spPr>
        <p:txBody>
          <a:bodyPr wrap="square" lIns="0" tIns="0" rIns="0" bIns="0" rtlCol="0" anchor="ctr"/>
          <a:lstStyle/>
          <a:p>
            <a:pPr marL="0" indent="0">
              <a:buNone/>
            </a:pPr>
            <a:r>
              <a:rPr lang="en-US" sz="1400" dirty="0">
                <a:solidFill>
                  <a:srgbClr val="1F2933"/>
                </a:solidFill>
                <a:latin typeface="Calibri" pitchFamily="34" charset="0"/>
                <a:ea typeface="Calibri" pitchFamily="34" charset="-122"/>
                <a:cs typeface="Calibri" pitchFamily="34" charset="-120"/>
              </a:rPr>
              <a:t>languages</a:t>
            </a:r>
            <a:endParaRPr lang="en-US" sz="1400" dirty="0"/>
          </a:p>
        </p:txBody>
      </p:sp>
      <p:sp>
        <p:nvSpPr>
          <p:cNvPr id="14" name="Shape 12"/>
          <p:cNvSpPr/>
          <p:nvPr/>
        </p:nvSpPr>
        <p:spPr>
          <a:xfrm>
            <a:off x="7680960" y="4572000"/>
            <a:ext cx="3840480" cy="1143000"/>
          </a:xfrm>
          <a:prstGeom prst="rect">
            <a:avLst/>
          </a:prstGeom>
          <a:solidFill>
            <a:srgbClr val="F4F5F7"/>
          </a:solidFill>
          <a:ln/>
        </p:spPr>
        <p:txBody>
          <a:bodyPr/>
          <a:lstStyle/>
          <a:p>
            <a:endParaRPr lang="zh-CN" altLang="en-US"/>
          </a:p>
        </p:txBody>
      </p:sp>
      <p:sp>
        <p:nvSpPr>
          <p:cNvPr id="15" name="Text 13"/>
          <p:cNvSpPr/>
          <p:nvPr/>
        </p:nvSpPr>
        <p:spPr>
          <a:xfrm>
            <a:off x="7863840" y="4681728"/>
            <a:ext cx="1737360" cy="914400"/>
          </a:xfrm>
          <a:prstGeom prst="rect">
            <a:avLst/>
          </a:prstGeom>
          <a:noFill/>
          <a:ln/>
        </p:spPr>
        <p:txBody>
          <a:bodyPr wrap="square" lIns="0" tIns="0" rIns="0" bIns="0" rtlCol="0" anchor="ctr"/>
          <a:lstStyle/>
          <a:p>
            <a:pPr marL="0" indent="0" algn="l">
              <a:buNone/>
            </a:pPr>
            <a:r>
              <a:rPr lang="en-US" sz="3400" b="1" dirty="0">
                <a:solidFill>
                  <a:srgbClr val="C44E52"/>
                </a:solidFill>
                <a:latin typeface="Georgia" pitchFamily="34" charset="0"/>
                <a:ea typeface="Georgia" pitchFamily="34" charset="-122"/>
                <a:cs typeface="Georgia" pitchFamily="34" charset="-120"/>
              </a:rPr>
              <a:t>5</a:t>
            </a:r>
            <a:endParaRPr lang="en-US" sz="3400" dirty="0"/>
          </a:p>
        </p:txBody>
      </p:sp>
      <p:sp>
        <p:nvSpPr>
          <p:cNvPr id="16" name="Text 14"/>
          <p:cNvSpPr/>
          <p:nvPr/>
        </p:nvSpPr>
        <p:spPr>
          <a:xfrm>
            <a:off x="9509760" y="4681728"/>
            <a:ext cx="1828800" cy="914400"/>
          </a:xfrm>
          <a:prstGeom prst="rect">
            <a:avLst/>
          </a:prstGeom>
          <a:noFill/>
          <a:ln/>
        </p:spPr>
        <p:txBody>
          <a:bodyPr wrap="square" lIns="0" tIns="0" rIns="0" bIns="0" rtlCol="0" anchor="ctr"/>
          <a:lstStyle/>
          <a:p>
            <a:pPr marL="0" indent="0">
              <a:buNone/>
            </a:pPr>
            <a:r>
              <a:rPr lang="en-US" sz="1400" dirty="0">
                <a:solidFill>
                  <a:srgbClr val="1F2933"/>
                </a:solidFill>
                <a:latin typeface="Calibri" pitchFamily="34" charset="0"/>
                <a:ea typeface="Calibri" pitchFamily="34" charset="-122"/>
                <a:cs typeface="Calibri" pitchFamily="34" charset="-120"/>
              </a:rPr>
              <a:t>socio-attributes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0080" y="6473952"/>
            <a:ext cx="8229600" cy="274320"/>
          </a:xfrm>
          <a:prstGeom prst="rect">
            <a:avLst/>
          </a:prstGeom>
          <a:noFill/>
          <a:ln/>
        </p:spPr>
        <p:txBody>
          <a:bodyPr wrap="square" lIns="0" tIns="0" rIns="0" bIns="0" rtlCol="0" anchor="ctr"/>
          <a:lstStyle/>
          <a:p>
            <a:pPr marL="0" indent="0">
              <a:buNone/>
            </a:pPr>
            <a:r>
              <a:rPr lang="en-US" sz="900" dirty="0">
                <a:solidFill>
                  <a:srgbClr val="7B8794"/>
                </a:solidFill>
                <a:latin typeface="Calibri" pitchFamily="34" charset="0"/>
                <a:ea typeface="Calibri" pitchFamily="34" charset="-122"/>
                <a:cs typeface="Calibri" pitchFamily="34" charset="-120"/>
              </a:rPr>
              <a:t>Multilingual Prototypicality Bias  ·  Progress Report</a:t>
            </a:r>
            <a:endParaRPr lang="en-US" sz="900" dirty="0"/>
          </a:p>
        </p:txBody>
      </p:sp>
      <p:sp>
        <p:nvSpPr>
          <p:cNvPr id="3" name="Text 1"/>
          <p:cNvSpPr/>
          <p:nvPr/>
        </p:nvSpPr>
        <p:spPr>
          <a:xfrm>
            <a:off x="11183112" y="6473952"/>
            <a:ext cx="457200" cy="274320"/>
          </a:xfrm>
          <a:prstGeom prst="rect">
            <a:avLst/>
          </a:prstGeom>
          <a:noFill/>
          <a:ln/>
        </p:spPr>
        <p:txBody>
          <a:bodyPr wrap="square" lIns="0" tIns="0" rIns="0" bIns="0" rtlCol="0" anchor="ctr"/>
          <a:lstStyle/>
          <a:p>
            <a:pPr marL="0" indent="0" algn="r">
              <a:buNone/>
            </a:pPr>
            <a:r>
              <a:rPr lang="en-US" sz="900" dirty="0">
                <a:solidFill>
                  <a:srgbClr val="7B8794"/>
                </a:solidFill>
                <a:latin typeface="Calibri" pitchFamily="34" charset="0"/>
                <a:ea typeface="Calibri" pitchFamily="34" charset="-122"/>
                <a:cs typeface="Calibri" pitchFamily="34" charset="-120"/>
              </a:rPr>
              <a:t>8</a:t>
            </a:r>
            <a:endParaRPr lang="en-US" sz="900" dirty="0"/>
          </a:p>
        </p:txBody>
      </p:sp>
      <p:sp>
        <p:nvSpPr>
          <p:cNvPr id="4" name="Shape 2"/>
          <p:cNvSpPr/>
          <p:nvPr/>
        </p:nvSpPr>
        <p:spPr>
          <a:xfrm>
            <a:off x="640080" y="566928"/>
            <a:ext cx="146304" cy="146304"/>
          </a:xfrm>
          <a:prstGeom prst="rect">
            <a:avLst/>
          </a:prstGeom>
          <a:solidFill>
            <a:srgbClr val="C44E52"/>
          </a:solidFill>
          <a:ln/>
        </p:spPr>
        <p:txBody>
          <a:bodyPr/>
          <a:lstStyle/>
          <a:p>
            <a:endParaRPr lang="zh-CN" altLang="en-US"/>
          </a:p>
        </p:txBody>
      </p:sp>
      <p:sp>
        <p:nvSpPr>
          <p:cNvPr id="5" name="Text 3"/>
          <p:cNvSpPr/>
          <p:nvPr/>
        </p:nvSpPr>
        <p:spPr>
          <a:xfrm>
            <a:off x="932688" y="509750"/>
            <a:ext cx="10908792" cy="274320"/>
          </a:xfrm>
          <a:prstGeom prst="rect">
            <a:avLst/>
          </a:prstGeom>
          <a:noFill/>
          <a:ln/>
        </p:spPr>
        <p:txBody>
          <a:bodyPr wrap="square" lIns="0" tIns="0" rIns="0" bIns="0" rtlCol="0" anchor="ctr"/>
          <a:lstStyle/>
          <a:p>
            <a:pPr marL="0" indent="0">
              <a:buNone/>
            </a:pPr>
            <a:r>
              <a:rPr lang="en-US" sz="1100" b="1" kern="0" spc="200" dirty="0">
                <a:solidFill>
                  <a:srgbClr val="C44E52"/>
                </a:solidFill>
                <a:latin typeface="Calibri" pitchFamily="34" charset="0"/>
                <a:ea typeface="Calibri" pitchFamily="34" charset="-122"/>
                <a:cs typeface="Calibri" pitchFamily="34" charset="-120"/>
              </a:rPr>
              <a:t>RESULT — THE SETUP</a:t>
            </a:r>
            <a:endParaRPr lang="en-US" sz="1100" dirty="0"/>
          </a:p>
        </p:txBody>
      </p:sp>
      <p:sp>
        <p:nvSpPr>
          <p:cNvPr id="6" name="Text 4"/>
          <p:cNvSpPr/>
          <p:nvPr/>
        </p:nvSpPr>
        <p:spPr>
          <a:xfrm>
            <a:off x="640080" y="749808"/>
            <a:ext cx="10908792" cy="822960"/>
          </a:xfrm>
          <a:prstGeom prst="rect">
            <a:avLst/>
          </a:prstGeom>
          <a:noFill/>
          <a:ln/>
        </p:spPr>
        <p:txBody>
          <a:bodyPr wrap="square" lIns="0" tIns="0" rIns="0" bIns="0" rtlCol="0" anchor="ctr"/>
          <a:lstStyle/>
          <a:p>
            <a:pPr marL="0" indent="0">
              <a:buNone/>
            </a:pPr>
            <a:r>
              <a:rPr lang="en-US" sz="3000" b="1" dirty="0">
                <a:solidFill>
                  <a:srgbClr val="1F2933"/>
                </a:solidFill>
                <a:latin typeface="Georgia" pitchFamily="34" charset="0"/>
                <a:ea typeface="Georgia" pitchFamily="34" charset="-122"/>
                <a:cs typeface="Georgia" pitchFamily="34" charset="-120"/>
              </a:rPr>
              <a:t>First pass: aggregate by domain × language</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1920240"/>
          <a:ext cx="6766560" cy="2423160"/>
        </p:xfrm>
        <a:graphic>
          <a:graphicData uri="http://schemas.openxmlformats.org/drawingml/2006/table">
            <a:tbl>
              <a:tblPr/>
              <a:tblGrid>
                <a:gridCol w="1353312">
                  <a:extLst>
                    <a:ext uri="{9D8B030D-6E8A-4147-A177-3AD203B41FA5}">
                      <a16:colId xmlns:a16="http://schemas.microsoft.com/office/drawing/2014/main" val="20000"/>
                    </a:ext>
                  </a:extLst>
                </a:gridCol>
                <a:gridCol w="1353312">
                  <a:extLst>
                    <a:ext uri="{9D8B030D-6E8A-4147-A177-3AD203B41FA5}">
                      <a16:colId xmlns:a16="http://schemas.microsoft.com/office/drawing/2014/main" val="20001"/>
                    </a:ext>
                  </a:extLst>
                </a:gridCol>
                <a:gridCol w="1353312">
                  <a:extLst>
                    <a:ext uri="{9D8B030D-6E8A-4147-A177-3AD203B41FA5}">
                      <a16:colId xmlns:a16="http://schemas.microsoft.com/office/drawing/2014/main" val="20002"/>
                    </a:ext>
                  </a:extLst>
                </a:gridCol>
                <a:gridCol w="1353312">
                  <a:extLst>
                    <a:ext uri="{9D8B030D-6E8A-4147-A177-3AD203B41FA5}">
                      <a16:colId xmlns:a16="http://schemas.microsoft.com/office/drawing/2014/main" val="20003"/>
                    </a:ext>
                  </a:extLst>
                </a:gridCol>
                <a:gridCol w="1353312">
                  <a:extLst>
                    <a:ext uri="{9D8B030D-6E8A-4147-A177-3AD203B41FA5}">
                      <a16:colId xmlns:a16="http://schemas.microsoft.com/office/drawing/2014/main" val="20004"/>
                    </a:ext>
                  </a:extLst>
                </a:gridCol>
              </a:tblGrid>
              <a:tr h="502920">
                <a:tc>
                  <a:txBody>
                    <a:bodyPr/>
                    <a:lstStyle/>
                    <a:p>
                      <a:pPr marL="0" indent="0" algn="ctr">
                        <a:buNone/>
                      </a:pPr>
                      <a:endParaRPr lang="en-US" sz="1500" dirty="0">
                        <a:latin typeface="Calibri" charset="0"/>
                        <a:ea typeface="Calibri" charset="0"/>
                        <a:cs typeface="Calibri" charset="0"/>
                      </a:endParaRPr>
                    </a:p>
                  </a:txBody>
                  <a:tcPr anchor="ctr">
                    <a:lnL w="12700" cap="flat" cmpd="sng" algn="ctr">
                      <a:solidFill>
                        <a:srgbClr val="D9DEE3"/>
                      </a:solidFill>
                      <a:prstDash val="solid"/>
                      <a:round/>
                      <a:headEnd type="none" w="med" len="med"/>
                      <a:tailEnd type="none" w="med" len="med"/>
                    </a:lnL>
                    <a:lnR w="12700" cap="flat" cmpd="sng" algn="ctr">
                      <a:solidFill>
                        <a:srgbClr val="D9DEE3"/>
                      </a:solidFill>
                      <a:prstDash val="solid"/>
                      <a:round/>
                      <a:headEnd type="none" w="med" len="med"/>
                      <a:tailEnd type="none" w="med" len="med"/>
                    </a:lnR>
                    <a:lnT w="12700" cap="flat" cmpd="sng" algn="ctr">
                      <a:solidFill>
                        <a:srgbClr val="D9DEE3"/>
                      </a:solidFill>
                      <a:prstDash val="solid"/>
                      <a:round/>
                      <a:headEnd type="none" w="med" len="med"/>
                      <a:tailEnd type="none" w="med" len="med"/>
                    </a:lnT>
                    <a:lnB w="12700" cap="flat" cmpd="sng" algn="ctr">
                      <a:solidFill>
                        <a:srgbClr val="D9DEE3"/>
                      </a:solidFill>
                      <a:prstDash val="solid"/>
                      <a:round/>
                      <a:headEnd type="none" w="med" len="med"/>
                      <a:tailEnd type="none" w="med" len="med"/>
                    </a:lnB>
                    <a:solidFill>
                      <a:srgbClr val="1F2933"/>
                    </a:solidFill>
                  </a:tcPr>
                </a:tc>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English</a:t>
                      </a:r>
                      <a:endParaRPr lang="en-US" sz="1500" dirty="0">
                        <a:latin typeface="Calibri" charset="0"/>
                        <a:ea typeface="Calibri" charset="0"/>
                        <a:cs typeface="Calibri" charset="0"/>
                      </a:endParaRPr>
                    </a:p>
                  </a:txBody>
                  <a:tcPr anchor="ctr">
                    <a:lnL w="12700" cap="flat" cmpd="sng" algn="ctr">
                      <a:solidFill>
                        <a:srgbClr val="D9DEE3"/>
                      </a:solidFill>
                      <a:prstDash val="solid"/>
                      <a:round/>
                      <a:headEnd type="none" w="med" len="med"/>
                      <a:tailEnd type="none" w="med" len="med"/>
                    </a:lnL>
                    <a:lnR w="12700" cap="flat" cmpd="sng" algn="ctr">
                      <a:solidFill>
                        <a:srgbClr val="D9DEE3"/>
                      </a:solidFill>
                      <a:prstDash val="solid"/>
                      <a:round/>
                      <a:headEnd type="none" w="med" len="med"/>
                      <a:tailEnd type="none" w="med" len="med"/>
                    </a:lnR>
                    <a:lnT w="12700" cap="flat" cmpd="sng" algn="ctr">
                      <a:solidFill>
                        <a:srgbClr val="D9DEE3"/>
                      </a:solidFill>
                      <a:prstDash val="solid"/>
                      <a:round/>
                      <a:headEnd type="none" w="med" len="med"/>
                      <a:tailEnd type="none" w="med" len="med"/>
                    </a:lnT>
                    <a:lnB w="12700" cap="flat" cmpd="sng" algn="ctr">
                      <a:solidFill>
                        <a:srgbClr val="D9DEE3"/>
                      </a:solidFill>
                      <a:prstDash val="solid"/>
                      <a:round/>
                      <a:headEnd type="none" w="med" len="med"/>
                      <a:tailEnd type="none" w="med" len="med"/>
                    </a:lnB>
                    <a:solidFill>
                      <a:srgbClr val="1F2933"/>
                    </a:solidFill>
                  </a:tcPr>
                </a:tc>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Chinese</a:t>
                      </a:r>
                      <a:endParaRPr lang="en-US" sz="1500" dirty="0">
                        <a:latin typeface="Calibri" charset="0"/>
                        <a:ea typeface="Calibri" charset="0"/>
                        <a:cs typeface="Calibri" charset="0"/>
                      </a:endParaRPr>
                    </a:p>
                  </a:txBody>
                  <a:tcPr anchor="ctr">
                    <a:lnL w="12700" cap="flat" cmpd="sng" algn="ctr">
                      <a:solidFill>
                        <a:srgbClr val="D9DEE3"/>
                      </a:solidFill>
                      <a:prstDash val="solid"/>
                      <a:round/>
                      <a:headEnd type="none" w="med" len="med"/>
                      <a:tailEnd type="none" w="med" len="med"/>
                    </a:lnL>
                    <a:lnR w="12700" cap="flat" cmpd="sng" algn="ctr">
                      <a:solidFill>
                        <a:srgbClr val="D9DEE3"/>
                      </a:solidFill>
                      <a:prstDash val="solid"/>
                      <a:round/>
                      <a:headEnd type="none" w="med" len="med"/>
                      <a:tailEnd type="none" w="med" len="med"/>
                    </a:lnR>
                    <a:lnT w="12700" cap="flat" cmpd="sng" algn="ctr">
                      <a:solidFill>
                        <a:srgbClr val="D9DEE3"/>
                      </a:solidFill>
                      <a:prstDash val="solid"/>
                      <a:round/>
                      <a:headEnd type="none" w="med" len="med"/>
                      <a:tailEnd type="none" w="med" len="med"/>
                    </a:lnT>
                    <a:lnB w="12700" cap="flat" cmpd="sng" algn="ctr">
                      <a:solidFill>
                        <a:srgbClr val="D9DEE3"/>
                      </a:solidFill>
                      <a:prstDash val="solid"/>
                      <a:round/>
                      <a:headEnd type="none" w="med" len="med"/>
                      <a:tailEnd type="none" w="med" len="med"/>
                    </a:lnB>
                    <a:solidFill>
                      <a:srgbClr val="1F2933"/>
                    </a:solidFill>
                  </a:tcPr>
                </a:tc>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Arabic</a:t>
                      </a:r>
                      <a:endParaRPr lang="en-US" sz="1500" dirty="0">
                        <a:latin typeface="Calibri" charset="0"/>
                        <a:ea typeface="Calibri" charset="0"/>
                        <a:cs typeface="Calibri" charset="0"/>
                      </a:endParaRPr>
                    </a:p>
                  </a:txBody>
                  <a:tcPr anchor="ctr">
                    <a:lnL w="12700" cap="flat" cmpd="sng" algn="ctr">
                      <a:solidFill>
                        <a:srgbClr val="D9DEE3"/>
                      </a:solidFill>
                      <a:prstDash val="solid"/>
                      <a:round/>
                      <a:headEnd type="none" w="med" len="med"/>
                      <a:tailEnd type="none" w="med" len="med"/>
                    </a:lnL>
                    <a:lnR w="12700" cap="flat" cmpd="sng" algn="ctr">
                      <a:solidFill>
                        <a:srgbClr val="D9DEE3"/>
                      </a:solidFill>
                      <a:prstDash val="solid"/>
                      <a:round/>
                      <a:headEnd type="none" w="med" len="med"/>
                      <a:tailEnd type="none" w="med" len="med"/>
                    </a:lnR>
                    <a:lnT w="12700" cap="flat" cmpd="sng" algn="ctr">
                      <a:solidFill>
                        <a:srgbClr val="D9DEE3"/>
                      </a:solidFill>
                      <a:prstDash val="solid"/>
                      <a:round/>
                      <a:headEnd type="none" w="med" len="med"/>
                      <a:tailEnd type="none" w="med" len="med"/>
                    </a:lnT>
                    <a:lnB w="12700" cap="flat" cmpd="sng" algn="ctr">
                      <a:solidFill>
                        <a:srgbClr val="D9DEE3"/>
                      </a:solidFill>
                      <a:prstDash val="solid"/>
                      <a:round/>
                      <a:headEnd type="none" w="med" len="med"/>
                      <a:tailEnd type="none" w="med" len="med"/>
                    </a:lnB>
                    <a:solidFill>
                      <a:srgbClr val="1F2933"/>
                    </a:solidFill>
                  </a:tcPr>
                </a:tc>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Hindi</a:t>
                      </a:r>
                      <a:endParaRPr lang="en-US" sz="1500" dirty="0">
                        <a:latin typeface="Calibri" charset="0"/>
                        <a:ea typeface="Calibri" charset="0"/>
                        <a:cs typeface="Calibri" charset="0"/>
                      </a:endParaRPr>
                    </a:p>
                  </a:txBody>
                  <a:tcPr anchor="ctr">
                    <a:lnL w="12700" cap="flat" cmpd="sng" algn="ctr">
                      <a:solidFill>
                        <a:srgbClr val="D9DEE3"/>
                      </a:solidFill>
                      <a:prstDash val="solid"/>
                      <a:round/>
                      <a:headEnd type="none" w="med" len="med"/>
                      <a:tailEnd type="none" w="med" len="med"/>
                    </a:lnL>
                    <a:lnR w="12700" cap="flat" cmpd="sng" algn="ctr">
                      <a:solidFill>
                        <a:srgbClr val="D9DEE3"/>
                      </a:solidFill>
                      <a:prstDash val="solid"/>
                      <a:round/>
                      <a:headEnd type="none" w="med" len="med"/>
                      <a:tailEnd type="none" w="med" len="med"/>
                    </a:lnR>
                    <a:lnT w="12700" cap="flat" cmpd="sng" algn="ctr">
                      <a:solidFill>
                        <a:srgbClr val="D9DEE3"/>
                      </a:solidFill>
                      <a:prstDash val="solid"/>
                      <a:round/>
                      <a:headEnd type="none" w="med" len="med"/>
                      <a:tailEnd type="none" w="med" len="med"/>
                    </a:lnT>
                    <a:lnB w="12700" cap="flat" cmpd="sng" algn="ctr">
                      <a:solidFill>
                        <a:srgbClr val="D9DEE3"/>
                      </a:solidFill>
                      <a:prstDash val="solid"/>
                      <a:round/>
                      <a:headEnd type="none" w="med" len="med"/>
                      <a:tailEnd type="none" w="med" len="med"/>
                    </a:lnB>
                    <a:solidFill>
                      <a:srgbClr val="1F2933"/>
                    </a:solidFill>
                  </a:tcPr>
                </a:tc>
                <a:extLst>
                  <a:ext uri="{0D108BD9-81ED-4DB2-BD59-A6C34878D82A}">
                    <a16:rowId xmlns:a16="http://schemas.microsoft.com/office/drawing/2014/main" val="10000"/>
                  </a:ext>
                </a:extLst>
              </a:tr>
              <a:tr h="640080">
                <a:tc>
                  <a:txBody>
                    <a:bodyPr/>
                    <a:lstStyle/>
                    <a:p>
                      <a:pPr marL="0" indent="0">
                        <a:buNone/>
                      </a:pPr>
                      <a:r>
                        <a:rPr lang="en-US" sz="1500" b="1" dirty="0">
                          <a:solidFill>
                            <a:srgbClr val="1F2933"/>
                          </a:solidFill>
                          <a:latin typeface="Calibri" pitchFamily="34" charset="0"/>
                          <a:ea typeface="Calibri" pitchFamily="34" charset="-122"/>
                          <a:cs typeface="Calibri" pitchFamily="34" charset="-120"/>
                        </a:rPr>
                        <a:t>Animals</a:t>
                      </a:r>
                      <a:endParaRPr lang="en-US" sz="1500" dirty="0">
                        <a:latin typeface="Calibri" charset="0"/>
                        <a:ea typeface="Calibri" charset="0"/>
                        <a:cs typeface="Calibri" charset="0"/>
                      </a:endParaRPr>
                    </a:p>
                  </a:txBody>
                  <a:tcPr anchor="ctr">
                    <a:lnL w="12700" cap="flat" cmpd="sng" algn="ctr">
                      <a:solidFill>
                        <a:srgbClr val="D9DEE3"/>
                      </a:solidFill>
                      <a:prstDash val="solid"/>
                      <a:round/>
                      <a:headEnd type="none" w="med" len="med"/>
                      <a:tailEnd type="none" w="med" len="med"/>
                    </a:lnL>
                    <a:lnR w="12700" cap="flat" cmpd="sng" algn="ctr">
                      <a:solidFill>
                        <a:srgbClr val="D9DEE3"/>
                      </a:solidFill>
                      <a:prstDash val="solid"/>
                      <a:round/>
                      <a:headEnd type="none" w="med" len="med"/>
                      <a:tailEnd type="none" w="med" len="med"/>
                    </a:lnR>
                    <a:lnT w="12700" cap="flat" cmpd="sng" algn="ctr">
                      <a:solidFill>
                        <a:srgbClr val="D9DEE3"/>
                      </a:solidFill>
                      <a:prstDash val="solid"/>
                      <a:round/>
                      <a:headEnd type="none" w="med" len="med"/>
                      <a:tailEnd type="none" w="med" len="med"/>
                    </a:lnT>
                    <a:lnB w="12700" cap="flat" cmpd="sng" algn="ctr">
                      <a:solidFill>
                        <a:srgbClr val="D9DEE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3"/>
                          </a:solidFill>
                          <a:latin typeface="Calibri" pitchFamily="34" charset="0"/>
                          <a:ea typeface="Calibri" pitchFamily="34" charset="-122"/>
                          <a:cs typeface="Calibri" pitchFamily="34" charset="-120"/>
                        </a:rPr>
                        <a:t>.523</a:t>
                      </a:r>
                      <a:endParaRPr lang="en-US" sz="1500" dirty="0">
                        <a:latin typeface="Calibri" charset="0"/>
                        <a:ea typeface="Calibri" charset="0"/>
                        <a:cs typeface="Calibri" charset="0"/>
                      </a:endParaRPr>
                    </a:p>
                  </a:txBody>
                  <a:tcPr anchor="ctr">
                    <a:lnL w="12700" cap="flat" cmpd="sng" algn="ctr">
                      <a:solidFill>
                        <a:srgbClr val="D9DEE3"/>
                      </a:solidFill>
                      <a:prstDash val="solid"/>
                      <a:round/>
                      <a:headEnd type="none" w="med" len="med"/>
                      <a:tailEnd type="none" w="med" len="med"/>
                    </a:lnL>
                    <a:lnR w="12700" cap="flat" cmpd="sng" algn="ctr">
                      <a:solidFill>
                        <a:srgbClr val="D9DEE3"/>
                      </a:solidFill>
                      <a:prstDash val="solid"/>
                      <a:round/>
                      <a:headEnd type="none" w="med" len="med"/>
                      <a:tailEnd type="none" w="med" len="med"/>
                    </a:lnR>
                    <a:lnT w="12700" cap="flat" cmpd="sng" algn="ctr">
                      <a:solidFill>
                        <a:srgbClr val="D9DEE3"/>
                      </a:solidFill>
                      <a:prstDash val="solid"/>
                      <a:round/>
                      <a:headEnd type="none" w="med" len="med"/>
                      <a:tailEnd type="none" w="med" len="med"/>
                    </a:lnT>
                    <a:lnB w="12700" cap="flat" cmpd="sng" algn="ctr">
                      <a:solidFill>
                        <a:srgbClr val="D9DEE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3"/>
                          </a:solidFill>
                          <a:latin typeface="Calibri" pitchFamily="34" charset="0"/>
                          <a:ea typeface="Calibri" pitchFamily="34" charset="-122"/>
                          <a:cs typeface="Calibri" pitchFamily="34" charset="-120"/>
                        </a:rPr>
                        <a:t>.575</a:t>
                      </a:r>
                      <a:endParaRPr lang="en-US" sz="1500" dirty="0">
                        <a:latin typeface="Calibri" charset="0"/>
                        <a:ea typeface="Calibri" charset="0"/>
                        <a:cs typeface="Calibri" charset="0"/>
                      </a:endParaRPr>
                    </a:p>
                  </a:txBody>
                  <a:tcPr anchor="ctr">
                    <a:lnL w="12700" cap="flat" cmpd="sng" algn="ctr">
                      <a:solidFill>
                        <a:srgbClr val="D9DEE3"/>
                      </a:solidFill>
                      <a:prstDash val="solid"/>
                      <a:round/>
                      <a:headEnd type="none" w="med" len="med"/>
                      <a:tailEnd type="none" w="med" len="med"/>
                    </a:lnL>
                    <a:lnR w="12700" cap="flat" cmpd="sng" algn="ctr">
                      <a:solidFill>
                        <a:srgbClr val="D9DEE3"/>
                      </a:solidFill>
                      <a:prstDash val="solid"/>
                      <a:round/>
                      <a:headEnd type="none" w="med" len="med"/>
                      <a:tailEnd type="none" w="med" len="med"/>
                    </a:lnR>
                    <a:lnT w="12700" cap="flat" cmpd="sng" algn="ctr">
                      <a:solidFill>
                        <a:srgbClr val="D9DEE3"/>
                      </a:solidFill>
                      <a:prstDash val="solid"/>
                      <a:round/>
                      <a:headEnd type="none" w="med" len="med"/>
                      <a:tailEnd type="none" w="med" len="med"/>
                    </a:lnT>
                    <a:lnB w="12700" cap="flat" cmpd="sng" algn="ctr">
                      <a:solidFill>
                        <a:srgbClr val="D9DEE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3"/>
                          </a:solidFill>
                          <a:latin typeface="Calibri" pitchFamily="34" charset="0"/>
                          <a:ea typeface="Calibri" pitchFamily="34" charset="-122"/>
                          <a:cs typeface="Calibri" pitchFamily="34" charset="-120"/>
                        </a:rPr>
                        <a:t>.570</a:t>
                      </a:r>
                      <a:endParaRPr lang="en-US" sz="1500" dirty="0">
                        <a:latin typeface="Calibri" charset="0"/>
                        <a:ea typeface="Calibri" charset="0"/>
                        <a:cs typeface="Calibri" charset="0"/>
                      </a:endParaRPr>
                    </a:p>
                  </a:txBody>
                  <a:tcPr anchor="ctr">
                    <a:lnL w="12700" cap="flat" cmpd="sng" algn="ctr">
                      <a:solidFill>
                        <a:srgbClr val="D9DEE3"/>
                      </a:solidFill>
                      <a:prstDash val="solid"/>
                      <a:round/>
                      <a:headEnd type="none" w="med" len="med"/>
                      <a:tailEnd type="none" w="med" len="med"/>
                    </a:lnL>
                    <a:lnR w="12700" cap="flat" cmpd="sng" algn="ctr">
                      <a:solidFill>
                        <a:srgbClr val="D9DEE3"/>
                      </a:solidFill>
                      <a:prstDash val="solid"/>
                      <a:round/>
                      <a:headEnd type="none" w="med" len="med"/>
                      <a:tailEnd type="none" w="med" len="med"/>
                    </a:lnR>
                    <a:lnT w="12700" cap="flat" cmpd="sng" algn="ctr">
                      <a:solidFill>
                        <a:srgbClr val="D9DEE3"/>
                      </a:solidFill>
                      <a:prstDash val="solid"/>
                      <a:round/>
                      <a:headEnd type="none" w="med" len="med"/>
                      <a:tailEnd type="none" w="med" len="med"/>
                    </a:lnT>
                    <a:lnB w="12700" cap="flat" cmpd="sng" algn="ctr">
                      <a:solidFill>
                        <a:srgbClr val="D9DEE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3"/>
                          </a:solidFill>
                          <a:latin typeface="Calibri" pitchFamily="34" charset="0"/>
                          <a:ea typeface="Calibri" pitchFamily="34" charset="-122"/>
                          <a:cs typeface="Calibri" pitchFamily="34" charset="-120"/>
                        </a:rPr>
                        <a:t>.573</a:t>
                      </a:r>
                      <a:endParaRPr lang="en-US" sz="1500" dirty="0">
                        <a:latin typeface="Calibri" charset="0"/>
                        <a:ea typeface="Calibri" charset="0"/>
                        <a:cs typeface="Calibri" charset="0"/>
                      </a:endParaRPr>
                    </a:p>
                  </a:txBody>
                  <a:tcPr anchor="ctr">
                    <a:lnL w="12700" cap="flat" cmpd="sng" algn="ctr">
                      <a:solidFill>
                        <a:srgbClr val="D9DEE3"/>
                      </a:solidFill>
                      <a:prstDash val="solid"/>
                      <a:round/>
                      <a:headEnd type="none" w="med" len="med"/>
                      <a:tailEnd type="none" w="med" len="med"/>
                    </a:lnL>
                    <a:lnR w="12700" cap="flat" cmpd="sng" algn="ctr">
                      <a:solidFill>
                        <a:srgbClr val="D9DEE3"/>
                      </a:solidFill>
                      <a:prstDash val="solid"/>
                      <a:round/>
                      <a:headEnd type="none" w="med" len="med"/>
                      <a:tailEnd type="none" w="med" len="med"/>
                    </a:lnR>
                    <a:lnT w="12700" cap="flat" cmpd="sng" algn="ctr">
                      <a:solidFill>
                        <a:srgbClr val="D9DEE3"/>
                      </a:solidFill>
                      <a:prstDash val="solid"/>
                      <a:round/>
                      <a:headEnd type="none" w="med" len="med"/>
                      <a:tailEnd type="none" w="med" len="med"/>
                    </a:lnT>
                    <a:lnB w="1270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marL="0" indent="0">
                        <a:buNone/>
                      </a:pPr>
                      <a:r>
                        <a:rPr lang="en-US" sz="1500" b="1" dirty="0">
                          <a:solidFill>
                            <a:srgbClr val="1F2933"/>
                          </a:solidFill>
                          <a:latin typeface="Calibri" pitchFamily="34" charset="0"/>
                          <a:ea typeface="Calibri" pitchFamily="34" charset="-122"/>
                          <a:cs typeface="Calibri" pitchFamily="34" charset="-120"/>
                        </a:rPr>
                        <a:t>Demography</a:t>
                      </a:r>
                      <a:endParaRPr lang="en-US" sz="1500" dirty="0">
                        <a:latin typeface="Calibri" charset="0"/>
                        <a:ea typeface="Calibri" charset="0"/>
                        <a:cs typeface="Calibri" charset="0"/>
                      </a:endParaRPr>
                    </a:p>
                  </a:txBody>
                  <a:tcPr anchor="ctr">
                    <a:lnL w="12700" cap="flat" cmpd="sng" algn="ctr">
                      <a:solidFill>
                        <a:srgbClr val="D9DEE3"/>
                      </a:solidFill>
                      <a:prstDash val="solid"/>
                      <a:round/>
                      <a:headEnd type="none" w="med" len="med"/>
                      <a:tailEnd type="none" w="med" len="med"/>
                    </a:lnL>
                    <a:lnR w="12700" cap="flat" cmpd="sng" algn="ctr">
                      <a:solidFill>
                        <a:srgbClr val="D9DEE3"/>
                      </a:solidFill>
                      <a:prstDash val="solid"/>
                      <a:round/>
                      <a:headEnd type="none" w="med" len="med"/>
                      <a:tailEnd type="none" w="med" len="med"/>
                    </a:lnR>
                    <a:lnT w="12700" cap="flat" cmpd="sng" algn="ctr">
                      <a:solidFill>
                        <a:srgbClr val="D9DEE3"/>
                      </a:solidFill>
                      <a:prstDash val="solid"/>
                      <a:round/>
                      <a:headEnd type="none" w="med" len="med"/>
                      <a:tailEnd type="none" w="med" len="med"/>
                    </a:lnT>
                    <a:lnB w="12700" cap="flat" cmpd="sng" algn="ctr">
                      <a:solidFill>
                        <a:srgbClr val="D9DEE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3"/>
                          </a:solidFill>
                          <a:latin typeface="Calibri" pitchFamily="34" charset="0"/>
                          <a:ea typeface="Calibri" pitchFamily="34" charset="-122"/>
                          <a:cs typeface="Calibri" pitchFamily="34" charset="-120"/>
                        </a:rPr>
                        <a:t>.560</a:t>
                      </a:r>
                      <a:endParaRPr lang="en-US" sz="1500" dirty="0">
                        <a:latin typeface="Calibri" charset="0"/>
                        <a:ea typeface="Calibri" charset="0"/>
                        <a:cs typeface="Calibri" charset="0"/>
                      </a:endParaRPr>
                    </a:p>
                  </a:txBody>
                  <a:tcPr anchor="ctr">
                    <a:lnL w="12700" cap="flat" cmpd="sng" algn="ctr">
                      <a:solidFill>
                        <a:srgbClr val="D9DEE3"/>
                      </a:solidFill>
                      <a:prstDash val="solid"/>
                      <a:round/>
                      <a:headEnd type="none" w="med" len="med"/>
                      <a:tailEnd type="none" w="med" len="med"/>
                    </a:lnL>
                    <a:lnR w="12700" cap="flat" cmpd="sng" algn="ctr">
                      <a:solidFill>
                        <a:srgbClr val="D9DEE3"/>
                      </a:solidFill>
                      <a:prstDash val="solid"/>
                      <a:round/>
                      <a:headEnd type="none" w="med" len="med"/>
                      <a:tailEnd type="none" w="med" len="med"/>
                    </a:lnR>
                    <a:lnT w="12700" cap="flat" cmpd="sng" algn="ctr">
                      <a:solidFill>
                        <a:srgbClr val="D9DEE3"/>
                      </a:solidFill>
                      <a:prstDash val="solid"/>
                      <a:round/>
                      <a:headEnd type="none" w="med" len="med"/>
                      <a:tailEnd type="none" w="med" len="med"/>
                    </a:lnT>
                    <a:lnB w="12700" cap="flat" cmpd="sng" algn="ctr">
                      <a:solidFill>
                        <a:srgbClr val="D9DEE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3"/>
                          </a:solidFill>
                          <a:latin typeface="Calibri" pitchFamily="34" charset="0"/>
                          <a:ea typeface="Calibri" pitchFamily="34" charset="-122"/>
                          <a:cs typeface="Calibri" pitchFamily="34" charset="-120"/>
                        </a:rPr>
                        <a:t>.577</a:t>
                      </a:r>
                      <a:endParaRPr lang="en-US" sz="1500" dirty="0">
                        <a:latin typeface="Calibri" charset="0"/>
                        <a:ea typeface="Calibri" charset="0"/>
                        <a:cs typeface="Calibri" charset="0"/>
                      </a:endParaRPr>
                    </a:p>
                  </a:txBody>
                  <a:tcPr anchor="ctr">
                    <a:lnL w="12700" cap="flat" cmpd="sng" algn="ctr">
                      <a:solidFill>
                        <a:srgbClr val="D9DEE3"/>
                      </a:solidFill>
                      <a:prstDash val="solid"/>
                      <a:round/>
                      <a:headEnd type="none" w="med" len="med"/>
                      <a:tailEnd type="none" w="med" len="med"/>
                    </a:lnL>
                    <a:lnR w="12700" cap="flat" cmpd="sng" algn="ctr">
                      <a:solidFill>
                        <a:srgbClr val="D9DEE3"/>
                      </a:solidFill>
                      <a:prstDash val="solid"/>
                      <a:round/>
                      <a:headEnd type="none" w="med" len="med"/>
                      <a:tailEnd type="none" w="med" len="med"/>
                    </a:lnR>
                    <a:lnT w="12700" cap="flat" cmpd="sng" algn="ctr">
                      <a:solidFill>
                        <a:srgbClr val="D9DEE3"/>
                      </a:solidFill>
                      <a:prstDash val="solid"/>
                      <a:round/>
                      <a:headEnd type="none" w="med" len="med"/>
                      <a:tailEnd type="none" w="med" len="med"/>
                    </a:lnT>
                    <a:lnB w="12700" cap="flat" cmpd="sng" algn="ctr">
                      <a:solidFill>
                        <a:srgbClr val="D9DEE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3"/>
                          </a:solidFill>
                          <a:latin typeface="Calibri" pitchFamily="34" charset="0"/>
                          <a:ea typeface="Calibri" pitchFamily="34" charset="-122"/>
                          <a:cs typeface="Calibri" pitchFamily="34" charset="-120"/>
                        </a:rPr>
                        <a:t>.573</a:t>
                      </a:r>
                      <a:endParaRPr lang="en-US" sz="1500" dirty="0">
                        <a:latin typeface="Calibri" charset="0"/>
                        <a:ea typeface="Calibri" charset="0"/>
                        <a:cs typeface="Calibri" charset="0"/>
                      </a:endParaRPr>
                    </a:p>
                  </a:txBody>
                  <a:tcPr anchor="ctr">
                    <a:lnL w="12700" cap="flat" cmpd="sng" algn="ctr">
                      <a:solidFill>
                        <a:srgbClr val="D9DEE3"/>
                      </a:solidFill>
                      <a:prstDash val="solid"/>
                      <a:round/>
                      <a:headEnd type="none" w="med" len="med"/>
                      <a:tailEnd type="none" w="med" len="med"/>
                    </a:lnL>
                    <a:lnR w="12700" cap="flat" cmpd="sng" algn="ctr">
                      <a:solidFill>
                        <a:srgbClr val="D9DEE3"/>
                      </a:solidFill>
                      <a:prstDash val="solid"/>
                      <a:round/>
                      <a:headEnd type="none" w="med" len="med"/>
                      <a:tailEnd type="none" w="med" len="med"/>
                    </a:lnR>
                    <a:lnT w="12700" cap="flat" cmpd="sng" algn="ctr">
                      <a:solidFill>
                        <a:srgbClr val="D9DEE3"/>
                      </a:solidFill>
                      <a:prstDash val="solid"/>
                      <a:round/>
                      <a:headEnd type="none" w="med" len="med"/>
                      <a:tailEnd type="none" w="med" len="med"/>
                    </a:lnT>
                    <a:lnB w="12700" cap="flat" cmpd="sng" algn="ctr">
                      <a:solidFill>
                        <a:srgbClr val="D9DEE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3"/>
                          </a:solidFill>
                          <a:latin typeface="Calibri" pitchFamily="34" charset="0"/>
                          <a:ea typeface="Calibri" pitchFamily="34" charset="-122"/>
                          <a:cs typeface="Calibri" pitchFamily="34" charset="-120"/>
                        </a:rPr>
                        <a:t>.553</a:t>
                      </a:r>
                      <a:endParaRPr lang="en-US" sz="1500" dirty="0">
                        <a:latin typeface="Calibri" charset="0"/>
                        <a:ea typeface="Calibri" charset="0"/>
                        <a:cs typeface="Calibri" charset="0"/>
                      </a:endParaRPr>
                    </a:p>
                  </a:txBody>
                  <a:tcPr anchor="ctr">
                    <a:lnL w="12700" cap="flat" cmpd="sng" algn="ctr">
                      <a:solidFill>
                        <a:srgbClr val="D9DEE3"/>
                      </a:solidFill>
                      <a:prstDash val="solid"/>
                      <a:round/>
                      <a:headEnd type="none" w="med" len="med"/>
                      <a:tailEnd type="none" w="med" len="med"/>
                    </a:lnL>
                    <a:lnR w="12700" cap="flat" cmpd="sng" algn="ctr">
                      <a:solidFill>
                        <a:srgbClr val="D9DEE3"/>
                      </a:solidFill>
                      <a:prstDash val="solid"/>
                      <a:round/>
                      <a:headEnd type="none" w="med" len="med"/>
                      <a:tailEnd type="none" w="med" len="med"/>
                    </a:lnR>
                    <a:lnT w="12700" cap="flat" cmpd="sng" algn="ctr">
                      <a:solidFill>
                        <a:srgbClr val="D9DEE3"/>
                      </a:solidFill>
                      <a:prstDash val="solid"/>
                      <a:round/>
                      <a:headEnd type="none" w="med" len="med"/>
                      <a:tailEnd type="none" w="med" len="med"/>
                    </a:lnT>
                    <a:lnB w="1270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40080">
                <a:tc>
                  <a:txBody>
                    <a:bodyPr/>
                    <a:lstStyle/>
                    <a:p>
                      <a:pPr marL="0" indent="0">
                        <a:buNone/>
                      </a:pPr>
                      <a:r>
                        <a:rPr lang="en-US" sz="1500" b="1" dirty="0">
                          <a:solidFill>
                            <a:srgbClr val="1F2933"/>
                          </a:solidFill>
                          <a:latin typeface="Calibri" pitchFamily="34" charset="0"/>
                          <a:ea typeface="Calibri" pitchFamily="34" charset="-122"/>
                          <a:cs typeface="Calibri" pitchFamily="34" charset="-120"/>
                        </a:rPr>
                        <a:t>Objects</a:t>
                      </a:r>
                      <a:endParaRPr lang="en-US" sz="1500" dirty="0">
                        <a:latin typeface="Calibri" charset="0"/>
                        <a:ea typeface="Calibri" charset="0"/>
                        <a:cs typeface="Calibri" charset="0"/>
                      </a:endParaRPr>
                    </a:p>
                  </a:txBody>
                  <a:tcPr anchor="ctr">
                    <a:lnL w="12700" cap="flat" cmpd="sng" algn="ctr">
                      <a:solidFill>
                        <a:srgbClr val="D9DEE3"/>
                      </a:solidFill>
                      <a:prstDash val="solid"/>
                      <a:round/>
                      <a:headEnd type="none" w="med" len="med"/>
                      <a:tailEnd type="none" w="med" len="med"/>
                    </a:lnL>
                    <a:lnR w="12700" cap="flat" cmpd="sng" algn="ctr">
                      <a:solidFill>
                        <a:srgbClr val="D9DEE3"/>
                      </a:solidFill>
                      <a:prstDash val="solid"/>
                      <a:round/>
                      <a:headEnd type="none" w="med" len="med"/>
                      <a:tailEnd type="none" w="med" len="med"/>
                    </a:lnR>
                    <a:lnT w="12700" cap="flat" cmpd="sng" algn="ctr">
                      <a:solidFill>
                        <a:srgbClr val="D9DEE3"/>
                      </a:solidFill>
                      <a:prstDash val="solid"/>
                      <a:round/>
                      <a:headEnd type="none" w="med" len="med"/>
                      <a:tailEnd type="none" w="med" len="med"/>
                    </a:lnT>
                    <a:lnB w="12700" cap="flat" cmpd="sng" algn="ctr">
                      <a:solidFill>
                        <a:srgbClr val="D9DEE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3"/>
                          </a:solidFill>
                          <a:latin typeface="Calibri" pitchFamily="34" charset="0"/>
                          <a:ea typeface="Calibri" pitchFamily="34" charset="-122"/>
                          <a:cs typeface="Calibri" pitchFamily="34" charset="-120"/>
                        </a:rPr>
                        <a:t>.467</a:t>
                      </a:r>
                      <a:endParaRPr lang="en-US" sz="1500" dirty="0">
                        <a:latin typeface="Calibri" charset="0"/>
                        <a:ea typeface="Calibri" charset="0"/>
                        <a:cs typeface="Calibri" charset="0"/>
                      </a:endParaRPr>
                    </a:p>
                  </a:txBody>
                  <a:tcPr anchor="ctr">
                    <a:lnL w="12700" cap="flat" cmpd="sng" algn="ctr">
                      <a:solidFill>
                        <a:srgbClr val="D9DEE3"/>
                      </a:solidFill>
                      <a:prstDash val="solid"/>
                      <a:round/>
                      <a:headEnd type="none" w="med" len="med"/>
                      <a:tailEnd type="none" w="med" len="med"/>
                    </a:lnL>
                    <a:lnR w="12700" cap="flat" cmpd="sng" algn="ctr">
                      <a:solidFill>
                        <a:srgbClr val="D9DEE3"/>
                      </a:solidFill>
                      <a:prstDash val="solid"/>
                      <a:round/>
                      <a:headEnd type="none" w="med" len="med"/>
                      <a:tailEnd type="none" w="med" len="med"/>
                    </a:lnR>
                    <a:lnT w="12700" cap="flat" cmpd="sng" algn="ctr">
                      <a:solidFill>
                        <a:srgbClr val="D9DEE3"/>
                      </a:solidFill>
                      <a:prstDash val="solid"/>
                      <a:round/>
                      <a:headEnd type="none" w="med" len="med"/>
                      <a:tailEnd type="none" w="med" len="med"/>
                    </a:lnT>
                    <a:lnB w="12700" cap="flat" cmpd="sng" algn="ctr">
                      <a:solidFill>
                        <a:srgbClr val="D9DEE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3"/>
                          </a:solidFill>
                          <a:latin typeface="Calibri" pitchFamily="34" charset="0"/>
                          <a:ea typeface="Calibri" pitchFamily="34" charset="-122"/>
                          <a:cs typeface="Calibri" pitchFamily="34" charset="-120"/>
                        </a:rPr>
                        <a:t>.470</a:t>
                      </a:r>
                      <a:endParaRPr lang="en-US" sz="1500" dirty="0">
                        <a:latin typeface="Calibri" charset="0"/>
                        <a:ea typeface="Calibri" charset="0"/>
                        <a:cs typeface="Calibri" charset="0"/>
                      </a:endParaRPr>
                    </a:p>
                  </a:txBody>
                  <a:tcPr anchor="ctr">
                    <a:lnL w="12700" cap="flat" cmpd="sng" algn="ctr">
                      <a:solidFill>
                        <a:srgbClr val="D9DEE3"/>
                      </a:solidFill>
                      <a:prstDash val="solid"/>
                      <a:round/>
                      <a:headEnd type="none" w="med" len="med"/>
                      <a:tailEnd type="none" w="med" len="med"/>
                    </a:lnL>
                    <a:lnR w="12700" cap="flat" cmpd="sng" algn="ctr">
                      <a:solidFill>
                        <a:srgbClr val="D9DEE3"/>
                      </a:solidFill>
                      <a:prstDash val="solid"/>
                      <a:round/>
                      <a:headEnd type="none" w="med" len="med"/>
                      <a:tailEnd type="none" w="med" len="med"/>
                    </a:lnR>
                    <a:lnT w="12700" cap="flat" cmpd="sng" algn="ctr">
                      <a:solidFill>
                        <a:srgbClr val="D9DEE3"/>
                      </a:solidFill>
                      <a:prstDash val="solid"/>
                      <a:round/>
                      <a:headEnd type="none" w="med" len="med"/>
                      <a:tailEnd type="none" w="med" len="med"/>
                    </a:lnT>
                    <a:lnB w="12700" cap="flat" cmpd="sng" algn="ctr">
                      <a:solidFill>
                        <a:srgbClr val="D9DEE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3"/>
                          </a:solidFill>
                          <a:latin typeface="Calibri" pitchFamily="34" charset="0"/>
                          <a:ea typeface="Calibri" pitchFamily="34" charset="-122"/>
                          <a:cs typeface="Calibri" pitchFamily="34" charset="-120"/>
                        </a:rPr>
                        <a:t>.463</a:t>
                      </a:r>
                      <a:endParaRPr lang="en-US" sz="1500" dirty="0">
                        <a:latin typeface="Calibri" charset="0"/>
                        <a:ea typeface="Calibri" charset="0"/>
                        <a:cs typeface="Calibri" charset="0"/>
                      </a:endParaRPr>
                    </a:p>
                  </a:txBody>
                  <a:tcPr anchor="ctr">
                    <a:lnL w="12700" cap="flat" cmpd="sng" algn="ctr">
                      <a:solidFill>
                        <a:srgbClr val="D9DEE3"/>
                      </a:solidFill>
                      <a:prstDash val="solid"/>
                      <a:round/>
                      <a:headEnd type="none" w="med" len="med"/>
                      <a:tailEnd type="none" w="med" len="med"/>
                    </a:lnL>
                    <a:lnR w="12700" cap="flat" cmpd="sng" algn="ctr">
                      <a:solidFill>
                        <a:srgbClr val="D9DEE3"/>
                      </a:solidFill>
                      <a:prstDash val="solid"/>
                      <a:round/>
                      <a:headEnd type="none" w="med" len="med"/>
                      <a:tailEnd type="none" w="med" len="med"/>
                    </a:lnR>
                    <a:lnT w="12700" cap="flat" cmpd="sng" algn="ctr">
                      <a:solidFill>
                        <a:srgbClr val="D9DEE3"/>
                      </a:solidFill>
                      <a:prstDash val="solid"/>
                      <a:round/>
                      <a:headEnd type="none" w="med" len="med"/>
                      <a:tailEnd type="none" w="med" len="med"/>
                    </a:lnT>
                    <a:lnB w="12700" cap="flat" cmpd="sng" algn="ctr">
                      <a:solidFill>
                        <a:srgbClr val="D9DEE3"/>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2933"/>
                          </a:solidFill>
                          <a:latin typeface="Calibri" pitchFamily="34" charset="0"/>
                          <a:ea typeface="Calibri" pitchFamily="34" charset="-122"/>
                          <a:cs typeface="Calibri" pitchFamily="34" charset="-120"/>
                        </a:rPr>
                        <a:t>.553</a:t>
                      </a:r>
                      <a:endParaRPr lang="en-US" sz="1500" dirty="0">
                        <a:latin typeface="Calibri" charset="0"/>
                        <a:ea typeface="Calibri" charset="0"/>
                        <a:cs typeface="Calibri" charset="0"/>
                      </a:endParaRPr>
                    </a:p>
                  </a:txBody>
                  <a:tcPr anchor="ctr">
                    <a:lnL w="12700" cap="flat" cmpd="sng" algn="ctr">
                      <a:solidFill>
                        <a:srgbClr val="D9DEE3"/>
                      </a:solidFill>
                      <a:prstDash val="solid"/>
                      <a:round/>
                      <a:headEnd type="none" w="med" len="med"/>
                      <a:tailEnd type="none" w="med" len="med"/>
                    </a:lnL>
                    <a:lnR w="12700" cap="flat" cmpd="sng" algn="ctr">
                      <a:solidFill>
                        <a:srgbClr val="D9DEE3"/>
                      </a:solidFill>
                      <a:prstDash val="solid"/>
                      <a:round/>
                      <a:headEnd type="none" w="med" len="med"/>
                      <a:tailEnd type="none" w="med" len="med"/>
                    </a:lnR>
                    <a:lnT w="12700" cap="flat" cmpd="sng" algn="ctr">
                      <a:solidFill>
                        <a:srgbClr val="D9DEE3"/>
                      </a:solidFill>
                      <a:prstDash val="solid"/>
                      <a:round/>
                      <a:headEnd type="none" w="med" len="med"/>
                      <a:tailEnd type="none" w="med" len="med"/>
                    </a:lnT>
                    <a:lnB w="12700" cap="flat" cmpd="sng" algn="ctr">
                      <a:solidFill>
                        <a:srgbClr val="D9DE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8" name="Text 5"/>
          <p:cNvSpPr/>
          <p:nvPr/>
        </p:nvSpPr>
        <p:spPr>
          <a:xfrm>
            <a:off x="7772400" y="2011680"/>
            <a:ext cx="3749040" cy="1588300"/>
          </a:xfrm>
          <a:prstGeom prst="rect">
            <a:avLst/>
          </a:prstGeom>
          <a:noFill/>
          <a:ln/>
        </p:spPr>
        <p:txBody>
          <a:bodyPr wrap="square" rtlCol="0" anchor="t"/>
          <a:lstStyle/>
          <a:p>
            <a:pPr marL="228600" indent="-228600">
              <a:spcAft>
                <a:spcPts val="1200"/>
              </a:spcAft>
              <a:buSzPct val="100000"/>
              <a:buChar char="•"/>
            </a:pPr>
            <a:r>
              <a:rPr lang="en-US" sz="1500" dirty="0">
                <a:solidFill>
                  <a:srgbClr val="1F2933"/>
                </a:solidFill>
                <a:latin typeface="Calibri" pitchFamily="34" charset="0"/>
                <a:ea typeface="Calibri" pitchFamily="34" charset="-122"/>
                <a:cs typeface="Calibri" pitchFamily="34" charset="-120"/>
              </a:rPr>
              <a:t>Rates hug 0.5; cross-language gaps ≈ 0.05 with overlapping CIs.</a:t>
            </a:r>
            <a:endParaRPr lang="en-US" sz="1500" dirty="0"/>
          </a:p>
          <a:p>
            <a:pPr marL="228600" indent="-228600">
              <a:spcAft>
                <a:spcPts val="1200"/>
              </a:spcAft>
              <a:buSzPct val="100000"/>
              <a:buChar char="•"/>
            </a:pPr>
            <a:r>
              <a:rPr lang="en-US" sz="1500" b="1" dirty="0">
                <a:solidFill>
                  <a:srgbClr val="1F2933"/>
                </a:solidFill>
                <a:latin typeface="Calibri" pitchFamily="34" charset="0"/>
                <a:ea typeface="Calibri" pitchFamily="34" charset="-122"/>
                <a:cs typeface="Calibri" pitchFamily="34" charset="-120"/>
              </a:rPr>
              <a:t>At this granularity both RQs look flat — RQ1 (language) and RQ2 (domain) alike.</a:t>
            </a:r>
            <a:endParaRPr lang="en-US" sz="1500" dirty="0"/>
          </a:p>
        </p:txBody>
      </p:sp>
      <p:sp>
        <p:nvSpPr>
          <p:cNvPr id="7" name="矩形 6">
            <a:extLst>
              <a:ext uri="{FF2B5EF4-FFF2-40B4-BE49-F238E27FC236}">
                <a16:creationId xmlns:a16="http://schemas.microsoft.com/office/drawing/2014/main" id="{7D53BF7F-29F4-53CC-B0B5-7E527A253542}"/>
              </a:ext>
            </a:extLst>
          </p:cNvPr>
          <p:cNvSpPr/>
          <p:nvPr/>
        </p:nvSpPr>
        <p:spPr>
          <a:xfrm>
            <a:off x="513567" y="3670126"/>
            <a:ext cx="6989523" cy="776614"/>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框 10">
            <a:extLst>
              <a:ext uri="{FF2B5EF4-FFF2-40B4-BE49-F238E27FC236}">
                <a16:creationId xmlns:a16="http://schemas.microsoft.com/office/drawing/2014/main" id="{04612A83-3174-3389-0289-CB32E1C6BE03}"/>
              </a:ext>
            </a:extLst>
          </p:cNvPr>
          <p:cNvSpPr txBox="1"/>
          <p:nvPr/>
        </p:nvSpPr>
        <p:spPr>
          <a:xfrm>
            <a:off x="1791295" y="4782312"/>
            <a:ext cx="7624168" cy="369332"/>
          </a:xfrm>
          <a:prstGeom prst="rect">
            <a:avLst/>
          </a:prstGeom>
          <a:noFill/>
        </p:spPr>
        <p:txBody>
          <a:bodyPr wrap="square">
            <a:spAutoFit/>
          </a:bodyPr>
          <a:lstStyle/>
          <a:p>
            <a:pPr>
              <a:spcAft>
                <a:spcPts val="1200"/>
              </a:spcAft>
              <a:buSzPct val="100000"/>
            </a:pPr>
            <a:r>
              <a:rPr lang="en-US" altLang="zh-CN" sz="1800" b="1" dirty="0">
                <a:solidFill>
                  <a:srgbClr val="C44E52"/>
                </a:solidFill>
                <a:latin typeface="Calibri" pitchFamily="34" charset="0"/>
                <a:ea typeface="Calibri" pitchFamily="34" charset="-122"/>
                <a:cs typeface="Calibri" pitchFamily="34" charset="-120"/>
              </a:rPr>
              <a:t>If we stopped here, the story would be "nothing".</a:t>
            </a:r>
            <a:endParaRPr lang="en-US" altLang="zh-CN"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40080" y="6473952"/>
            <a:ext cx="8229600" cy="274320"/>
          </a:xfrm>
          <a:prstGeom prst="rect">
            <a:avLst/>
          </a:prstGeom>
          <a:noFill/>
          <a:ln/>
        </p:spPr>
        <p:txBody>
          <a:bodyPr wrap="square" lIns="0" tIns="0" rIns="0" bIns="0" rtlCol="0" anchor="ctr"/>
          <a:lstStyle/>
          <a:p>
            <a:pPr marL="0" indent="0">
              <a:buNone/>
            </a:pPr>
            <a:r>
              <a:rPr lang="en-US" sz="900" dirty="0">
                <a:solidFill>
                  <a:srgbClr val="7B8794"/>
                </a:solidFill>
                <a:latin typeface="Calibri" pitchFamily="34" charset="0"/>
                <a:ea typeface="Calibri" pitchFamily="34" charset="-122"/>
                <a:cs typeface="Calibri" pitchFamily="34" charset="-120"/>
              </a:rPr>
              <a:t>Multilingual Prototypicality Bias  ·  Progress Report</a:t>
            </a:r>
            <a:endParaRPr lang="en-US" sz="900" dirty="0"/>
          </a:p>
        </p:txBody>
      </p:sp>
      <p:sp>
        <p:nvSpPr>
          <p:cNvPr id="3" name="Text 1"/>
          <p:cNvSpPr/>
          <p:nvPr/>
        </p:nvSpPr>
        <p:spPr>
          <a:xfrm>
            <a:off x="11183112" y="6473952"/>
            <a:ext cx="457200" cy="274320"/>
          </a:xfrm>
          <a:prstGeom prst="rect">
            <a:avLst/>
          </a:prstGeom>
          <a:noFill/>
          <a:ln/>
        </p:spPr>
        <p:txBody>
          <a:bodyPr wrap="square" lIns="0" tIns="0" rIns="0" bIns="0" rtlCol="0" anchor="ctr"/>
          <a:lstStyle/>
          <a:p>
            <a:pPr marL="0" indent="0" algn="r">
              <a:buNone/>
            </a:pPr>
            <a:r>
              <a:rPr lang="en-US" sz="900" dirty="0">
                <a:solidFill>
                  <a:srgbClr val="7B8794"/>
                </a:solidFill>
                <a:latin typeface="Calibri" pitchFamily="34" charset="0"/>
                <a:ea typeface="Calibri" pitchFamily="34" charset="-122"/>
                <a:cs typeface="Calibri" pitchFamily="34" charset="-120"/>
              </a:rPr>
              <a:t>9</a:t>
            </a:r>
            <a:endParaRPr lang="en-US" sz="900" dirty="0"/>
          </a:p>
        </p:txBody>
      </p:sp>
      <p:sp>
        <p:nvSpPr>
          <p:cNvPr id="4" name="Shape 2"/>
          <p:cNvSpPr/>
          <p:nvPr/>
        </p:nvSpPr>
        <p:spPr>
          <a:xfrm>
            <a:off x="640080" y="566928"/>
            <a:ext cx="146304" cy="146304"/>
          </a:xfrm>
          <a:prstGeom prst="rect">
            <a:avLst/>
          </a:prstGeom>
          <a:solidFill>
            <a:srgbClr val="C44E52"/>
          </a:solidFill>
          <a:ln/>
        </p:spPr>
        <p:txBody>
          <a:bodyPr/>
          <a:lstStyle/>
          <a:p>
            <a:endParaRPr lang="zh-CN" altLang="en-US"/>
          </a:p>
        </p:txBody>
      </p:sp>
      <p:sp>
        <p:nvSpPr>
          <p:cNvPr id="5" name="Text 3"/>
          <p:cNvSpPr/>
          <p:nvPr/>
        </p:nvSpPr>
        <p:spPr>
          <a:xfrm>
            <a:off x="932688" y="509750"/>
            <a:ext cx="10908792" cy="274320"/>
          </a:xfrm>
          <a:prstGeom prst="rect">
            <a:avLst/>
          </a:prstGeom>
          <a:noFill/>
          <a:ln/>
        </p:spPr>
        <p:txBody>
          <a:bodyPr wrap="square" lIns="0" tIns="0" rIns="0" bIns="0" rtlCol="0" anchor="ctr"/>
          <a:lstStyle/>
          <a:p>
            <a:pPr marL="0" indent="0">
              <a:buNone/>
            </a:pPr>
            <a:r>
              <a:rPr lang="en-US" sz="1100" b="1" kern="0" spc="200" dirty="0">
                <a:solidFill>
                  <a:srgbClr val="C44E52"/>
                </a:solidFill>
                <a:latin typeface="Calibri" pitchFamily="34" charset="0"/>
                <a:ea typeface="Calibri" pitchFamily="34" charset="-122"/>
                <a:cs typeface="Calibri" pitchFamily="34" charset="-120"/>
              </a:rPr>
              <a:t>THE KEY MOVE</a:t>
            </a:r>
            <a:endParaRPr lang="en-US" sz="1100" dirty="0"/>
          </a:p>
        </p:txBody>
      </p:sp>
      <p:sp>
        <p:nvSpPr>
          <p:cNvPr id="6" name="Text 4"/>
          <p:cNvSpPr/>
          <p:nvPr/>
        </p:nvSpPr>
        <p:spPr>
          <a:xfrm>
            <a:off x="640080" y="749808"/>
            <a:ext cx="10908792" cy="822960"/>
          </a:xfrm>
          <a:prstGeom prst="rect">
            <a:avLst/>
          </a:prstGeom>
          <a:noFill/>
          <a:ln/>
        </p:spPr>
        <p:txBody>
          <a:bodyPr wrap="square" lIns="0" tIns="0" rIns="0" bIns="0" rtlCol="0" anchor="ctr"/>
          <a:lstStyle/>
          <a:p>
            <a:pPr marL="0" indent="0">
              <a:buNone/>
            </a:pPr>
            <a:r>
              <a:rPr lang="en-US" sz="3000" b="1" dirty="0">
                <a:solidFill>
                  <a:srgbClr val="1F2933"/>
                </a:solidFill>
                <a:latin typeface="Georgia" pitchFamily="34" charset="0"/>
                <a:ea typeface="Georgia" pitchFamily="34" charset="-122"/>
                <a:cs typeface="Georgia" pitchFamily="34" charset="-120"/>
              </a:rPr>
              <a:t>Why the aggregate was misleading</a:t>
            </a:r>
            <a:endParaRPr lang="en-US" sz="3000" dirty="0"/>
          </a:p>
        </p:txBody>
      </p:sp>
      <p:sp>
        <p:nvSpPr>
          <p:cNvPr id="7" name="Text 5"/>
          <p:cNvSpPr/>
          <p:nvPr/>
        </p:nvSpPr>
        <p:spPr>
          <a:xfrm>
            <a:off x="640080" y="1828800"/>
            <a:ext cx="10789920" cy="1645920"/>
          </a:xfrm>
          <a:prstGeom prst="rect">
            <a:avLst/>
          </a:prstGeom>
          <a:noFill/>
          <a:ln/>
        </p:spPr>
        <p:txBody>
          <a:bodyPr wrap="square" rtlCol="0" anchor="t"/>
          <a:lstStyle/>
          <a:p>
            <a:pPr marL="228600" indent="-228600">
              <a:spcAft>
                <a:spcPts val="1000"/>
              </a:spcAft>
              <a:buSzPct val="100000"/>
              <a:buChar char="•"/>
            </a:pPr>
            <a:r>
              <a:rPr lang="en-US" sz="1600" dirty="0">
                <a:solidFill>
                  <a:srgbClr val="1F2933"/>
                </a:solidFill>
                <a:latin typeface="Calibri" pitchFamily="34" charset="0"/>
                <a:ea typeface="Calibri" pitchFamily="34" charset="-122"/>
                <a:cs typeface="Calibri" pitchFamily="34" charset="-120"/>
              </a:rPr>
              <a:t>Each Demography row is tagged with WHICH stereotype it probes (socio_attr).</a:t>
            </a:r>
            <a:endParaRPr lang="en-US" sz="1600" dirty="0"/>
          </a:p>
          <a:p>
            <a:pPr marL="228600" indent="-228600">
              <a:spcAft>
                <a:spcPts val="1000"/>
              </a:spcAft>
              <a:buSzPct val="100000"/>
              <a:buChar char="•"/>
            </a:pPr>
            <a:r>
              <a:rPr lang="en-US" sz="1600" dirty="0">
                <a:solidFill>
                  <a:srgbClr val="1F2933"/>
                </a:solidFill>
                <a:latin typeface="Calibri" pitchFamily="34" charset="0"/>
                <a:ea typeface="Calibri" pitchFamily="34" charset="-122"/>
                <a:cs typeface="Calibri" pitchFamily="34" charset="-120"/>
              </a:rPr>
              <a:t>The default analysis averaged over socio_attr — Demography collapsed to one number.</a:t>
            </a:r>
            <a:endParaRPr lang="en-US" sz="1600" dirty="0"/>
          </a:p>
          <a:p>
            <a:pPr marL="228600" indent="-228600">
              <a:spcAft>
                <a:spcPts val="1000"/>
              </a:spcAft>
              <a:buSzPct val="100000"/>
              <a:buChar char="•"/>
            </a:pPr>
            <a:r>
              <a:rPr lang="en-US" sz="1600" b="1" dirty="0">
                <a:solidFill>
                  <a:srgbClr val="1F2933"/>
                </a:solidFill>
                <a:latin typeface="Calibri" pitchFamily="34" charset="0"/>
                <a:ea typeface="Calibri" pitchFamily="34" charset="-122"/>
                <a:cs typeface="Calibri" pitchFamily="34" charset="-120"/>
              </a:rPr>
              <a:t>Hypothesis: averaging masks structure. So we split by socio_attr.</a:t>
            </a:r>
            <a:endParaRPr lang="en-US" sz="1600" dirty="0"/>
          </a:p>
        </p:txBody>
      </p:sp>
      <p:sp>
        <p:nvSpPr>
          <p:cNvPr id="8" name="Shape 6"/>
          <p:cNvSpPr/>
          <p:nvPr/>
        </p:nvSpPr>
        <p:spPr>
          <a:xfrm>
            <a:off x="1463040" y="3931920"/>
            <a:ext cx="2743200" cy="1463040"/>
          </a:xfrm>
          <a:prstGeom prst="rect">
            <a:avLst/>
          </a:prstGeom>
          <a:solidFill>
            <a:srgbClr val="F4F5F7"/>
          </a:solidFill>
          <a:ln/>
        </p:spPr>
        <p:txBody>
          <a:bodyPr/>
          <a:lstStyle/>
          <a:p>
            <a:endParaRPr lang="zh-CN" altLang="en-US"/>
          </a:p>
        </p:txBody>
      </p:sp>
      <p:sp>
        <p:nvSpPr>
          <p:cNvPr id="9" name="Text 7"/>
          <p:cNvSpPr/>
          <p:nvPr/>
        </p:nvSpPr>
        <p:spPr>
          <a:xfrm>
            <a:off x="1463040" y="4114800"/>
            <a:ext cx="2743200" cy="1097280"/>
          </a:xfrm>
          <a:prstGeom prst="rect">
            <a:avLst/>
          </a:prstGeom>
          <a:noFill/>
          <a:ln/>
        </p:spPr>
        <p:txBody>
          <a:bodyPr wrap="square" lIns="0" tIns="0" rIns="0" bIns="0" rtlCol="0" anchor="ctr"/>
          <a:lstStyle/>
          <a:p>
            <a:pPr marL="0" indent="0" algn="ctr">
              <a:buNone/>
            </a:pPr>
            <a:r>
              <a:rPr lang="en-US" sz="1400" dirty="0">
                <a:solidFill>
                  <a:srgbClr val="7B8794"/>
                </a:solidFill>
                <a:latin typeface="Georgia" pitchFamily="34" charset="0"/>
                <a:ea typeface="Georgia" pitchFamily="34" charset="-122"/>
                <a:cs typeface="Georgia" pitchFamily="34" charset="-120"/>
              </a:rPr>
              <a:t>Demography
</a:t>
            </a:r>
            <a:endParaRPr lang="en-US" sz="1400" dirty="0"/>
          </a:p>
          <a:p>
            <a:pPr marL="0" indent="0" algn="ctr">
              <a:buNone/>
            </a:pPr>
            <a:r>
              <a:rPr lang="en-US" sz="4000" b="1" dirty="0">
                <a:solidFill>
                  <a:srgbClr val="7B8794"/>
                </a:solidFill>
                <a:latin typeface="Georgia" pitchFamily="34" charset="0"/>
                <a:ea typeface="Georgia" pitchFamily="34" charset="-122"/>
                <a:cs typeface="Georgia" pitchFamily="34" charset="-120"/>
              </a:rPr>
              <a:t>.56</a:t>
            </a:r>
            <a:endParaRPr lang="en-US" sz="1400" dirty="0"/>
          </a:p>
        </p:txBody>
      </p:sp>
      <p:sp>
        <p:nvSpPr>
          <p:cNvPr id="10" name="Text 8"/>
          <p:cNvSpPr/>
          <p:nvPr/>
        </p:nvSpPr>
        <p:spPr>
          <a:xfrm>
            <a:off x="4297680" y="3931920"/>
            <a:ext cx="2377440" cy="1463040"/>
          </a:xfrm>
          <a:prstGeom prst="rect">
            <a:avLst/>
          </a:prstGeom>
          <a:noFill/>
          <a:ln/>
        </p:spPr>
        <p:txBody>
          <a:bodyPr wrap="square" lIns="0" tIns="0" rIns="0" bIns="0" rtlCol="0" anchor="ctr"/>
          <a:lstStyle/>
          <a:p>
            <a:pPr marL="0" indent="0" algn="ctr">
              <a:buNone/>
            </a:pPr>
            <a:r>
              <a:rPr lang="en-US" sz="1400" i="1" dirty="0">
                <a:solidFill>
                  <a:srgbClr val="C44E52"/>
                </a:solidFill>
                <a:latin typeface="Calibri" pitchFamily="34" charset="0"/>
                <a:ea typeface="Calibri" pitchFamily="34" charset="-122"/>
                <a:cs typeface="Calibri" pitchFamily="34" charset="-120"/>
              </a:rPr>
              <a:t>split by socio_attr  ›</a:t>
            </a:r>
            <a:endParaRPr lang="en-US" sz="1400" dirty="0"/>
          </a:p>
        </p:txBody>
      </p:sp>
      <p:sp>
        <p:nvSpPr>
          <p:cNvPr id="11" name="Shape 9"/>
          <p:cNvSpPr/>
          <p:nvPr/>
        </p:nvSpPr>
        <p:spPr>
          <a:xfrm>
            <a:off x="6766560" y="3931920"/>
            <a:ext cx="4754880" cy="1463040"/>
          </a:xfrm>
          <a:prstGeom prst="rect">
            <a:avLst/>
          </a:prstGeom>
          <a:solidFill>
            <a:srgbClr val="FFFFFF"/>
          </a:solidFill>
          <a:ln w="19050">
            <a:solidFill>
              <a:srgbClr val="C44E52"/>
            </a:solidFill>
            <a:prstDash val="solid"/>
          </a:ln>
        </p:spPr>
        <p:txBody>
          <a:bodyPr/>
          <a:lstStyle/>
          <a:p>
            <a:endParaRPr lang="zh-CN" altLang="en-US"/>
          </a:p>
        </p:txBody>
      </p:sp>
      <p:sp>
        <p:nvSpPr>
          <p:cNvPr id="12" name="Text 10"/>
          <p:cNvSpPr/>
          <p:nvPr/>
        </p:nvSpPr>
        <p:spPr>
          <a:xfrm>
            <a:off x="6858000" y="4114800"/>
            <a:ext cx="4572000" cy="1097280"/>
          </a:xfrm>
          <a:prstGeom prst="rect">
            <a:avLst/>
          </a:prstGeom>
          <a:noFill/>
          <a:ln/>
        </p:spPr>
        <p:txBody>
          <a:bodyPr wrap="square" lIns="0" tIns="0" rIns="0" bIns="0" rtlCol="0" anchor="ctr"/>
          <a:lstStyle/>
          <a:p>
            <a:pPr marL="0" indent="0" algn="ctr">
              <a:buNone/>
            </a:pPr>
            <a:r>
              <a:rPr lang="en-US" sz="1800" b="1" dirty="0">
                <a:solidFill>
                  <a:srgbClr val="C44E52"/>
                </a:solidFill>
                <a:latin typeface="Georgia" pitchFamily="34" charset="0"/>
                <a:ea typeface="Georgia" pitchFamily="34" charset="-122"/>
                <a:cs typeface="Georgia" pitchFamily="34" charset="-120"/>
              </a:rPr>
              <a:t>Wealth .77  ·  Power .67
</a:t>
            </a:r>
            <a:endParaRPr lang="en-US" sz="1800" dirty="0"/>
          </a:p>
          <a:p>
            <a:pPr marL="0" indent="0" algn="ctr">
              <a:buNone/>
            </a:pPr>
            <a:r>
              <a:rPr lang="en-US" sz="1500" dirty="0">
                <a:solidFill>
                  <a:srgbClr val="4C72B0"/>
                </a:solidFill>
                <a:latin typeface="Georgia" pitchFamily="34" charset="0"/>
                <a:ea typeface="Georgia" pitchFamily="34" charset="-122"/>
                <a:cs typeface="Georgia" pitchFamily="34" charset="-120"/>
              </a:rPr>
              <a:t>Civility .54  ·  Morality .49  ·  Intellect .48</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40080" y="6473952"/>
            <a:ext cx="8229600" cy="274320"/>
          </a:xfrm>
          <a:prstGeom prst="rect">
            <a:avLst/>
          </a:prstGeom>
          <a:noFill/>
          <a:ln/>
        </p:spPr>
        <p:txBody>
          <a:bodyPr wrap="square" lIns="0" tIns="0" rIns="0" bIns="0" rtlCol="0" anchor="ctr"/>
          <a:lstStyle/>
          <a:p>
            <a:pPr marL="0" indent="0">
              <a:buNone/>
            </a:pPr>
            <a:r>
              <a:rPr lang="en-US" sz="900" dirty="0">
                <a:solidFill>
                  <a:srgbClr val="7B8794"/>
                </a:solidFill>
                <a:latin typeface="Calibri" pitchFamily="34" charset="0"/>
                <a:ea typeface="Calibri" pitchFamily="34" charset="-122"/>
                <a:cs typeface="Calibri" pitchFamily="34" charset="-120"/>
              </a:rPr>
              <a:t>Multilingual Prototypicality Bias  ·  Progress Report</a:t>
            </a:r>
            <a:endParaRPr lang="en-US" sz="900" dirty="0"/>
          </a:p>
        </p:txBody>
      </p:sp>
      <p:sp>
        <p:nvSpPr>
          <p:cNvPr id="3" name="Text 1"/>
          <p:cNvSpPr/>
          <p:nvPr/>
        </p:nvSpPr>
        <p:spPr>
          <a:xfrm>
            <a:off x="11183112" y="6473952"/>
            <a:ext cx="457200" cy="274320"/>
          </a:xfrm>
          <a:prstGeom prst="rect">
            <a:avLst/>
          </a:prstGeom>
          <a:noFill/>
          <a:ln/>
        </p:spPr>
        <p:txBody>
          <a:bodyPr wrap="square" lIns="0" tIns="0" rIns="0" bIns="0" rtlCol="0" anchor="ctr"/>
          <a:lstStyle/>
          <a:p>
            <a:pPr marL="0" indent="0" algn="r">
              <a:buNone/>
            </a:pPr>
            <a:r>
              <a:rPr lang="en-US" sz="900" dirty="0">
                <a:solidFill>
                  <a:srgbClr val="7B8794"/>
                </a:solidFill>
                <a:latin typeface="Calibri" pitchFamily="34" charset="0"/>
                <a:ea typeface="Calibri" pitchFamily="34" charset="-122"/>
                <a:cs typeface="Calibri" pitchFamily="34" charset="-120"/>
              </a:rPr>
              <a:t>10</a:t>
            </a:r>
            <a:endParaRPr lang="en-US" sz="900" dirty="0"/>
          </a:p>
        </p:txBody>
      </p:sp>
      <p:sp>
        <p:nvSpPr>
          <p:cNvPr id="4" name="Shape 2"/>
          <p:cNvSpPr/>
          <p:nvPr/>
        </p:nvSpPr>
        <p:spPr>
          <a:xfrm>
            <a:off x="640080" y="566928"/>
            <a:ext cx="146304" cy="146304"/>
          </a:xfrm>
          <a:prstGeom prst="rect">
            <a:avLst/>
          </a:prstGeom>
          <a:solidFill>
            <a:srgbClr val="C44E52"/>
          </a:solidFill>
          <a:ln/>
        </p:spPr>
        <p:txBody>
          <a:bodyPr/>
          <a:lstStyle/>
          <a:p>
            <a:endParaRPr lang="zh-CN" altLang="en-US"/>
          </a:p>
        </p:txBody>
      </p:sp>
      <p:sp>
        <p:nvSpPr>
          <p:cNvPr id="5" name="Text 3"/>
          <p:cNvSpPr/>
          <p:nvPr/>
        </p:nvSpPr>
        <p:spPr>
          <a:xfrm>
            <a:off x="932688" y="520261"/>
            <a:ext cx="10908792" cy="274320"/>
          </a:xfrm>
          <a:prstGeom prst="rect">
            <a:avLst/>
          </a:prstGeom>
          <a:noFill/>
          <a:ln/>
        </p:spPr>
        <p:txBody>
          <a:bodyPr wrap="square" lIns="0" tIns="0" rIns="0" bIns="0" rtlCol="0" anchor="ctr"/>
          <a:lstStyle/>
          <a:p>
            <a:pPr marL="0" indent="0">
              <a:buNone/>
            </a:pPr>
            <a:r>
              <a:rPr lang="en-US" sz="1100" b="1" kern="0" spc="200" dirty="0">
                <a:solidFill>
                  <a:srgbClr val="C44E52"/>
                </a:solidFill>
                <a:latin typeface="Calibri" pitchFamily="34" charset="0"/>
                <a:ea typeface="Calibri" pitchFamily="34" charset="-122"/>
                <a:cs typeface="Calibri" pitchFamily="34" charset="-120"/>
              </a:rPr>
              <a:t>HEADLINE RESULT</a:t>
            </a:r>
            <a:endParaRPr lang="en-US" sz="1100" dirty="0"/>
          </a:p>
        </p:txBody>
      </p:sp>
      <p:sp>
        <p:nvSpPr>
          <p:cNvPr id="6" name="Text 4"/>
          <p:cNvSpPr/>
          <p:nvPr/>
        </p:nvSpPr>
        <p:spPr>
          <a:xfrm>
            <a:off x="640080" y="749808"/>
            <a:ext cx="10908792" cy="822960"/>
          </a:xfrm>
          <a:prstGeom prst="rect">
            <a:avLst/>
          </a:prstGeom>
          <a:noFill/>
          <a:ln/>
        </p:spPr>
        <p:txBody>
          <a:bodyPr wrap="square" lIns="0" tIns="0" rIns="0" bIns="0" rtlCol="0" anchor="ctr"/>
          <a:lstStyle/>
          <a:p>
            <a:pPr marL="0" indent="0">
              <a:buNone/>
            </a:pPr>
            <a:r>
              <a:rPr lang="en-US" sz="3000" b="1" dirty="0">
                <a:solidFill>
                  <a:srgbClr val="1F2933"/>
                </a:solidFill>
                <a:latin typeface="Georgia" pitchFamily="34" charset="0"/>
                <a:ea typeface="Georgia" pitchFamily="34" charset="-122"/>
                <a:cs typeface="Georgia" pitchFamily="34" charset="-120"/>
              </a:rPr>
              <a:t>The bias is attribute-specific</a:t>
            </a:r>
            <a:endParaRPr lang="en-US" sz="3000" dirty="0"/>
          </a:p>
        </p:txBody>
      </p:sp>
      <p:graphicFrame>
        <p:nvGraphicFramePr>
          <p:cNvPr id="7" name="Chart 0"/>
          <p:cNvGraphicFramePr/>
          <p:nvPr/>
        </p:nvGraphicFramePr>
        <p:xfrm>
          <a:off x="640080" y="1828800"/>
          <a:ext cx="649224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p:cNvSpPr/>
          <p:nvPr/>
        </p:nvSpPr>
        <p:spPr>
          <a:xfrm>
            <a:off x="201168" y="3794760"/>
            <a:ext cx="1463040" cy="274320"/>
          </a:xfrm>
          <a:prstGeom prst="rect">
            <a:avLst/>
          </a:prstGeom>
          <a:noFill/>
          <a:ln/>
        </p:spPr>
        <p:txBody>
          <a:bodyPr wrap="square" lIns="0" tIns="0" rIns="0" bIns="0" rtlCol="0" anchor="ctr"/>
          <a:lstStyle/>
          <a:p>
            <a:pPr marL="0" indent="0">
              <a:buNone/>
            </a:pPr>
            <a:r>
              <a:rPr lang="en-US" sz="1000" i="1" dirty="0">
                <a:solidFill>
                  <a:srgbClr val="7B8794"/>
                </a:solidFill>
                <a:latin typeface="Calibri" pitchFamily="34" charset="0"/>
                <a:ea typeface="Calibri" pitchFamily="34" charset="-122"/>
                <a:cs typeface="Calibri" pitchFamily="34" charset="-120"/>
              </a:rPr>
              <a:t>chance = 0.50</a:t>
            </a:r>
            <a:endParaRPr lang="en-US" sz="1000" dirty="0"/>
          </a:p>
        </p:txBody>
      </p:sp>
      <p:sp>
        <p:nvSpPr>
          <p:cNvPr id="9" name="Text 6"/>
          <p:cNvSpPr/>
          <p:nvPr/>
        </p:nvSpPr>
        <p:spPr>
          <a:xfrm>
            <a:off x="7406640" y="2011680"/>
            <a:ext cx="4114800" cy="4389120"/>
          </a:xfrm>
          <a:prstGeom prst="rect">
            <a:avLst/>
          </a:prstGeom>
          <a:noFill/>
          <a:ln/>
        </p:spPr>
        <p:txBody>
          <a:bodyPr wrap="square" rtlCol="0" anchor="t"/>
          <a:lstStyle/>
          <a:p>
            <a:pPr marL="228600" indent="-228600">
              <a:spcAft>
                <a:spcPts val="1200"/>
              </a:spcAft>
              <a:buSzPct val="100000"/>
              <a:buChar char="•"/>
            </a:pPr>
            <a:r>
              <a:rPr lang="en-US" sz="1400" b="1" dirty="0">
                <a:solidFill>
                  <a:srgbClr val="1F2933"/>
                </a:solidFill>
                <a:latin typeface="Calibri" pitchFamily="34" charset="0"/>
                <a:ea typeface="Calibri" pitchFamily="34" charset="-122"/>
                <a:cs typeface="Calibri" pitchFamily="34" charset="-120"/>
              </a:rPr>
              <a:t>The flat .56 average hid a 0.30 spread.</a:t>
            </a:r>
            <a:endParaRPr lang="en-US" sz="1400" dirty="0"/>
          </a:p>
          <a:p>
            <a:pPr marL="228600" indent="-228600">
              <a:spcAft>
                <a:spcPts val="1200"/>
              </a:spcAft>
              <a:buSzPct val="100000"/>
              <a:buChar char="•"/>
            </a:pPr>
            <a:r>
              <a:rPr lang="en-US" sz="1400" dirty="0">
                <a:solidFill>
                  <a:srgbClr val="1F2933"/>
                </a:solidFill>
                <a:latin typeface="Calibri" pitchFamily="34" charset="0"/>
                <a:ea typeface="Calibri" pitchFamily="34" charset="-122"/>
                <a:cs typeface="Calibri" pitchFamily="34" charset="-120"/>
              </a:rPr>
              <a:t>Strong judge-by-looks bias for SOCIAL-STATUS attributes (wealth, power).</a:t>
            </a:r>
            <a:endParaRPr lang="en-US" sz="1400" dirty="0"/>
          </a:p>
          <a:p>
            <a:pPr marL="228600" indent="-228600">
              <a:spcAft>
                <a:spcPts val="1200"/>
              </a:spcAft>
              <a:buSzPct val="100000"/>
              <a:buChar char="•"/>
            </a:pPr>
            <a:r>
              <a:rPr lang="en-US" sz="1400" dirty="0">
                <a:solidFill>
                  <a:srgbClr val="1F2933"/>
                </a:solidFill>
                <a:latin typeface="Calibri" pitchFamily="34" charset="0"/>
                <a:ea typeface="Calibri" pitchFamily="34" charset="-122"/>
                <a:cs typeface="Calibri" pitchFamily="34" charset="-120"/>
              </a:rPr>
              <a:t>Almost none for moral / cognitive ones (morality, intellect).</a:t>
            </a:r>
            <a:endParaRPr lang="en-US" sz="1400" dirty="0"/>
          </a:p>
          <a:p>
            <a:pPr marL="228600" indent="-228600">
              <a:spcAft>
                <a:spcPts val="1200"/>
              </a:spcAft>
              <a:buSzPct val="100000"/>
              <a:buChar char="•"/>
            </a:pPr>
            <a:r>
              <a:rPr lang="en-US" sz="1400" dirty="0">
                <a:solidFill>
                  <a:srgbClr val="7B8794"/>
                </a:solidFill>
                <a:latin typeface="Calibri" pitchFamily="34" charset="0"/>
                <a:ea typeface="Calibri" pitchFamily="34" charset="-122"/>
                <a:cs typeface="Calibri" pitchFamily="34" charset="-120"/>
              </a:rPr>
              <a:t>Intuition: web data encodes what rich / powerful people look like — no stable visual prototype for moral or intelligent.</a:t>
            </a:r>
            <a:endParaRPr lang="en-US" sz="1400" dirty="0"/>
          </a:p>
          <a:p>
            <a:pPr marL="228600" indent="-228600">
              <a:spcBef>
                <a:spcPts val="800"/>
              </a:spcBef>
              <a:buNone/>
            </a:pPr>
            <a:r>
              <a:rPr lang="en-US" sz="1400" b="1" dirty="0">
                <a:solidFill>
                  <a:srgbClr val="C44E52"/>
                </a:solidFill>
                <a:latin typeface="Calibri" pitchFamily="34" charset="0"/>
                <a:ea typeface="Calibri" pitchFamily="34" charset="-122"/>
                <a:cs typeface="Calibri" pitchFamily="34" charset="-120"/>
              </a:rPr>
              <a:t>→ Answers RQ2: judge-by-looks is far stronger for sensitive attributes than for neutral domains (objects ≈ chance).</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40080" y="6473952"/>
            <a:ext cx="8229600" cy="274320"/>
          </a:xfrm>
          <a:prstGeom prst="rect">
            <a:avLst/>
          </a:prstGeom>
          <a:noFill/>
          <a:ln/>
        </p:spPr>
        <p:txBody>
          <a:bodyPr wrap="square" lIns="0" tIns="0" rIns="0" bIns="0" rtlCol="0" anchor="ctr"/>
          <a:lstStyle/>
          <a:p>
            <a:pPr marL="0" indent="0">
              <a:buNone/>
            </a:pPr>
            <a:r>
              <a:rPr lang="en-US" sz="900" dirty="0">
                <a:solidFill>
                  <a:srgbClr val="7B8794"/>
                </a:solidFill>
                <a:latin typeface="Calibri" pitchFamily="34" charset="0"/>
                <a:ea typeface="Calibri" pitchFamily="34" charset="-122"/>
                <a:cs typeface="Calibri" pitchFamily="34" charset="-120"/>
              </a:rPr>
              <a:t>Multilingual Prototypicality Bias  ·  Progress Report</a:t>
            </a:r>
            <a:endParaRPr lang="en-US" sz="900" dirty="0"/>
          </a:p>
        </p:txBody>
      </p:sp>
      <p:sp>
        <p:nvSpPr>
          <p:cNvPr id="3" name="Text 1"/>
          <p:cNvSpPr/>
          <p:nvPr/>
        </p:nvSpPr>
        <p:spPr>
          <a:xfrm>
            <a:off x="11183112" y="6473952"/>
            <a:ext cx="457200" cy="274320"/>
          </a:xfrm>
          <a:prstGeom prst="rect">
            <a:avLst/>
          </a:prstGeom>
          <a:noFill/>
          <a:ln/>
        </p:spPr>
        <p:txBody>
          <a:bodyPr wrap="square" lIns="0" tIns="0" rIns="0" bIns="0" rtlCol="0" anchor="ctr"/>
          <a:lstStyle/>
          <a:p>
            <a:pPr marL="0" indent="0" algn="r">
              <a:buNone/>
            </a:pPr>
            <a:r>
              <a:rPr lang="en-US" sz="900" dirty="0">
                <a:solidFill>
                  <a:srgbClr val="7B8794"/>
                </a:solidFill>
                <a:latin typeface="Calibri" pitchFamily="34" charset="0"/>
                <a:ea typeface="Calibri" pitchFamily="34" charset="-122"/>
                <a:cs typeface="Calibri" pitchFamily="34" charset="-120"/>
              </a:rPr>
              <a:t>11</a:t>
            </a:r>
            <a:endParaRPr lang="en-US" sz="900" dirty="0"/>
          </a:p>
        </p:txBody>
      </p:sp>
      <p:sp>
        <p:nvSpPr>
          <p:cNvPr id="4" name="Shape 2"/>
          <p:cNvSpPr/>
          <p:nvPr/>
        </p:nvSpPr>
        <p:spPr>
          <a:xfrm>
            <a:off x="640080" y="566928"/>
            <a:ext cx="146304" cy="146304"/>
          </a:xfrm>
          <a:prstGeom prst="rect">
            <a:avLst/>
          </a:prstGeom>
          <a:solidFill>
            <a:srgbClr val="C44E52"/>
          </a:solidFill>
          <a:ln/>
        </p:spPr>
        <p:txBody>
          <a:bodyPr/>
          <a:lstStyle/>
          <a:p>
            <a:endParaRPr lang="zh-CN" altLang="en-US"/>
          </a:p>
        </p:txBody>
      </p:sp>
      <p:sp>
        <p:nvSpPr>
          <p:cNvPr id="5" name="Text 3"/>
          <p:cNvSpPr/>
          <p:nvPr/>
        </p:nvSpPr>
        <p:spPr>
          <a:xfrm>
            <a:off x="932688" y="520261"/>
            <a:ext cx="10908792" cy="274320"/>
          </a:xfrm>
          <a:prstGeom prst="rect">
            <a:avLst/>
          </a:prstGeom>
          <a:noFill/>
          <a:ln/>
        </p:spPr>
        <p:txBody>
          <a:bodyPr wrap="square" lIns="0" tIns="0" rIns="0" bIns="0" rtlCol="0" anchor="ctr"/>
          <a:lstStyle/>
          <a:p>
            <a:pPr marL="0" indent="0">
              <a:buNone/>
            </a:pPr>
            <a:r>
              <a:rPr lang="en-US" sz="1100" b="1" kern="0" spc="200" dirty="0">
                <a:solidFill>
                  <a:srgbClr val="C44E52"/>
                </a:solidFill>
                <a:latin typeface="Calibri" pitchFamily="34" charset="0"/>
                <a:ea typeface="Calibri" pitchFamily="34" charset="-122"/>
                <a:cs typeface="Calibri" pitchFamily="34" charset="-120"/>
              </a:rPr>
              <a:t>CROSS-LINGUAL CONSISTENCY</a:t>
            </a:r>
            <a:endParaRPr lang="en-US" sz="1100" dirty="0"/>
          </a:p>
        </p:txBody>
      </p:sp>
      <p:sp>
        <p:nvSpPr>
          <p:cNvPr id="6" name="Text 4"/>
          <p:cNvSpPr/>
          <p:nvPr/>
        </p:nvSpPr>
        <p:spPr>
          <a:xfrm>
            <a:off x="640080" y="749808"/>
            <a:ext cx="10908792" cy="822960"/>
          </a:xfrm>
          <a:prstGeom prst="rect">
            <a:avLst/>
          </a:prstGeom>
          <a:noFill/>
          <a:ln/>
        </p:spPr>
        <p:txBody>
          <a:bodyPr wrap="square" lIns="0" tIns="0" rIns="0" bIns="0" rtlCol="0" anchor="ctr"/>
          <a:lstStyle/>
          <a:p>
            <a:pPr marL="0" indent="0">
              <a:buNone/>
            </a:pPr>
            <a:r>
              <a:rPr lang="en-US" sz="3000" b="1" dirty="0">
                <a:solidFill>
                  <a:srgbClr val="1F2933"/>
                </a:solidFill>
                <a:latin typeface="Georgia" pitchFamily="34" charset="0"/>
                <a:ea typeface="Georgia" pitchFamily="34" charset="-122"/>
                <a:cs typeface="Georgia" pitchFamily="34" charset="-120"/>
              </a:rPr>
              <a:t>The pattern is the same in every language</a:t>
            </a:r>
            <a:endParaRPr lang="en-US" sz="3000" dirty="0"/>
          </a:p>
        </p:txBody>
      </p:sp>
      <p:graphicFrame>
        <p:nvGraphicFramePr>
          <p:cNvPr id="7" name="Chart 0"/>
          <p:cNvGraphicFramePr/>
          <p:nvPr/>
        </p:nvGraphicFramePr>
        <p:xfrm>
          <a:off x="640080" y="1828800"/>
          <a:ext cx="749808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p:cNvSpPr/>
          <p:nvPr/>
        </p:nvSpPr>
        <p:spPr>
          <a:xfrm>
            <a:off x="8321040" y="2011680"/>
            <a:ext cx="3200400" cy="4389120"/>
          </a:xfrm>
          <a:prstGeom prst="rect">
            <a:avLst/>
          </a:prstGeom>
          <a:noFill/>
          <a:ln/>
        </p:spPr>
        <p:txBody>
          <a:bodyPr wrap="square" rtlCol="0" anchor="t"/>
          <a:lstStyle/>
          <a:p>
            <a:pPr marL="228600" indent="-228600">
              <a:spcAft>
                <a:spcPts val="1200"/>
              </a:spcAft>
              <a:buSzPct val="100000"/>
              <a:buChar char="•"/>
            </a:pPr>
            <a:r>
              <a:rPr lang="en-US" sz="1300" dirty="0">
                <a:solidFill>
                  <a:srgbClr val="1F2933"/>
                </a:solidFill>
                <a:latin typeface="Calibri" pitchFamily="34" charset="0"/>
                <a:ea typeface="Calibri" pitchFamily="34" charset="-122"/>
                <a:cs typeface="Calibri" pitchFamily="34" charset="-120"/>
              </a:rPr>
              <a:t>Wealth &amp; Power high, Morality &amp; Intellect ≈ chance — in all four languages.</a:t>
            </a:r>
            <a:endParaRPr lang="en-US" sz="1300" dirty="0"/>
          </a:p>
          <a:p>
            <a:pPr marL="228600" indent="-228600">
              <a:spcAft>
                <a:spcPts val="1200"/>
              </a:spcAft>
              <a:buSzPct val="100000"/>
              <a:buChar char="•"/>
            </a:pPr>
            <a:r>
              <a:rPr lang="en-US" sz="1300" dirty="0">
                <a:solidFill>
                  <a:srgbClr val="1F2933"/>
                </a:solidFill>
                <a:latin typeface="Calibri" pitchFamily="34" charset="0"/>
                <a:ea typeface="Calibri" pitchFamily="34" charset="-122"/>
                <a:cs typeface="Calibri" pitchFamily="34" charset="-120"/>
              </a:rPr>
              <a:t>Per-language differences are small and within noise at current cell sizes.</a:t>
            </a:r>
            <a:endParaRPr lang="en-US" sz="1300" dirty="0"/>
          </a:p>
          <a:p>
            <a:pPr marL="228600" indent="-228600">
              <a:spcAft>
                <a:spcPts val="1200"/>
              </a:spcAft>
              <a:buSzPct val="100000"/>
              <a:buChar char="•"/>
            </a:pPr>
            <a:r>
              <a:rPr lang="en-US" sz="1300" b="1" dirty="0">
                <a:solidFill>
                  <a:srgbClr val="C44E52"/>
                </a:solidFill>
                <a:latin typeface="Calibri" pitchFamily="34" charset="0"/>
                <a:ea typeface="Calibri" pitchFamily="34" charset="-122"/>
                <a:cs typeface="Calibri" pitchFamily="34" charset="-120"/>
              </a:rPr>
              <a:t>→ Answers RQ1: the bias is baked into the VISUAL representation, not produced by any one language's prompt.</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F2933"/>
        </a:solidFill>
        <a:effectLst/>
      </p:bgPr>
    </p:bg>
    <p:spTree>
      <p:nvGrpSpPr>
        <p:cNvPr id="1" name=""/>
        <p:cNvGrpSpPr/>
        <p:nvPr/>
      </p:nvGrpSpPr>
      <p:grpSpPr>
        <a:xfrm>
          <a:off x="0" y="0"/>
          <a:ext cx="0" cy="0"/>
          <a:chOff x="0" y="0"/>
          <a:chExt cx="0" cy="0"/>
        </a:xfrm>
      </p:grpSpPr>
      <p:sp>
        <p:nvSpPr>
          <p:cNvPr id="2" name="Text 0"/>
          <p:cNvSpPr/>
          <p:nvPr/>
        </p:nvSpPr>
        <p:spPr>
          <a:xfrm>
            <a:off x="640080" y="6473952"/>
            <a:ext cx="8229600" cy="274320"/>
          </a:xfrm>
          <a:prstGeom prst="rect">
            <a:avLst/>
          </a:prstGeom>
          <a:noFill/>
          <a:ln/>
        </p:spPr>
        <p:txBody>
          <a:bodyPr wrap="square" lIns="0" tIns="0" rIns="0" bIns="0" rtlCol="0" anchor="ctr"/>
          <a:lstStyle/>
          <a:p>
            <a:pPr marL="0" indent="0">
              <a:buNone/>
            </a:pPr>
            <a:r>
              <a:rPr lang="en-US" sz="900" dirty="0">
                <a:solidFill>
                  <a:srgbClr val="7B8794"/>
                </a:solidFill>
                <a:latin typeface="Calibri" pitchFamily="34" charset="0"/>
                <a:ea typeface="Calibri" pitchFamily="34" charset="-122"/>
                <a:cs typeface="Calibri" pitchFamily="34" charset="-120"/>
              </a:rPr>
              <a:t>Multilingual Prototypicality Bias  ·  Progress Report</a:t>
            </a:r>
            <a:endParaRPr lang="en-US" sz="900" dirty="0"/>
          </a:p>
        </p:txBody>
      </p:sp>
      <p:sp>
        <p:nvSpPr>
          <p:cNvPr id="3" name="Text 1"/>
          <p:cNvSpPr/>
          <p:nvPr/>
        </p:nvSpPr>
        <p:spPr>
          <a:xfrm>
            <a:off x="11183112" y="6473952"/>
            <a:ext cx="457200" cy="274320"/>
          </a:xfrm>
          <a:prstGeom prst="rect">
            <a:avLst/>
          </a:prstGeom>
          <a:noFill/>
          <a:ln/>
        </p:spPr>
        <p:txBody>
          <a:bodyPr wrap="square" lIns="0" tIns="0" rIns="0" bIns="0" rtlCol="0" anchor="ctr"/>
          <a:lstStyle/>
          <a:p>
            <a:pPr marL="0" indent="0" algn="r">
              <a:buNone/>
            </a:pPr>
            <a:r>
              <a:rPr lang="en-US" sz="900" dirty="0">
                <a:solidFill>
                  <a:srgbClr val="7B8794"/>
                </a:solidFill>
                <a:latin typeface="Calibri" pitchFamily="34" charset="0"/>
                <a:ea typeface="Calibri" pitchFamily="34" charset="-122"/>
                <a:cs typeface="Calibri" pitchFamily="34" charset="-120"/>
              </a:rPr>
              <a:t>12</a:t>
            </a:r>
            <a:endParaRPr lang="en-US" sz="900" dirty="0"/>
          </a:p>
        </p:txBody>
      </p:sp>
      <p:sp>
        <p:nvSpPr>
          <p:cNvPr id="4" name="Shape 2"/>
          <p:cNvSpPr/>
          <p:nvPr/>
        </p:nvSpPr>
        <p:spPr>
          <a:xfrm>
            <a:off x="640080" y="640080"/>
            <a:ext cx="146304" cy="146304"/>
          </a:xfrm>
          <a:prstGeom prst="rect">
            <a:avLst/>
          </a:prstGeom>
          <a:solidFill>
            <a:srgbClr val="C44E52"/>
          </a:solidFill>
          <a:ln/>
        </p:spPr>
        <p:txBody>
          <a:bodyPr/>
          <a:lstStyle/>
          <a:p>
            <a:endParaRPr lang="zh-CN" altLang="en-US"/>
          </a:p>
        </p:txBody>
      </p:sp>
      <p:sp>
        <p:nvSpPr>
          <p:cNvPr id="5" name="Text 3"/>
          <p:cNvSpPr/>
          <p:nvPr/>
        </p:nvSpPr>
        <p:spPr>
          <a:xfrm>
            <a:off x="932688" y="527620"/>
            <a:ext cx="9144000" cy="365760"/>
          </a:xfrm>
          <a:prstGeom prst="rect">
            <a:avLst/>
          </a:prstGeom>
          <a:noFill/>
          <a:ln/>
        </p:spPr>
        <p:txBody>
          <a:bodyPr wrap="square" lIns="0" tIns="0" rIns="0" bIns="0" rtlCol="0" anchor="ctr"/>
          <a:lstStyle/>
          <a:p>
            <a:pPr marL="0" indent="0">
              <a:buNone/>
            </a:pPr>
            <a:r>
              <a:rPr lang="en-US" sz="1200" b="1" kern="0" spc="200" dirty="0">
                <a:solidFill>
                  <a:srgbClr val="9FB3C8"/>
                </a:solidFill>
                <a:latin typeface="Calibri" pitchFamily="34" charset="0"/>
                <a:ea typeface="Calibri" pitchFamily="34" charset="-122"/>
                <a:cs typeface="Calibri" pitchFamily="34" charset="-120"/>
              </a:rPr>
              <a:t>WHAT WE LEARNED</a:t>
            </a:r>
            <a:endParaRPr lang="en-US" sz="1200" dirty="0"/>
          </a:p>
        </p:txBody>
      </p:sp>
      <p:sp>
        <p:nvSpPr>
          <p:cNvPr id="6" name="Text 4"/>
          <p:cNvSpPr/>
          <p:nvPr/>
        </p:nvSpPr>
        <p:spPr>
          <a:xfrm>
            <a:off x="640080" y="1554480"/>
            <a:ext cx="10972800" cy="2926080"/>
          </a:xfrm>
          <a:prstGeom prst="rect">
            <a:avLst/>
          </a:prstGeom>
          <a:noFill/>
          <a:ln/>
        </p:spPr>
        <p:txBody>
          <a:bodyPr wrap="square" rtlCol="0" anchor="t"/>
          <a:lstStyle/>
          <a:p>
            <a:pPr marL="0" indent="0">
              <a:buNone/>
            </a:pPr>
            <a:r>
              <a:rPr lang="en-US" sz="2600" b="1" dirty="0">
                <a:solidFill>
                  <a:srgbClr val="FFFFFF"/>
                </a:solidFill>
                <a:latin typeface="Georgia" pitchFamily="34" charset="0"/>
                <a:ea typeface="Georgia" pitchFamily="34" charset="-122"/>
                <a:cs typeface="Georgia" pitchFamily="34" charset="-120"/>
              </a:rPr>
              <a:t>1   Prototypicality bias is attribute-specific</a:t>
            </a:r>
            <a:endParaRPr lang="en-US" sz="2600" dirty="0"/>
          </a:p>
          <a:p>
            <a:pPr marL="0" indent="0">
              <a:buNone/>
            </a:pPr>
            <a:r>
              <a:rPr lang="en-US" sz="1500" dirty="0">
                <a:solidFill>
                  <a:srgbClr val="9FB3C8"/>
                </a:solidFill>
                <a:latin typeface="Georgia" pitchFamily="34" charset="0"/>
                <a:ea typeface="Georgia" pitchFamily="34" charset="-122"/>
                <a:cs typeface="Georgia" pitchFamily="34" charset="-120"/>
              </a:rPr>
              <a:t>       answers RQ2 · concentrated on social-status attributes (wealth, power)
</a:t>
            </a:r>
            <a:endParaRPr lang="en-US" sz="2600" dirty="0"/>
          </a:p>
          <a:p>
            <a:pPr marL="0" indent="0">
              <a:buNone/>
            </a:pPr>
            <a:r>
              <a:rPr lang="en-US" sz="2600" b="1" dirty="0">
                <a:solidFill>
                  <a:srgbClr val="FFFFFF"/>
                </a:solidFill>
                <a:latin typeface="Georgia" pitchFamily="34" charset="0"/>
                <a:ea typeface="Georgia" pitchFamily="34" charset="-122"/>
                <a:cs typeface="Georgia" pitchFamily="34" charset="-120"/>
              </a:rPr>
              <a:t>2   It is largely language-invariant</a:t>
            </a:r>
            <a:endParaRPr lang="en-US" sz="2600" dirty="0"/>
          </a:p>
          <a:p>
            <a:pPr marL="0" indent="0">
              <a:buNone/>
            </a:pPr>
            <a:r>
              <a:rPr lang="en-US" sz="1500" dirty="0">
                <a:solidFill>
                  <a:srgbClr val="9FB3C8"/>
                </a:solidFill>
                <a:latin typeface="Georgia" pitchFamily="34" charset="0"/>
                <a:ea typeface="Georgia" pitchFamily="34" charset="-122"/>
                <a:cs typeface="Georgia" pitchFamily="34" charset="-120"/>
              </a:rPr>
              <a:t>       answers RQ1 · the same pattern across English, Chinese, Arabic, Hindi</a:t>
            </a:r>
            <a:endParaRPr lang="en-US" sz="2600" dirty="0"/>
          </a:p>
        </p:txBody>
      </p:sp>
      <p:sp>
        <p:nvSpPr>
          <p:cNvPr id="7" name="Shape 5"/>
          <p:cNvSpPr/>
          <p:nvPr/>
        </p:nvSpPr>
        <p:spPr>
          <a:xfrm>
            <a:off x="640080" y="4937760"/>
            <a:ext cx="10972800" cy="1188720"/>
          </a:xfrm>
          <a:prstGeom prst="rect">
            <a:avLst/>
          </a:prstGeom>
          <a:solidFill>
            <a:srgbClr val="2B3947"/>
          </a:solidFill>
          <a:ln/>
        </p:spPr>
        <p:txBody>
          <a:bodyPr/>
          <a:lstStyle/>
          <a:p>
            <a:endParaRPr lang="zh-CN" altLang="en-US"/>
          </a:p>
        </p:txBody>
      </p:sp>
      <p:sp>
        <p:nvSpPr>
          <p:cNvPr id="8" name="Text 6"/>
          <p:cNvSpPr/>
          <p:nvPr/>
        </p:nvSpPr>
        <p:spPr>
          <a:xfrm>
            <a:off x="914400" y="4937760"/>
            <a:ext cx="10424160" cy="1188720"/>
          </a:xfrm>
          <a:prstGeom prst="rect">
            <a:avLst/>
          </a:prstGeom>
          <a:noFill/>
          <a:ln/>
        </p:spPr>
        <p:txBody>
          <a:bodyPr wrap="square" rtlCol="0" anchor="ctr"/>
          <a:lstStyle/>
          <a:p>
            <a:pPr marL="0" indent="0">
              <a:buNone/>
            </a:pPr>
            <a:r>
              <a:rPr lang="en-US" sz="1600" i="1" dirty="0">
                <a:solidFill>
                  <a:srgbClr val="FFFFFF"/>
                </a:solidFill>
                <a:latin typeface="Calibri" pitchFamily="34" charset="0"/>
                <a:ea typeface="Calibri" pitchFamily="34" charset="-122"/>
                <a:cs typeface="Calibri" pitchFamily="34" charset="-120"/>
              </a:rPr>
              <a:t>A "language doesn't move it" result is a valid multilingual finding — </a:t>
            </a:r>
            <a:r>
              <a:rPr lang="en-US" sz="1600" b="1" i="1" dirty="0">
                <a:solidFill>
                  <a:srgbClr val="C44E52"/>
                </a:solidFill>
                <a:latin typeface="Calibri" pitchFamily="34" charset="0"/>
                <a:ea typeface="Calibri" pitchFamily="34" charset="-122"/>
                <a:cs typeface="Calibri" pitchFamily="34" charset="-120"/>
              </a:rPr>
              <a:t>it strengthens the paper's claim that the failure is structural.</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40080" y="6473952"/>
            <a:ext cx="8229600" cy="274320"/>
          </a:xfrm>
          <a:prstGeom prst="rect">
            <a:avLst/>
          </a:prstGeom>
          <a:noFill/>
          <a:ln/>
        </p:spPr>
        <p:txBody>
          <a:bodyPr wrap="square" lIns="0" tIns="0" rIns="0" bIns="0" rtlCol="0" anchor="ctr"/>
          <a:lstStyle/>
          <a:p>
            <a:pPr marL="0" indent="0">
              <a:buNone/>
            </a:pPr>
            <a:r>
              <a:rPr lang="en-US" sz="900" dirty="0">
                <a:solidFill>
                  <a:srgbClr val="7B8794"/>
                </a:solidFill>
                <a:latin typeface="Calibri" pitchFamily="34" charset="0"/>
                <a:ea typeface="Calibri" pitchFamily="34" charset="-122"/>
                <a:cs typeface="Calibri" pitchFamily="34" charset="-120"/>
              </a:rPr>
              <a:t>Multilingual Prototypicality Bias  ·  Progress Report</a:t>
            </a:r>
            <a:endParaRPr lang="en-US" sz="900" dirty="0"/>
          </a:p>
        </p:txBody>
      </p:sp>
      <p:sp>
        <p:nvSpPr>
          <p:cNvPr id="3" name="Text 1"/>
          <p:cNvSpPr/>
          <p:nvPr/>
        </p:nvSpPr>
        <p:spPr>
          <a:xfrm>
            <a:off x="11183112" y="6473952"/>
            <a:ext cx="457200" cy="274320"/>
          </a:xfrm>
          <a:prstGeom prst="rect">
            <a:avLst/>
          </a:prstGeom>
          <a:noFill/>
          <a:ln/>
        </p:spPr>
        <p:txBody>
          <a:bodyPr wrap="square" lIns="0" tIns="0" rIns="0" bIns="0" rtlCol="0" anchor="ctr"/>
          <a:lstStyle/>
          <a:p>
            <a:pPr marL="0" indent="0" algn="r">
              <a:buNone/>
            </a:pPr>
            <a:r>
              <a:rPr lang="en-US" sz="900" dirty="0">
                <a:solidFill>
                  <a:srgbClr val="7B8794"/>
                </a:solidFill>
                <a:latin typeface="Calibri" pitchFamily="34" charset="0"/>
                <a:ea typeface="Calibri" pitchFamily="34" charset="-122"/>
                <a:cs typeface="Calibri" pitchFamily="34" charset="-120"/>
              </a:rPr>
              <a:t>13</a:t>
            </a:r>
            <a:endParaRPr lang="en-US" sz="900" dirty="0"/>
          </a:p>
        </p:txBody>
      </p:sp>
      <p:sp>
        <p:nvSpPr>
          <p:cNvPr id="4" name="Shape 2"/>
          <p:cNvSpPr/>
          <p:nvPr/>
        </p:nvSpPr>
        <p:spPr>
          <a:xfrm>
            <a:off x="640080" y="566928"/>
            <a:ext cx="146304" cy="146304"/>
          </a:xfrm>
          <a:prstGeom prst="rect">
            <a:avLst/>
          </a:prstGeom>
          <a:solidFill>
            <a:srgbClr val="C44E52"/>
          </a:solidFill>
          <a:ln/>
        </p:spPr>
        <p:txBody>
          <a:bodyPr/>
          <a:lstStyle/>
          <a:p>
            <a:endParaRPr lang="zh-CN" altLang="en-US"/>
          </a:p>
        </p:txBody>
      </p:sp>
      <p:sp>
        <p:nvSpPr>
          <p:cNvPr id="5" name="Text 3"/>
          <p:cNvSpPr/>
          <p:nvPr/>
        </p:nvSpPr>
        <p:spPr>
          <a:xfrm>
            <a:off x="932688" y="509751"/>
            <a:ext cx="10908792" cy="274320"/>
          </a:xfrm>
          <a:prstGeom prst="rect">
            <a:avLst/>
          </a:prstGeom>
          <a:noFill/>
          <a:ln/>
        </p:spPr>
        <p:txBody>
          <a:bodyPr wrap="square" lIns="0" tIns="0" rIns="0" bIns="0" rtlCol="0" anchor="ctr"/>
          <a:lstStyle/>
          <a:p>
            <a:pPr marL="0" indent="0">
              <a:buNone/>
            </a:pPr>
            <a:r>
              <a:rPr lang="en-US" sz="1100" b="1" kern="0" spc="200" dirty="0">
                <a:solidFill>
                  <a:srgbClr val="C44E52"/>
                </a:solidFill>
                <a:latin typeface="Calibri" pitchFamily="34" charset="0"/>
                <a:ea typeface="Calibri" pitchFamily="34" charset="-122"/>
                <a:cs typeface="Calibri" pitchFamily="34" charset="-120"/>
              </a:rPr>
              <a:t>LIMITATIONS</a:t>
            </a:r>
            <a:endParaRPr lang="en-US" sz="1100" dirty="0"/>
          </a:p>
        </p:txBody>
      </p:sp>
      <p:sp>
        <p:nvSpPr>
          <p:cNvPr id="6" name="Text 4"/>
          <p:cNvSpPr/>
          <p:nvPr/>
        </p:nvSpPr>
        <p:spPr>
          <a:xfrm>
            <a:off x="640080" y="749808"/>
            <a:ext cx="10908792" cy="822960"/>
          </a:xfrm>
          <a:prstGeom prst="rect">
            <a:avLst/>
          </a:prstGeom>
          <a:noFill/>
          <a:ln/>
        </p:spPr>
        <p:txBody>
          <a:bodyPr wrap="square" lIns="0" tIns="0" rIns="0" bIns="0" rtlCol="0" anchor="ctr"/>
          <a:lstStyle/>
          <a:p>
            <a:pPr marL="0" indent="0">
              <a:buNone/>
            </a:pPr>
            <a:r>
              <a:rPr lang="en-US" sz="3000" b="1" dirty="0">
                <a:solidFill>
                  <a:srgbClr val="1F2933"/>
                </a:solidFill>
                <a:latin typeface="Georgia" pitchFamily="34" charset="0"/>
                <a:ea typeface="Georgia" pitchFamily="34" charset="-122"/>
                <a:cs typeface="Georgia" pitchFamily="34" charset="-120"/>
              </a:rPr>
              <a:t>Caveats</a:t>
            </a:r>
            <a:endParaRPr lang="en-US" sz="3000" dirty="0"/>
          </a:p>
        </p:txBody>
      </p:sp>
      <p:sp>
        <p:nvSpPr>
          <p:cNvPr id="7" name="Text 5"/>
          <p:cNvSpPr/>
          <p:nvPr/>
        </p:nvSpPr>
        <p:spPr>
          <a:xfrm>
            <a:off x="640080" y="1920240"/>
            <a:ext cx="10789920" cy="4389120"/>
          </a:xfrm>
          <a:prstGeom prst="rect">
            <a:avLst/>
          </a:prstGeom>
          <a:noFill/>
          <a:ln/>
        </p:spPr>
        <p:txBody>
          <a:bodyPr wrap="square" rtlCol="0" anchor="t"/>
          <a:lstStyle/>
          <a:p>
            <a:pPr marL="228600" indent="-228600">
              <a:spcAft>
                <a:spcPts val="1600"/>
              </a:spcAft>
              <a:buSzPct val="100000"/>
              <a:buChar char="•"/>
            </a:pPr>
            <a:r>
              <a:rPr lang="en-US" sz="1600" dirty="0">
                <a:solidFill>
                  <a:srgbClr val="1F2933"/>
                </a:solidFill>
                <a:latin typeface="Calibri" pitchFamily="34" charset="0"/>
                <a:ea typeface="Calibri" pitchFamily="34" charset="-122"/>
                <a:cs typeface="Calibri" pitchFamily="34" charset="-120"/>
              </a:rPr>
              <a:t>Effect sizes are small relative to CIs; underpowered for cross-language contrasts (Wealth has only ~31 items per language).</a:t>
            </a:r>
            <a:endParaRPr lang="en-US" sz="1600" dirty="0"/>
          </a:p>
          <a:p>
            <a:pPr marL="228600" indent="-228600">
              <a:spcAft>
                <a:spcPts val="1600"/>
              </a:spcAft>
              <a:buSzPct val="100000"/>
              <a:buChar char="•"/>
            </a:pPr>
            <a:r>
              <a:rPr lang="en-US" sz="1600" dirty="0">
                <a:solidFill>
                  <a:srgbClr val="1F2933"/>
                </a:solidFill>
                <a:latin typeface="Calibri" pitchFamily="34" charset="0"/>
                <a:ea typeface="Calibri" pitchFamily="34" charset="-122"/>
                <a:cs typeface="Calibri" pitchFamily="34" charset="-120"/>
              </a:rPr>
              <a:t>Single model, single seed, single translation backend.</a:t>
            </a:r>
            <a:endParaRPr lang="en-US" sz="1600" dirty="0"/>
          </a:p>
          <a:p>
            <a:pPr marL="228600" indent="-228600">
              <a:spcAft>
                <a:spcPts val="1600"/>
              </a:spcAft>
              <a:buSzPct val="100000"/>
              <a:buChar char="•"/>
            </a:pPr>
            <a:r>
              <a:rPr lang="en-US" sz="1600" dirty="0">
                <a:solidFill>
                  <a:srgbClr val="1F2933"/>
                </a:solidFill>
                <a:latin typeface="Calibri" pitchFamily="34" charset="0"/>
                <a:ea typeface="Calibri" pitchFamily="34" charset="-122"/>
                <a:cs typeface="Calibri" pitchFamily="34" charset="-120"/>
              </a:rPr>
              <a:t>Translation quality for Arabic / Hindi not yet validated — a confound for any language claim.</a:t>
            </a:r>
            <a:endParaRPr lang="en-US" sz="1600" dirty="0"/>
          </a:p>
          <a:p>
            <a:pPr marL="228600" indent="-228600">
              <a:spcAft>
                <a:spcPts val="1600"/>
              </a:spcAft>
              <a:buSzPct val="100000"/>
              <a:buChar char="•"/>
            </a:pPr>
            <a:r>
              <a:rPr lang="en-US" sz="1600" dirty="0">
                <a:solidFill>
                  <a:srgbClr val="1F2933"/>
                </a:solidFill>
                <a:latin typeface="Calibri" pitchFamily="34" charset="0"/>
                <a:ea typeface="Calibri" pitchFamily="34" charset="-122"/>
                <a:cs typeface="Calibri" pitchFamily="34" charset="-120"/>
              </a:rPr>
              <a:t>Position bias and per-language parse-failure rates not yet audited.</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40080" y="6473952"/>
            <a:ext cx="8229600" cy="274320"/>
          </a:xfrm>
          <a:prstGeom prst="rect">
            <a:avLst/>
          </a:prstGeom>
          <a:noFill/>
          <a:ln/>
        </p:spPr>
        <p:txBody>
          <a:bodyPr wrap="square" lIns="0" tIns="0" rIns="0" bIns="0" rtlCol="0" anchor="ctr"/>
          <a:lstStyle/>
          <a:p>
            <a:pPr marL="0" indent="0">
              <a:buNone/>
            </a:pPr>
            <a:r>
              <a:rPr lang="en-US" sz="900" dirty="0">
                <a:solidFill>
                  <a:srgbClr val="7B8794"/>
                </a:solidFill>
                <a:latin typeface="Calibri" pitchFamily="34" charset="0"/>
                <a:ea typeface="Calibri" pitchFamily="34" charset="-122"/>
                <a:cs typeface="Calibri" pitchFamily="34" charset="-120"/>
              </a:rPr>
              <a:t>Multilingual Prototypicality Bias  ·  Progress Report</a:t>
            </a:r>
            <a:endParaRPr lang="en-US" sz="900" dirty="0"/>
          </a:p>
        </p:txBody>
      </p:sp>
      <p:sp>
        <p:nvSpPr>
          <p:cNvPr id="3" name="Text 1"/>
          <p:cNvSpPr/>
          <p:nvPr/>
        </p:nvSpPr>
        <p:spPr>
          <a:xfrm>
            <a:off x="11183112" y="6473952"/>
            <a:ext cx="457200" cy="274320"/>
          </a:xfrm>
          <a:prstGeom prst="rect">
            <a:avLst/>
          </a:prstGeom>
          <a:noFill/>
          <a:ln/>
        </p:spPr>
        <p:txBody>
          <a:bodyPr wrap="square" lIns="0" tIns="0" rIns="0" bIns="0" rtlCol="0" anchor="ctr"/>
          <a:lstStyle/>
          <a:p>
            <a:pPr marL="0" indent="0" algn="r">
              <a:buNone/>
            </a:pPr>
            <a:r>
              <a:rPr lang="en-US" sz="900" dirty="0">
                <a:solidFill>
                  <a:srgbClr val="7B8794"/>
                </a:solidFill>
                <a:latin typeface="Calibri" pitchFamily="34" charset="0"/>
                <a:ea typeface="Calibri" pitchFamily="34" charset="-122"/>
                <a:cs typeface="Calibri" pitchFamily="34" charset="-120"/>
              </a:rPr>
              <a:t>14</a:t>
            </a:r>
            <a:endParaRPr lang="en-US" sz="900" dirty="0"/>
          </a:p>
        </p:txBody>
      </p:sp>
      <p:sp>
        <p:nvSpPr>
          <p:cNvPr id="4" name="Shape 2"/>
          <p:cNvSpPr/>
          <p:nvPr/>
        </p:nvSpPr>
        <p:spPr>
          <a:xfrm>
            <a:off x="640080" y="566928"/>
            <a:ext cx="146304" cy="146304"/>
          </a:xfrm>
          <a:prstGeom prst="rect">
            <a:avLst/>
          </a:prstGeom>
          <a:solidFill>
            <a:srgbClr val="C44E52"/>
          </a:solidFill>
          <a:ln/>
        </p:spPr>
        <p:txBody>
          <a:bodyPr/>
          <a:lstStyle/>
          <a:p>
            <a:endParaRPr lang="zh-CN" altLang="en-US"/>
          </a:p>
        </p:txBody>
      </p:sp>
      <p:sp>
        <p:nvSpPr>
          <p:cNvPr id="5" name="Text 3"/>
          <p:cNvSpPr/>
          <p:nvPr/>
        </p:nvSpPr>
        <p:spPr>
          <a:xfrm>
            <a:off x="932688" y="509750"/>
            <a:ext cx="10908792" cy="274320"/>
          </a:xfrm>
          <a:prstGeom prst="rect">
            <a:avLst/>
          </a:prstGeom>
          <a:noFill/>
          <a:ln/>
        </p:spPr>
        <p:txBody>
          <a:bodyPr wrap="square" lIns="0" tIns="0" rIns="0" bIns="0" rtlCol="0" anchor="ctr"/>
          <a:lstStyle/>
          <a:p>
            <a:pPr marL="0" indent="0">
              <a:buNone/>
            </a:pPr>
            <a:r>
              <a:rPr lang="en-US" sz="1100" b="1" kern="0" spc="200" dirty="0">
                <a:solidFill>
                  <a:srgbClr val="C44E52"/>
                </a:solidFill>
                <a:latin typeface="Calibri" pitchFamily="34" charset="0"/>
                <a:ea typeface="Calibri" pitchFamily="34" charset="-122"/>
                <a:cs typeface="Calibri" pitchFamily="34" charset="-120"/>
              </a:rPr>
              <a:t>OUTLOOK</a:t>
            </a:r>
            <a:endParaRPr lang="en-US" sz="1100" dirty="0"/>
          </a:p>
        </p:txBody>
      </p:sp>
      <p:sp>
        <p:nvSpPr>
          <p:cNvPr id="6" name="Text 4"/>
          <p:cNvSpPr/>
          <p:nvPr/>
        </p:nvSpPr>
        <p:spPr>
          <a:xfrm>
            <a:off x="640080" y="749808"/>
            <a:ext cx="10908792" cy="822960"/>
          </a:xfrm>
          <a:prstGeom prst="rect">
            <a:avLst/>
          </a:prstGeom>
          <a:noFill/>
          <a:ln/>
        </p:spPr>
        <p:txBody>
          <a:bodyPr wrap="square" lIns="0" tIns="0" rIns="0" bIns="0" rtlCol="0" anchor="ctr"/>
          <a:lstStyle/>
          <a:p>
            <a:pPr marL="0" indent="0">
              <a:buNone/>
            </a:pPr>
            <a:r>
              <a:rPr lang="en-US" sz="3000" b="1" dirty="0">
                <a:solidFill>
                  <a:srgbClr val="1F2933"/>
                </a:solidFill>
                <a:latin typeface="Georgia" pitchFamily="34" charset="0"/>
                <a:ea typeface="Georgia" pitchFamily="34" charset="-122"/>
                <a:cs typeface="Georgia" pitchFamily="34" charset="-120"/>
              </a:rPr>
              <a:t>Next steps (Exp2)</a:t>
            </a:r>
            <a:endParaRPr lang="en-US" sz="3000" dirty="0"/>
          </a:p>
        </p:txBody>
      </p:sp>
      <p:sp>
        <p:nvSpPr>
          <p:cNvPr id="7" name="Shape 5"/>
          <p:cNvSpPr/>
          <p:nvPr/>
        </p:nvSpPr>
        <p:spPr>
          <a:xfrm>
            <a:off x="640080" y="1920240"/>
            <a:ext cx="640080" cy="640080"/>
          </a:xfrm>
          <a:prstGeom prst="ellipse">
            <a:avLst/>
          </a:prstGeom>
          <a:solidFill>
            <a:srgbClr val="C44E52"/>
          </a:solidFill>
          <a:ln/>
        </p:spPr>
        <p:txBody>
          <a:bodyPr/>
          <a:lstStyle/>
          <a:p>
            <a:endParaRPr lang="zh-CN" altLang="en-US"/>
          </a:p>
        </p:txBody>
      </p:sp>
      <p:sp>
        <p:nvSpPr>
          <p:cNvPr id="8" name="Text 6"/>
          <p:cNvSpPr/>
          <p:nvPr/>
        </p:nvSpPr>
        <p:spPr>
          <a:xfrm>
            <a:off x="640080" y="192024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1</a:t>
            </a:r>
            <a:endParaRPr lang="en-US" sz="2200" dirty="0"/>
          </a:p>
        </p:txBody>
      </p:sp>
      <p:sp>
        <p:nvSpPr>
          <p:cNvPr id="9" name="Text 7"/>
          <p:cNvSpPr/>
          <p:nvPr/>
        </p:nvSpPr>
        <p:spPr>
          <a:xfrm>
            <a:off x="1508760" y="1874520"/>
            <a:ext cx="10058400" cy="822960"/>
          </a:xfrm>
          <a:prstGeom prst="rect">
            <a:avLst/>
          </a:prstGeom>
          <a:noFill/>
          <a:ln/>
        </p:spPr>
        <p:txBody>
          <a:bodyPr wrap="square" rtlCol="0" anchor="ctr"/>
          <a:lstStyle/>
          <a:p>
            <a:pPr marL="0" indent="0">
              <a:buNone/>
            </a:pPr>
            <a:r>
              <a:rPr lang="en-US" sz="1600" b="1" dirty="0">
                <a:solidFill>
                  <a:srgbClr val="1F2933"/>
                </a:solidFill>
                <a:latin typeface="Calibri" pitchFamily="34" charset="0"/>
                <a:ea typeface="Calibri" pitchFamily="34" charset="-122"/>
                <a:cs typeface="Calibri" pitchFamily="34" charset="-120"/>
              </a:rPr>
              <a:t>Confirm statistically   </a:t>
            </a:r>
            <a:r>
              <a:rPr lang="en-US" sz="1300" dirty="0">
                <a:solidFill>
                  <a:srgbClr val="7B8794"/>
                </a:solidFill>
                <a:latin typeface="Calibri" pitchFamily="34" charset="0"/>
                <a:ea typeface="Calibri" pitchFamily="34" charset="-122"/>
                <a:cs typeface="Calibri" pitchFamily="34" charset="-120"/>
              </a:rPr>
              <a:t>Mixed-effects logistic regression: picked_adv ~ socio_attr + subcategory + lang + gender + (1|item). No GPU needed.</a:t>
            </a:r>
            <a:endParaRPr lang="en-US" sz="1600" dirty="0"/>
          </a:p>
        </p:txBody>
      </p:sp>
      <p:sp>
        <p:nvSpPr>
          <p:cNvPr id="10" name="Shape 8"/>
          <p:cNvSpPr/>
          <p:nvPr/>
        </p:nvSpPr>
        <p:spPr>
          <a:xfrm>
            <a:off x="640080" y="2944368"/>
            <a:ext cx="640080" cy="640080"/>
          </a:xfrm>
          <a:prstGeom prst="ellipse">
            <a:avLst/>
          </a:prstGeom>
          <a:solidFill>
            <a:srgbClr val="F4F5F7"/>
          </a:solidFill>
          <a:ln/>
        </p:spPr>
        <p:txBody>
          <a:bodyPr/>
          <a:lstStyle/>
          <a:p>
            <a:endParaRPr lang="zh-CN" altLang="en-US"/>
          </a:p>
        </p:txBody>
      </p:sp>
      <p:sp>
        <p:nvSpPr>
          <p:cNvPr id="11" name="Text 9"/>
          <p:cNvSpPr/>
          <p:nvPr/>
        </p:nvSpPr>
        <p:spPr>
          <a:xfrm>
            <a:off x="640080" y="2944368"/>
            <a:ext cx="640080" cy="640080"/>
          </a:xfrm>
          <a:prstGeom prst="rect">
            <a:avLst/>
          </a:prstGeom>
          <a:noFill/>
          <a:ln/>
        </p:spPr>
        <p:txBody>
          <a:bodyPr wrap="square" lIns="0" tIns="0" rIns="0" bIns="0" rtlCol="0" anchor="ctr"/>
          <a:lstStyle/>
          <a:p>
            <a:pPr marL="0" indent="0" algn="ctr">
              <a:buNone/>
            </a:pPr>
            <a:r>
              <a:rPr lang="en-US" sz="2200" b="1" dirty="0">
                <a:solidFill>
                  <a:srgbClr val="1F2933"/>
                </a:solidFill>
                <a:latin typeface="Georgia" pitchFamily="34" charset="0"/>
                <a:ea typeface="Georgia" pitchFamily="34" charset="-122"/>
                <a:cs typeface="Georgia" pitchFamily="34" charset="-120"/>
              </a:rPr>
              <a:t>2</a:t>
            </a:r>
            <a:endParaRPr lang="en-US" sz="2200" dirty="0"/>
          </a:p>
        </p:txBody>
      </p:sp>
      <p:sp>
        <p:nvSpPr>
          <p:cNvPr id="12" name="Text 10"/>
          <p:cNvSpPr/>
          <p:nvPr/>
        </p:nvSpPr>
        <p:spPr>
          <a:xfrm>
            <a:off x="1508760" y="2898648"/>
            <a:ext cx="10058400" cy="822960"/>
          </a:xfrm>
          <a:prstGeom prst="rect">
            <a:avLst/>
          </a:prstGeom>
          <a:noFill/>
          <a:ln/>
        </p:spPr>
        <p:txBody>
          <a:bodyPr wrap="square" rtlCol="0" anchor="ctr"/>
          <a:lstStyle/>
          <a:p>
            <a:pPr marL="0" indent="0">
              <a:buNone/>
            </a:pPr>
            <a:r>
              <a:rPr lang="en-US" sz="1600" b="1" dirty="0">
                <a:solidFill>
                  <a:srgbClr val="1F2933"/>
                </a:solidFill>
                <a:latin typeface="Calibri" pitchFamily="34" charset="0"/>
                <a:ea typeface="Calibri" pitchFamily="34" charset="-122"/>
                <a:cs typeface="Calibri" pitchFamily="34" charset="-120"/>
              </a:rPr>
              <a:t>Tighten the estimates   </a:t>
            </a:r>
            <a:r>
              <a:rPr lang="en-US" sz="1300" dirty="0">
                <a:solidFill>
                  <a:srgbClr val="7B8794"/>
                </a:solidFill>
                <a:latin typeface="Calibri" pitchFamily="34" charset="0"/>
                <a:ea typeface="Calibri" pitchFamily="34" charset="-122"/>
                <a:cs typeface="Calibri" pitchFamily="34" charset="-120"/>
              </a:rPr>
              <a:t>Enlarge / balance Demography sampling to ≥150 per cell — narrows Wealth / Power CIs.</a:t>
            </a:r>
            <a:endParaRPr lang="en-US" sz="1600" dirty="0"/>
          </a:p>
        </p:txBody>
      </p:sp>
      <p:sp>
        <p:nvSpPr>
          <p:cNvPr id="13" name="Shape 11"/>
          <p:cNvSpPr/>
          <p:nvPr/>
        </p:nvSpPr>
        <p:spPr>
          <a:xfrm>
            <a:off x="640080" y="3968496"/>
            <a:ext cx="640080" cy="640080"/>
          </a:xfrm>
          <a:prstGeom prst="ellipse">
            <a:avLst/>
          </a:prstGeom>
          <a:solidFill>
            <a:srgbClr val="F4F5F7"/>
          </a:solidFill>
          <a:ln/>
        </p:spPr>
        <p:txBody>
          <a:bodyPr/>
          <a:lstStyle/>
          <a:p>
            <a:endParaRPr lang="zh-CN" altLang="en-US"/>
          </a:p>
        </p:txBody>
      </p:sp>
      <p:sp>
        <p:nvSpPr>
          <p:cNvPr id="14" name="Text 12"/>
          <p:cNvSpPr/>
          <p:nvPr/>
        </p:nvSpPr>
        <p:spPr>
          <a:xfrm>
            <a:off x="640080" y="3968496"/>
            <a:ext cx="640080" cy="640080"/>
          </a:xfrm>
          <a:prstGeom prst="rect">
            <a:avLst/>
          </a:prstGeom>
          <a:noFill/>
          <a:ln/>
        </p:spPr>
        <p:txBody>
          <a:bodyPr wrap="square" lIns="0" tIns="0" rIns="0" bIns="0" rtlCol="0" anchor="ctr"/>
          <a:lstStyle/>
          <a:p>
            <a:pPr marL="0" indent="0" algn="ctr">
              <a:buNone/>
            </a:pPr>
            <a:r>
              <a:rPr lang="en-US" sz="2200" b="1" dirty="0">
                <a:solidFill>
                  <a:srgbClr val="1F2933"/>
                </a:solidFill>
                <a:latin typeface="Georgia" pitchFamily="34" charset="0"/>
                <a:ea typeface="Georgia" pitchFamily="34" charset="-122"/>
                <a:cs typeface="Georgia" pitchFamily="34" charset="-120"/>
              </a:rPr>
              <a:t>3</a:t>
            </a:r>
            <a:endParaRPr lang="en-US" sz="2200" dirty="0"/>
          </a:p>
        </p:txBody>
      </p:sp>
      <p:sp>
        <p:nvSpPr>
          <p:cNvPr id="15" name="Text 13"/>
          <p:cNvSpPr/>
          <p:nvPr/>
        </p:nvSpPr>
        <p:spPr>
          <a:xfrm>
            <a:off x="1508760" y="3922776"/>
            <a:ext cx="10058400" cy="822960"/>
          </a:xfrm>
          <a:prstGeom prst="rect">
            <a:avLst/>
          </a:prstGeom>
          <a:noFill/>
          <a:ln/>
        </p:spPr>
        <p:txBody>
          <a:bodyPr wrap="square" rtlCol="0" anchor="ctr"/>
          <a:lstStyle/>
          <a:p>
            <a:pPr marL="0" indent="0">
              <a:buNone/>
            </a:pPr>
            <a:r>
              <a:rPr lang="en-US" sz="1600" b="1" dirty="0">
                <a:solidFill>
                  <a:srgbClr val="1F2933"/>
                </a:solidFill>
                <a:latin typeface="Calibri" pitchFamily="34" charset="0"/>
                <a:ea typeface="Calibri" pitchFamily="34" charset="-122"/>
                <a:cs typeface="Calibri" pitchFamily="34" charset="-120"/>
              </a:rPr>
              <a:t>Test low-resource   </a:t>
            </a:r>
            <a:r>
              <a:rPr lang="en-US" sz="1300" dirty="0">
                <a:solidFill>
                  <a:srgbClr val="7B8794"/>
                </a:solidFill>
                <a:latin typeface="Calibri" pitchFamily="34" charset="0"/>
                <a:ea typeface="Calibri" pitchFamily="34" charset="-122"/>
                <a:cs typeface="Calibri" pitchFamily="34" charset="-120"/>
              </a:rPr>
              <a:t>Extend languages across the resource spectrum to directly test the "low-resource = worse" hypothesis.</a:t>
            </a:r>
            <a:endParaRPr lang="en-US" sz="1600" dirty="0"/>
          </a:p>
        </p:txBody>
      </p:sp>
      <p:sp>
        <p:nvSpPr>
          <p:cNvPr id="16" name="Shape 14"/>
          <p:cNvSpPr/>
          <p:nvPr/>
        </p:nvSpPr>
        <p:spPr>
          <a:xfrm>
            <a:off x="640080" y="4992624"/>
            <a:ext cx="640080" cy="640080"/>
          </a:xfrm>
          <a:prstGeom prst="ellipse">
            <a:avLst/>
          </a:prstGeom>
          <a:solidFill>
            <a:srgbClr val="F4F5F7"/>
          </a:solidFill>
          <a:ln/>
        </p:spPr>
        <p:txBody>
          <a:bodyPr/>
          <a:lstStyle/>
          <a:p>
            <a:endParaRPr lang="zh-CN" altLang="en-US"/>
          </a:p>
        </p:txBody>
      </p:sp>
      <p:sp>
        <p:nvSpPr>
          <p:cNvPr id="17" name="Text 15"/>
          <p:cNvSpPr/>
          <p:nvPr/>
        </p:nvSpPr>
        <p:spPr>
          <a:xfrm>
            <a:off x="640080" y="4992624"/>
            <a:ext cx="640080" cy="640080"/>
          </a:xfrm>
          <a:prstGeom prst="rect">
            <a:avLst/>
          </a:prstGeom>
          <a:noFill/>
          <a:ln/>
        </p:spPr>
        <p:txBody>
          <a:bodyPr wrap="square" lIns="0" tIns="0" rIns="0" bIns="0" rtlCol="0" anchor="ctr"/>
          <a:lstStyle/>
          <a:p>
            <a:pPr marL="0" indent="0" algn="ctr">
              <a:buNone/>
            </a:pPr>
            <a:r>
              <a:rPr lang="en-US" sz="2200" b="1" dirty="0">
                <a:solidFill>
                  <a:srgbClr val="1F2933"/>
                </a:solidFill>
                <a:latin typeface="Georgia" pitchFamily="34" charset="0"/>
                <a:ea typeface="Georgia" pitchFamily="34" charset="-122"/>
                <a:cs typeface="Georgia" pitchFamily="34" charset="-120"/>
              </a:rPr>
              <a:t>4</a:t>
            </a:r>
            <a:endParaRPr lang="en-US" sz="2200" dirty="0"/>
          </a:p>
        </p:txBody>
      </p:sp>
      <p:sp>
        <p:nvSpPr>
          <p:cNvPr id="18" name="Text 16"/>
          <p:cNvSpPr/>
          <p:nvPr/>
        </p:nvSpPr>
        <p:spPr>
          <a:xfrm>
            <a:off x="1508760" y="4946904"/>
            <a:ext cx="10058400" cy="822960"/>
          </a:xfrm>
          <a:prstGeom prst="rect">
            <a:avLst/>
          </a:prstGeom>
          <a:noFill/>
          <a:ln/>
        </p:spPr>
        <p:txBody>
          <a:bodyPr wrap="square" rtlCol="0" anchor="ctr"/>
          <a:lstStyle/>
          <a:p>
            <a:pPr marL="0" indent="0">
              <a:buNone/>
            </a:pPr>
            <a:r>
              <a:rPr lang="en-US" sz="1600" b="1" dirty="0">
                <a:solidFill>
                  <a:srgbClr val="1F2933"/>
                </a:solidFill>
                <a:latin typeface="Calibri" pitchFamily="34" charset="0"/>
                <a:ea typeface="Calibri" pitchFamily="34" charset="-122"/>
                <a:cs typeface="Calibri" pitchFamily="34" charset="-120"/>
              </a:rPr>
              <a:t>Validate translation   </a:t>
            </a:r>
            <a:r>
              <a:rPr lang="en-US" sz="1300" dirty="0">
                <a:solidFill>
                  <a:srgbClr val="7B8794"/>
                </a:solidFill>
                <a:latin typeface="Calibri" pitchFamily="34" charset="0"/>
                <a:ea typeface="Calibri" pitchFamily="34" charset="-122"/>
                <a:cs typeface="Calibri" pitchFamily="34" charset="-120"/>
              </a:rPr>
              <a:t>Back-translation drift + per-language parse-failure rates.</a:t>
            </a:r>
            <a:endParaRPr lang="en-US" sz="1600" dirty="0"/>
          </a:p>
        </p:txBody>
      </p:sp>
      <p:sp>
        <p:nvSpPr>
          <p:cNvPr id="19" name="Text 17"/>
          <p:cNvSpPr/>
          <p:nvPr/>
        </p:nvSpPr>
        <p:spPr>
          <a:xfrm>
            <a:off x="640080" y="6126480"/>
            <a:ext cx="10972800" cy="457200"/>
          </a:xfrm>
          <a:prstGeom prst="rect">
            <a:avLst/>
          </a:prstGeom>
          <a:noFill/>
          <a:ln/>
        </p:spPr>
        <p:txBody>
          <a:bodyPr wrap="square" lIns="0" tIns="0" rIns="0" bIns="0" rtlCol="0" anchor="ctr"/>
          <a:lstStyle/>
          <a:p>
            <a:pPr marL="0" indent="0">
              <a:buNone/>
            </a:pPr>
            <a:r>
              <a:rPr lang="en-US" sz="1400" b="1" dirty="0">
                <a:solidFill>
                  <a:srgbClr val="C44E52"/>
                </a:solidFill>
                <a:latin typeface="Calibri" pitchFamily="34" charset="0"/>
                <a:ea typeface="Calibri" pitchFamily="34" charset="-122"/>
                <a:cs typeface="Calibri" pitchFamily="34" charset="-120"/>
              </a:rPr>
              <a:t>Either outcome wins:  </a:t>
            </a:r>
            <a:r>
              <a:rPr lang="en-US" sz="1400" i="1" dirty="0">
                <a:solidFill>
                  <a:srgbClr val="1F2933"/>
                </a:solidFill>
                <a:latin typeface="Calibri" pitchFamily="34" charset="0"/>
                <a:ea typeface="Calibri" pitchFamily="34" charset="-122"/>
                <a:cs typeface="Calibri" pitchFamily="34" charset="-120"/>
              </a:rPr>
              <a:t>flat confirms language-invariance; a low-resource spike recovers the original hypothesis.</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640080" y="6473952"/>
            <a:ext cx="8229600" cy="274320"/>
          </a:xfrm>
          <a:prstGeom prst="rect">
            <a:avLst/>
          </a:prstGeom>
          <a:noFill/>
          <a:ln/>
        </p:spPr>
        <p:txBody>
          <a:bodyPr wrap="square" lIns="0" tIns="0" rIns="0" bIns="0" rtlCol="0" anchor="ctr"/>
          <a:lstStyle/>
          <a:p>
            <a:pPr marL="0" indent="0">
              <a:buNone/>
            </a:pPr>
            <a:r>
              <a:rPr lang="en-US" sz="900" dirty="0">
                <a:solidFill>
                  <a:srgbClr val="7B8794"/>
                </a:solidFill>
                <a:latin typeface="Calibri" pitchFamily="34" charset="0"/>
                <a:ea typeface="Calibri" pitchFamily="34" charset="-122"/>
                <a:cs typeface="Calibri" pitchFamily="34" charset="-120"/>
              </a:rPr>
              <a:t>Multilingual Prototypicality Bias  ·  Progress Report</a:t>
            </a:r>
            <a:endParaRPr lang="en-US" sz="900" dirty="0"/>
          </a:p>
        </p:txBody>
      </p:sp>
      <p:sp>
        <p:nvSpPr>
          <p:cNvPr id="3" name="Text 1"/>
          <p:cNvSpPr/>
          <p:nvPr/>
        </p:nvSpPr>
        <p:spPr>
          <a:xfrm>
            <a:off x="11183112" y="6473952"/>
            <a:ext cx="457200" cy="274320"/>
          </a:xfrm>
          <a:prstGeom prst="rect">
            <a:avLst/>
          </a:prstGeom>
          <a:noFill/>
          <a:ln/>
        </p:spPr>
        <p:txBody>
          <a:bodyPr wrap="square" lIns="0" tIns="0" rIns="0" bIns="0" rtlCol="0" anchor="ctr"/>
          <a:lstStyle/>
          <a:p>
            <a:pPr marL="0" indent="0" algn="r">
              <a:buNone/>
            </a:pPr>
            <a:r>
              <a:rPr lang="en-US" sz="900" dirty="0">
                <a:solidFill>
                  <a:srgbClr val="7B8794"/>
                </a:solidFill>
                <a:latin typeface="Calibri" pitchFamily="34" charset="0"/>
                <a:ea typeface="Calibri" pitchFamily="34" charset="-122"/>
                <a:cs typeface="Calibri" pitchFamily="34" charset="-120"/>
              </a:rPr>
              <a:t>15</a:t>
            </a:r>
            <a:endParaRPr lang="en-US" sz="900" dirty="0"/>
          </a:p>
        </p:txBody>
      </p:sp>
      <p:sp>
        <p:nvSpPr>
          <p:cNvPr id="4" name="Shape 2"/>
          <p:cNvSpPr/>
          <p:nvPr/>
        </p:nvSpPr>
        <p:spPr>
          <a:xfrm>
            <a:off x="640080" y="566928"/>
            <a:ext cx="146304" cy="146304"/>
          </a:xfrm>
          <a:prstGeom prst="rect">
            <a:avLst/>
          </a:prstGeom>
          <a:solidFill>
            <a:srgbClr val="C44E52"/>
          </a:solidFill>
          <a:ln/>
        </p:spPr>
        <p:txBody>
          <a:bodyPr/>
          <a:lstStyle/>
          <a:p>
            <a:endParaRPr lang="zh-CN" altLang="en-US"/>
          </a:p>
        </p:txBody>
      </p:sp>
      <p:sp>
        <p:nvSpPr>
          <p:cNvPr id="5" name="Text 3"/>
          <p:cNvSpPr/>
          <p:nvPr/>
        </p:nvSpPr>
        <p:spPr>
          <a:xfrm>
            <a:off x="932688" y="457200"/>
            <a:ext cx="10908792" cy="274320"/>
          </a:xfrm>
          <a:prstGeom prst="rect">
            <a:avLst/>
          </a:prstGeom>
          <a:noFill/>
          <a:ln/>
        </p:spPr>
        <p:txBody>
          <a:bodyPr wrap="square" lIns="0" tIns="0" rIns="0" bIns="0" rtlCol="0" anchor="ctr"/>
          <a:lstStyle/>
          <a:p>
            <a:pPr marL="0" indent="0">
              <a:buNone/>
            </a:pPr>
            <a:r>
              <a:rPr lang="en-US" sz="1100" b="1" kern="0" spc="200" dirty="0">
                <a:solidFill>
                  <a:srgbClr val="C44E52"/>
                </a:solidFill>
                <a:latin typeface="Calibri" pitchFamily="34" charset="0"/>
                <a:ea typeface="Calibri" pitchFamily="34" charset="-122"/>
                <a:cs typeface="Calibri" pitchFamily="34" charset="-120"/>
              </a:rPr>
              <a:t>WRAP-UP</a:t>
            </a:r>
            <a:endParaRPr lang="en-US" sz="1100" dirty="0"/>
          </a:p>
        </p:txBody>
      </p:sp>
      <p:sp>
        <p:nvSpPr>
          <p:cNvPr id="6" name="Text 4"/>
          <p:cNvSpPr/>
          <p:nvPr/>
        </p:nvSpPr>
        <p:spPr>
          <a:xfrm>
            <a:off x="640080" y="749808"/>
            <a:ext cx="10908792" cy="822960"/>
          </a:xfrm>
          <a:prstGeom prst="rect">
            <a:avLst/>
          </a:prstGeom>
          <a:noFill/>
          <a:ln/>
        </p:spPr>
        <p:txBody>
          <a:bodyPr wrap="square" lIns="0" tIns="0" rIns="0" bIns="0" rtlCol="0" anchor="ctr"/>
          <a:lstStyle/>
          <a:p>
            <a:pPr marL="0" indent="0">
              <a:buNone/>
            </a:pPr>
            <a:r>
              <a:rPr lang="en-US" sz="3000" b="1" dirty="0">
                <a:solidFill>
                  <a:srgbClr val="1F2933"/>
                </a:solidFill>
                <a:latin typeface="Georgia" pitchFamily="34" charset="0"/>
                <a:ea typeface="Georgia" pitchFamily="34" charset="-122"/>
                <a:cs typeface="Georgia" pitchFamily="34" charset="-120"/>
              </a:rPr>
              <a:t>Summary</a:t>
            </a:r>
            <a:endParaRPr lang="en-US" sz="3000" dirty="0"/>
          </a:p>
        </p:txBody>
      </p:sp>
      <p:sp>
        <p:nvSpPr>
          <p:cNvPr id="7" name="Shape 5"/>
          <p:cNvSpPr/>
          <p:nvPr/>
        </p:nvSpPr>
        <p:spPr>
          <a:xfrm>
            <a:off x="640080" y="2011680"/>
            <a:ext cx="109728" cy="1051560"/>
          </a:xfrm>
          <a:prstGeom prst="rect">
            <a:avLst/>
          </a:prstGeom>
          <a:solidFill>
            <a:srgbClr val="C44E52"/>
          </a:solidFill>
          <a:ln/>
        </p:spPr>
        <p:txBody>
          <a:bodyPr/>
          <a:lstStyle/>
          <a:p>
            <a:endParaRPr lang="zh-CN" altLang="en-US"/>
          </a:p>
        </p:txBody>
      </p:sp>
      <p:sp>
        <p:nvSpPr>
          <p:cNvPr id="8" name="Text 6"/>
          <p:cNvSpPr/>
          <p:nvPr/>
        </p:nvSpPr>
        <p:spPr>
          <a:xfrm>
            <a:off x="960120" y="2011680"/>
            <a:ext cx="10607040" cy="457200"/>
          </a:xfrm>
          <a:prstGeom prst="rect">
            <a:avLst/>
          </a:prstGeom>
          <a:noFill/>
          <a:ln/>
        </p:spPr>
        <p:txBody>
          <a:bodyPr wrap="square" lIns="0" tIns="0" rIns="0" bIns="0" rtlCol="0" anchor="ctr"/>
          <a:lstStyle/>
          <a:p>
            <a:pPr marL="0" indent="0">
              <a:buNone/>
            </a:pPr>
            <a:r>
              <a:rPr lang="en-US" sz="1900" b="1" dirty="0">
                <a:solidFill>
                  <a:srgbClr val="1F2933"/>
                </a:solidFill>
                <a:latin typeface="Georgia" pitchFamily="34" charset="0"/>
                <a:ea typeface="Georgia" pitchFamily="34" charset="-122"/>
                <a:cs typeface="Georgia" pitchFamily="34" charset="-120"/>
              </a:rPr>
              <a:t>Ran the first multilingual ProtoBias pipeline</a:t>
            </a:r>
            <a:endParaRPr lang="en-US" sz="1900" dirty="0"/>
          </a:p>
        </p:txBody>
      </p:sp>
      <p:sp>
        <p:nvSpPr>
          <p:cNvPr id="9" name="Text 7"/>
          <p:cNvSpPr/>
          <p:nvPr/>
        </p:nvSpPr>
        <p:spPr>
          <a:xfrm>
            <a:off x="960120" y="2514600"/>
            <a:ext cx="10607040" cy="502920"/>
          </a:xfrm>
          <a:prstGeom prst="rect">
            <a:avLst/>
          </a:prstGeom>
          <a:noFill/>
          <a:ln/>
        </p:spPr>
        <p:txBody>
          <a:bodyPr wrap="square" lIns="0" tIns="0" rIns="0" bIns="0" rtlCol="0" anchor="t"/>
          <a:lstStyle/>
          <a:p>
            <a:pPr marL="0" indent="0">
              <a:buNone/>
            </a:pPr>
            <a:r>
              <a:rPr lang="en-US" sz="1400" dirty="0">
                <a:solidFill>
                  <a:srgbClr val="7B8794"/>
                </a:solidFill>
                <a:latin typeface="Calibri" pitchFamily="34" charset="0"/>
                <a:ea typeface="Calibri" pitchFamily="34" charset="-122"/>
                <a:cs typeface="Calibri" pitchFamily="34" charset="-120"/>
              </a:rPr>
              <a:t>3,600 judgments across 4 languages on Qwen2.5-VL-7B.</a:t>
            </a:r>
            <a:endParaRPr lang="en-US" sz="1400" dirty="0"/>
          </a:p>
        </p:txBody>
      </p:sp>
      <p:sp>
        <p:nvSpPr>
          <p:cNvPr id="10" name="Shape 8"/>
          <p:cNvSpPr/>
          <p:nvPr/>
        </p:nvSpPr>
        <p:spPr>
          <a:xfrm>
            <a:off x="640080" y="3337560"/>
            <a:ext cx="109728" cy="1051560"/>
          </a:xfrm>
          <a:prstGeom prst="rect">
            <a:avLst/>
          </a:prstGeom>
          <a:solidFill>
            <a:srgbClr val="C44E52"/>
          </a:solidFill>
          <a:ln/>
        </p:spPr>
        <p:txBody>
          <a:bodyPr/>
          <a:lstStyle/>
          <a:p>
            <a:endParaRPr lang="zh-CN" altLang="en-US"/>
          </a:p>
        </p:txBody>
      </p:sp>
      <p:sp>
        <p:nvSpPr>
          <p:cNvPr id="11" name="Text 9"/>
          <p:cNvSpPr/>
          <p:nvPr/>
        </p:nvSpPr>
        <p:spPr>
          <a:xfrm>
            <a:off x="960120" y="3337560"/>
            <a:ext cx="10607040" cy="457200"/>
          </a:xfrm>
          <a:prstGeom prst="rect">
            <a:avLst/>
          </a:prstGeom>
          <a:noFill/>
          <a:ln/>
        </p:spPr>
        <p:txBody>
          <a:bodyPr wrap="square" lIns="0" tIns="0" rIns="0" bIns="0" rtlCol="0" anchor="ctr"/>
          <a:lstStyle/>
          <a:p>
            <a:pPr marL="0" indent="0">
              <a:buNone/>
            </a:pPr>
            <a:r>
              <a:rPr lang="en-US" sz="1900" b="1" dirty="0">
                <a:solidFill>
                  <a:srgbClr val="1F2933"/>
                </a:solidFill>
                <a:latin typeface="Georgia" pitchFamily="34" charset="0"/>
                <a:ea typeface="Georgia" pitchFamily="34" charset="-122"/>
                <a:cs typeface="Georgia" pitchFamily="34" charset="-120"/>
              </a:rPr>
              <a:t>Found bias is attribute-specific &amp; language-consistent</a:t>
            </a:r>
            <a:endParaRPr lang="en-US" sz="1900" dirty="0"/>
          </a:p>
        </p:txBody>
      </p:sp>
      <p:sp>
        <p:nvSpPr>
          <p:cNvPr id="12" name="Text 10"/>
          <p:cNvSpPr/>
          <p:nvPr/>
        </p:nvSpPr>
        <p:spPr>
          <a:xfrm>
            <a:off x="960120" y="3840480"/>
            <a:ext cx="10607040" cy="502920"/>
          </a:xfrm>
          <a:prstGeom prst="rect">
            <a:avLst/>
          </a:prstGeom>
          <a:noFill/>
          <a:ln/>
        </p:spPr>
        <p:txBody>
          <a:bodyPr wrap="square" lIns="0" tIns="0" rIns="0" bIns="0" rtlCol="0" anchor="t"/>
          <a:lstStyle/>
          <a:p>
            <a:pPr marL="0" indent="0">
              <a:buNone/>
            </a:pPr>
            <a:r>
              <a:rPr lang="en-US" sz="1400" dirty="0">
                <a:solidFill>
                  <a:srgbClr val="7B8794"/>
                </a:solidFill>
                <a:latin typeface="Calibri" pitchFamily="34" charset="0"/>
                <a:ea typeface="Calibri" pitchFamily="34" charset="-122"/>
                <a:cs typeface="Calibri" pitchFamily="34" charset="-120"/>
              </a:rPr>
              <a:t>RQ2: sensitive attributes (Wealth / Power) ≫ neutral; RQ1: same pattern in every language — the standard aggregation had hidden it.</a:t>
            </a:r>
            <a:endParaRPr lang="en-US" sz="1400" dirty="0"/>
          </a:p>
        </p:txBody>
      </p:sp>
      <p:sp>
        <p:nvSpPr>
          <p:cNvPr id="13" name="Shape 11"/>
          <p:cNvSpPr/>
          <p:nvPr/>
        </p:nvSpPr>
        <p:spPr>
          <a:xfrm>
            <a:off x="640080" y="4663440"/>
            <a:ext cx="109728" cy="1051560"/>
          </a:xfrm>
          <a:prstGeom prst="rect">
            <a:avLst/>
          </a:prstGeom>
          <a:solidFill>
            <a:srgbClr val="C44E52"/>
          </a:solidFill>
          <a:ln/>
        </p:spPr>
        <p:txBody>
          <a:bodyPr/>
          <a:lstStyle/>
          <a:p>
            <a:endParaRPr lang="zh-CN" altLang="en-US"/>
          </a:p>
        </p:txBody>
      </p:sp>
      <p:sp>
        <p:nvSpPr>
          <p:cNvPr id="14" name="Text 12"/>
          <p:cNvSpPr/>
          <p:nvPr/>
        </p:nvSpPr>
        <p:spPr>
          <a:xfrm>
            <a:off x="960120" y="4663440"/>
            <a:ext cx="10607040" cy="457200"/>
          </a:xfrm>
          <a:prstGeom prst="rect">
            <a:avLst/>
          </a:prstGeom>
          <a:noFill/>
          <a:ln/>
        </p:spPr>
        <p:txBody>
          <a:bodyPr wrap="square" lIns="0" tIns="0" rIns="0" bIns="0" rtlCol="0" anchor="ctr"/>
          <a:lstStyle/>
          <a:p>
            <a:pPr marL="0" indent="0">
              <a:buNone/>
            </a:pPr>
            <a:r>
              <a:rPr lang="en-US" sz="1900" b="1" dirty="0">
                <a:solidFill>
                  <a:srgbClr val="1F2933"/>
                </a:solidFill>
                <a:latin typeface="Georgia" pitchFamily="34" charset="0"/>
                <a:ea typeface="Georgia" pitchFamily="34" charset="-122"/>
                <a:cs typeface="Georgia" pitchFamily="34" charset="-120"/>
              </a:rPr>
              <a:t>Delivered a concrete, powered Exp2 plan</a:t>
            </a:r>
            <a:endParaRPr lang="en-US" sz="1900" dirty="0"/>
          </a:p>
        </p:txBody>
      </p:sp>
      <p:sp>
        <p:nvSpPr>
          <p:cNvPr id="15" name="Text 13"/>
          <p:cNvSpPr/>
          <p:nvPr/>
        </p:nvSpPr>
        <p:spPr>
          <a:xfrm>
            <a:off x="960120" y="5166360"/>
            <a:ext cx="10607040" cy="502920"/>
          </a:xfrm>
          <a:prstGeom prst="rect">
            <a:avLst/>
          </a:prstGeom>
          <a:noFill/>
          <a:ln/>
        </p:spPr>
        <p:txBody>
          <a:bodyPr wrap="square" lIns="0" tIns="0" rIns="0" bIns="0" rtlCol="0" anchor="t"/>
          <a:lstStyle/>
          <a:p>
            <a:pPr marL="0" indent="0">
              <a:buNone/>
            </a:pPr>
            <a:r>
              <a:rPr lang="en-US" sz="1400" dirty="0">
                <a:solidFill>
                  <a:srgbClr val="7B8794"/>
                </a:solidFill>
                <a:latin typeface="Calibri" pitchFamily="34" charset="0"/>
                <a:ea typeface="Calibri" pitchFamily="34" charset="-122"/>
                <a:cs typeface="Calibri" pitchFamily="34" charset="-120"/>
              </a:rPr>
              <a:t>Statistical confirmation, balanced sampling, low-resource extension.</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F2933"/>
        </a:solidFill>
        <a:effectLst/>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C44E52"/>
          </a:solidFill>
          <a:ln/>
        </p:spPr>
        <p:txBody>
          <a:bodyPr/>
          <a:lstStyle/>
          <a:p>
            <a:endParaRPr lang="zh-CN" altLang="en-US"/>
          </a:p>
        </p:txBody>
      </p:sp>
      <p:sp>
        <p:nvSpPr>
          <p:cNvPr id="3" name="Text 1"/>
          <p:cNvSpPr/>
          <p:nvPr/>
        </p:nvSpPr>
        <p:spPr>
          <a:xfrm>
            <a:off x="914400" y="2468880"/>
            <a:ext cx="10058400" cy="914400"/>
          </a:xfrm>
          <a:prstGeom prst="rect">
            <a:avLst/>
          </a:prstGeom>
          <a:noFill/>
          <a:ln/>
        </p:spPr>
        <p:txBody>
          <a:bodyPr wrap="square" lIns="0" tIns="0" rIns="0" bIns="0" rtlCol="0" anchor="ctr"/>
          <a:lstStyle/>
          <a:p>
            <a:pPr marL="0" indent="0">
              <a:buNone/>
            </a:pPr>
            <a:r>
              <a:rPr lang="en-US" sz="4400" b="1" dirty="0">
                <a:solidFill>
                  <a:srgbClr val="FFFFFF"/>
                </a:solidFill>
                <a:latin typeface="Georgia" pitchFamily="34" charset="0"/>
                <a:ea typeface="Georgia" pitchFamily="34" charset="-122"/>
                <a:cs typeface="Georgia" pitchFamily="34" charset="-120"/>
              </a:rPr>
              <a:t>Thank you</a:t>
            </a:r>
            <a:endParaRPr lang="en-US" sz="4400" dirty="0"/>
          </a:p>
        </p:txBody>
      </p:sp>
      <p:sp>
        <p:nvSpPr>
          <p:cNvPr id="4" name="Text 2"/>
          <p:cNvSpPr/>
          <p:nvPr/>
        </p:nvSpPr>
        <p:spPr>
          <a:xfrm>
            <a:off x="914400" y="3474720"/>
            <a:ext cx="10058400" cy="548640"/>
          </a:xfrm>
          <a:prstGeom prst="rect">
            <a:avLst/>
          </a:prstGeom>
          <a:noFill/>
          <a:ln/>
        </p:spPr>
        <p:txBody>
          <a:bodyPr wrap="square" lIns="0" tIns="0" rIns="0" bIns="0" rtlCol="0" anchor="ctr"/>
          <a:lstStyle/>
          <a:p>
            <a:pPr marL="0" indent="0">
              <a:buNone/>
            </a:pPr>
            <a:endParaRPr lang="en-US" sz="2000" dirty="0"/>
          </a:p>
        </p:txBody>
      </p:sp>
      <p:sp>
        <p:nvSpPr>
          <p:cNvPr id="5" name="Text 3"/>
          <p:cNvSpPr/>
          <p:nvPr/>
        </p:nvSpPr>
        <p:spPr>
          <a:xfrm>
            <a:off x="914400" y="4897677"/>
            <a:ext cx="10058400" cy="680163"/>
          </a:xfrm>
          <a:prstGeom prst="rect">
            <a:avLst/>
          </a:prstGeom>
          <a:noFill/>
          <a:ln/>
        </p:spPr>
        <p:txBody>
          <a:bodyPr wrap="square" lIns="0" tIns="0" rIns="0" bIns="0" rtlCol="0" anchor="ctr"/>
          <a:lstStyle/>
          <a:p>
            <a:pPr marL="0" indent="0">
              <a:buNone/>
            </a:pPr>
            <a:r>
              <a:rPr lang="en-US" sz="1200" dirty="0">
                <a:solidFill>
                  <a:srgbClr val="9FB3C8"/>
                </a:solidFill>
                <a:latin typeface="Calibri" pitchFamily="34" charset="0"/>
                <a:ea typeface="Calibri" pitchFamily="34" charset="-122"/>
                <a:cs typeface="Calibri" pitchFamily="34" charset="-120"/>
              </a:rPr>
              <a:t>Project repo: P5_Multi_linguistic_histoBias  ·  experiments/exp1_900x4lang, exp2_attribute_bias</a:t>
            </a:r>
          </a:p>
          <a:p>
            <a:pPr marL="0" indent="0">
              <a:buNone/>
            </a:pPr>
            <a:r>
              <a:rPr lang="en-US" sz="1200" dirty="0">
                <a:solidFill>
                  <a:srgbClr val="9FB3C8"/>
                </a:solidFill>
                <a:latin typeface="Calibri" pitchFamily="34" charset="0"/>
                <a:cs typeface="Calibri" pitchFamily="34" charset="-120"/>
              </a:rPr>
              <a:t>Code written with Claude</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5F7"/>
        </a:solidFill>
        <a:effectLst/>
      </p:bgPr>
    </p:bg>
    <p:spTree>
      <p:nvGrpSpPr>
        <p:cNvPr id="1" name=""/>
        <p:cNvGrpSpPr/>
        <p:nvPr/>
      </p:nvGrpSpPr>
      <p:grpSpPr>
        <a:xfrm>
          <a:off x="0" y="0"/>
          <a:ext cx="0" cy="0"/>
          <a:chOff x="0" y="0"/>
          <a:chExt cx="0" cy="0"/>
        </a:xfrm>
      </p:grpSpPr>
      <p:sp>
        <p:nvSpPr>
          <p:cNvPr id="2" name="Text 0"/>
          <p:cNvSpPr/>
          <p:nvPr/>
        </p:nvSpPr>
        <p:spPr>
          <a:xfrm>
            <a:off x="640080" y="3017520"/>
            <a:ext cx="10058400" cy="731520"/>
          </a:xfrm>
          <a:prstGeom prst="rect">
            <a:avLst/>
          </a:prstGeom>
          <a:noFill/>
          <a:ln/>
        </p:spPr>
        <p:txBody>
          <a:bodyPr wrap="square" lIns="0" tIns="0" rIns="0" bIns="0" rtlCol="0" anchor="ctr"/>
          <a:lstStyle/>
          <a:p>
            <a:pPr marL="0" indent="0">
              <a:buNone/>
            </a:pPr>
            <a:r>
              <a:rPr lang="en-US" sz="2600" b="1" dirty="0">
                <a:solidFill>
                  <a:srgbClr val="1F2933"/>
                </a:solidFill>
                <a:latin typeface="Georgia" pitchFamily="34" charset="0"/>
                <a:ea typeface="Georgia" pitchFamily="34" charset="-122"/>
                <a:cs typeface="Georgia" pitchFamily="34" charset="-120"/>
              </a:rPr>
              <a:t>Appendix — backup slides</a:t>
            </a:r>
            <a:endParaRPr lang="en-US" sz="2600" dirty="0"/>
          </a:p>
        </p:txBody>
      </p:sp>
      <p:sp>
        <p:nvSpPr>
          <p:cNvPr id="3" name="Text 1"/>
          <p:cNvSpPr/>
          <p:nvPr/>
        </p:nvSpPr>
        <p:spPr>
          <a:xfrm>
            <a:off x="640080" y="3749040"/>
            <a:ext cx="10058400" cy="365760"/>
          </a:xfrm>
          <a:prstGeom prst="rect">
            <a:avLst/>
          </a:prstGeom>
          <a:noFill/>
          <a:ln/>
        </p:spPr>
        <p:txBody>
          <a:bodyPr wrap="square" lIns="0" tIns="0" rIns="0" bIns="0" rtlCol="0" anchor="ctr"/>
          <a:lstStyle/>
          <a:p>
            <a:pPr marL="0" indent="0">
              <a:buNone/>
            </a:pP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640080" y="6473952"/>
            <a:ext cx="8229600" cy="274320"/>
          </a:xfrm>
          <a:prstGeom prst="rect">
            <a:avLst/>
          </a:prstGeom>
          <a:noFill/>
          <a:ln/>
        </p:spPr>
        <p:txBody>
          <a:bodyPr wrap="square" lIns="0" tIns="0" rIns="0" bIns="0" rtlCol="0" anchor="ctr"/>
          <a:lstStyle/>
          <a:p>
            <a:pPr marL="0" indent="0">
              <a:buNone/>
            </a:pPr>
            <a:r>
              <a:rPr lang="en-US" sz="900" dirty="0">
                <a:solidFill>
                  <a:srgbClr val="7B8794"/>
                </a:solidFill>
                <a:latin typeface="Calibri" pitchFamily="34" charset="0"/>
                <a:ea typeface="Calibri" pitchFamily="34" charset="-122"/>
                <a:cs typeface="Calibri" pitchFamily="34" charset="-120"/>
              </a:rPr>
              <a:t>Multilingual Prototypicality Bias  ·  Progress Report</a:t>
            </a:r>
            <a:endParaRPr lang="en-US" sz="900" dirty="0"/>
          </a:p>
        </p:txBody>
      </p:sp>
      <p:sp>
        <p:nvSpPr>
          <p:cNvPr id="3" name="Text 1"/>
          <p:cNvSpPr/>
          <p:nvPr/>
        </p:nvSpPr>
        <p:spPr>
          <a:xfrm>
            <a:off x="11183112" y="6473952"/>
            <a:ext cx="457200" cy="274320"/>
          </a:xfrm>
          <a:prstGeom prst="rect">
            <a:avLst/>
          </a:prstGeom>
          <a:noFill/>
          <a:ln/>
        </p:spPr>
        <p:txBody>
          <a:bodyPr wrap="square" lIns="0" tIns="0" rIns="0" bIns="0" rtlCol="0" anchor="ctr"/>
          <a:lstStyle/>
          <a:p>
            <a:pPr marL="0" indent="0" algn="r">
              <a:buNone/>
            </a:pPr>
            <a:r>
              <a:rPr lang="en-US" sz="900" dirty="0">
                <a:solidFill>
                  <a:srgbClr val="7B8794"/>
                </a:solidFill>
                <a:latin typeface="Calibri" pitchFamily="34" charset="0"/>
                <a:ea typeface="Calibri" pitchFamily="34" charset="-122"/>
                <a:cs typeface="Calibri" pitchFamily="34" charset="-120"/>
              </a:rPr>
              <a:t>B1</a:t>
            </a:r>
            <a:endParaRPr lang="en-US" sz="900" dirty="0"/>
          </a:p>
        </p:txBody>
      </p:sp>
      <p:sp>
        <p:nvSpPr>
          <p:cNvPr id="4" name="Shape 2"/>
          <p:cNvSpPr/>
          <p:nvPr/>
        </p:nvSpPr>
        <p:spPr>
          <a:xfrm>
            <a:off x="640080" y="566928"/>
            <a:ext cx="146304" cy="146304"/>
          </a:xfrm>
          <a:prstGeom prst="rect">
            <a:avLst/>
          </a:prstGeom>
          <a:solidFill>
            <a:srgbClr val="C44E52"/>
          </a:solidFill>
          <a:ln/>
        </p:spPr>
        <p:txBody>
          <a:bodyPr/>
          <a:lstStyle/>
          <a:p>
            <a:endParaRPr lang="zh-CN" altLang="en-US"/>
          </a:p>
        </p:txBody>
      </p:sp>
      <p:sp>
        <p:nvSpPr>
          <p:cNvPr id="5" name="Text 3"/>
          <p:cNvSpPr/>
          <p:nvPr/>
        </p:nvSpPr>
        <p:spPr>
          <a:xfrm>
            <a:off x="932688" y="457200"/>
            <a:ext cx="10908792" cy="274320"/>
          </a:xfrm>
          <a:prstGeom prst="rect">
            <a:avLst/>
          </a:prstGeom>
          <a:noFill/>
          <a:ln/>
        </p:spPr>
        <p:txBody>
          <a:bodyPr wrap="square" lIns="0" tIns="0" rIns="0" bIns="0" rtlCol="0" anchor="ctr"/>
          <a:lstStyle/>
          <a:p>
            <a:pPr marL="0" indent="0">
              <a:buNone/>
            </a:pPr>
            <a:r>
              <a:rPr lang="en-US" sz="1100" b="1" kern="0" spc="200" dirty="0">
                <a:solidFill>
                  <a:srgbClr val="C44E52"/>
                </a:solidFill>
                <a:latin typeface="Calibri" pitchFamily="34" charset="0"/>
                <a:ea typeface="Calibri" pitchFamily="34" charset="-122"/>
                <a:cs typeface="Calibri" pitchFamily="34" charset="-120"/>
              </a:rPr>
              <a:t>BACKUP</a:t>
            </a:r>
            <a:endParaRPr lang="en-US" sz="1100" dirty="0"/>
          </a:p>
        </p:txBody>
      </p:sp>
      <p:sp>
        <p:nvSpPr>
          <p:cNvPr id="6" name="Text 4"/>
          <p:cNvSpPr/>
          <p:nvPr/>
        </p:nvSpPr>
        <p:spPr>
          <a:xfrm>
            <a:off x="640080" y="749808"/>
            <a:ext cx="10908792" cy="822960"/>
          </a:xfrm>
          <a:prstGeom prst="rect">
            <a:avLst/>
          </a:prstGeom>
          <a:noFill/>
          <a:ln/>
        </p:spPr>
        <p:txBody>
          <a:bodyPr wrap="square" lIns="0" tIns="0" rIns="0" bIns="0" rtlCol="0" anchor="ctr"/>
          <a:lstStyle/>
          <a:p>
            <a:pPr marL="0" indent="0">
              <a:buNone/>
            </a:pPr>
            <a:r>
              <a:rPr lang="en-US" sz="3000" b="1" dirty="0">
                <a:solidFill>
                  <a:srgbClr val="1F2933"/>
                </a:solidFill>
                <a:latin typeface="Georgia" pitchFamily="34" charset="0"/>
                <a:ea typeface="Georgia" pitchFamily="34" charset="-122"/>
                <a:cs typeface="Georgia" pitchFamily="34" charset="-120"/>
              </a:rPr>
              <a:t>Bias by socio-attribute (pooled languages)</a:t>
            </a:r>
            <a:endParaRPr lang="en-US" sz="3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40080" y="1920240"/>
          <a:ext cx="7315200" cy="2971800"/>
        </p:xfrm>
        <a:graphic>
          <a:graphicData uri="http://schemas.openxmlformats.org/drawingml/2006/table">
            <a:tbl>
              <a:tblPr/>
              <a:tblGrid>
                <a:gridCol w="1828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tblGrid>
              <a:tr h="457200">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socio_attr</a:t>
                      </a:r>
                      <a:endParaRPr lang="en-US" sz="1400" dirty="0">
                        <a:latin typeface="Calibri" charset="0"/>
                        <a:ea typeface="Calibri" charset="0"/>
                        <a:cs typeface="Calibri" charset="0"/>
                      </a:endParaRPr>
                    </a:p>
                  </a:txBody>
                  <a:tcPr anchor="ctr">
                    <a:lnL w="12700" cap="flat" cmpd="sng" algn="ctr">
                      <a:solidFill>
                        <a:srgbClr val="D9DEE3"/>
                      </a:solidFill>
                      <a:prstDash val="solid"/>
                      <a:round/>
                      <a:headEnd type="none" w="med" len="med"/>
                      <a:tailEnd type="none" w="med" len="med"/>
                    </a:lnL>
                    <a:lnR w="12700" cap="flat" cmpd="sng" algn="ctr">
                      <a:solidFill>
                        <a:srgbClr val="D9DEE3"/>
                      </a:solidFill>
                      <a:prstDash val="solid"/>
                      <a:round/>
                      <a:headEnd type="none" w="med" len="med"/>
                      <a:tailEnd type="none" w="med" len="med"/>
                    </a:lnR>
                    <a:lnT w="12700" cap="flat" cmpd="sng" algn="ctr">
                      <a:solidFill>
                        <a:srgbClr val="D9DEE3"/>
                      </a:solidFill>
                      <a:prstDash val="solid"/>
                      <a:round/>
                      <a:headEnd type="none" w="med" len="med"/>
                      <a:tailEnd type="none" w="med" len="med"/>
                    </a:lnT>
                    <a:lnB w="12700" cap="flat" cmpd="sng" algn="ctr">
                      <a:solidFill>
                        <a:srgbClr val="D9DEE3"/>
                      </a:solidFill>
                      <a:prstDash val="solid"/>
                      <a:round/>
                      <a:headEnd type="none" w="med" len="med"/>
                      <a:tailEnd type="none" w="med" len="med"/>
                    </a:lnB>
                    <a:solidFill>
                      <a:srgbClr val="1F2933"/>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Error rate</a:t>
                      </a:r>
                      <a:endParaRPr lang="en-US" sz="1400" dirty="0">
                        <a:latin typeface="Calibri" charset="0"/>
                        <a:ea typeface="Calibri" charset="0"/>
                        <a:cs typeface="Calibri" charset="0"/>
                      </a:endParaRPr>
                    </a:p>
                  </a:txBody>
                  <a:tcPr anchor="ctr">
                    <a:lnL w="12700" cap="flat" cmpd="sng" algn="ctr">
                      <a:solidFill>
                        <a:srgbClr val="D9DEE3"/>
                      </a:solidFill>
                      <a:prstDash val="solid"/>
                      <a:round/>
                      <a:headEnd type="none" w="med" len="med"/>
                      <a:tailEnd type="none" w="med" len="med"/>
                    </a:lnL>
                    <a:lnR w="12700" cap="flat" cmpd="sng" algn="ctr">
                      <a:solidFill>
                        <a:srgbClr val="D9DEE3"/>
                      </a:solidFill>
                      <a:prstDash val="solid"/>
                      <a:round/>
                      <a:headEnd type="none" w="med" len="med"/>
                      <a:tailEnd type="none" w="med" len="med"/>
                    </a:lnR>
                    <a:lnT w="12700" cap="flat" cmpd="sng" algn="ctr">
                      <a:solidFill>
                        <a:srgbClr val="D9DEE3"/>
                      </a:solidFill>
                      <a:prstDash val="solid"/>
                      <a:round/>
                      <a:headEnd type="none" w="med" len="med"/>
                      <a:tailEnd type="none" w="med" len="med"/>
                    </a:lnT>
                    <a:lnB w="12700" cap="flat" cmpd="sng" algn="ctr">
                      <a:solidFill>
                        <a:srgbClr val="D9DEE3"/>
                      </a:solidFill>
                      <a:prstDash val="solid"/>
                      <a:round/>
                      <a:headEnd type="none" w="med" len="med"/>
                      <a:tailEnd type="none" w="med" len="med"/>
                    </a:lnB>
                    <a:solidFill>
                      <a:srgbClr val="1F2933"/>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n</a:t>
                      </a:r>
                      <a:endParaRPr lang="en-US" sz="1400" dirty="0">
                        <a:latin typeface="Calibri" charset="0"/>
                        <a:ea typeface="Calibri" charset="0"/>
                        <a:cs typeface="Calibri" charset="0"/>
                      </a:endParaRPr>
                    </a:p>
                  </a:txBody>
                  <a:tcPr anchor="ctr">
                    <a:lnL w="12700" cap="flat" cmpd="sng" algn="ctr">
                      <a:solidFill>
                        <a:srgbClr val="D9DEE3"/>
                      </a:solidFill>
                      <a:prstDash val="solid"/>
                      <a:round/>
                      <a:headEnd type="none" w="med" len="med"/>
                      <a:tailEnd type="none" w="med" len="med"/>
                    </a:lnL>
                    <a:lnR w="12700" cap="flat" cmpd="sng" algn="ctr">
                      <a:solidFill>
                        <a:srgbClr val="D9DEE3"/>
                      </a:solidFill>
                      <a:prstDash val="solid"/>
                      <a:round/>
                      <a:headEnd type="none" w="med" len="med"/>
                      <a:tailEnd type="none" w="med" len="med"/>
                    </a:lnR>
                    <a:lnT w="12700" cap="flat" cmpd="sng" algn="ctr">
                      <a:solidFill>
                        <a:srgbClr val="D9DEE3"/>
                      </a:solidFill>
                      <a:prstDash val="solid"/>
                      <a:round/>
                      <a:headEnd type="none" w="med" len="med"/>
                      <a:tailEnd type="none" w="med" len="med"/>
                    </a:lnT>
                    <a:lnB w="12700" cap="flat" cmpd="sng" algn="ctr">
                      <a:solidFill>
                        <a:srgbClr val="D9DEE3"/>
                      </a:solidFill>
                      <a:prstDash val="solid"/>
                      <a:round/>
                      <a:headEnd type="none" w="med" len="med"/>
                      <a:tailEnd type="none" w="med" len="med"/>
                    </a:lnB>
                    <a:solidFill>
                      <a:srgbClr val="1F2933"/>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95% CI</a:t>
                      </a:r>
                      <a:endParaRPr lang="en-US" sz="1400" dirty="0">
                        <a:latin typeface="Calibri" charset="0"/>
                        <a:ea typeface="Calibri" charset="0"/>
                        <a:cs typeface="Calibri" charset="0"/>
                      </a:endParaRPr>
                    </a:p>
                  </a:txBody>
                  <a:tcPr anchor="ctr">
                    <a:lnL w="12700" cap="flat" cmpd="sng" algn="ctr">
                      <a:solidFill>
                        <a:srgbClr val="D9DEE3"/>
                      </a:solidFill>
                      <a:prstDash val="solid"/>
                      <a:round/>
                      <a:headEnd type="none" w="med" len="med"/>
                      <a:tailEnd type="none" w="med" len="med"/>
                    </a:lnL>
                    <a:lnR w="12700" cap="flat" cmpd="sng" algn="ctr">
                      <a:solidFill>
                        <a:srgbClr val="D9DEE3"/>
                      </a:solidFill>
                      <a:prstDash val="solid"/>
                      <a:round/>
                      <a:headEnd type="none" w="med" len="med"/>
                      <a:tailEnd type="none" w="med" len="med"/>
                    </a:lnR>
                    <a:lnT w="12700" cap="flat" cmpd="sng" algn="ctr">
                      <a:solidFill>
                        <a:srgbClr val="D9DEE3"/>
                      </a:solidFill>
                      <a:prstDash val="solid"/>
                      <a:round/>
                      <a:headEnd type="none" w="med" len="med"/>
                      <a:tailEnd type="none" w="med" len="med"/>
                    </a:lnT>
                    <a:lnB w="12700" cap="flat" cmpd="sng" algn="ctr">
                      <a:solidFill>
                        <a:srgbClr val="D9DEE3"/>
                      </a:solidFill>
                      <a:prstDash val="solid"/>
                      <a:round/>
                      <a:headEnd type="none" w="med" len="med"/>
                      <a:tailEnd type="none" w="med" len="med"/>
                    </a:lnB>
                    <a:solidFill>
                      <a:srgbClr val="1F2933"/>
                    </a:solidFill>
                  </a:tcPr>
                </a:tc>
                <a:extLst>
                  <a:ext uri="{0D108BD9-81ED-4DB2-BD59-A6C34878D82A}">
                    <a16:rowId xmlns:a16="http://schemas.microsoft.com/office/drawing/2014/main" val="10000"/>
                  </a:ext>
                </a:extLst>
              </a:tr>
              <a:tr h="502920">
                <a:tc>
                  <a:txBody>
                    <a:bodyPr/>
                    <a:lstStyle/>
                    <a:p>
                      <a:pPr marL="0" indent="0" algn="l">
                        <a:buNone/>
                      </a:pPr>
                      <a:r>
                        <a:rPr lang="en-US" sz="1400" b="1" dirty="0">
                          <a:solidFill>
                            <a:srgbClr val="C44E52"/>
                          </a:solidFill>
                          <a:latin typeface="Calibri" pitchFamily="34" charset="0"/>
                          <a:ea typeface="Calibri" pitchFamily="34" charset="-122"/>
                          <a:cs typeface="Calibri" pitchFamily="34" charset="-120"/>
                        </a:rPr>
                        <a:t>Wealth</a:t>
                      </a:r>
                      <a:endParaRPr lang="en-US" sz="1400" dirty="0">
                        <a:latin typeface="Calibri" charset="0"/>
                        <a:ea typeface="Calibri" charset="0"/>
                        <a:cs typeface="Calibri" charset="0"/>
                      </a:endParaRPr>
                    </a:p>
                  </a:txBody>
                  <a:tcPr anchor="ctr">
                    <a:lnL w="12700" cap="flat" cmpd="sng" algn="ctr">
                      <a:solidFill>
                        <a:srgbClr val="D9DEE3"/>
                      </a:solidFill>
                      <a:prstDash val="solid"/>
                      <a:round/>
                      <a:headEnd type="none" w="med" len="med"/>
                      <a:tailEnd type="none" w="med" len="med"/>
                    </a:lnL>
                    <a:lnR w="12700" cap="flat" cmpd="sng" algn="ctr">
                      <a:solidFill>
                        <a:srgbClr val="D9DEE3"/>
                      </a:solidFill>
                      <a:prstDash val="solid"/>
                      <a:round/>
                      <a:headEnd type="none" w="med" len="med"/>
                      <a:tailEnd type="none" w="med" len="med"/>
                    </a:lnR>
                    <a:lnT w="12700" cap="flat" cmpd="sng" algn="ctr">
                      <a:solidFill>
                        <a:srgbClr val="D9DEE3"/>
                      </a:solidFill>
                      <a:prstDash val="solid"/>
                      <a:round/>
                      <a:headEnd type="none" w="med" len="med"/>
                      <a:tailEnd type="none" w="med" len="med"/>
                    </a:lnT>
                    <a:lnB w="12700" cap="flat" cmpd="sng" algn="ctr">
                      <a:solidFill>
                        <a:srgbClr val="D9DEE3"/>
                      </a:solidFill>
                      <a:prstDash val="solid"/>
                      <a:round/>
                      <a:headEnd type="none" w="med" len="med"/>
                      <a:tailEnd type="none" w="med" len="med"/>
                    </a:lnB>
                  </a:tcPr>
                </a:tc>
                <a:tc>
                  <a:txBody>
                    <a:bodyPr/>
                    <a:lstStyle/>
                    <a:p>
                      <a:pPr marL="0" indent="0" algn="ctr">
                        <a:buNone/>
                      </a:pPr>
                      <a:r>
                        <a:rPr lang="en-US" sz="1400" dirty="0">
                          <a:solidFill>
                            <a:srgbClr val="1F2933"/>
                          </a:solidFill>
                          <a:latin typeface="Calibri" pitchFamily="34" charset="0"/>
                          <a:ea typeface="Calibri" pitchFamily="34" charset="-122"/>
                          <a:cs typeface="Calibri" pitchFamily="34" charset="-120"/>
                        </a:rPr>
                        <a:t>.774</a:t>
                      </a:r>
                      <a:endParaRPr lang="en-US" sz="1400" dirty="0">
                        <a:latin typeface="Calibri" charset="0"/>
                        <a:ea typeface="Calibri" charset="0"/>
                        <a:cs typeface="Calibri" charset="0"/>
                      </a:endParaRPr>
                    </a:p>
                  </a:txBody>
                  <a:tcPr anchor="ctr">
                    <a:lnL w="12700" cap="flat" cmpd="sng" algn="ctr">
                      <a:solidFill>
                        <a:srgbClr val="D9DEE3"/>
                      </a:solidFill>
                      <a:prstDash val="solid"/>
                      <a:round/>
                      <a:headEnd type="none" w="med" len="med"/>
                      <a:tailEnd type="none" w="med" len="med"/>
                    </a:lnL>
                    <a:lnR w="12700" cap="flat" cmpd="sng" algn="ctr">
                      <a:solidFill>
                        <a:srgbClr val="D9DEE3"/>
                      </a:solidFill>
                      <a:prstDash val="solid"/>
                      <a:round/>
                      <a:headEnd type="none" w="med" len="med"/>
                      <a:tailEnd type="none" w="med" len="med"/>
                    </a:lnR>
                    <a:lnT w="12700" cap="flat" cmpd="sng" algn="ctr">
                      <a:solidFill>
                        <a:srgbClr val="D9DEE3"/>
                      </a:solidFill>
                      <a:prstDash val="solid"/>
                      <a:round/>
                      <a:headEnd type="none" w="med" len="med"/>
                      <a:tailEnd type="none" w="med" len="med"/>
                    </a:lnT>
                    <a:lnB w="12700" cap="flat" cmpd="sng" algn="ctr">
                      <a:solidFill>
                        <a:srgbClr val="D9DEE3"/>
                      </a:solidFill>
                      <a:prstDash val="solid"/>
                      <a:round/>
                      <a:headEnd type="none" w="med" len="med"/>
                      <a:tailEnd type="none" w="med" len="med"/>
                    </a:lnB>
                  </a:tcPr>
                </a:tc>
                <a:tc>
                  <a:txBody>
                    <a:bodyPr/>
                    <a:lstStyle/>
                    <a:p>
                      <a:pPr marL="0" indent="0" algn="ctr">
                        <a:buNone/>
                      </a:pPr>
                      <a:r>
                        <a:rPr lang="en-US" sz="1400" dirty="0">
                          <a:solidFill>
                            <a:srgbClr val="1F2933"/>
                          </a:solidFill>
                          <a:latin typeface="Calibri" pitchFamily="34" charset="0"/>
                          <a:ea typeface="Calibri" pitchFamily="34" charset="-122"/>
                          <a:cs typeface="Calibri" pitchFamily="34" charset="-120"/>
                        </a:rPr>
                        <a:t>124</a:t>
                      </a:r>
                      <a:endParaRPr lang="en-US" sz="1400" dirty="0">
                        <a:latin typeface="Calibri" charset="0"/>
                        <a:ea typeface="Calibri" charset="0"/>
                        <a:cs typeface="Calibri" charset="0"/>
                      </a:endParaRPr>
                    </a:p>
                  </a:txBody>
                  <a:tcPr anchor="ctr">
                    <a:lnL w="12700" cap="flat" cmpd="sng" algn="ctr">
                      <a:solidFill>
                        <a:srgbClr val="D9DEE3"/>
                      </a:solidFill>
                      <a:prstDash val="solid"/>
                      <a:round/>
                      <a:headEnd type="none" w="med" len="med"/>
                      <a:tailEnd type="none" w="med" len="med"/>
                    </a:lnL>
                    <a:lnR w="12700" cap="flat" cmpd="sng" algn="ctr">
                      <a:solidFill>
                        <a:srgbClr val="D9DEE3"/>
                      </a:solidFill>
                      <a:prstDash val="solid"/>
                      <a:round/>
                      <a:headEnd type="none" w="med" len="med"/>
                      <a:tailEnd type="none" w="med" len="med"/>
                    </a:lnR>
                    <a:lnT w="12700" cap="flat" cmpd="sng" algn="ctr">
                      <a:solidFill>
                        <a:srgbClr val="D9DEE3"/>
                      </a:solidFill>
                      <a:prstDash val="solid"/>
                      <a:round/>
                      <a:headEnd type="none" w="med" len="med"/>
                      <a:tailEnd type="none" w="med" len="med"/>
                    </a:lnT>
                    <a:lnB w="12700" cap="flat" cmpd="sng" algn="ctr">
                      <a:solidFill>
                        <a:srgbClr val="D9DEE3"/>
                      </a:solidFill>
                      <a:prstDash val="solid"/>
                      <a:round/>
                      <a:headEnd type="none" w="med" len="med"/>
                      <a:tailEnd type="none" w="med" len="med"/>
                    </a:lnB>
                  </a:tcPr>
                </a:tc>
                <a:tc>
                  <a:txBody>
                    <a:bodyPr/>
                    <a:lstStyle/>
                    <a:p>
                      <a:pPr marL="0" indent="0" algn="ctr">
                        <a:buNone/>
                      </a:pPr>
                      <a:r>
                        <a:rPr lang="en-US" sz="1400" dirty="0">
                          <a:solidFill>
                            <a:srgbClr val="1F2933"/>
                          </a:solidFill>
                          <a:latin typeface="Calibri" pitchFamily="34" charset="0"/>
                          <a:ea typeface="Calibri" pitchFamily="34" charset="-122"/>
                          <a:cs typeface="Calibri" pitchFamily="34" charset="-120"/>
                        </a:rPr>
                        <a:t>[.69, .84]</a:t>
                      </a:r>
                      <a:endParaRPr lang="en-US" sz="1400" dirty="0">
                        <a:latin typeface="Calibri" charset="0"/>
                        <a:ea typeface="Calibri" charset="0"/>
                        <a:cs typeface="Calibri" charset="0"/>
                      </a:endParaRPr>
                    </a:p>
                  </a:txBody>
                  <a:tcPr anchor="ctr">
                    <a:lnL w="12700" cap="flat" cmpd="sng" algn="ctr">
                      <a:solidFill>
                        <a:srgbClr val="D9DEE3"/>
                      </a:solidFill>
                      <a:prstDash val="solid"/>
                      <a:round/>
                      <a:headEnd type="none" w="med" len="med"/>
                      <a:tailEnd type="none" w="med" len="med"/>
                    </a:lnL>
                    <a:lnR w="12700" cap="flat" cmpd="sng" algn="ctr">
                      <a:solidFill>
                        <a:srgbClr val="D9DEE3"/>
                      </a:solidFill>
                      <a:prstDash val="solid"/>
                      <a:round/>
                      <a:headEnd type="none" w="med" len="med"/>
                      <a:tailEnd type="none" w="med" len="med"/>
                    </a:lnR>
                    <a:lnT w="12700" cap="flat" cmpd="sng" algn="ctr">
                      <a:solidFill>
                        <a:srgbClr val="D9DEE3"/>
                      </a:solidFill>
                      <a:prstDash val="solid"/>
                      <a:round/>
                      <a:headEnd type="none" w="med" len="med"/>
                      <a:tailEnd type="none" w="med" len="med"/>
                    </a:lnT>
                    <a:lnB w="12700"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1"/>
                  </a:ext>
                </a:extLst>
              </a:tr>
              <a:tr h="502920">
                <a:tc>
                  <a:txBody>
                    <a:bodyPr/>
                    <a:lstStyle/>
                    <a:p>
                      <a:pPr marL="0" indent="0" algn="l">
                        <a:buNone/>
                      </a:pPr>
                      <a:r>
                        <a:rPr lang="en-US" sz="1400" b="1" dirty="0">
                          <a:solidFill>
                            <a:srgbClr val="C44E52"/>
                          </a:solidFill>
                          <a:latin typeface="Calibri" pitchFamily="34" charset="0"/>
                          <a:ea typeface="Calibri" pitchFamily="34" charset="-122"/>
                          <a:cs typeface="Calibri" pitchFamily="34" charset="-120"/>
                        </a:rPr>
                        <a:t>Power</a:t>
                      </a:r>
                      <a:endParaRPr lang="en-US" sz="1400" dirty="0">
                        <a:latin typeface="Calibri" charset="0"/>
                        <a:ea typeface="Calibri" charset="0"/>
                        <a:cs typeface="Calibri" charset="0"/>
                      </a:endParaRPr>
                    </a:p>
                  </a:txBody>
                  <a:tcPr anchor="ctr">
                    <a:lnL w="12700" cap="flat" cmpd="sng" algn="ctr">
                      <a:solidFill>
                        <a:srgbClr val="D9DEE3"/>
                      </a:solidFill>
                      <a:prstDash val="solid"/>
                      <a:round/>
                      <a:headEnd type="none" w="med" len="med"/>
                      <a:tailEnd type="none" w="med" len="med"/>
                    </a:lnL>
                    <a:lnR w="12700" cap="flat" cmpd="sng" algn="ctr">
                      <a:solidFill>
                        <a:srgbClr val="D9DEE3"/>
                      </a:solidFill>
                      <a:prstDash val="solid"/>
                      <a:round/>
                      <a:headEnd type="none" w="med" len="med"/>
                      <a:tailEnd type="none" w="med" len="med"/>
                    </a:lnR>
                    <a:lnT w="12700" cap="flat" cmpd="sng" algn="ctr">
                      <a:solidFill>
                        <a:srgbClr val="D9DEE3"/>
                      </a:solidFill>
                      <a:prstDash val="solid"/>
                      <a:round/>
                      <a:headEnd type="none" w="med" len="med"/>
                      <a:tailEnd type="none" w="med" len="med"/>
                    </a:lnT>
                    <a:lnB w="12700" cap="flat" cmpd="sng" algn="ctr">
                      <a:solidFill>
                        <a:srgbClr val="D9DEE3"/>
                      </a:solidFill>
                      <a:prstDash val="solid"/>
                      <a:round/>
                      <a:headEnd type="none" w="med" len="med"/>
                      <a:tailEnd type="none" w="med" len="med"/>
                    </a:lnB>
                  </a:tcPr>
                </a:tc>
                <a:tc>
                  <a:txBody>
                    <a:bodyPr/>
                    <a:lstStyle/>
                    <a:p>
                      <a:pPr marL="0" indent="0" algn="ctr">
                        <a:buNone/>
                      </a:pPr>
                      <a:r>
                        <a:rPr lang="en-US" sz="1400" dirty="0">
                          <a:solidFill>
                            <a:srgbClr val="1F2933"/>
                          </a:solidFill>
                          <a:latin typeface="Calibri" pitchFamily="34" charset="0"/>
                          <a:ea typeface="Calibri" pitchFamily="34" charset="-122"/>
                          <a:cs typeface="Calibri" pitchFamily="34" charset="-120"/>
                        </a:rPr>
                        <a:t>.672</a:t>
                      </a:r>
                      <a:endParaRPr lang="en-US" sz="1400" dirty="0">
                        <a:latin typeface="Calibri" charset="0"/>
                        <a:ea typeface="Calibri" charset="0"/>
                        <a:cs typeface="Calibri" charset="0"/>
                      </a:endParaRPr>
                    </a:p>
                  </a:txBody>
                  <a:tcPr anchor="ctr">
                    <a:lnL w="12700" cap="flat" cmpd="sng" algn="ctr">
                      <a:solidFill>
                        <a:srgbClr val="D9DEE3"/>
                      </a:solidFill>
                      <a:prstDash val="solid"/>
                      <a:round/>
                      <a:headEnd type="none" w="med" len="med"/>
                      <a:tailEnd type="none" w="med" len="med"/>
                    </a:lnL>
                    <a:lnR w="12700" cap="flat" cmpd="sng" algn="ctr">
                      <a:solidFill>
                        <a:srgbClr val="D9DEE3"/>
                      </a:solidFill>
                      <a:prstDash val="solid"/>
                      <a:round/>
                      <a:headEnd type="none" w="med" len="med"/>
                      <a:tailEnd type="none" w="med" len="med"/>
                    </a:lnR>
                    <a:lnT w="12700" cap="flat" cmpd="sng" algn="ctr">
                      <a:solidFill>
                        <a:srgbClr val="D9DEE3"/>
                      </a:solidFill>
                      <a:prstDash val="solid"/>
                      <a:round/>
                      <a:headEnd type="none" w="med" len="med"/>
                      <a:tailEnd type="none" w="med" len="med"/>
                    </a:lnT>
                    <a:lnB w="12700" cap="flat" cmpd="sng" algn="ctr">
                      <a:solidFill>
                        <a:srgbClr val="D9DEE3"/>
                      </a:solidFill>
                      <a:prstDash val="solid"/>
                      <a:round/>
                      <a:headEnd type="none" w="med" len="med"/>
                      <a:tailEnd type="none" w="med" len="med"/>
                    </a:lnB>
                  </a:tcPr>
                </a:tc>
                <a:tc>
                  <a:txBody>
                    <a:bodyPr/>
                    <a:lstStyle/>
                    <a:p>
                      <a:pPr marL="0" indent="0" algn="ctr">
                        <a:buNone/>
                      </a:pPr>
                      <a:r>
                        <a:rPr lang="en-US" sz="1400" dirty="0">
                          <a:solidFill>
                            <a:srgbClr val="1F2933"/>
                          </a:solidFill>
                          <a:latin typeface="Calibri" pitchFamily="34" charset="0"/>
                          <a:ea typeface="Calibri" pitchFamily="34" charset="-122"/>
                          <a:cs typeface="Calibri" pitchFamily="34" charset="-120"/>
                        </a:rPr>
                        <a:t>256</a:t>
                      </a:r>
                      <a:endParaRPr lang="en-US" sz="1400" dirty="0">
                        <a:latin typeface="Calibri" charset="0"/>
                        <a:ea typeface="Calibri" charset="0"/>
                        <a:cs typeface="Calibri" charset="0"/>
                      </a:endParaRPr>
                    </a:p>
                  </a:txBody>
                  <a:tcPr anchor="ctr">
                    <a:lnL w="12700" cap="flat" cmpd="sng" algn="ctr">
                      <a:solidFill>
                        <a:srgbClr val="D9DEE3"/>
                      </a:solidFill>
                      <a:prstDash val="solid"/>
                      <a:round/>
                      <a:headEnd type="none" w="med" len="med"/>
                      <a:tailEnd type="none" w="med" len="med"/>
                    </a:lnL>
                    <a:lnR w="12700" cap="flat" cmpd="sng" algn="ctr">
                      <a:solidFill>
                        <a:srgbClr val="D9DEE3"/>
                      </a:solidFill>
                      <a:prstDash val="solid"/>
                      <a:round/>
                      <a:headEnd type="none" w="med" len="med"/>
                      <a:tailEnd type="none" w="med" len="med"/>
                    </a:lnR>
                    <a:lnT w="12700" cap="flat" cmpd="sng" algn="ctr">
                      <a:solidFill>
                        <a:srgbClr val="D9DEE3"/>
                      </a:solidFill>
                      <a:prstDash val="solid"/>
                      <a:round/>
                      <a:headEnd type="none" w="med" len="med"/>
                      <a:tailEnd type="none" w="med" len="med"/>
                    </a:lnT>
                    <a:lnB w="12700" cap="flat" cmpd="sng" algn="ctr">
                      <a:solidFill>
                        <a:srgbClr val="D9DEE3"/>
                      </a:solidFill>
                      <a:prstDash val="solid"/>
                      <a:round/>
                      <a:headEnd type="none" w="med" len="med"/>
                      <a:tailEnd type="none" w="med" len="med"/>
                    </a:lnB>
                  </a:tcPr>
                </a:tc>
                <a:tc>
                  <a:txBody>
                    <a:bodyPr/>
                    <a:lstStyle/>
                    <a:p>
                      <a:pPr marL="0" indent="0" algn="ctr">
                        <a:buNone/>
                      </a:pPr>
                      <a:r>
                        <a:rPr lang="en-US" sz="1400" dirty="0">
                          <a:solidFill>
                            <a:srgbClr val="1F2933"/>
                          </a:solidFill>
                          <a:latin typeface="Calibri" pitchFamily="34" charset="0"/>
                          <a:ea typeface="Calibri" pitchFamily="34" charset="-122"/>
                          <a:cs typeface="Calibri" pitchFamily="34" charset="-120"/>
                        </a:rPr>
                        <a:t>[.61, .73]</a:t>
                      </a:r>
                      <a:endParaRPr lang="en-US" sz="1400" dirty="0">
                        <a:latin typeface="Calibri" charset="0"/>
                        <a:ea typeface="Calibri" charset="0"/>
                        <a:cs typeface="Calibri" charset="0"/>
                      </a:endParaRPr>
                    </a:p>
                  </a:txBody>
                  <a:tcPr anchor="ctr">
                    <a:lnL w="12700" cap="flat" cmpd="sng" algn="ctr">
                      <a:solidFill>
                        <a:srgbClr val="D9DEE3"/>
                      </a:solidFill>
                      <a:prstDash val="solid"/>
                      <a:round/>
                      <a:headEnd type="none" w="med" len="med"/>
                      <a:tailEnd type="none" w="med" len="med"/>
                    </a:lnL>
                    <a:lnR w="12700" cap="flat" cmpd="sng" algn="ctr">
                      <a:solidFill>
                        <a:srgbClr val="D9DEE3"/>
                      </a:solidFill>
                      <a:prstDash val="solid"/>
                      <a:round/>
                      <a:headEnd type="none" w="med" len="med"/>
                      <a:tailEnd type="none" w="med" len="med"/>
                    </a:lnR>
                    <a:lnT w="12700" cap="flat" cmpd="sng" algn="ctr">
                      <a:solidFill>
                        <a:srgbClr val="D9DEE3"/>
                      </a:solidFill>
                      <a:prstDash val="solid"/>
                      <a:round/>
                      <a:headEnd type="none" w="med" len="med"/>
                      <a:tailEnd type="none" w="med" len="med"/>
                    </a:lnT>
                    <a:lnB w="12700"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2"/>
                  </a:ext>
                </a:extLst>
              </a:tr>
              <a:tr h="502920">
                <a:tc>
                  <a:txBody>
                    <a:bodyPr/>
                    <a:lstStyle/>
                    <a:p>
                      <a:pPr marL="0" indent="0" algn="l">
                        <a:buNone/>
                      </a:pPr>
                      <a:r>
                        <a:rPr lang="en-US" sz="1400" dirty="0">
                          <a:solidFill>
                            <a:srgbClr val="1F2933"/>
                          </a:solidFill>
                          <a:latin typeface="Calibri" pitchFamily="34" charset="0"/>
                          <a:ea typeface="Calibri" pitchFamily="34" charset="-122"/>
                          <a:cs typeface="Calibri" pitchFamily="34" charset="-120"/>
                        </a:rPr>
                        <a:t>Civility</a:t>
                      </a:r>
                      <a:endParaRPr lang="en-US" sz="1400" dirty="0">
                        <a:latin typeface="Calibri" charset="0"/>
                        <a:ea typeface="Calibri" charset="0"/>
                        <a:cs typeface="Calibri" charset="0"/>
                      </a:endParaRPr>
                    </a:p>
                  </a:txBody>
                  <a:tcPr anchor="ctr">
                    <a:lnL w="12700" cap="flat" cmpd="sng" algn="ctr">
                      <a:solidFill>
                        <a:srgbClr val="D9DEE3"/>
                      </a:solidFill>
                      <a:prstDash val="solid"/>
                      <a:round/>
                      <a:headEnd type="none" w="med" len="med"/>
                      <a:tailEnd type="none" w="med" len="med"/>
                    </a:lnL>
                    <a:lnR w="12700" cap="flat" cmpd="sng" algn="ctr">
                      <a:solidFill>
                        <a:srgbClr val="D9DEE3"/>
                      </a:solidFill>
                      <a:prstDash val="solid"/>
                      <a:round/>
                      <a:headEnd type="none" w="med" len="med"/>
                      <a:tailEnd type="none" w="med" len="med"/>
                    </a:lnR>
                    <a:lnT w="12700" cap="flat" cmpd="sng" algn="ctr">
                      <a:solidFill>
                        <a:srgbClr val="D9DEE3"/>
                      </a:solidFill>
                      <a:prstDash val="solid"/>
                      <a:round/>
                      <a:headEnd type="none" w="med" len="med"/>
                      <a:tailEnd type="none" w="med" len="med"/>
                    </a:lnT>
                    <a:lnB w="12700" cap="flat" cmpd="sng" algn="ctr">
                      <a:solidFill>
                        <a:srgbClr val="D9DEE3"/>
                      </a:solidFill>
                      <a:prstDash val="solid"/>
                      <a:round/>
                      <a:headEnd type="none" w="med" len="med"/>
                      <a:tailEnd type="none" w="med" len="med"/>
                    </a:lnB>
                  </a:tcPr>
                </a:tc>
                <a:tc>
                  <a:txBody>
                    <a:bodyPr/>
                    <a:lstStyle/>
                    <a:p>
                      <a:pPr marL="0" indent="0" algn="ctr">
                        <a:buNone/>
                      </a:pPr>
                      <a:r>
                        <a:rPr lang="en-US" sz="1400" dirty="0">
                          <a:solidFill>
                            <a:srgbClr val="1F2933"/>
                          </a:solidFill>
                          <a:latin typeface="Calibri" pitchFamily="34" charset="0"/>
                          <a:ea typeface="Calibri" pitchFamily="34" charset="-122"/>
                          <a:cs typeface="Calibri" pitchFamily="34" charset="-120"/>
                        </a:rPr>
                        <a:t>.539</a:t>
                      </a:r>
                      <a:endParaRPr lang="en-US" sz="1400" dirty="0">
                        <a:latin typeface="Calibri" charset="0"/>
                        <a:ea typeface="Calibri" charset="0"/>
                        <a:cs typeface="Calibri" charset="0"/>
                      </a:endParaRPr>
                    </a:p>
                  </a:txBody>
                  <a:tcPr anchor="ctr">
                    <a:lnL w="12700" cap="flat" cmpd="sng" algn="ctr">
                      <a:solidFill>
                        <a:srgbClr val="D9DEE3"/>
                      </a:solidFill>
                      <a:prstDash val="solid"/>
                      <a:round/>
                      <a:headEnd type="none" w="med" len="med"/>
                      <a:tailEnd type="none" w="med" len="med"/>
                    </a:lnL>
                    <a:lnR w="12700" cap="flat" cmpd="sng" algn="ctr">
                      <a:solidFill>
                        <a:srgbClr val="D9DEE3"/>
                      </a:solidFill>
                      <a:prstDash val="solid"/>
                      <a:round/>
                      <a:headEnd type="none" w="med" len="med"/>
                      <a:tailEnd type="none" w="med" len="med"/>
                    </a:lnR>
                    <a:lnT w="12700" cap="flat" cmpd="sng" algn="ctr">
                      <a:solidFill>
                        <a:srgbClr val="D9DEE3"/>
                      </a:solidFill>
                      <a:prstDash val="solid"/>
                      <a:round/>
                      <a:headEnd type="none" w="med" len="med"/>
                      <a:tailEnd type="none" w="med" len="med"/>
                    </a:lnT>
                    <a:lnB w="12700" cap="flat" cmpd="sng" algn="ctr">
                      <a:solidFill>
                        <a:srgbClr val="D9DEE3"/>
                      </a:solidFill>
                      <a:prstDash val="solid"/>
                      <a:round/>
                      <a:headEnd type="none" w="med" len="med"/>
                      <a:tailEnd type="none" w="med" len="med"/>
                    </a:lnB>
                  </a:tcPr>
                </a:tc>
                <a:tc>
                  <a:txBody>
                    <a:bodyPr/>
                    <a:lstStyle/>
                    <a:p>
                      <a:pPr marL="0" indent="0" algn="ctr">
                        <a:buNone/>
                      </a:pPr>
                      <a:r>
                        <a:rPr lang="en-US" sz="1400" dirty="0">
                          <a:solidFill>
                            <a:srgbClr val="1F2933"/>
                          </a:solidFill>
                          <a:latin typeface="Calibri" pitchFamily="34" charset="0"/>
                          <a:ea typeface="Calibri" pitchFamily="34" charset="-122"/>
                          <a:cs typeface="Calibri" pitchFamily="34" charset="-120"/>
                        </a:rPr>
                        <a:t>256</a:t>
                      </a:r>
                      <a:endParaRPr lang="en-US" sz="1400" dirty="0">
                        <a:latin typeface="Calibri" charset="0"/>
                        <a:ea typeface="Calibri" charset="0"/>
                        <a:cs typeface="Calibri" charset="0"/>
                      </a:endParaRPr>
                    </a:p>
                  </a:txBody>
                  <a:tcPr anchor="ctr">
                    <a:lnL w="12700" cap="flat" cmpd="sng" algn="ctr">
                      <a:solidFill>
                        <a:srgbClr val="D9DEE3"/>
                      </a:solidFill>
                      <a:prstDash val="solid"/>
                      <a:round/>
                      <a:headEnd type="none" w="med" len="med"/>
                      <a:tailEnd type="none" w="med" len="med"/>
                    </a:lnL>
                    <a:lnR w="12700" cap="flat" cmpd="sng" algn="ctr">
                      <a:solidFill>
                        <a:srgbClr val="D9DEE3"/>
                      </a:solidFill>
                      <a:prstDash val="solid"/>
                      <a:round/>
                      <a:headEnd type="none" w="med" len="med"/>
                      <a:tailEnd type="none" w="med" len="med"/>
                    </a:lnR>
                    <a:lnT w="12700" cap="flat" cmpd="sng" algn="ctr">
                      <a:solidFill>
                        <a:srgbClr val="D9DEE3"/>
                      </a:solidFill>
                      <a:prstDash val="solid"/>
                      <a:round/>
                      <a:headEnd type="none" w="med" len="med"/>
                      <a:tailEnd type="none" w="med" len="med"/>
                    </a:lnT>
                    <a:lnB w="12700" cap="flat" cmpd="sng" algn="ctr">
                      <a:solidFill>
                        <a:srgbClr val="D9DEE3"/>
                      </a:solidFill>
                      <a:prstDash val="solid"/>
                      <a:round/>
                      <a:headEnd type="none" w="med" len="med"/>
                      <a:tailEnd type="none" w="med" len="med"/>
                    </a:lnB>
                  </a:tcPr>
                </a:tc>
                <a:tc>
                  <a:txBody>
                    <a:bodyPr/>
                    <a:lstStyle/>
                    <a:p>
                      <a:pPr marL="0" indent="0" algn="ctr">
                        <a:buNone/>
                      </a:pPr>
                      <a:r>
                        <a:rPr lang="en-US" sz="1400" dirty="0">
                          <a:solidFill>
                            <a:srgbClr val="1F2933"/>
                          </a:solidFill>
                          <a:latin typeface="Calibri" pitchFamily="34" charset="0"/>
                          <a:ea typeface="Calibri" pitchFamily="34" charset="-122"/>
                          <a:cs typeface="Calibri" pitchFamily="34" charset="-120"/>
                        </a:rPr>
                        <a:t>[.48, .60]</a:t>
                      </a:r>
                      <a:endParaRPr lang="en-US" sz="1400" dirty="0">
                        <a:latin typeface="Calibri" charset="0"/>
                        <a:ea typeface="Calibri" charset="0"/>
                        <a:cs typeface="Calibri" charset="0"/>
                      </a:endParaRPr>
                    </a:p>
                  </a:txBody>
                  <a:tcPr anchor="ctr">
                    <a:lnL w="12700" cap="flat" cmpd="sng" algn="ctr">
                      <a:solidFill>
                        <a:srgbClr val="D9DEE3"/>
                      </a:solidFill>
                      <a:prstDash val="solid"/>
                      <a:round/>
                      <a:headEnd type="none" w="med" len="med"/>
                      <a:tailEnd type="none" w="med" len="med"/>
                    </a:lnL>
                    <a:lnR w="12700" cap="flat" cmpd="sng" algn="ctr">
                      <a:solidFill>
                        <a:srgbClr val="D9DEE3"/>
                      </a:solidFill>
                      <a:prstDash val="solid"/>
                      <a:round/>
                      <a:headEnd type="none" w="med" len="med"/>
                      <a:tailEnd type="none" w="med" len="med"/>
                    </a:lnR>
                    <a:lnT w="12700" cap="flat" cmpd="sng" algn="ctr">
                      <a:solidFill>
                        <a:srgbClr val="D9DEE3"/>
                      </a:solidFill>
                      <a:prstDash val="solid"/>
                      <a:round/>
                      <a:headEnd type="none" w="med" len="med"/>
                      <a:tailEnd type="none" w="med" len="med"/>
                    </a:lnT>
                    <a:lnB w="12700"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3"/>
                  </a:ext>
                </a:extLst>
              </a:tr>
              <a:tr h="502920">
                <a:tc>
                  <a:txBody>
                    <a:bodyPr/>
                    <a:lstStyle/>
                    <a:p>
                      <a:pPr marL="0" indent="0" algn="l">
                        <a:buNone/>
                      </a:pPr>
                      <a:r>
                        <a:rPr lang="en-US" sz="1400" dirty="0">
                          <a:solidFill>
                            <a:srgbClr val="1F2933"/>
                          </a:solidFill>
                          <a:latin typeface="Calibri" pitchFamily="34" charset="0"/>
                          <a:ea typeface="Calibri" pitchFamily="34" charset="-122"/>
                          <a:cs typeface="Calibri" pitchFamily="34" charset="-120"/>
                        </a:rPr>
                        <a:t>Morality</a:t>
                      </a:r>
                      <a:endParaRPr lang="en-US" sz="1400" dirty="0">
                        <a:latin typeface="Calibri" charset="0"/>
                        <a:ea typeface="Calibri" charset="0"/>
                        <a:cs typeface="Calibri" charset="0"/>
                      </a:endParaRPr>
                    </a:p>
                  </a:txBody>
                  <a:tcPr anchor="ctr">
                    <a:lnL w="12700" cap="flat" cmpd="sng" algn="ctr">
                      <a:solidFill>
                        <a:srgbClr val="D9DEE3"/>
                      </a:solidFill>
                      <a:prstDash val="solid"/>
                      <a:round/>
                      <a:headEnd type="none" w="med" len="med"/>
                      <a:tailEnd type="none" w="med" len="med"/>
                    </a:lnL>
                    <a:lnR w="12700" cap="flat" cmpd="sng" algn="ctr">
                      <a:solidFill>
                        <a:srgbClr val="D9DEE3"/>
                      </a:solidFill>
                      <a:prstDash val="solid"/>
                      <a:round/>
                      <a:headEnd type="none" w="med" len="med"/>
                      <a:tailEnd type="none" w="med" len="med"/>
                    </a:lnR>
                    <a:lnT w="12700" cap="flat" cmpd="sng" algn="ctr">
                      <a:solidFill>
                        <a:srgbClr val="D9DEE3"/>
                      </a:solidFill>
                      <a:prstDash val="solid"/>
                      <a:round/>
                      <a:headEnd type="none" w="med" len="med"/>
                      <a:tailEnd type="none" w="med" len="med"/>
                    </a:lnT>
                    <a:lnB w="12700" cap="flat" cmpd="sng" algn="ctr">
                      <a:solidFill>
                        <a:srgbClr val="D9DEE3"/>
                      </a:solidFill>
                      <a:prstDash val="solid"/>
                      <a:round/>
                      <a:headEnd type="none" w="med" len="med"/>
                      <a:tailEnd type="none" w="med" len="med"/>
                    </a:lnB>
                  </a:tcPr>
                </a:tc>
                <a:tc>
                  <a:txBody>
                    <a:bodyPr/>
                    <a:lstStyle/>
                    <a:p>
                      <a:pPr marL="0" indent="0" algn="ctr">
                        <a:buNone/>
                      </a:pPr>
                      <a:r>
                        <a:rPr lang="en-US" sz="1400" dirty="0">
                          <a:solidFill>
                            <a:srgbClr val="1F2933"/>
                          </a:solidFill>
                          <a:latin typeface="Calibri" pitchFamily="34" charset="0"/>
                          <a:ea typeface="Calibri" pitchFamily="34" charset="-122"/>
                          <a:cs typeface="Calibri" pitchFamily="34" charset="-120"/>
                        </a:rPr>
                        <a:t>.487</a:t>
                      </a:r>
                      <a:endParaRPr lang="en-US" sz="1400" dirty="0">
                        <a:latin typeface="Calibri" charset="0"/>
                        <a:ea typeface="Calibri" charset="0"/>
                        <a:cs typeface="Calibri" charset="0"/>
                      </a:endParaRPr>
                    </a:p>
                  </a:txBody>
                  <a:tcPr anchor="ctr">
                    <a:lnL w="12700" cap="flat" cmpd="sng" algn="ctr">
                      <a:solidFill>
                        <a:srgbClr val="D9DEE3"/>
                      </a:solidFill>
                      <a:prstDash val="solid"/>
                      <a:round/>
                      <a:headEnd type="none" w="med" len="med"/>
                      <a:tailEnd type="none" w="med" len="med"/>
                    </a:lnL>
                    <a:lnR w="12700" cap="flat" cmpd="sng" algn="ctr">
                      <a:solidFill>
                        <a:srgbClr val="D9DEE3"/>
                      </a:solidFill>
                      <a:prstDash val="solid"/>
                      <a:round/>
                      <a:headEnd type="none" w="med" len="med"/>
                      <a:tailEnd type="none" w="med" len="med"/>
                    </a:lnR>
                    <a:lnT w="12700" cap="flat" cmpd="sng" algn="ctr">
                      <a:solidFill>
                        <a:srgbClr val="D9DEE3"/>
                      </a:solidFill>
                      <a:prstDash val="solid"/>
                      <a:round/>
                      <a:headEnd type="none" w="med" len="med"/>
                      <a:tailEnd type="none" w="med" len="med"/>
                    </a:lnT>
                    <a:lnB w="12700" cap="flat" cmpd="sng" algn="ctr">
                      <a:solidFill>
                        <a:srgbClr val="D9DEE3"/>
                      </a:solidFill>
                      <a:prstDash val="solid"/>
                      <a:round/>
                      <a:headEnd type="none" w="med" len="med"/>
                      <a:tailEnd type="none" w="med" len="med"/>
                    </a:lnB>
                  </a:tcPr>
                </a:tc>
                <a:tc>
                  <a:txBody>
                    <a:bodyPr/>
                    <a:lstStyle/>
                    <a:p>
                      <a:pPr marL="0" indent="0" algn="ctr">
                        <a:buNone/>
                      </a:pPr>
                      <a:r>
                        <a:rPr lang="en-US" sz="1400" dirty="0">
                          <a:solidFill>
                            <a:srgbClr val="1F2933"/>
                          </a:solidFill>
                          <a:latin typeface="Calibri" pitchFamily="34" charset="0"/>
                          <a:ea typeface="Calibri" pitchFamily="34" charset="-122"/>
                          <a:cs typeface="Calibri" pitchFamily="34" charset="-120"/>
                        </a:rPr>
                        <a:t>372</a:t>
                      </a:r>
                      <a:endParaRPr lang="en-US" sz="1400" dirty="0">
                        <a:latin typeface="Calibri" charset="0"/>
                        <a:ea typeface="Calibri" charset="0"/>
                        <a:cs typeface="Calibri" charset="0"/>
                      </a:endParaRPr>
                    </a:p>
                  </a:txBody>
                  <a:tcPr anchor="ctr">
                    <a:lnL w="12700" cap="flat" cmpd="sng" algn="ctr">
                      <a:solidFill>
                        <a:srgbClr val="D9DEE3"/>
                      </a:solidFill>
                      <a:prstDash val="solid"/>
                      <a:round/>
                      <a:headEnd type="none" w="med" len="med"/>
                      <a:tailEnd type="none" w="med" len="med"/>
                    </a:lnL>
                    <a:lnR w="12700" cap="flat" cmpd="sng" algn="ctr">
                      <a:solidFill>
                        <a:srgbClr val="D9DEE3"/>
                      </a:solidFill>
                      <a:prstDash val="solid"/>
                      <a:round/>
                      <a:headEnd type="none" w="med" len="med"/>
                      <a:tailEnd type="none" w="med" len="med"/>
                    </a:lnR>
                    <a:lnT w="12700" cap="flat" cmpd="sng" algn="ctr">
                      <a:solidFill>
                        <a:srgbClr val="D9DEE3"/>
                      </a:solidFill>
                      <a:prstDash val="solid"/>
                      <a:round/>
                      <a:headEnd type="none" w="med" len="med"/>
                      <a:tailEnd type="none" w="med" len="med"/>
                    </a:lnT>
                    <a:lnB w="12700" cap="flat" cmpd="sng" algn="ctr">
                      <a:solidFill>
                        <a:srgbClr val="D9DEE3"/>
                      </a:solidFill>
                      <a:prstDash val="solid"/>
                      <a:round/>
                      <a:headEnd type="none" w="med" len="med"/>
                      <a:tailEnd type="none" w="med" len="med"/>
                    </a:lnB>
                  </a:tcPr>
                </a:tc>
                <a:tc>
                  <a:txBody>
                    <a:bodyPr/>
                    <a:lstStyle/>
                    <a:p>
                      <a:pPr marL="0" indent="0" algn="ctr">
                        <a:buNone/>
                      </a:pPr>
                      <a:r>
                        <a:rPr lang="en-US" sz="1400" dirty="0">
                          <a:solidFill>
                            <a:srgbClr val="1F2933"/>
                          </a:solidFill>
                          <a:latin typeface="Calibri" pitchFamily="34" charset="0"/>
                          <a:ea typeface="Calibri" pitchFamily="34" charset="-122"/>
                          <a:cs typeface="Calibri" pitchFamily="34" charset="-120"/>
                        </a:rPr>
                        <a:t>[.44, .54]</a:t>
                      </a:r>
                      <a:endParaRPr lang="en-US" sz="1400" dirty="0">
                        <a:latin typeface="Calibri" charset="0"/>
                        <a:ea typeface="Calibri" charset="0"/>
                        <a:cs typeface="Calibri" charset="0"/>
                      </a:endParaRPr>
                    </a:p>
                  </a:txBody>
                  <a:tcPr anchor="ctr">
                    <a:lnL w="12700" cap="flat" cmpd="sng" algn="ctr">
                      <a:solidFill>
                        <a:srgbClr val="D9DEE3"/>
                      </a:solidFill>
                      <a:prstDash val="solid"/>
                      <a:round/>
                      <a:headEnd type="none" w="med" len="med"/>
                      <a:tailEnd type="none" w="med" len="med"/>
                    </a:lnL>
                    <a:lnR w="12700" cap="flat" cmpd="sng" algn="ctr">
                      <a:solidFill>
                        <a:srgbClr val="D9DEE3"/>
                      </a:solidFill>
                      <a:prstDash val="solid"/>
                      <a:round/>
                      <a:headEnd type="none" w="med" len="med"/>
                      <a:tailEnd type="none" w="med" len="med"/>
                    </a:lnR>
                    <a:lnT w="12700" cap="flat" cmpd="sng" algn="ctr">
                      <a:solidFill>
                        <a:srgbClr val="D9DEE3"/>
                      </a:solidFill>
                      <a:prstDash val="solid"/>
                      <a:round/>
                      <a:headEnd type="none" w="med" len="med"/>
                      <a:tailEnd type="none" w="med" len="med"/>
                    </a:lnT>
                    <a:lnB w="12700"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4"/>
                  </a:ext>
                </a:extLst>
              </a:tr>
              <a:tr h="502920">
                <a:tc>
                  <a:txBody>
                    <a:bodyPr/>
                    <a:lstStyle/>
                    <a:p>
                      <a:pPr marL="0" indent="0" algn="l">
                        <a:buNone/>
                      </a:pPr>
                      <a:r>
                        <a:rPr lang="en-US" sz="1400" dirty="0">
                          <a:solidFill>
                            <a:srgbClr val="1F2933"/>
                          </a:solidFill>
                          <a:latin typeface="Calibri" pitchFamily="34" charset="0"/>
                          <a:ea typeface="Calibri" pitchFamily="34" charset="-122"/>
                          <a:cs typeface="Calibri" pitchFamily="34" charset="-120"/>
                        </a:rPr>
                        <a:t>Intellect</a:t>
                      </a:r>
                      <a:endParaRPr lang="en-US" sz="1400" dirty="0">
                        <a:latin typeface="Calibri" charset="0"/>
                        <a:ea typeface="Calibri" charset="0"/>
                        <a:cs typeface="Calibri" charset="0"/>
                      </a:endParaRPr>
                    </a:p>
                  </a:txBody>
                  <a:tcPr anchor="ctr">
                    <a:lnL w="12700" cap="flat" cmpd="sng" algn="ctr">
                      <a:solidFill>
                        <a:srgbClr val="D9DEE3"/>
                      </a:solidFill>
                      <a:prstDash val="solid"/>
                      <a:round/>
                      <a:headEnd type="none" w="med" len="med"/>
                      <a:tailEnd type="none" w="med" len="med"/>
                    </a:lnL>
                    <a:lnR w="12700" cap="flat" cmpd="sng" algn="ctr">
                      <a:solidFill>
                        <a:srgbClr val="D9DEE3"/>
                      </a:solidFill>
                      <a:prstDash val="solid"/>
                      <a:round/>
                      <a:headEnd type="none" w="med" len="med"/>
                      <a:tailEnd type="none" w="med" len="med"/>
                    </a:lnR>
                    <a:lnT w="12700" cap="flat" cmpd="sng" algn="ctr">
                      <a:solidFill>
                        <a:srgbClr val="D9DEE3"/>
                      </a:solidFill>
                      <a:prstDash val="solid"/>
                      <a:round/>
                      <a:headEnd type="none" w="med" len="med"/>
                      <a:tailEnd type="none" w="med" len="med"/>
                    </a:lnT>
                    <a:lnB w="12700" cap="flat" cmpd="sng" algn="ctr">
                      <a:solidFill>
                        <a:srgbClr val="D9DEE3"/>
                      </a:solidFill>
                      <a:prstDash val="solid"/>
                      <a:round/>
                      <a:headEnd type="none" w="med" len="med"/>
                      <a:tailEnd type="none" w="med" len="med"/>
                    </a:lnB>
                  </a:tcPr>
                </a:tc>
                <a:tc>
                  <a:txBody>
                    <a:bodyPr/>
                    <a:lstStyle/>
                    <a:p>
                      <a:pPr marL="0" indent="0" algn="ctr">
                        <a:buNone/>
                      </a:pPr>
                      <a:r>
                        <a:rPr lang="en-US" sz="1400" dirty="0">
                          <a:solidFill>
                            <a:srgbClr val="1F2933"/>
                          </a:solidFill>
                          <a:latin typeface="Calibri" pitchFamily="34" charset="0"/>
                          <a:ea typeface="Calibri" pitchFamily="34" charset="-122"/>
                          <a:cs typeface="Calibri" pitchFamily="34" charset="-120"/>
                        </a:rPr>
                        <a:t>.479</a:t>
                      </a:r>
                      <a:endParaRPr lang="en-US" sz="1400" dirty="0">
                        <a:latin typeface="Calibri" charset="0"/>
                        <a:ea typeface="Calibri" charset="0"/>
                        <a:cs typeface="Calibri" charset="0"/>
                      </a:endParaRPr>
                    </a:p>
                  </a:txBody>
                  <a:tcPr anchor="ctr">
                    <a:lnL w="12700" cap="flat" cmpd="sng" algn="ctr">
                      <a:solidFill>
                        <a:srgbClr val="D9DEE3"/>
                      </a:solidFill>
                      <a:prstDash val="solid"/>
                      <a:round/>
                      <a:headEnd type="none" w="med" len="med"/>
                      <a:tailEnd type="none" w="med" len="med"/>
                    </a:lnL>
                    <a:lnR w="12700" cap="flat" cmpd="sng" algn="ctr">
                      <a:solidFill>
                        <a:srgbClr val="D9DEE3"/>
                      </a:solidFill>
                      <a:prstDash val="solid"/>
                      <a:round/>
                      <a:headEnd type="none" w="med" len="med"/>
                      <a:tailEnd type="none" w="med" len="med"/>
                    </a:lnR>
                    <a:lnT w="12700" cap="flat" cmpd="sng" algn="ctr">
                      <a:solidFill>
                        <a:srgbClr val="D9DEE3"/>
                      </a:solidFill>
                      <a:prstDash val="solid"/>
                      <a:round/>
                      <a:headEnd type="none" w="med" len="med"/>
                      <a:tailEnd type="none" w="med" len="med"/>
                    </a:lnT>
                    <a:lnB w="12700" cap="flat" cmpd="sng" algn="ctr">
                      <a:solidFill>
                        <a:srgbClr val="D9DEE3"/>
                      </a:solidFill>
                      <a:prstDash val="solid"/>
                      <a:round/>
                      <a:headEnd type="none" w="med" len="med"/>
                      <a:tailEnd type="none" w="med" len="med"/>
                    </a:lnB>
                  </a:tcPr>
                </a:tc>
                <a:tc>
                  <a:txBody>
                    <a:bodyPr/>
                    <a:lstStyle/>
                    <a:p>
                      <a:pPr marL="0" indent="0" algn="ctr">
                        <a:buNone/>
                      </a:pPr>
                      <a:r>
                        <a:rPr lang="en-US" sz="1400" dirty="0">
                          <a:solidFill>
                            <a:srgbClr val="1F2933"/>
                          </a:solidFill>
                          <a:latin typeface="Calibri" pitchFamily="34" charset="0"/>
                          <a:ea typeface="Calibri" pitchFamily="34" charset="-122"/>
                          <a:cs typeface="Calibri" pitchFamily="34" charset="-120"/>
                        </a:rPr>
                        <a:t>192</a:t>
                      </a:r>
                      <a:endParaRPr lang="en-US" sz="1400" dirty="0">
                        <a:latin typeface="Calibri" charset="0"/>
                        <a:ea typeface="Calibri" charset="0"/>
                        <a:cs typeface="Calibri" charset="0"/>
                      </a:endParaRPr>
                    </a:p>
                  </a:txBody>
                  <a:tcPr anchor="ctr">
                    <a:lnL w="12700" cap="flat" cmpd="sng" algn="ctr">
                      <a:solidFill>
                        <a:srgbClr val="D9DEE3"/>
                      </a:solidFill>
                      <a:prstDash val="solid"/>
                      <a:round/>
                      <a:headEnd type="none" w="med" len="med"/>
                      <a:tailEnd type="none" w="med" len="med"/>
                    </a:lnL>
                    <a:lnR w="12700" cap="flat" cmpd="sng" algn="ctr">
                      <a:solidFill>
                        <a:srgbClr val="D9DEE3"/>
                      </a:solidFill>
                      <a:prstDash val="solid"/>
                      <a:round/>
                      <a:headEnd type="none" w="med" len="med"/>
                      <a:tailEnd type="none" w="med" len="med"/>
                    </a:lnR>
                    <a:lnT w="12700" cap="flat" cmpd="sng" algn="ctr">
                      <a:solidFill>
                        <a:srgbClr val="D9DEE3"/>
                      </a:solidFill>
                      <a:prstDash val="solid"/>
                      <a:round/>
                      <a:headEnd type="none" w="med" len="med"/>
                      <a:tailEnd type="none" w="med" len="med"/>
                    </a:lnT>
                    <a:lnB w="12700" cap="flat" cmpd="sng" algn="ctr">
                      <a:solidFill>
                        <a:srgbClr val="D9DEE3"/>
                      </a:solidFill>
                      <a:prstDash val="solid"/>
                      <a:round/>
                      <a:headEnd type="none" w="med" len="med"/>
                      <a:tailEnd type="none" w="med" len="med"/>
                    </a:lnB>
                  </a:tcPr>
                </a:tc>
                <a:tc>
                  <a:txBody>
                    <a:bodyPr/>
                    <a:lstStyle/>
                    <a:p>
                      <a:pPr marL="0" indent="0" algn="ctr">
                        <a:buNone/>
                      </a:pPr>
                      <a:r>
                        <a:rPr lang="en-US" sz="1400" dirty="0">
                          <a:solidFill>
                            <a:srgbClr val="1F2933"/>
                          </a:solidFill>
                          <a:latin typeface="Calibri" pitchFamily="34" charset="0"/>
                          <a:ea typeface="Calibri" pitchFamily="34" charset="-122"/>
                          <a:cs typeface="Calibri" pitchFamily="34" charset="-120"/>
                        </a:rPr>
                        <a:t>[.41, .55]</a:t>
                      </a:r>
                      <a:endParaRPr lang="en-US" sz="1400" dirty="0">
                        <a:latin typeface="Calibri" charset="0"/>
                        <a:ea typeface="Calibri" charset="0"/>
                        <a:cs typeface="Calibri" charset="0"/>
                      </a:endParaRPr>
                    </a:p>
                  </a:txBody>
                  <a:tcPr anchor="ctr">
                    <a:lnL w="12700" cap="flat" cmpd="sng" algn="ctr">
                      <a:solidFill>
                        <a:srgbClr val="D9DEE3"/>
                      </a:solidFill>
                      <a:prstDash val="solid"/>
                      <a:round/>
                      <a:headEnd type="none" w="med" len="med"/>
                      <a:tailEnd type="none" w="med" len="med"/>
                    </a:lnL>
                    <a:lnR w="12700" cap="flat" cmpd="sng" algn="ctr">
                      <a:solidFill>
                        <a:srgbClr val="D9DEE3"/>
                      </a:solidFill>
                      <a:prstDash val="solid"/>
                      <a:round/>
                      <a:headEnd type="none" w="med" len="med"/>
                      <a:tailEnd type="none" w="med" len="med"/>
                    </a:lnR>
                    <a:lnT w="12700" cap="flat" cmpd="sng" algn="ctr">
                      <a:solidFill>
                        <a:srgbClr val="D9DEE3"/>
                      </a:solidFill>
                      <a:prstDash val="solid"/>
                      <a:round/>
                      <a:headEnd type="none" w="med" len="med"/>
                      <a:tailEnd type="none" w="med" len="med"/>
                    </a:lnT>
                    <a:lnB w="12700"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Text 5"/>
          <p:cNvSpPr/>
          <p:nvPr/>
        </p:nvSpPr>
        <p:spPr>
          <a:xfrm>
            <a:off x="640080" y="5120640"/>
            <a:ext cx="10058400" cy="365760"/>
          </a:xfrm>
          <a:prstGeom prst="rect">
            <a:avLst/>
          </a:prstGeom>
          <a:noFill/>
          <a:ln/>
        </p:spPr>
        <p:txBody>
          <a:bodyPr wrap="square" lIns="0" tIns="0" rIns="0" bIns="0" rtlCol="0" anchor="ctr"/>
          <a:lstStyle/>
          <a:p>
            <a:pPr marL="0" indent="0">
              <a:buNone/>
            </a:pPr>
            <a:r>
              <a:rPr lang="en-US" sz="1300" i="1" dirty="0">
                <a:solidFill>
                  <a:srgbClr val="7B8794"/>
                </a:solidFill>
                <a:latin typeface="Calibri" pitchFamily="34" charset="0"/>
                <a:ea typeface="Calibri" pitchFamily="34" charset="-122"/>
                <a:cs typeface="Calibri" pitchFamily="34" charset="-120"/>
              </a:rPr>
              <a:t>Gender split (not yet tested): male .573 (n=648) · female .558 (n=552).</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347471"/>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48400" y="292608"/>
            <a:ext cx="5486400" cy="274320"/>
          </a:xfrm>
          <a:prstGeom prst="rect">
            <a:avLst/>
          </a:prstGeom>
          <a:noFill/>
        </p:spPr>
        <p:txBody>
          <a:bodyPr wrap="square" lIns="0" tIns="0" rIns="0" bIns="0" anchor="t">
            <a:spAutoFit/>
          </a:bodyPr>
          <a:lstStyle/>
          <a:p>
            <a:pPr algn="r"/>
            <a:r>
              <a:rPr sz="900" b="0" i="0">
                <a:solidFill>
                  <a:srgbClr val="7B8494"/>
                </a:solidFill>
                <a:latin typeface="Calibri"/>
              </a:rPr>
              <a:t>Multilingual Prototypicality Bias  ·  Progress Report</a:t>
            </a:r>
          </a:p>
        </p:txBody>
      </p:sp>
      <p:sp>
        <p:nvSpPr>
          <p:cNvPr id="4" name="Rectangle 3"/>
          <p:cNvSpPr/>
          <p:nvPr/>
        </p:nvSpPr>
        <p:spPr>
          <a:xfrm>
            <a:off x="640080" y="566928"/>
            <a:ext cx="146304" cy="146304"/>
          </a:xfrm>
          <a:prstGeom prst="rect">
            <a:avLst/>
          </a:prstGeom>
          <a:solidFill>
            <a:srgbClr val="C44E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77824" y="548640"/>
            <a:ext cx="8229600" cy="274320"/>
          </a:xfrm>
          <a:prstGeom prst="rect">
            <a:avLst/>
          </a:prstGeom>
          <a:noFill/>
        </p:spPr>
        <p:txBody>
          <a:bodyPr wrap="square" lIns="0" tIns="0" rIns="0" bIns="0" anchor="t">
            <a:spAutoFit/>
          </a:bodyPr>
          <a:lstStyle/>
          <a:p>
            <a:r>
              <a:rPr sz="1100" b="1" i="0">
                <a:solidFill>
                  <a:srgbClr val="C44E52"/>
                </a:solidFill>
                <a:latin typeface="Calibri"/>
              </a:rPr>
              <a:t>BACKUP  ·  QA: “how good are the translations?”</a:t>
            </a:r>
          </a:p>
        </p:txBody>
      </p:sp>
      <p:sp>
        <p:nvSpPr>
          <p:cNvPr id="6" name="TextBox 5"/>
          <p:cNvSpPr txBox="1"/>
          <p:nvPr/>
        </p:nvSpPr>
        <p:spPr>
          <a:xfrm>
            <a:off x="640080" y="841248"/>
            <a:ext cx="10972800" cy="640080"/>
          </a:xfrm>
          <a:prstGeom prst="rect">
            <a:avLst/>
          </a:prstGeom>
          <a:noFill/>
        </p:spPr>
        <p:txBody>
          <a:bodyPr wrap="square" lIns="0" tIns="0" rIns="0" bIns="0" anchor="t">
            <a:spAutoFit/>
          </a:bodyPr>
          <a:lstStyle/>
          <a:p>
            <a:r>
              <a:rPr sz="3000" b="1" i="0">
                <a:solidFill>
                  <a:srgbClr val="1F2933"/>
                </a:solidFill>
                <a:latin typeface="Georgia"/>
              </a:rPr>
              <a:t>Translation sanity check — one item, four languages</a:t>
            </a:r>
          </a:p>
        </p:txBody>
      </p:sp>
      <p:sp>
        <p:nvSpPr>
          <p:cNvPr id="7" name="Rectangle 6"/>
          <p:cNvSpPr/>
          <p:nvPr/>
        </p:nvSpPr>
        <p:spPr>
          <a:xfrm>
            <a:off x="640080" y="1874519"/>
            <a:ext cx="10911840" cy="841248"/>
          </a:xfrm>
          <a:prstGeom prst="rect">
            <a:avLst/>
          </a:prstGeom>
          <a:solidFill>
            <a:srgbClr val="F5F3F0"/>
          </a:solidFill>
          <a:ln w="9525">
            <a:solidFill>
              <a:srgbClr val="D9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1874519"/>
            <a:ext cx="1554480" cy="841248"/>
          </a:xfrm>
          <a:prstGeom prst="rect">
            <a:avLst/>
          </a:prstGeom>
          <a:noFill/>
        </p:spPr>
        <p:txBody>
          <a:bodyPr wrap="square" lIns="0" tIns="0" rIns="0" bIns="0" anchor="ctr">
            <a:spAutoFit/>
          </a:bodyPr>
          <a:lstStyle/>
          <a:p>
            <a:r>
              <a:rPr sz="1400" b="1" i="0">
                <a:solidFill>
                  <a:srgbClr val="4C72B0"/>
                </a:solidFill>
                <a:latin typeface="Calibri"/>
              </a:rPr>
              <a:t>EN  (source)</a:t>
            </a:r>
          </a:p>
        </p:txBody>
      </p:sp>
      <p:sp>
        <p:nvSpPr>
          <p:cNvPr id="9" name="TextBox 8"/>
          <p:cNvSpPr txBox="1"/>
          <p:nvPr/>
        </p:nvSpPr>
        <p:spPr>
          <a:xfrm>
            <a:off x="2377440" y="1874519"/>
            <a:ext cx="8900160" cy="841248"/>
          </a:xfrm>
          <a:prstGeom prst="rect">
            <a:avLst/>
          </a:prstGeom>
          <a:noFill/>
        </p:spPr>
        <p:txBody>
          <a:bodyPr wrap="square" lIns="0" tIns="0" rIns="0" bIns="0" anchor="ctr">
            <a:spAutoFit/>
          </a:bodyPr>
          <a:lstStyle/>
          <a:p>
            <a:pPr algn="l"/>
            <a:r>
              <a:rPr sz="1500" b="0" i="0">
                <a:solidFill>
                  <a:srgbClr val="1F2933"/>
                </a:solidFill>
                <a:latin typeface="Calibri"/>
              </a:rPr>
              <a:t>A bird sits on the ground with a small stone in the background near a large log.</a:t>
            </a:r>
          </a:p>
        </p:txBody>
      </p:sp>
      <p:sp>
        <p:nvSpPr>
          <p:cNvPr id="10" name="Rectangle 9"/>
          <p:cNvSpPr/>
          <p:nvPr/>
        </p:nvSpPr>
        <p:spPr>
          <a:xfrm>
            <a:off x="640080" y="2825495"/>
            <a:ext cx="10911840" cy="841248"/>
          </a:xfrm>
          <a:prstGeom prst="rect">
            <a:avLst/>
          </a:prstGeom>
          <a:solidFill>
            <a:srgbClr val="FFFFFF"/>
          </a:solidFill>
          <a:ln w="9525">
            <a:solidFill>
              <a:srgbClr val="D9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2960" y="2825495"/>
            <a:ext cx="1554480" cy="841248"/>
          </a:xfrm>
          <a:prstGeom prst="rect">
            <a:avLst/>
          </a:prstGeom>
          <a:noFill/>
        </p:spPr>
        <p:txBody>
          <a:bodyPr wrap="square" lIns="0" tIns="0" rIns="0" bIns="0" anchor="ctr">
            <a:spAutoFit/>
          </a:bodyPr>
          <a:lstStyle/>
          <a:p>
            <a:r>
              <a:rPr sz="1400" b="1" i="0">
                <a:solidFill>
                  <a:srgbClr val="C44E52"/>
                </a:solidFill>
                <a:latin typeface="Calibri"/>
              </a:rPr>
              <a:t>ZH  中文</a:t>
            </a:r>
          </a:p>
        </p:txBody>
      </p:sp>
      <p:sp>
        <p:nvSpPr>
          <p:cNvPr id="12" name="TextBox 11"/>
          <p:cNvSpPr txBox="1"/>
          <p:nvPr/>
        </p:nvSpPr>
        <p:spPr>
          <a:xfrm>
            <a:off x="2377440" y="2825495"/>
            <a:ext cx="8900160" cy="841248"/>
          </a:xfrm>
          <a:prstGeom prst="rect">
            <a:avLst/>
          </a:prstGeom>
          <a:noFill/>
        </p:spPr>
        <p:txBody>
          <a:bodyPr wrap="square" lIns="0" tIns="0" rIns="0" bIns="0" anchor="ctr">
            <a:spAutoFit/>
          </a:bodyPr>
          <a:lstStyle/>
          <a:p>
            <a:pPr algn="l"/>
            <a:r>
              <a:rPr sz="1500" b="0" i="0">
                <a:solidFill>
                  <a:srgbClr val="1F2933"/>
                </a:solidFill>
                <a:latin typeface="Calibri"/>
              </a:rPr>
              <a:t>一只鸟坐在地上，背景中靠近一根大圆木的地方有一块小石头。</a:t>
            </a:r>
          </a:p>
        </p:txBody>
      </p:sp>
      <p:sp>
        <p:nvSpPr>
          <p:cNvPr id="13" name="Rectangle 12"/>
          <p:cNvSpPr/>
          <p:nvPr/>
        </p:nvSpPr>
        <p:spPr>
          <a:xfrm>
            <a:off x="640080" y="3776471"/>
            <a:ext cx="10911840" cy="841248"/>
          </a:xfrm>
          <a:prstGeom prst="rect">
            <a:avLst/>
          </a:prstGeom>
          <a:solidFill>
            <a:srgbClr val="F5F3F0"/>
          </a:solidFill>
          <a:ln w="9525">
            <a:solidFill>
              <a:srgbClr val="D9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2960" y="3776471"/>
            <a:ext cx="1554480" cy="841248"/>
          </a:xfrm>
          <a:prstGeom prst="rect">
            <a:avLst/>
          </a:prstGeom>
          <a:noFill/>
        </p:spPr>
        <p:txBody>
          <a:bodyPr wrap="square" lIns="0" tIns="0" rIns="0" bIns="0" anchor="ctr">
            <a:spAutoFit/>
          </a:bodyPr>
          <a:lstStyle/>
          <a:p>
            <a:r>
              <a:rPr sz="1400" b="1" i="0">
                <a:solidFill>
                  <a:srgbClr val="C44E52"/>
                </a:solidFill>
                <a:latin typeface="Calibri"/>
              </a:rPr>
              <a:t>AR  العربية</a:t>
            </a:r>
          </a:p>
        </p:txBody>
      </p:sp>
      <p:sp>
        <p:nvSpPr>
          <p:cNvPr id="15" name="TextBox 14"/>
          <p:cNvSpPr txBox="1"/>
          <p:nvPr/>
        </p:nvSpPr>
        <p:spPr>
          <a:xfrm>
            <a:off x="2377440" y="3776471"/>
            <a:ext cx="8900160" cy="841248"/>
          </a:xfrm>
          <a:prstGeom prst="rect">
            <a:avLst/>
          </a:prstGeom>
          <a:noFill/>
        </p:spPr>
        <p:txBody>
          <a:bodyPr wrap="square" lIns="0" tIns="0" rIns="0" bIns="0" anchor="ctr">
            <a:spAutoFit/>
          </a:bodyPr>
          <a:lstStyle/>
          <a:p>
            <a:pPr algn="r"/>
            <a:r>
              <a:rPr sz="1500" b="0" i="0">
                <a:solidFill>
                  <a:srgbClr val="1F2933"/>
                </a:solidFill>
                <a:latin typeface="Calibri"/>
              </a:rPr>
              <a:t>طائر يجلس على الأرض مع حجر صغير في الخلفية بالقرب من جذع شجرة كبير.</a:t>
            </a:r>
          </a:p>
        </p:txBody>
      </p:sp>
      <p:sp>
        <p:nvSpPr>
          <p:cNvPr id="16" name="Rectangle 15"/>
          <p:cNvSpPr/>
          <p:nvPr/>
        </p:nvSpPr>
        <p:spPr>
          <a:xfrm>
            <a:off x="640080" y="4727447"/>
            <a:ext cx="10911840" cy="841248"/>
          </a:xfrm>
          <a:prstGeom prst="rect">
            <a:avLst/>
          </a:prstGeom>
          <a:solidFill>
            <a:srgbClr val="FFFFFF"/>
          </a:solidFill>
          <a:ln w="9525">
            <a:solidFill>
              <a:srgbClr val="D9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 y="4727447"/>
            <a:ext cx="1554480" cy="841248"/>
          </a:xfrm>
          <a:prstGeom prst="rect">
            <a:avLst/>
          </a:prstGeom>
          <a:noFill/>
        </p:spPr>
        <p:txBody>
          <a:bodyPr wrap="square" lIns="0" tIns="0" rIns="0" bIns="0" anchor="ctr">
            <a:spAutoFit/>
          </a:bodyPr>
          <a:lstStyle/>
          <a:p>
            <a:r>
              <a:rPr sz="1400" b="1" i="0">
                <a:solidFill>
                  <a:srgbClr val="C44E52"/>
                </a:solidFill>
                <a:latin typeface="Calibri"/>
              </a:rPr>
              <a:t>HI  हिन्दी</a:t>
            </a:r>
          </a:p>
        </p:txBody>
      </p:sp>
      <p:sp>
        <p:nvSpPr>
          <p:cNvPr id="18" name="TextBox 17"/>
          <p:cNvSpPr txBox="1"/>
          <p:nvPr/>
        </p:nvSpPr>
        <p:spPr>
          <a:xfrm>
            <a:off x="2377440" y="4727447"/>
            <a:ext cx="8900160" cy="841248"/>
          </a:xfrm>
          <a:prstGeom prst="rect">
            <a:avLst/>
          </a:prstGeom>
          <a:noFill/>
        </p:spPr>
        <p:txBody>
          <a:bodyPr wrap="square" lIns="0" tIns="0" rIns="0" bIns="0" anchor="ctr">
            <a:spAutoFit/>
          </a:bodyPr>
          <a:lstStyle/>
          <a:p>
            <a:pPr algn="r"/>
            <a:r>
              <a:rPr sz="1500" b="0" i="0">
                <a:solidFill>
                  <a:srgbClr val="1F2933"/>
                </a:solidFill>
                <a:latin typeface="Calibri"/>
              </a:rPr>
              <a:t>एक पक्षी एक बड़े लट्ठे के पास पृष्ठभूमि में एक छोटे पत्थर के साथ जमीन पर बैठा है।</a:t>
            </a:r>
          </a:p>
        </p:txBody>
      </p:sp>
      <p:sp>
        <p:nvSpPr>
          <p:cNvPr id="19" name="TextBox 18"/>
          <p:cNvSpPr txBox="1"/>
          <p:nvPr/>
        </p:nvSpPr>
        <p:spPr>
          <a:xfrm>
            <a:off x="640080" y="5724143"/>
            <a:ext cx="10911840" cy="640080"/>
          </a:xfrm>
          <a:prstGeom prst="rect">
            <a:avLst/>
          </a:prstGeom>
          <a:noFill/>
        </p:spPr>
        <p:txBody>
          <a:bodyPr wrap="square" lIns="0" tIns="0" rIns="0" bIns="0" anchor="t">
            <a:spAutoFit/>
          </a:bodyPr>
          <a:lstStyle/>
          <a:p>
            <a:r>
              <a:rPr sz="1300" b="0" i="1" dirty="0">
                <a:solidFill>
                  <a:srgbClr val="7B8494"/>
                </a:solidFill>
                <a:latin typeface="Calibri"/>
              </a:rPr>
              <a:t>Backend: Google (deep-translator). ZH human-verified (native). AR/HI back-translation check queued for Exp2 (see Limitations).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48400" y="292608"/>
            <a:ext cx="5486400" cy="274320"/>
          </a:xfrm>
          <a:prstGeom prst="rect">
            <a:avLst/>
          </a:prstGeom>
          <a:noFill/>
        </p:spPr>
        <p:txBody>
          <a:bodyPr wrap="square" lIns="0" tIns="0" rIns="0" bIns="0" anchor="t">
            <a:spAutoFit/>
          </a:bodyPr>
          <a:lstStyle/>
          <a:p>
            <a:pPr algn="r"/>
            <a:r>
              <a:rPr sz="900" b="0" i="0">
                <a:solidFill>
                  <a:srgbClr val="7B8494"/>
                </a:solidFill>
                <a:latin typeface="Calibri"/>
              </a:rPr>
              <a:t>Multilingual Prototypicality Bias  ·  Progress Report</a:t>
            </a:r>
          </a:p>
        </p:txBody>
      </p:sp>
      <p:sp>
        <p:nvSpPr>
          <p:cNvPr id="4" name="Rectangle 3"/>
          <p:cNvSpPr/>
          <p:nvPr/>
        </p:nvSpPr>
        <p:spPr>
          <a:xfrm>
            <a:off x="640080" y="566928"/>
            <a:ext cx="146304" cy="146304"/>
          </a:xfrm>
          <a:prstGeom prst="rect">
            <a:avLst/>
          </a:prstGeom>
          <a:solidFill>
            <a:srgbClr val="C44E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77824" y="548640"/>
            <a:ext cx="8229600" cy="274320"/>
          </a:xfrm>
          <a:prstGeom prst="rect">
            <a:avLst/>
          </a:prstGeom>
          <a:noFill/>
        </p:spPr>
        <p:txBody>
          <a:bodyPr wrap="square" lIns="0" tIns="0" rIns="0" bIns="0" anchor="t">
            <a:spAutoFit/>
          </a:bodyPr>
          <a:lstStyle/>
          <a:p>
            <a:r>
              <a:rPr sz="1100" b="1" i="0">
                <a:solidFill>
                  <a:srgbClr val="C44E52"/>
                </a:solidFill>
                <a:latin typeface="Calibri"/>
              </a:rPr>
              <a:t>BACKUP  ·  full breakdown</a:t>
            </a:r>
          </a:p>
        </p:txBody>
      </p:sp>
      <p:sp>
        <p:nvSpPr>
          <p:cNvPr id="6" name="TextBox 5"/>
          <p:cNvSpPr txBox="1"/>
          <p:nvPr/>
        </p:nvSpPr>
        <p:spPr>
          <a:xfrm>
            <a:off x="640080" y="841248"/>
            <a:ext cx="10972800" cy="640080"/>
          </a:xfrm>
          <a:prstGeom prst="rect">
            <a:avLst/>
          </a:prstGeom>
          <a:noFill/>
        </p:spPr>
        <p:txBody>
          <a:bodyPr wrap="square" lIns="0" tIns="0" rIns="0" bIns="0" anchor="t">
            <a:spAutoFit/>
          </a:bodyPr>
          <a:lstStyle/>
          <a:p>
            <a:r>
              <a:rPr sz="3000" b="1" i="0">
                <a:solidFill>
                  <a:srgbClr val="1F2933"/>
                </a:solidFill>
                <a:latin typeface="Georgia"/>
              </a:rPr>
              <a:t>Full socio_attr × language error rates</a:t>
            </a:r>
          </a:p>
        </p:txBody>
      </p:sp>
      <p:sp>
        <p:nvSpPr>
          <p:cNvPr id="7" name="Rectangle 6"/>
          <p:cNvSpPr/>
          <p:nvPr/>
        </p:nvSpPr>
        <p:spPr>
          <a:xfrm>
            <a:off x="640080" y="1828800"/>
            <a:ext cx="2377440" cy="566928"/>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828800"/>
            <a:ext cx="2377440" cy="566928"/>
          </a:xfrm>
          <a:prstGeom prst="rect">
            <a:avLst/>
          </a:prstGeom>
          <a:noFill/>
        </p:spPr>
        <p:txBody>
          <a:bodyPr wrap="square" lIns="109728" tIns="0" rIns="0" bIns="0" anchor="ctr">
            <a:spAutoFit/>
          </a:bodyPr>
          <a:lstStyle/>
          <a:p>
            <a:pPr algn="l"/>
            <a:r>
              <a:rPr sz="1400" b="1" i="0">
                <a:solidFill>
                  <a:srgbClr val="FFFFFF"/>
                </a:solidFill>
                <a:latin typeface="Calibri"/>
              </a:rPr>
              <a:t>socio_attr</a:t>
            </a:r>
          </a:p>
        </p:txBody>
      </p:sp>
      <p:sp>
        <p:nvSpPr>
          <p:cNvPr id="9" name="Rectangle 8"/>
          <p:cNvSpPr/>
          <p:nvPr/>
        </p:nvSpPr>
        <p:spPr>
          <a:xfrm>
            <a:off x="3017520" y="1828800"/>
            <a:ext cx="1554480" cy="566928"/>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017520" y="1828800"/>
            <a:ext cx="1554480" cy="566928"/>
          </a:xfrm>
          <a:prstGeom prst="rect">
            <a:avLst/>
          </a:prstGeom>
          <a:noFill/>
        </p:spPr>
        <p:txBody>
          <a:bodyPr wrap="square" lIns="109728" tIns="0" rIns="0" bIns="0" anchor="ctr">
            <a:spAutoFit/>
          </a:bodyPr>
          <a:lstStyle/>
          <a:p>
            <a:pPr algn="ctr"/>
            <a:r>
              <a:rPr sz="1400" b="1" i="0">
                <a:solidFill>
                  <a:srgbClr val="FFFFFF"/>
                </a:solidFill>
                <a:latin typeface="Calibri"/>
              </a:rPr>
              <a:t>en</a:t>
            </a:r>
          </a:p>
        </p:txBody>
      </p:sp>
      <p:sp>
        <p:nvSpPr>
          <p:cNvPr id="11" name="Rectangle 10"/>
          <p:cNvSpPr/>
          <p:nvPr/>
        </p:nvSpPr>
        <p:spPr>
          <a:xfrm>
            <a:off x="4572000" y="1828800"/>
            <a:ext cx="1554480" cy="566928"/>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0" y="1828800"/>
            <a:ext cx="1554480" cy="566928"/>
          </a:xfrm>
          <a:prstGeom prst="rect">
            <a:avLst/>
          </a:prstGeom>
          <a:noFill/>
        </p:spPr>
        <p:txBody>
          <a:bodyPr wrap="square" lIns="109728" tIns="0" rIns="0" bIns="0" anchor="ctr">
            <a:spAutoFit/>
          </a:bodyPr>
          <a:lstStyle/>
          <a:p>
            <a:pPr algn="ctr"/>
            <a:r>
              <a:rPr sz="1400" b="1" i="0">
                <a:solidFill>
                  <a:srgbClr val="FFFFFF"/>
                </a:solidFill>
                <a:latin typeface="Calibri"/>
              </a:rPr>
              <a:t>zh</a:t>
            </a:r>
          </a:p>
        </p:txBody>
      </p:sp>
      <p:sp>
        <p:nvSpPr>
          <p:cNvPr id="13" name="Rectangle 12"/>
          <p:cNvSpPr/>
          <p:nvPr/>
        </p:nvSpPr>
        <p:spPr>
          <a:xfrm>
            <a:off x="6126480" y="1828800"/>
            <a:ext cx="1554480" cy="566928"/>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126480" y="1828800"/>
            <a:ext cx="1554480" cy="566928"/>
          </a:xfrm>
          <a:prstGeom prst="rect">
            <a:avLst/>
          </a:prstGeom>
          <a:noFill/>
        </p:spPr>
        <p:txBody>
          <a:bodyPr wrap="square" lIns="109728" tIns="0" rIns="0" bIns="0" anchor="ctr">
            <a:spAutoFit/>
          </a:bodyPr>
          <a:lstStyle/>
          <a:p>
            <a:pPr algn="ctr"/>
            <a:r>
              <a:rPr sz="1400" b="1" i="0">
                <a:solidFill>
                  <a:srgbClr val="FFFFFF"/>
                </a:solidFill>
                <a:latin typeface="Calibri"/>
              </a:rPr>
              <a:t>ar</a:t>
            </a:r>
          </a:p>
        </p:txBody>
      </p:sp>
      <p:sp>
        <p:nvSpPr>
          <p:cNvPr id="15" name="Rectangle 14"/>
          <p:cNvSpPr/>
          <p:nvPr/>
        </p:nvSpPr>
        <p:spPr>
          <a:xfrm>
            <a:off x="7680960" y="1828800"/>
            <a:ext cx="1554480" cy="566928"/>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680960" y="1828800"/>
            <a:ext cx="1554480" cy="566928"/>
          </a:xfrm>
          <a:prstGeom prst="rect">
            <a:avLst/>
          </a:prstGeom>
          <a:noFill/>
        </p:spPr>
        <p:txBody>
          <a:bodyPr wrap="square" lIns="109728" tIns="0" rIns="0" bIns="0" anchor="ctr">
            <a:spAutoFit/>
          </a:bodyPr>
          <a:lstStyle/>
          <a:p>
            <a:pPr algn="ctr"/>
            <a:r>
              <a:rPr sz="1400" b="1" i="0">
                <a:solidFill>
                  <a:srgbClr val="FFFFFF"/>
                </a:solidFill>
                <a:latin typeface="Calibri"/>
              </a:rPr>
              <a:t>hi</a:t>
            </a:r>
          </a:p>
        </p:txBody>
      </p:sp>
      <p:sp>
        <p:nvSpPr>
          <p:cNvPr id="17" name="Rectangle 16"/>
          <p:cNvSpPr/>
          <p:nvPr/>
        </p:nvSpPr>
        <p:spPr>
          <a:xfrm>
            <a:off x="9235440" y="1828800"/>
            <a:ext cx="1463040" cy="566928"/>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235440" y="1828800"/>
            <a:ext cx="1463040" cy="566928"/>
          </a:xfrm>
          <a:prstGeom prst="rect">
            <a:avLst/>
          </a:prstGeom>
          <a:noFill/>
        </p:spPr>
        <p:txBody>
          <a:bodyPr wrap="square" lIns="109728" tIns="0" rIns="0" bIns="0" anchor="ctr">
            <a:spAutoFit/>
          </a:bodyPr>
          <a:lstStyle/>
          <a:p>
            <a:pPr algn="ctr"/>
            <a:r>
              <a:rPr sz="1400" b="1" i="0">
                <a:solidFill>
                  <a:srgbClr val="FFFFFF"/>
                </a:solidFill>
                <a:latin typeface="Calibri"/>
              </a:rPr>
              <a:t>n / lang</a:t>
            </a:r>
          </a:p>
        </p:txBody>
      </p:sp>
      <p:sp>
        <p:nvSpPr>
          <p:cNvPr id="19" name="Rectangle 18"/>
          <p:cNvSpPr/>
          <p:nvPr/>
        </p:nvSpPr>
        <p:spPr>
          <a:xfrm>
            <a:off x="640080" y="2395728"/>
            <a:ext cx="2377440" cy="566928"/>
          </a:xfrm>
          <a:prstGeom prst="rect">
            <a:avLst/>
          </a:prstGeom>
          <a:solidFill>
            <a:srgbClr val="F5F3F0"/>
          </a:solidFill>
          <a:ln w="9525">
            <a:solidFill>
              <a:srgbClr val="D9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0080" y="2395728"/>
            <a:ext cx="2377440" cy="566928"/>
          </a:xfrm>
          <a:prstGeom prst="rect">
            <a:avLst/>
          </a:prstGeom>
          <a:noFill/>
        </p:spPr>
        <p:txBody>
          <a:bodyPr wrap="square" lIns="109728" tIns="0" rIns="0" bIns="0" anchor="ctr">
            <a:spAutoFit/>
          </a:bodyPr>
          <a:lstStyle/>
          <a:p>
            <a:pPr algn="l"/>
            <a:r>
              <a:rPr sz="1400" b="1" i="0">
                <a:solidFill>
                  <a:srgbClr val="1F2933"/>
                </a:solidFill>
                <a:latin typeface="Calibri"/>
              </a:rPr>
              <a:t>Wealth</a:t>
            </a:r>
          </a:p>
        </p:txBody>
      </p:sp>
      <p:sp>
        <p:nvSpPr>
          <p:cNvPr id="21" name="Rectangle 20"/>
          <p:cNvSpPr/>
          <p:nvPr/>
        </p:nvSpPr>
        <p:spPr>
          <a:xfrm>
            <a:off x="3017520" y="2395728"/>
            <a:ext cx="1554480" cy="566928"/>
          </a:xfrm>
          <a:prstGeom prst="rect">
            <a:avLst/>
          </a:prstGeom>
          <a:solidFill>
            <a:srgbClr val="F5F3F0"/>
          </a:solidFill>
          <a:ln w="9525">
            <a:solidFill>
              <a:srgbClr val="D9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017520" y="2395728"/>
            <a:ext cx="1554480" cy="566928"/>
          </a:xfrm>
          <a:prstGeom prst="rect">
            <a:avLst/>
          </a:prstGeom>
          <a:noFill/>
        </p:spPr>
        <p:txBody>
          <a:bodyPr wrap="square" lIns="109728" tIns="0" rIns="0" bIns="0" anchor="ctr">
            <a:spAutoFit/>
          </a:bodyPr>
          <a:lstStyle/>
          <a:p>
            <a:pPr algn="ctr"/>
            <a:r>
              <a:rPr sz="1400" b="1" i="0">
                <a:solidFill>
                  <a:srgbClr val="C44E52"/>
                </a:solidFill>
                <a:latin typeface="Calibri"/>
              </a:rPr>
              <a:t>.774</a:t>
            </a:r>
          </a:p>
        </p:txBody>
      </p:sp>
      <p:sp>
        <p:nvSpPr>
          <p:cNvPr id="23" name="Rectangle 22"/>
          <p:cNvSpPr/>
          <p:nvPr/>
        </p:nvSpPr>
        <p:spPr>
          <a:xfrm>
            <a:off x="4572000" y="2395728"/>
            <a:ext cx="1554480" cy="566928"/>
          </a:xfrm>
          <a:prstGeom prst="rect">
            <a:avLst/>
          </a:prstGeom>
          <a:solidFill>
            <a:srgbClr val="F5F3F0"/>
          </a:solidFill>
          <a:ln w="9525">
            <a:solidFill>
              <a:srgbClr val="D9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572000" y="2395728"/>
            <a:ext cx="1554480" cy="566928"/>
          </a:xfrm>
          <a:prstGeom prst="rect">
            <a:avLst/>
          </a:prstGeom>
          <a:noFill/>
        </p:spPr>
        <p:txBody>
          <a:bodyPr wrap="square" lIns="109728" tIns="0" rIns="0" bIns="0" anchor="ctr">
            <a:spAutoFit/>
          </a:bodyPr>
          <a:lstStyle/>
          <a:p>
            <a:pPr algn="ctr"/>
            <a:r>
              <a:rPr sz="1400" b="1" i="0">
                <a:solidFill>
                  <a:srgbClr val="C44E52"/>
                </a:solidFill>
                <a:latin typeface="Calibri"/>
              </a:rPr>
              <a:t>.774</a:t>
            </a:r>
          </a:p>
        </p:txBody>
      </p:sp>
      <p:sp>
        <p:nvSpPr>
          <p:cNvPr id="25" name="Rectangle 24"/>
          <p:cNvSpPr/>
          <p:nvPr/>
        </p:nvSpPr>
        <p:spPr>
          <a:xfrm>
            <a:off x="6126480" y="2395728"/>
            <a:ext cx="1554480" cy="566928"/>
          </a:xfrm>
          <a:prstGeom prst="rect">
            <a:avLst/>
          </a:prstGeom>
          <a:solidFill>
            <a:srgbClr val="F5F3F0"/>
          </a:solidFill>
          <a:ln w="9525">
            <a:solidFill>
              <a:srgbClr val="D9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126480" y="2395728"/>
            <a:ext cx="1554480" cy="566928"/>
          </a:xfrm>
          <a:prstGeom prst="rect">
            <a:avLst/>
          </a:prstGeom>
          <a:noFill/>
        </p:spPr>
        <p:txBody>
          <a:bodyPr wrap="square" lIns="109728" tIns="0" rIns="0" bIns="0" anchor="ctr">
            <a:spAutoFit/>
          </a:bodyPr>
          <a:lstStyle/>
          <a:p>
            <a:pPr algn="ctr"/>
            <a:r>
              <a:rPr sz="1400" b="1" i="0">
                <a:solidFill>
                  <a:srgbClr val="C44E52"/>
                </a:solidFill>
                <a:latin typeface="Calibri"/>
              </a:rPr>
              <a:t>.839</a:t>
            </a:r>
          </a:p>
        </p:txBody>
      </p:sp>
      <p:sp>
        <p:nvSpPr>
          <p:cNvPr id="27" name="Rectangle 26"/>
          <p:cNvSpPr/>
          <p:nvPr/>
        </p:nvSpPr>
        <p:spPr>
          <a:xfrm>
            <a:off x="7680960" y="2395728"/>
            <a:ext cx="1554480" cy="566928"/>
          </a:xfrm>
          <a:prstGeom prst="rect">
            <a:avLst/>
          </a:prstGeom>
          <a:solidFill>
            <a:srgbClr val="F5F3F0"/>
          </a:solidFill>
          <a:ln w="9525">
            <a:solidFill>
              <a:srgbClr val="D9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680960" y="2395728"/>
            <a:ext cx="1554480" cy="566928"/>
          </a:xfrm>
          <a:prstGeom prst="rect">
            <a:avLst/>
          </a:prstGeom>
          <a:noFill/>
        </p:spPr>
        <p:txBody>
          <a:bodyPr wrap="square" lIns="109728" tIns="0" rIns="0" bIns="0" anchor="ctr">
            <a:spAutoFit/>
          </a:bodyPr>
          <a:lstStyle/>
          <a:p>
            <a:pPr algn="ctr"/>
            <a:r>
              <a:rPr sz="1400" b="1" i="0">
                <a:solidFill>
                  <a:srgbClr val="C44E52"/>
                </a:solidFill>
                <a:latin typeface="Calibri"/>
              </a:rPr>
              <a:t>.710</a:t>
            </a:r>
          </a:p>
        </p:txBody>
      </p:sp>
      <p:sp>
        <p:nvSpPr>
          <p:cNvPr id="29" name="Rectangle 28"/>
          <p:cNvSpPr/>
          <p:nvPr/>
        </p:nvSpPr>
        <p:spPr>
          <a:xfrm>
            <a:off x="9235440" y="2395728"/>
            <a:ext cx="1463040" cy="566928"/>
          </a:xfrm>
          <a:prstGeom prst="rect">
            <a:avLst/>
          </a:prstGeom>
          <a:solidFill>
            <a:srgbClr val="F5F3F0"/>
          </a:solidFill>
          <a:ln w="9525">
            <a:solidFill>
              <a:srgbClr val="D9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235440" y="2395728"/>
            <a:ext cx="1463040" cy="566928"/>
          </a:xfrm>
          <a:prstGeom prst="rect">
            <a:avLst/>
          </a:prstGeom>
          <a:noFill/>
        </p:spPr>
        <p:txBody>
          <a:bodyPr wrap="square" lIns="109728" tIns="0" rIns="0" bIns="0" anchor="ctr">
            <a:spAutoFit/>
          </a:bodyPr>
          <a:lstStyle/>
          <a:p>
            <a:pPr algn="ctr"/>
            <a:r>
              <a:rPr sz="1400" b="1" i="0">
                <a:solidFill>
                  <a:srgbClr val="1F2933"/>
                </a:solidFill>
                <a:latin typeface="Calibri"/>
              </a:rPr>
              <a:t>31</a:t>
            </a:r>
          </a:p>
        </p:txBody>
      </p:sp>
      <p:sp>
        <p:nvSpPr>
          <p:cNvPr id="31" name="Rectangle 30"/>
          <p:cNvSpPr/>
          <p:nvPr/>
        </p:nvSpPr>
        <p:spPr>
          <a:xfrm>
            <a:off x="640080" y="2962656"/>
            <a:ext cx="2377440" cy="566928"/>
          </a:xfrm>
          <a:prstGeom prst="rect">
            <a:avLst/>
          </a:prstGeom>
          <a:solidFill>
            <a:srgbClr val="F5F3F0"/>
          </a:solidFill>
          <a:ln w="9525">
            <a:solidFill>
              <a:srgbClr val="D9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0080" y="2962656"/>
            <a:ext cx="2377440" cy="566928"/>
          </a:xfrm>
          <a:prstGeom prst="rect">
            <a:avLst/>
          </a:prstGeom>
          <a:noFill/>
        </p:spPr>
        <p:txBody>
          <a:bodyPr wrap="square" lIns="109728" tIns="0" rIns="0" bIns="0" anchor="ctr">
            <a:spAutoFit/>
          </a:bodyPr>
          <a:lstStyle/>
          <a:p>
            <a:pPr algn="l"/>
            <a:r>
              <a:rPr sz="1400" b="1" i="0">
                <a:solidFill>
                  <a:srgbClr val="1F2933"/>
                </a:solidFill>
                <a:latin typeface="Calibri"/>
              </a:rPr>
              <a:t>Power</a:t>
            </a:r>
          </a:p>
        </p:txBody>
      </p:sp>
      <p:sp>
        <p:nvSpPr>
          <p:cNvPr id="33" name="Rectangle 32"/>
          <p:cNvSpPr/>
          <p:nvPr/>
        </p:nvSpPr>
        <p:spPr>
          <a:xfrm>
            <a:off x="3017520" y="2962656"/>
            <a:ext cx="1554480" cy="566928"/>
          </a:xfrm>
          <a:prstGeom prst="rect">
            <a:avLst/>
          </a:prstGeom>
          <a:solidFill>
            <a:srgbClr val="F5F3F0"/>
          </a:solidFill>
          <a:ln w="9525">
            <a:solidFill>
              <a:srgbClr val="D9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017520" y="2962656"/>
            <a:ext cx="1554480" cy="566928"/>
          </a:xfrm>
          <a:prstGeom prst="rect">
            <a:avLst/>
          </a:prstGeom>
          <a:noFill/>
        </p:spPr>
        <p:txBody>
          <a:bodyPr wrap="square" lIns="109728" tIns="0" rIns="0" bIns="0" anchor="ctr">
            <a:spAutoFit/>
          </a:bodyPr>
          <a:lstStyle/>
          <a:p>
            <a:pPr algn="ctr"/>
            <a:r>
              <a:rPr sz="1400" b="1" i="0">
                <a:solidFill>
                  <a:srgbClr val="C44E52"/>
                </a:solidFill>
                <a:latin typeface="Calibri"/>
              </a:rPr>
              <a:t>.703</a:t>
            </a:r>
          </a:p>
        </p:txBody>
      </p:sp>
      <p:sp>
        <p:nvSpPr>
          <p:cNvPr id="35" name="Rectangle 34"/>
          <p:cNvSpPr/>
          <p:nvPr/>
        </p:nvSpPr>
        <p:spPr>
          <a:xfrm>
            <a:off x="4572000" y="2962656"/>
            <a:ext cx="1554480" cy="566928"/>
          </a:xfrm>
          <a:prstGeom prst="rect">
            <a:avLst/>
          </a:prstGeom>
          <a:solidFill>
            <a:srgbClr val="F5F3F0"/>
          </a:solidFill>
          <a:ln w="9525">
            <a:solidFill>
              <a:srgbClr val="D9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572000" y="2962656"/>
            <a:ext cx="1554480" cy="566928"/>
          </a:xfrm>
          <a:prstGeom prst="rect">
            <a:avLst/>
          </a:prstGeom>
          <a:noFill/>
        </p:spPr>
        <p:txBody>
          <a:bodyPr wrap="square" lIns="109728" tIns="0" rIns="0" bIns="0" anchor="ctr">
            <a:spAutoFit/>
          </a:bodyPr>
          <a:lstStyle/>
          <a:p>
            <a:pPr algn="ctr"/>
            <a:r>
              <a:rPr sz="1400" b="1" i="0">
                <a:solidFill>
                  <a:srgbClr val="C44E52"/>
                </a:solidFill>
                <a:latin typeface="Calibri"/>
              </a:rPr>
              <a:t>.672</a:t>
            </a:r>
          </a:p>
        </p:txBody>
      </p:sp>
      <p:sp>
        <p:nvSpPr>
          <p:cNvPr id="37" name="Rectangle 36"/>
          <p:cNvSpPr/>
          <p:nvPr/>
        </p:nvSpPr>
        <p:spPr>
          <a:xfrm>
            <a:off x="6126480" y="2962656"/>
            <a:ext cx="1554480" cy="566928"/>
          </a:xfrm>
          <a:prstGeom prst="rect">
            <a:avLst/>
          </a:prstGeom>
          <a:solidFill>
            <a:srgbClr val="F5F3F0"/>
          </a:solidFill>
          <a:ln w="9525">
            <a:solidFill>
              <a:srgbClr val="D9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126480" y="2962656"/>
            <a:ext cx="1554480" cy="566928"/>
          </a:xfrm>
          <a:prstGeom prst="rect">
            <a:avLst/>
          </a:prstGeom>
          <a:noFill/>
        </p:spPr>
        <p:txBody>
          <a:bodyPr wrap="square" lIns="109728" tIns="0" rIns="0" bIns="0" anchor="ctr">
            <a:spAutoFit/>
          </a:bodyPr>
          <a:lstStyle/>
          <a:p>
            <a:pPr algn="ctr"/>
            <a:r>
              <a:rPr sz="1400" b="1" i="0">
                <a:solidFill>
                  <a:srgbClr val="C44E52"/>
                </a:solidFill>
                <a:latin typeface="Calibri"/>
              </a:rPr>
              <a:t>.594</a:t>
            </a:r>
          </a:p>
        </p:txBody>
      </p:sp>
      <p:sp>
        <p:nvSpPr>
          <p:cNvPr id="39" name="Rectangle 38"/>
          <p:cNvSpPr/>
          <p:nvPr/>
        </p:nvSpPr>
        <p:spPr>
          <a:xfrm>
            <a:off x="7680960" y="2962656"/>
            <a:ext cx="1554480" cy="566928"/>
          </a:xfrm>
          <a:prstGeom prst="rect">
            <a:avLst/>
          </a:prstGeom>
          <a:solidFill>
            <a:srgbClr val="F5F3F0"/>
          </a:solidFill>
          <a:ln w="9525">
            <a:solidFill>
              <a:srgbClr val="D9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680960" y="2962656"/>
            <a:ext cx="1554480" cy="566928"/>
          </a:xfrm>
          <a:prstGeom prst="rect">
            <a:avLst/>
          </a:prstGeom>
          <a:noFill/>
        </p:spPr>
        <p:txBody>
          <a:bodyPr wrap="square" lIns="109728" tIns="0" rIns="0" bIns="0" anchor="ctr">
            <a:spAutoFit/>
          </a:bodyPr>
          <a:lstStyle/>
          <a:p>
            <a:pPr algn="ctr"/>
            <a:r>
              <a:rPr sz="1400" b="1" i="0">
                <a:solidFill>
                  <a:srgbClr val="C44E52"/>
                </a:solidFill>
                <a:latin typeface="Calibri"/>
              </a:rPr>
              <a:t>.719</a:t>
            </a:r>
          </a:p>
        </p:txBody>
      </p:sp>
      <p:sp>
        <p:nvSpPr>
          <p:cNvPr id="41" name="Rectangle 40"/>
          <p:cNvSpPr/>
          <p:nvPr/>
        </p:nvSpPr>
        <p:spPr>
          <a:xfrm>
            <a:off x="9235440" y="2962656"/>
            <a:ext cx="1463040" cy="566928"/>
          </a:xfrm>
          <a:prstGeom prst="rect">
            <a:avLst/>
          </a:prstGeom>
          <a:solidFill>
            <a:srgbClr val="F5F3F0"/>
          </a:solidFill>
          <a:ln w="9525">
            <a:solidFill>
              <a:srgbClr val="D9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9235440" y="2962656"/>
            <a:ext cx="1463040" cy="566928"/>
          </a:xfrm>
          <a:prstGeom prst="rect">
            <a:avLst/>
          </a:prstGeom>
          <a:noFill/>
        </p:spPr>
        <p:txBody>
          <a:bodyPr wrap="square" lIns="109728" tIns="0" rIns="0" bIns="0" anchor="ctr">
            <a:spAutoFit/>
          </a:bodyPr>
          <a:lstStyle/>
          <a:p>
            <a:pPr algn="ctr"/>
            <a:r>
              <a:rPr sz="1400" b="1" i="0">
                <a:solidFill>
                  <a:srgbClr val="1F2933"/>
                </a:solidFill>
                <a:latin typeface="Calibri"/>
              </a:rPr>
              <a:t>64</a:t>
            </a:r>
          </a:p>
        </p:txBody>
      </p:sp>
      <p:sp>
        <p:nvSpPr>
          <p:cNvPr id="43" name="Rectangle 42"/>
          <p:cNvSpPr/>
          <p:nvPr/>
        </p:nvSpPr>
        <p:spPr>
          <a:xfrm>
            <a:off x="640080" y="3529584"/>
            <a:ext cx="2377440" cy="566928"/>
          </a:xfrm>
          <a:prstGeom prst="rect">
            <a:avLst/>
          </a:prstGeom>
          <a:solidFill>
            <a:srgbClr val="FFFFFF"/>
          </a:solidFill>
          <a:ln w="9525">
            <a:solidFill>
              <a:srgbClr val="D9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40080" y="3529584"/>
            <a:ext cx="2377440" cy="566928"/>
          </a:xfrm>
          <a:prstGeom prst="rect">
            <a:avLst/>
          </a:prstGeom>
          <a:noFill/>
        </p:spPr>
        <p:txBody>
          <a:bodyPr wrap="square" lIns="109728" tIns="0" rIns="0" bIns="0" anchor="ctr">
            <a:spAutoFit/>
          </a:bodyPr>
          <a:lstStyle/>
          <a:p>
            <a:pPr algn="l"/>
            <a:r>
              <a:rPr sz="1400" b="1" i="0">
                <a:solidFill>
                  <a:srgbClr val="1F2933"/>
                </a:solidFill>
                <a:latin typeface="Calibri"/>
              </a:rPr>
              <a:t>Civility</a:t>
            </a:r>
          </a:p>
        </p:txBody>
      </p:sp>
      <p:sp>
        <p:nvSpPr>
          <p:cNvPr id="45" name="Rectangle 44"/>
          <p:cNvSpPr/>
          <p:nvPr/>
        </p:nvSpPr>
        <p:spPr>
          <a:xfrm>
            <a:off x="3017520" y="3529584"/>
            <a:ext cx="1554480" cy="566928"/>
          </a:xfrm>
          <a:prstGeom prst="rect">
            <a:avLst/>
          </a:prstGeom>
          <a:solidFill>
            <a:srgbClr val="FFFFFF"/>
          </a:solidFill>
          <a:ln w="9525">
            <a:solidFill>
              <a:srgbClr val="D9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3017520" y="3529584"/>
            <a:ext cx="1554480" cy="566928"/>
          </a:xfrm>
          <a:prstGeom prst="rect">
            <a:avLst/>
          </a:prstGeom>
          <a:noFill/>
        </p:spPr>
        <p:txBody>
          <a:bodyPr wrap="square" lIns="109728" tIns="0" rIns="0" bIns="0" anchor="ctr">
            <a:spAutoFit/>
          </a:bodyPr>
          <a:lstStyle/>
          <a:p>
            <a:pPr algn="ctr"/>
            <a:r>
              <a:rPr sz="1400" b="0" i="0">
                <a:solidFill>
                  <a:srgbClr val="1F2933"/>
                </a:solidFill>
                <a:latin typeface="Calibri"/>
              </a:rPr>
              <a:t>.547</a:t>
            </a:r>
          </a:p>
        </p:txBody>
      </p:sp>
      <p:sp>
        <p:nvSpPr>
          <p:cNvPr id="47" name="Rectangle 46"/>
          <p:cNvSpPr/>
          <p:nvPr/>
        </p:nvSpPr>
        <p:spPr>
          <a:xfrm>
            <a:off x="4572000" y="3529584"/>
            <a:ext cx="1554480" cy="566928"/>
          </a:xfrm>
          <a:prstGeom prst="rect">
            <a:avLst/>
          </a:prstGeom>
          <a:solidFill>
            <a:srgbClr val="FFFFFF"/>
          </a:solidFill>
          <a:ln w="9525">
            <a:solidFill>
              <a:srgbClr val="D9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572000" y="3529584"/>
            <a:ext cx="1554480" cy="566928"/>
          </a:xfrm>
          <a:prstGeom prst="rect">
            <a:avLst/>
          </a:prstGeom>
          <a:noFill/>
        </p:spPr>
        <p:txBody>
          <a:bodyPr wrap="square" lIns="109728" tIns="0" rIns="0" bIns="0" anchor="ctr">
            <a:spAutoFit/>
          </a:bodyPr>
          <a:lstStyle/>
          <a:p>
            <a:pPr algn="ctr"/>
            <a:r>
              <a:rPr sz="1400" b="0" i="0">
                <a:solidFill>
                  <a:srgbClr val="1F2933"/>
                </a:solidFill>
                <a:latin typeface="Calibri"/>
              </a:rPr>
              <a:t>.484</a:t>
            </a:r>
          </a:p>
        </p:txBody>
      </p:sp>
      <p:sp>
        <p:nvSpPr>
          <p:cNvPr id="49" name="Rectangle 48"/>
          <p:cNvSpPr/>
          <p:nvPr/>
        </p:nvSpPr>
        <p:spPr>
          <a:xfrm>
            <a:off x="6126480" y="3529584"/>
            <a:ext cx="1554480" cy="566928"/>
          </a:xfrm>
          <a:prstGeom prst="rect">
            <a:avLst/>
          </a:prstGeom>
          <a:solidFill>
            <a:srgbClr val="FFFFFF"/>
          </a:solidFill>
          <a:ln w="9525">
            <a:solidFill>
              <a:srgbClr val="D9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126480" y="3529584"/>
            <a:ext cx="1554480" cy="566928"/>
          </a:xfrm>
          <a:prstGeom prst="rect">
            <a:avLst/>
          </a:prstGeom>
          <a:noFill/>
        </p:spPr>
        <p:txBody>
          <a:bodyPr wrap="square" lIns="109728" tIns="0" rIns="0" bIns="0" anchor="ctr">
            <a:spAutoFit/>
          </a:bodyPr>
          <a:lstStyle/>
          <a:p>
            <a:pPr algn="ctr"/>
            <a:r>
              <a:rPr sz="1400" b="0" i="0">
                <a:solidFill>
                  <a:srgbClr val="1F2933"/>
                </a:solidFill>
                <a:latin typeface="Calibri"/>
              </a:rPr>
              <a:t>.547</a:t>
            </a:r>
          </a:p>
        </p:txBody>
      </p:sp>
      <p:sp>
        <p:nvSpPr>
          <p:cNvPr id="51" name="Rectangle 50"/>
          <p:cNvSpPr/>
          <p:nvPr/>
        </p:nvSpPr>
        <p:spPr>
          <a:xfrm>
            <a:off x="7680960" y="3529584"/>
            <a:ext cx="1554480" cy="566928"/>
          </a:xfrm>
          <a:prstGeom prst="rect">
            <a:avLst/>
          </a:prstGeom>
          <a:solidFill>
            <a:srgbClr val="FFFFFF"/>
          </a:solidFill>
          <a:ln w="9525">
            <a:solidFill>
              <a:srgbClr val="D9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7680960" y="3529584"/>
            <a:ext cx="1554480" cy="566928"/>
          </a:xfrm>
          <a:prstGeom prst="rect">
            <a:avLst/>
          </a:prstGeom>
          <a:noFill/>
        </p:spPr>
        <p:txBody>
          <a:bodyPr wrap="square" lIns="109728" tIns="0" rIns="0" bIns="0" anchor="ctr">
            <a:spAutoFit/>
          </a:bodyPr>
          <a:lstStyle/>
          <a:p>
            <a:pPr algn="ctr"/>
            <a:r>
              <a:rPr sz="1400" b="0" i="0">
                <a:solidFill>
                  <a:srgbClr val="1F2933"/>
                </a:solidFill>
                <a:latin typeface="Calibri"/>
              </a:rPr>
              <a:t>.578</a:t>
            </a:r>
          </a:p>
        </p:txBody>
      </p:sp>
      <p:sp>
        <p:nvSpPr>
          <p:cNvPr id="53" name="Rectangle 52"/>
          <p:cNvSpPr/>
          <p:nvPr/>
        </p:nvSpPr>
        <p:spPr>
          <a:xfrm>
            <a:off x="9235440" y="3529584"/>
            <a:ext cx="1463040" cy="566928"/>
          </a:xfrm>
          <a:prstGeom prst="rect">
            <a:avLst/>
          </a:prstGeom>
          <a:solidFill>
            <a:srgbClr val="FFFFFF"/>
          </a:solidFill>
          <a:ln w="9525">
            <a:solidFill>
              <a:srgbClr val="D9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9235440" y="3529584"/>
            <a:ext cx="1463040" cy="566928"/>
          </a:xfrm>
          <a:prstGeom prst="rect">
            <a:avLst/>
          </a:prstGeom>
          <a:noFill/>
        </p:spPr>
        <p:txBody>
          <a:bodyPr wrap="square" lIns="109728" tIns="0" rIns="0" bIns="0" anchor="ctr">
            <a:spAutoFit/>
          </a:bodyPr>
          <a:lstStyle/>
          <a:p>
            <a:pPr algn="ctr"/>
            <a:r>
              <a:rPr sz="1400" b="0" i="0">
                <a:solidFill>
                  <a:srgbClr val="1F2933"/>
                </a:solidFill>
                <a:latin typeface="Calibri"/>
              </a:rPr>
              <a:t>64</a:t>
            </a:r>
          </a:p>
        </p:txBody>
      </p:sp>
      <p:sp>
        <p:nvSpPr>
          <p:cNvPr id="55" name="Rectangle 54"/>
          <p:cNvSpPr/>
          <p:nvPr/>
        </p:nvSpPr>
        <p:spPr>
          <a:xfrm>
            <a:off x="640080" y="4096512"/>
            <a:ext cx="2377440" cy="566928"/>
          </a:xfrm>
          <a:prstGeom prst="rect">
            <a:avLst/>
          </a:prstGeom>
          <a:solidFill>
            <a:srgbClr val="FFFFFF"/>
          </a:solidFill>
          <a:ln w="9525">
            <a:solidFill>
              <a:srgbClr val="D9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40080" y="4096512"/>
            <a:ext cx="2377440" cy="566928"/>
          </a:xfrm>
          <a:prstGeom prst="rect">
            <a:avLst/>
          </a:prstGeom>
          <a:noFill/>
        </p:spPr>
        <p:txBody>
          <a:bodyPr wrap="square" lIns="109728" tIns="0" rIns="0" bIns="0" anchor="ctr">
            <a:spAutoFit/>
          </a:bodyPr>
          <a:lstStyle/>
          <a:p>
            <a:pPr algn="l"/>
            <a:r>
              <a:rPr sz="1400" b="1" i="0">
                <a:solidFill>
                  <a:srgbClr val="1F2933"/>
                </a:solidFill>
                <a:latin typeface="Calibri"/>
              </a:rPr>
              <a:t>Morality</a:t>
            </a:r>
          </a:p>
        </p:txBody>
      </p:sp>
      <p:sp>
        <p:nvSpPr>
          <p:cNvPr id="57" name="Rectangle 56"/>
          <p:cNvSpPr/>
          <p:nvPr/>
        </p:nvSpPr>
        <p:spPr>
          <a:xfrm>
            <a:off x="3017520" y="4096512"/>
            <a:ext cx="1554480" cy="566928"/>
          </a:xfrm>
          <a:prstGeom prst="rect">
            <a:avLst/>
          </a:prstGeom>
          <a:solidFill>
            <a:srgbClr val="FFFFFF"/>
          </a:solidFill>
          <a:ln w="9525">
            <a:solidFill>
              <a:srgbClr val="D9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3017520" y="4096512"/>
            <a:ext cx="1554480" cy="566928"/>
          </a:xfrm>
          <a:prstGeom prst="rect">
            <a:avLst/>
          </a:prstGeom>
          <a:noFill/>
        </p:spPr>
        <p:txBody>
          <a:bodyPr wrap="square" lIns="109728" tIns="0" rIns="0" bIns="0" anchor="ctr">
            <a:spAutoFit/>
          </a:bodyPr>
          <a:lstStyle/>
          <a:p>
            <a:pPr algn="ctr"/>
            <a:r>
              <a:rPr sz="1400" b="0" i="0">
                <a:solidFill>
                  <a:srgbClr val="1F2933"/>
                </a:solidFill>
                <a:latin typeface="Calibri"/>
              </a:rPr>
              <a:t>.473</a:t>
            </a:r>
          </a:p>
        </p:txBody>
      </p:sp>
      <p:sp>
        <p:nvSpPr>
          <p:cNvPr id="59" name="Rectangle 58"/>
          <p:cNvSpPr/>
          <p:nvPr/>
        </p:nvSpPr>
        <p:spPr>
          <a:xfrm>
            <a:off x="4572000" y="4096512"/>
            <a:ext cx="1554480" cy="566928"/>
          </a:xfrm>
          <a:prstGeom prst="rect">
            <a:avLst/>
          </a:prstGeom>
          <a:solidFill>
            <a:srgbClr val="FFFFFF"/>
          </a:solidFill>
          <a:ln w="9525">
            <a:solidFill>
              <a:srgbClr val="D9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4572000" y="4096512"/>
            <a:ext cx="1554480" cy="566928"/>
          </a:xfrm>
          <a:prstGeom prst="rect">
            <a:avLst/>
          </a:prstGeom>
          <a:noFill/>
        </p:spPr>
        <p:txBody>
          <a:bodyPr wrap="square" lIns="109728" tIns="0" rIns="0" bIns="0" anchor="ctr">
            <a:spAutoFit/>
          </a:bodyPr>
          <a:lstStyle/>
          <a:p>
            <a:pPr algn="ctr"/>
            <a:r>
              <a:rPr sz="1400" b="0" i="0">
                <a:solidFill>
                  <a:srgbClr val="1F2933"/>
                </a:solidFill>
                <a:latin typeface="Calibri"/>
              </a:rPr>
              <a:t>.559</a:t>
            </a:r>
          </a:p>
        </p:txBody>
      </p:sp>
      <p:sp>
        <p:nvSpPr>
          <p:cNvPr id="61" name="Rectangle 60"/>
          <p:cNvSpPr/>
          <p:nvPr/>
        </p:nvSpPr>
        <p:spPr>
          <a:xfrm>
            <a:off x="6126480" y="4096512"/>
            <a:ext cx="1554480" cy="566928"/>
          </a:xfrm>
          <a:prstGeom prst="rect">
            <a:avLst/>
          </a:prstGeom>
          <a:solidFill>
            <a:srgbClr val="FFFFFF"/>
          </a:solidFill>
          <a:ln w="9525">
            <a:solidFill>
              <a:srgbClr val="D9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126480" y="4096512"/>
            <a:ext cx="1554480" cy="566928"/>
          </a:xfrm>
          <a:prstGeom prst="rect">
            <a:avLst/>
          </a:prstGeom>
          <a:noFill/>
        </p:spPr>
        <p:txBody>
          <a:bodyPr wrap="square" lIns="109728" tIns="0" rIns="0" bIns="0" anchor="ctr">
            <a:spAutoFit/>
          </a:bodyPr>
          <a:lstStyle/>
          <a:p>
            <a:pPr algn="ctr"/>
            <a:r>
              <a:rPr sz="1400" b="0" i="0">
                <a:solidFill>
                  <a:srgbClr val="1F2933"/>
                </a:solidFill>
                <a:latin typeface="Calibri"/>
              </a:rPr>
              <a:t>.505</a:t>
            </a:r>
          </a:p>
        </p:txBody>
      </p:sp>
      <p:sp>
        <p:nvSpPr>
          <p:cNvPr id="63" name="Rectangle 62"/>
          <p:cNvSpPr/>
          <p:nvPr/>
        </p:nvSpPr>
        <p:spPr>
          <a:xfrm>
            <a:off x="7680960" y="4096512"/>
            <a:ext cx="1554480" cy="566928"/>
          </a:xfrm>
          <a:prstGeom prst="rect">
            <a:avLst/>
          </a:prstGeom>
          <a:solidFill>
            <a:srgbClr val="FFFFFF"/>
          </a:solidFill>
          <a:ln w="9525">
            <a:solidFill>
              <a:srgbClr val="D9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7680960" y="4096512"/>
            <a:ext cx="1554480" cy="566928"/>
          </a:xfrm>
          <a:prstGeom prst="rect">
            <a:avLst/>
          </a:prstGeom>
          <a:noFill/>
        </p:spPr>
        <p:txBody>
          <a:bodyPr wrap="square" lIns="109728" tIns="0" rIns="0" bIns="0" anchor="ctr">
            <a:spAutoFit/>
          </a:bodyPr>
          <a:lstStyle/>
          <a:p>
            <a:pPr algn="ctr"/>
            <a:r>
              <a:rPr sz="1400" b="0" i="0">
                <a:solidFill>
                  <a:srgbClr val="1F2933"/>
                </a:solidFill>
                <a:latin typeface="Calibri"/>
              </a:rPr>
              <a:t>.409</a:t>
            </a:r>
          </a:p>
        </p:txBody>
      </p:sp>
      <p:sp>
        <p:nvSpPr>
          <p:cNvPr id="65" name="Rectangle 64"/>
          <p:cNvSpPr/>
          <p:nvPr/>
        </p:nvSpPr>
        <p:spPr>
          <a:xfrm>
            <a:off x="9235440" y="4096512"/>
            <a:ext cx="1463040" cy="566928"/>
          </a:xfrm>
          <a:prstGeom prst="rect">
            <a:avLst/>
          </a:prstGeom>
          <a:solidFill>
            <a:srgbClr val="FFFFFF"/>
          </a:solidFill>
          <a:ln w="9525">
            <a:solidFill>
              <a:srgbClr val="D9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9235440" y="4096512"/>
            <a:ext cx="1463040" cy="566928"/>
          </a:xfrm>
          <a:prstGeom prst="rect">
            <a:avLst/>
          </a:prstGeom>
          <a:noFill/>
        </p:spPr>
        <p:txBody>
          <a:bodyPr wrap="square" lIns="109728" tIns="0" rIns="0" bIns="0" anchor="ctr">
            <a:spAutoFit/>
          </a:bodyPr>
          <a:lstStyle/>
          <a:p>
            <a:pPr algn="ctr"/>
            <a:r>
              <a:rPr sz="1400" b="0" i="0">
                <a:solidFill>
                  <a:srgbClr val="1F2933"/>
                </a:solidFill>
                <a:latin typeface="Calibri"/>
              </a:rPr>
              <a:t>93</a:t>
            </a:r>
          </a:p>
        </p:txBody>
      </p:sp>
      <p:sp>
        <p:nvSpPr>
          <p:cNvPr id="67" name="Rectangle 66"/>
          <p:cNvSpPr/>
          <p:nvPr/>
        </p:nvSpPr>
        <p:spPr>
          <a:xfrm>
            <a:off x="640080" y="4663440"/>
            <a:ext cx="2377440" cy="566928"/>
          </a:xfrm>
          <a:prstGeom prst="rect">
            <a:avLst/>
          </a:prstGeom>
          <a:solidFill>
            <a:srgbClr val="FFFFFF"/>
          </a:solidFill>
          <a:ln w="9525">
            <a:solidFill>
              <a:srgbClr val="D9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640080" y="4663440"/>
            <a:ext cx="2377440" cy="566928"/>
          </a:xfrm>
          <a:prstGeom prst="rect">
            <a:avLst/>
          </a:prstGeom>
          <a:noFill/>
        </p:spPr>
        <p:txBody>
          <a:bodyPr wrap="square" lIns="109728" tIns="0" rIns="0" bIns="0" anchor="ctr">
            <a:spAutoFit/>
          </a:bodyPr>
          <a:lstStyle/>
          <a:p>
            <a:pPr algn="l"/>
            <a:r>
              <a:rPr sz="1400" b="1" i="0">
                <a:solidFill>
                  <a:srgbClr val="1F2933"/>
                </a:solidFill>
                <a:latin typeface="Calibri"/>
              </a:rPr>
              <a:t>Intellect</a:t>
            </a:r>
          </a:p>
        </p:txBody>
      </p:sp>
      <p:sp>
        <p:nvSpPr>
          <p:cNvPr id="69" name="Rectangle 68"/>
          <p:cNvSpPr/>
          <p:nvPr/>
        </p:nvSpPr>
        <p:spPr>
          <a:xfrm>
            <a:off x="3017520" y="4663440"/>
            <a:ext cx="1554480" cy="566928"/>
          </a:xfrm>
          <a:prstGeom prst="rect">
            <a:avLst/>
          </a:prstGeom>
          <a:solidFill>
            <a:srgbClr val="FFFFFF"/>
          </a:solidFill>
          <a:ln w="9525">
            <a:solidFill>
              <a:srgbClr val="D9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3017520" y="4663440"/>
            <a:ext cx="1554480" cy="566928"/>
          </a:xfrm>
          <a:prstGeom prst="rect">
            <a:avLst/>
          </a:prstGeom>
          <a:noFill/>
        </p:spPr>
        <p:txBody>
          <a:bodyPr wrap="square" lIns="109728" tIns="0" rIns="0" bIns="0" anchor="ctr">
            <a:spAutoFit/>
          </a:bodyPr>
          <a:lstStyle/>
          <a:p>
            <a:pPr algn="ctr"/>
            <a:r>
              <a:rPr sz="1400" b="0" i="0">
                <a:solidFill>
                  <a:srgbClr val="1F2933"/>
                </a:solidFill>
                <a:latin typeface="Calibri"/>
              </a:rPr>
              <a:t>.417</a:t>
            </a:r>
          </a:p>
        </p:txBody>
      </p:sp>
      <p:sp>
        <p:nvSpPr>
          <p:cNvPr id="71" name="Rectangle 70"/>
          <p:cNvSpPr/>
          <p:nvPr/>
        </p:nvSpPr>
        <p:spPr>
          <a:xfrm>
            <a:off x="4572000" y="4663440"/>
            <a:ext cx="1554480" cy="566928"/>
          </a:xfrm>
          <a:prstGeom prst="rect">
            <a:avLst/>
          </a:prstGeom>
          <a:solidFill>
            <a:srgbClr val="FFFFFF"/>
          </a:solidFill>
          <a:ln w="9525">
            <a:solidFill>
              <a:srgbClr val="D9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4572000" y="4663440"/>
            <a:ext cx="1554480" cy="566928"/>
          </a:xfrm>
          <a:prstGeom prst="rect">
            <a:avLst/>
          </a:prstGeom>
          <a:noFill/>
        </p:spPr>
        <p:txBody>
          <a:bodyPr wrap="square" lIns="109728" tIns="0" rIns="0" bIns="0" anchor="ctr">
            <a:spAutoFit/>
          </a:bodyPr>
          <a:lstStyle/>
          <a:p>
            <a:pPr algn="ctr"/>
            <a:r>
              <a:rPr sz="1400" b="0" i="0">
                <a:solidFill>
                  <a:srgbClr val="1F2933"/>
                </a:solidFill>
                <a:latin typeface="Calibri"/>
              </a:rPr>
              <a:t>.479</a:t>
            </a:r>
          </a:p>
        </p:txBody>
      </p:sp>
      <p:sp>
        <p:nvSpPr>
          <p:cNvPr id="73" name="Rectangle 72"/>
          <p:cNvSpPr/>
          <p:nvPr/>
        </p:nvSpPr>
        <p:spPr>
          <a:xfrm>
            <a:off x="6126480" y="4663440"/>
            <a:ext cx="1554480" cy="566928"/>
          </a:xfrm>
          <a:prstGeom prst="rect">
            <a:avLst/>
          </a:prstGeom>
          <a:solidFill>
            <a:srgbClr val="FFFFFF"/>
          </a:solidFill>
          <a:ln w="9525">
            <a:solidFill>
              <a:srgbClr val="D9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6126480" y="4663440"/>
            <a:ext cx="1554480" cy="566928"/>
          </a:xfrm>
          <a:prstGeom prst="rect">
            <a:avLst/>
          </a:prstGeom>
          <a:noFill/>
        </p:spPr>
        <p:txBody>
          <a:bodyPr wrap="square" lIns="109728" tIns="0" rIns="0" bIns="0" anchor="ctr">
            <a:spAutoFit/>
          </a:bodyPr>
          <a:lstStyle/>
          <a:p>
            <a:pPr algn="ctr"/>
            <a:r>
              <a:rPr sz="1400" b="0" i="0">
                <a:solidFill>
                  <a:srgbClr val="1F2933"/>
                </a:solidFill>
                <a:latin typeface="Calibri"/>
              </a:rPr>
              <a:t>.542</a:t>
            </a:r>
          </a:p>
        </p:txBody>
      </p:sp>
      <p:sp>
        <p:nvSpPr>
          <p:cNvPr id="75" name="Rectangle 74"/>
          <p:cNvSpPr/>
          <p:nvPr/>
        </p:nvSpPr>
        <p:spPr>
          <a:xfrm>
            <a:off x="7680960" y="4663440"/>
            <a:ext cx="1554480" cy="566928"/>
          </a:xfrm>
          <a:prstGeom prst="rect">
            <a:avLst/>
          </a:prstGeom>
          <a:solidFill>
            <a:srgbClr val="FFFFFF"/>
          </a:solidFill>
          <a:ln w="9525">
            <a:solidFill>
              <a:srgbClr val="D9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7680960" y="4663440"/>
            <a:ext cx="1554480" cy="566928"/>
          </a:xfrm>
          <a:prstGeom prst="rect">
            <a:avLst/>
          </a:prstGeom>
          <a:noFill/>
        </p:spPr>
        <p:txBody>
          <a:bodyPr wrap="square" lIns="109728" tIns="0" rIns="0" bIns="0" anchor="ctr">
            <a:spAutoFit/>
          </a:bodyPr>
          <a:lstStyle/>
          <a:p>
            <a:pPr algn="ctr"/>
            <a:r>
              <a:rPr sz="1400" b="0" i="0">
                <a:solidFill>
                  <a:srgbClr val="1F2933"/>
                </a:solidFill>
                <a:latin typeface="Calibri"/>
              </a:rPr>
              <a:t>.479</a:t>
            </a:r>
          </a:p>
        </p:txBody>
      </p:sp>
      <p:sp>
        <p:nvSpPr>
          <p:cNvPr id="77" name="Rectangle 76"/>
          <p:cNvSpPr/>
          <p:nvPr/>
        </p:nvSpPr>
        <p:spPr>
          <a:xfrm>
            <a:off x="9235440" y="4663440"/>
            <a:ext cx="1463040" cy="566928"/>
          </a:xfrm>
          <a:prstGeom prst="rect">
            <a:avLst/>
          </a:prstGeom>
          <a:solidFill>
            <a:srgbClr val="FFFFFF"/>
          </a:solidFill>
          <a:ln w="9525">
            <a:solidFill>
              <a:srgbClr val="D9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9235440" y="4663440"/>
            <a:ext cx="1463040" cy="566928"/>
          </a:xfrm>
          <a:prstGeom prst="rect">
            <a:avLst/>
          </a:prstGeom>
          <a:noFill/>
        </p:spPr>
        <p:txBody>
          <a:bodyPr wrap="square" lIns="109728" tIns="0" rIns="0" bIns="0" anchor="ctr">
            <a:spAutoFit/>
          </a:bodyPr>
          <a:lstStyle/>
          <a:p>
            <a:pPr algn="ctr"/>
            <a:r>
              <a:rPr sz="1400" b="0" i="0">
                <a:solidFill>
                  <a:srgbClr val="1F2933"/>
                </a:solidFill>
                <a:latin typeface="Calibri"/>
              </a:rPr>
              <a:t>48</a:t>
            </a:r>
          </a:p>
        </p:txBody>
      </p:sp>
      <p:sp>
        <p:nvSpPr>
          <p:cNvPr id="79" name="TextBox 78"/>
          <p:cNvSpPr txBox="1"/>
          <p:nvPr/>
        </p:nvSpPr>
        <p:spPr>
          <a:xfrm>
            <a:off x="640080" y="5367528"/>
            <a:ext cx="10911840" cy="1097280"/>
          </a:xfrm>
          <a:prstGeom prst="rect">
            <a:avLst/>
          </a:prstGeom>
          <a:noFill/>
        </p:spPr>
        <p:txBody>
          <a:bodyPr wrap="square" lIns="0" tIns="0" rIns="0" bIns="0" anchor="t">
            <a:spAutoFit/>
          </a:bodyPr>
          <a:lstStyle/>
          <a:p>
            <a:pPr>
              <a:spcAft>
                <a:spcPts val="600"/>
              </a:spcAft>
            </a:pPr>
            <a:r>
              <a:rPr sz="1500" b="0" i="0">
                <a:solidFill>
                  <a:srgbClr val="1F2933"/>
                </a:solidFill>
                <a:latin typeface="Calibri"/>
              </a:rPr>
              <a:t>•  Wealth &amp; Power (shaded) sit well above chance in every language; Morality &amp; Intellect hover at .50 everywhere.</a:t>
            </a:r>
          </a:p>
          <a:p>
            <a:pPr>
              <a:spcAft>
                <a:spcPts val="600"/>
              </a:spcAft>
            </a:pPr>
            <a:r>
              <a:rPr sz="1500" b="0" i="0">
                <a:solidFill>
                  <a:srgbClr val="4C72B0"/>
                </a:solidFill>
                <a:latin typeface="Calibri"/>
              </a:rPr>
              <a:t>•  The attribute ordering is preserved across en/zh/ar/hi — the effect is the attribute, not the language.</a:t>
            </a:r>
          </a:p>
        </p:txBody>
      </p:sp>
      <p:sp>
        <p:nvSpPr>
          <p:cNvPr id="80" name="TextBox 79"/>
          <p:cNvSpPr txBox="1"/>
          <p:nvPr/>
        </p:nvSpPr>
        <p:spPr>
          <a:xfrm>
            <a:off x="640080" y="6236208"/>
            <a:ext cx="10911840" cy="365760"/>
          </a:xfrm>
          <a:prstGeom prst="rect">
            <a:avLst/>
          </a:prstGeom>
          <a:noFill/>
        </p:spPr>
        <p:txBody>
          <a:bodyPr wrap="square" lIns="0" tIns="0" rIns="0" bIns="0" anchor="t">
            <a:spAutoFit/>
          </a:bodyPr>
          <a:lstStyle/>
          <a:p>
            <a:r>
              <a:rPr sz="1100" b="0" i="1">
                <a:solidFill>
                  <a:srgbClr val="7B8494"/>
                </a:solidFill>
                <a:latin typeface="Calibri"/>
              </a:rPr>
              <a:t>Source: exp2_attribute_bias/exp1_attribute_breakdown.csv  ·  chance = 0.50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48400" y="292608"/>
            <a:ext cx="5486400" cy="274320"/>
          </a:xfrm>
          <a:prstGeom prst="rect">
            <a:avLst/>
          </a:prstGeom>
          <a:noFill/>
        </p:spPr>
        <p:txBody>
          <a:bodyPr wrap="square" lIns="0" tIns="0" rIns="0" bIns="0" anchor="t">
            <a:spAutoFit/>
          </a:bodyPr>
          <a:lstStyle/>
          <a:p>
            <a:pPr algn="r"/>
            <a:r>
              <a:rPr sz="900" b="0" i="0">
                <a:solidFill>
                  <a:srgbClr val="7B8494"/>
                </a:solidFill>
                <a:latin typeface="Calibri"/>
              </a:rPr>
              <a:t>Multilingual Prototypicality Bias  ·  Progress Report</a:t>
            </a:r>
          </a:p>
        </p:txBody>
      </p:sp>
      <p:sp>
        <p:nvSpPr>
          <p:cNvPr id="4" name="Rectangle 3"/>
          <p:cNvSpPr/>
          <p:nvPr/>
        </p:nvSpPr>
        <p:spPr>
          <a:xfrm>
            <a:off x="640080" y="566928"/>
            <a:ext cx="146304" cy="146304"/>
          </a:xfrm>
          <a:prstGeom prst="rect">
            <a:avLst/>
          </a:prstGeom>
          <a:solidFill>
            <a:srgbClr val="C44E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77824" y="548640"/>
            <a:ext cx="8229600" cy="274320"/>
          </a:xfrm>
          <a:prstGeom prst="rect">
            <a:avLst/>
          </a:prstGeom>
          <a:noFill/>
        </p:spPr>
        <p:txBody>
          <a:bodyPr wrap="square" lIns="0" tIns="0" rIns="0" bIns="0" anchor="t">
            <a:spAutoFit/>
          </a:bodyPr>
          <a:lstStyle/>
          <a:p>
            <a:r>
              <a:rPr sz="1100" b="1" i="0">
                <a:solidFill>
                  <a:srgbClr val="C44E52"/>
                </a:solidFill>
                <a:latin typeface="Calibri"/>
              </a:rPr>
              <a:t>BACKUP  ·  drilling into demography</a:t>
            </a:r>
          </a:p>
        </p:txBody>
      </p:sp>
      <p:sp>
        <p:nvSpPr>
          <p:cNvPr id="6" name="TextBox 5"/>
          <p:cNvSpPr txBox="1"/>
          <p:nvPr/>
        </p:nvSpPr>
        <p:spPr>
          <a:xfrm>
            <a:off x="640080" y="841248"/>
            <a:ext cx="10972800" cy="640080"/>
          </a:xfrm>
          <a:prstGeom prst="rect">
            <a:avLst/>
          </a:prstGeom>
          <a:noFill/>
        </p:spPr>
        <p:txBody>
          <a:bodyPr wrap="square" lIns="0" tIns="0" rIns="0" bIns="0" anchor="t">
            <a:spAutoFit/>
          </a:bodyPr>
          <a:lstStyle/>
          <a:p>
            <a:r>
              <a:rPr sz="3000" b="1" i="0">
                <a:solidFill>
                  <a:srgbClr val="1F2933"/>
                </a:solidFill>
                <a:latin typeface="Georgia"/>
              </a:rPr>
              <a:t>Sub-population: the judge defaults to the unmarked image</a:t>
            </a:r>
          </a:p>
        </p:txBody>
      </p:sp>
      <p:sp>
        <p:nvSpPr>
          <p:cNvPr id="7" name="Rectangle 6"/>
          <p:cNvSpPr/>
          <p:nvPr/>
        </p:nvSpPr>
        <p:spPr>
          <a:xfrm>
            <a:off x="640080" y="1828800"/>
            <a:ext cx="2286000" cy="54864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828800"/>
            <a:ext cx="2286000" cy="548640"/>
          </a:xfrm>
          <a:prstGeom prst="rect">
            <a:avLst/>
          </a:prstGeom>
          <a:noFill/>
        </p:spPr>
        <p:txBody>
          <a:bodyPr wrap="square" lIns="109728" tIns="0" rIns="0" bIns="0" anchor="ctr">
            <a:spAutoFit/>
          </a:bodyPr>
          <a:lstStyle/>
          <a:p>
            <a:pPr algn="l"/>
            <a:r>
              <a:rPr sz="1300" b="1" i="0">
                <a:solidFill>
                  <a:srgbClr val="FFFFFF"/>
                </a:solidFill>
                <a:latin typeface="Calibri"/>
              </a:rPr>
              <a:t>sub-population</a:t>
            </a:r>
          </a:p>
        </p:txBody>
      </p:sp>
      <p:sp>
        <p:nvSpPr>
          <p:cNvPr id="9" name="Rectangle 8"/>
          <p:cNvSpPr/>
          <p:nvPr/>
        </p:nvSpPr>
        <p:spPr>
          <a:xfrm>
            <a:off x="2926080" y="1828800"/>
            <a:ext cx="914400" cy="54864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926080" y="1828800"/>
            <a:ext cx="914400" cy="548640"/>
          </a:xfrm>
          <a:prstGeom prst="rect">
            <a:avLst/>
          </a:prstGeom>
          <a:noFill/>
        </p:spPr>
        <p:txBody>
          <a:bodyPr wrap="square" lIns="109728" tIns="0" rIns="0" bIns="0" anchor="ctr">
            <a:spAutoFit/>
          </a:bodyPr>
          <a:lstStyle/>
          <a:p>
            <a:pPr algn="ctr"/>
            <a:r>
              <a:rPr sz="1300" b="1" i="0">
                <a:solidFill>
                  <a:srgbClr val="FFFFFF"/>
                </a:solidFill>
                <a:latin typeface="Calibri"/>
              </a:rPr>
              <a:t>error</a:t>
            </a:r>
          </a:p>
        </p:txBody>
      </p:sp>
      <p:sp>
        <p:nvSpPr>
          <p:cNvPr id="11" name="Rectangle 10"/>
          <p:cNvSpPr/>
          <p:nvPr/>
        </p:nvSpPr>
        <p:spPr>
          <a:xfrm>
            <a:off x="3840480" y="1828800"/>
            <a:ext cx="731520" cy="54864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840480" y="1828800"/>
            <a:ext cx="731520" cy="548640"/>
          </a:xfrm>
          <a:prstGeom prst="rect">
            <a:avLst/>
          </a:prstGeom>
          <a:noFill/>
        </p:spPr>
        <p:txBody>
          <a:bodyPr wrap="square" lIns="109728" tIns="0" rIns="0" bIns="0" anchor="ctr">
            <a:spAutoFit/>
          </a:bodyPr>
          <a:lstStyle/>
          <a:p>
            <a:pPr algn="ctr"/>
            <a:r>
              <a:rPr sz="1300" b="1" i="0">
                <a:solidFill>
                  <a:srgbClr val="FFFFFF"/>
                </a:solidFill>
                <a:latin typeface="Calibri"/>
              </a:rPr>
              <a:t>n</a:t>
            </a:r>
          </a:p>
        </p:txBody>
      </p:sp>
      <p:sp>
        <p:nvSpPr>
          <p:cNvPr id="13" name="Rectangle 12"/>
          <p:cNvSpPr/>
          <p:nvPr/>
        </p:nvSpPr>
        <p:spPr>
          <a:xfrm>
            <a:off x="4572000" y="1828800"/>
            <a:ext cx="1463040" cy="54864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72000" y="1828800"/>
            <a:ext cx="1463040" cy="548640"/>
          </a:xfrm>
          <a:prstGeom prst="rect">
            <a:avLst/>
          </a:prstGeom>
          <a:noFill/>
        </p:spPr>
        <p:txBody>
          <a:bodyPr wrap="square" lIns="109728" tIns="0" rIns="0" bIns="0" anchor="ctr">
            <a:spAutoFit/>
          </a:bodyPr>
          <a:lstStyle/>
          <a:p>
            <a:pPr algn="ctr"/>
            <a:r>
              <a:rPr sz="1300" b="1" i="0">
                <a:solidFill>
                  <a:srgbClr val="FFFFFF"/>
                </a:solidFill>
                <a:latin typeface="Calibri"/>
              </a:rPr>
              <a:t>95% CI</a:t>
            </a:r>
          </a:p>
        </p:txBody>
      </p:sp>
      <p:sp>
        <p:nvSpPr>
          <p:cNvPr id="15" name="Rectangle 14"/>
          <p:cNvSpPr/>
          <p:nvPr/>
        </p:nvSpPr>
        <p:spPr>
          <a:xfrm>
            <a:off x="640080" y="2377440"/>
            <a:ext cx="2286000" cy="548640"/>
          </a:xfrm>
          <a:prstGeom prst="rect">
            <a:avLst/>
          </a:prstGeom>
          <a:solidFill>
            <a:srgbClr val="F5F3F0"/>
          </a:solidFill>
          <a:ln w="9525">
            <a:solidFill>
              <a:srgbClr val="D9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 y="2377440"/>
            <a:ext cx="2286000" cy="548640"/>
          </a:xfrm>
          <a:prstGeom prst="rect">
            <a:avLst/>
          </a:prstGeom>
          <a:noFill/>
        </p:spPr>
        <p:txBody>
          <a:bodyPr wrap="square" lIns="109728" tIns="0" rIns="0" bIns="0" anchor="ctr">
            <a:spAutoFit/>
          </a:bodyPr>
          <a:lstStyle/>
          <a:p>
            <a:pPr algn="l"/>
            <a:r>
              <a:rPr sz="1300" b="1" i="0">
                <a:solidFill>
                  <a:srgbClr val="1F2933"/>
                </a:solidFill>
                <a:latin typeface="Calibri"/>
              </a:rPr>
              <a:t>Sexual orientation</a:t>
            </a:r>
          </a:p>
        </p:txBody>
      </p:sp>
      <p:sp>
        <p:nvSpPr>
          <p:cNvPr id="17" name="Rectangle 16"/>
          <p:cNvSpPr/>
          <p:nvPr/>
        </p:nvSpPr>
        <p:spPr>
          <a:xfrm>
            <a:off x="2926080" y="2377440"/>
            <a:ext cx="914400" cy="548640"/>
          </a:xfrm>
          <a:prstGeom prst="rect">
            <a:avLst/>
          </a:prstGeom>
          <a:solidFill>
            <a:srgbClr val="F5F3F0"/>
          </a:solidFill>
          <a:ln w="9525">
            <a:solidFill>
              <a:srgbClr val="D9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926080" y="2377440"/>
            <a:ext cx="914400" cy="548640"/>
          </a:xfrm>
          <a:prstGeom prst="rect">
            <a:avLst/>
          </a:prstGeom>
          <a:noFill/>
        </p:spPr>
        <p:txBody>
          <a:bodyPr wrap="square" lIns="109728" tIns="0" rIns="0" bIns="0" anchor="ctr">
            <a:spAutoFit/>
          </a:bodyPr>
          <a:lstStyle/>
          <a:p>
            <a:pPr algn="ctr"/>
            <a:r>
              <a:rPr sz="1300" b="1" i="0">
                <a:solidFill>
                  <a:srgbClr val="C44E52"/>
                </a:solidFill>
                <a:latin typeface="Calibri"/>
              </a:rPr>
              <a:t>.748</a:t>
            </a:r>
          </a:p>
        </p:txBody>
      </p:sp>
      <p:sp>
        <p:nvSpPr>
          <p:cNvPr id="19" name="Rectangle 18"/>
          <p:cNvSpPr/>
          <p:nvPr/>
        </p:nvSpPr>
        <p:spPr>
          <a:xfrm>
            <a:off x="3840480" y="2377440"/>
            <a:ext cx="731520" cy="548640"/>
          </a:xfrm>
          <a:prstGeom prst="rect">
            <a:avLst/>
          </a:prstGeom>
          <a:solidFill>
            <a:srgbClr val="F5F3F0"/>
          </a:solidFill>
          <a:ln w="9525">
            <a:solidFill>
              <a:srgbClr val="D9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840480" y="2377440"/>
            <a:ext cx="731520" cy="548640"/>
          </a:xfrm>
          <a:prstGeom prst="rect">
            <a:avLst/>
          </a:prstGeom>
          <a:noFill/>
        </p:spPr>
        <p:txBody>
          <a:bodyPr wrap="square" lIns="109728" tIns="0" rIns="0" bIns="0" anchor="ctr">
            <a:spAutoFit/>
          </a:bodyPr>
          <a:lstStyle/>
          <a:p>
            <a:pPr algn="ctr"/>
            <a:r>
              <a:rPr sz="1300" b="1" i="0">
                <a:solidFill>
                  <a:srgbClr val="1F2933"/>
                </a:solidFill>
                <a:latin typeface="Calibri"/>
              </a:rPr>
              <a:t>416</a:t>
            </a:r>
          </a:p>
        </p:txBody>
      </p:sp>
      <p:sp>
        <p:nvSpPr>
          <p:cNvPr id="21" name="Rectangle 20"/>
          <p:cNvSpPr/>
          <p:nvPr/>
        </p:nvSpPr>
        <p:spPr>
          <a:xfrm>
            <a:off x="4572000" y="2377440"/>
            <a:ext cx="1463040" cy="548640"/>
          </a:xfrm>
          <a:prstGeom prst="rect">
            <a:avLst/>
          </a:prstGeom>
          <a:solidFill>
            <a:srgbClr val="F5F3F0"/>
          </a:solidFill>
          <a:ln w="9525">
            <a:solidFill>
              <a:srgbClr val="D9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572000" y="2377440"/>
            <a:ext cx="1463040" cy="548640"/>
          </a:xfrm>
          <a:prstGeom prst="rect">
            <a:avLst/>
          </a:prstGeom>
          <a:noFill/>
        </p:spPr>
        <p:txBody>
          <a:bodyPr wrap="square" lIns="109728" tIns="0" rIns="0" bIns="0" anchor="ctr">
            <a:spAutoFit/>
          </a:bodyPr>
          <a:lstStyle/>
          <a:p>
            <a:pPr algn="ctr"/>
            <a:r>
              <a:rPr sz="1300" b="1" i="0">
                <a:solidFill>
                  <a:srgbClr val="C44E52"/>
                </a:solidFill>
                <a:latin typeface="Calibri"/>
              </a:rPr>
              <a:t>[.70, .79]</a:t>
            </a:r>
          </a:p>
        </p:txBody>
      </p:sp>
      <p:sp>
        <p:nvSpPr>
          <p:cNvPr id="23" name="Rectangle 22"/>
          <p:cNvSpPr/>
          <p:nvPr/>
        </p:nvSpPr>
        <p:spPr>
          <a:xfrm>
            <a:off x="640080" y="2926080"/>
            <a:ext cx="2286000" cy="548640"/>
          </a:xfrm>
          <a:prstGeom prst="rect">
            <a:avLst/>
          </a:prstGeom>
          <a:solidFill>
            <a:srgbClr val="FFFFFF"/>
          </a:solidFill>
          <a:ln w="9525">
            <a:solidFill>
              <a:srgbClr val="D9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 y="2926080"/>
            <a:ext cx="2286000" cy="548640"/>
          </a:xfrm>
          <a:prstGeom prst="rect">
            <a:avLst/>
          </a:prstGeom>
          <a:noFill/>
        </p:spPr>
        <p:txBody>
          <a:bodyPr wrap="square" lIns="109728" tIns="0" rIns="0" bIns="0" anchor="ctr">
            <a:spAutoFit/>
          </a:bodyPr>
          <a:lstStyle/>
          <a:p>
            <a:pPr algn="l"/>
            <a:r>
              <a:rPr sz="1300" b="1" i="0">
                <a:solidFill>
                  <a:srgbClr val="1F2933"/>
                </a:solidFill>
                <a:latin typeface="Calibri"/>
              </a:rPr>
              <a:t>Nationality</a:t>
            </a:r>
          </a:p>
        </p:txBody>
      </p:sp>
      <p:sp>
        <p:nvSpPr>
          <p:cNvPr id="25" name="Rectangle 24"/>
          <p:cNvSpPr/>
          <p:nvPr/>
        </p:nvSpPr>
        <p:spPr>
          <a:xfrm>
            <a:off x="2926080" y="2926080"/>
            <a:ext cx="914400" cy="548640"/>
          </a:xfrm>
          <a:prstGeom prst="rect">
            <a:avLst/>
          </a:prstGeom>
          <a:solidFill>
            <a:srgbClr val="FFFFFF"/>
          </a:solidFill>
          <a:ln w="9525">
            <a:solidFill>
              <a:srgbClr val="D9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926080" y="2926080"/>
            <a:ext cx="914400" cy="548640"/>
          </a:xfrm>
          <a:prstGeom prst="rect">
            <a:avLst/>
          </a:prstGeom>
          <a:noFill/>
        </p:spPr>
        <p:txBody>
          <a:bodyPr wrap="square" lIns="109728" tIns="0" rIns="0" bIns="0" anchor="ctr">
            <a:spAutoFit/>
          </a:bodyPr>
          <a:lstStyle/>
          <a:p>
            <a:pPr algn="ctr"/>
            <a:r>
              <a:rPr sz="1300" b="0" i="0">
                <a:solidFill>
                  <a:srgbClr val="1F2933"/>
                </a:solidFill>
                <a:latin typeface="Calibri"/>
              </a:rPr>
              <a:t>.474</a:t>
            </a:r>
          </a:p>
        </p:txBody>
      </p:sp>
      <p:sp>
        <p:nvSpPr>
          <p:cNvPr id="27" name="Rectangle 26"/>
          <p:cNvSpPr/>
          <p:nvPr/>
        </p:nvSpPr>
        <p:spPr>
          <a:xfrm>
            <a:off x="3840480" y="2926080"/>
            <a:ext cx="731520" cy="548640"/>
          </a:xfrm>
          <a:prstGeom prst="rect">
            <a:avLst/>
          </a:prstGeom>
          <a:solidFill>
            <a:srgbClr val="FFFFFF"/>
          </a:solidFill>
          <a:ln w="9525">
            <a:solidFill>
              <a:srgbClr val="D9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840480" y="2926080"/>
            <a:ext cx="731520" cy="548640"/>
          </a:xfrm>
          <a:prstGeom prst="rect">
            <a:avLst/>
          </a:prstGeom>
          <a:noFill/>
        </p:spPr>
        <p:txBody>
          <a:bodyPr wrap="square" lIns="109728" tIns="0" rIns="0" bIns="0" anchor="ctr">
            <a:spAutoFit/>
          </a:bodyPr>
          <a:lstStyle/>
          <a:p>
            <a:pPr algn="ctr"/>
            <a:r>
              <a:rPr sz="1300" b="0" i="0">
                <a:solidFill>
                  <a:srgbClr val="1F2933"/>
                </a:solidFill>
                <a:latin typeface="Calibri"/>
              </a:rPr>
              <a:t>392</a:t>
            </a:r>
          </a:p>
        </p:txBody>
      </p:sp>
      <p:sp>
        <p:nvSpPr>
          <p:cNvPr id="29" name="Rectangle 28"/>
          <p:cNvSpPr/>
          <p:nvPr/>
        </p:nvSpPr>
        <p:spPr>
          <a:xfrm>
            <a:off x="4572000" y="2926080"/>
            <a:ext cx="1463040" cy="548640"/>
          </a:xfrm>
          <a:prstGeom prst="rect">
            <a:avLst/>
          </a:prstGeom>
          <a:solidFill>
            <a:srgbClr val="FFFFFF"/>
          </a:solidFill>
          <a:ln w="9525">
            <a:solidFill>
              <a:srgbClr val="D9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572000" y="2926080"/>
            <a:ext cx="1463040" cy="548640"/>
          </a:xfrm>
          <a:prstGeom prst="rect">
            <a:avLst/>
          </a:prstGeom>
          <a:noFill/>
        </p:spPr>
        <p:txBody>
          <a:bodyPr wrap="square" lIns="109728" tIns="0" rIns="0" bIns="0" anchor="ctr">
            <a:spAutoFit/>
          </a:bodyPr>
          <a:lstStyle/>
          <a:p>
            <a:pPr algn="ctr"/>
            <a:r>
              <a:rPr sz="1300" b="0" i="0">
                <a:solidFill>
                  <a:srgbClr val="1F2933"/>
                </a:solidFill>
                <a:latin typeface="Calibri"/>
              </a:rPr>
              <a:t>[.43, .52]</a:t>
            </a:r>
          </a:p>
        </p:txBody>
      </p:sp>
      <p:sp>
        <p:nvSpPr>
          <p:cNvPr id="31" name="Rectangle 30"/>
          <p:cNvSpPr/>
          <p:nvPr/>
        </p:nvSpPr>
        <p:spPr>
          <a:xfrm>
            <a:off x="640080" y="3474720"/>
            <a:ext cx="2286000" cy="548640"/>
          </a:xfrm>
          <a:prstGeom prst="rect">
            <a:avLst/>
          </a:prstGeom>
          <a:solidFill>
            <a:srgbClr val="FFFFFF"/>
          </a:solidFill>
          <a:ln w="9525">
            <a:solidFill>
              <a:srgbClr val="D9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0080" y="3474720"/>
            <a:ext cx="2286000" cy="548640"/>
          </a:xfrm>
          <a:prstGeom prst="rect">
            <a:avLst/>
          </a:prstGeom>
          <a:noFill/>
        </p:spPr>
        <p:txBody>
          <a:bodyPr wrap="square" lIns="109728" tIns="0" rIns="0" bIns="0" anchor="ctr">
            <a:spAutoFit/>
          </a:bodyPr>
          <a:lstStyle/>
          <a:p>
            <a:pPr algn="l"/>
            <a:r>
              <a:rPr sz="1300" b="1" i="0">
                <a:solidFill>
                  <a:srgbClr val="1F2933"/>
                </a:solidFill>
                <a:latin typeface="Calibri"/>
              </a:rPr>
              <a:t>Religion</a:t>
            </a:r>
          </a:p>
        </p:txBody>
      </p:sp>
      <p:sp>
        <p:nvSpPr>
          <p:cNvPr id="33" name="Rectangle 32"/>
          <p:cNvSpPr/>
          <p:nvPr/>
        </p:nvSpPr>
        <p:spPr>
          <a:xfrm>
            <a:off x="2926080" y="3474720"/>
            <a:ext cx="914400" cy="548640"/>
          </a:xfrm>
          <a:prstGeom prst="rect">
            <a:avLst/>
          </a:prstGeom>
          <a:solidFill>
            <a:srgbClr val="FFFFFF"/>
          </a:solidFill>
          <a:ln w="9525">
            <a:solidFill>
              <a:srgbClr val="D9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926080" y="3474720"/>
            <a:ext cx="914400" cy="548640"/>
          </a:xfrm>
          <a:prstGeom prst="rect">
            <a:avLst/>
          </a:prstGeom>
          <a:noFill/>
        </p:spPr>
        <p:txBody>
          <a:bodyPr wrap="square" lIns="109728" tIns="0" rIns="0" bIns="0" anchor="ctr">
            <a:spAutoFit/>
          </a:bodyPr>
          <a:lstStyle/>
          <a:p>
            <a:pPr algn="ctr"/>
            <a:r>
              <a:rPr sz="1300" b="0" i="0">
                <a:solidFill>
                  <a:srgbClr val="1F2933"/>
                </a:solidFill>
                <a:latin typeface="Calibri"/>
              </a:rPr>
              <a:t>.464</a:t>
            </a:r>
          </a:p>
        </p:txBody>
      </p:sp>
      <p:sp>
        <p:nvSpPr>
          <p:cNvPr id="35" name="Rectangle 34"/>
          <p:cNvSpPr/>
          <p:nvPr/>
        </p:nvSpPr>
        <p:spPr>
          <a:xfrm>
            <a:off x="3840480" y="3474720"/>
            <a:ext cx="731520" cy="548640"/>
          </a:xfrm>
          <a:prstGeom prst="rect">
            <a:avLst/>
          </a:prstGeom>
          <a:solidFill>
            <a:srgbClr val="FFFFFF"/>
          </a:solidFill>
          <a:ln w="9525">
            <a:solidFill>
              <a:srgbClr val="D9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3840480" y="3474720"/>
            <a:ext cx="731520" cy="548640"/>
          </a:xfrm>
          <a:prstGeom prst="rect">
            <a:avLst/>
          </a:prstGeom>
          <a:noFill/>
        </p:spPr>
        <p:txBody>
          <a:bodyPr wrap="square" lIns="109728" tIns="0" rIns="0" bIns="0" anchor="ctr">
            <a:spAutoFit/>
          </a:bodyPr>
          <a:lstStyle/>
          <a:p>
            <a:pPr algn="ctr"/>
            <a:r>
              <a:rPr sz="1300" b="0" i="0">
                <a:solidFill>
                  <a:srgbClr val="1F2933"/>
                </a:solidFill>
                <a:latin typeface="Calibri"/>
              </a:rPr>
              <a:t>392</a:t>
            </a:r>
          </a:p>
        </p:txBody>
      </p:sp>
      <p:sp>
        <p:nvSpPr>
          <p:cNvPr id="37" name="Rectangle 36"/>
          <p:cNvSpPr/>
          <p:nvPr/>
        </p:nvSpPr>
        <p:spPr>
          <a:xfrm>
            <a:off x="4572000" y="3474720"/>
            <a:ext cx="1463040" cy="548640"/>
          </a:xfrm>
          <a:prstGeom prst="rect">
            <a:avLst/>
          </a:prstGeom>
          <a:solidFill>
            <a:srgbClr val="FFFFFF"/>
          </a:solidFill>
          <a:ln w="9525">
            <a:solidFill>
              <a:srgbClr val="D9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572000" y="3474720"/>
            <a:ext cx="1463040" cy="548640"/>
          </a:xfrm>
          <a:prstGeom prst="rect">
            <a:avLst/>
          </a:prstGeom>
          <a:noFill/>
        </p:spPr>
        <p:txBody>
          <a:bodyPr wrap="square" lIns="109728" tIns="0" rIns="0" bIns="0" anchor="ctr">
            <a:spAutoFit/>
          </a:bodyPr>
          <a:lstStyle/>
          <a:p>
            <a:pPr algn="ctr"/>
            <a:r>
              <a:rPr sz="1300" b="0" i="0">
                <a:solidFill>
                  <a:srgbClr val="1F2933"/>
                </a:solidFill>
                <a:latin typeface="Calibri"/>
              </a:rPr>
              <a:t>[.42, .51]</a:t>
            </a:r>
          </a:p>
        </p:txBody>
      </p:sp>
      <p:sp>
        <p:nvSpPr>
          <p:cNvPr id="39" name="TextBox 38"/>
          <p:cNvSpPr txBox="1"/>
          <p:nvPr/>
        </p:nvSpPr>
        <p:spPr>
          <a:xfrm>
            <a:off x="640080" y="4133088"/>
            <a:ext cx="5394960" cy="640080"/>
          </a:xfrm>
          <a:prstGeom prst="rect">
            <a:avLst/>
          </a:prstGeom>
          <a:noFill/>
        </p:spPr>
        <p:txBody>
          <a:bodyPr wrap="square" lIns="0" tIns="0" rIns="0" bIns="0" anchor="t">
            <a:spAutoFit/>
          </a:bodyPr>
          <a:lstStyle/>
          <a:p>
            <a:r>
              <a:rPr sz="1200" b="0" i="1">
                <a:solidFill>
                  <a:srgbClr val="7B8494"/>
                </a:solidFill>
                <a:latin typeface="Calibri"/>
              </a:rPr>
              <a:t>error = how often the judge picks the unmarked “default” image — which is the wrong one. </a:t>
            </a:r>
          </a:p>
          <a:p>
            <a:r>
              <a:rPr sz="1200" b="0" i="1">
                <a:solidFill>
                  <a:srgbClr val="7B8494"/>
                </a:solidFill>
                <a:latin typeface="Calibri"/>
              </a:rPr>
              <a:t>chance = .50</a:t>
            </a:r>
          </a:p>
        </p:txBody>
      </p:sp>
      <p:sp>
        <p:nvSpPr>
          <p:cNvPr id="40" name="TextBox 39"/>
          <p:cNvSpPr txBox="1"/>
          <p:nvPr/>
        </p:nvSpPr>
        <p:spPr>
          <a:xfrm>
            <a:off x="6537960" y="1828800"/>
            <a:ext cx="5013960" cy="3017520"/>
          </a:xfrm>
          <a:prstGeom prst="rect">
            <a:avLst/>
          </a:prstGeom>
          <a:noFill/>
        </p:spPr>
        <p:txBody>
          <a:bodyPr wrap="square" lIns="0" tIns="0" rIns="0" bIns="0" anchor="t">
            <a:spAutoFit/>
          </a:bodyPr>
          <a:lstStyle/>
          <a:p>
            <a:pPr>
              <a:spcAft>
                <a:spcPts val="600"/>
              </a:spcAft>
            </a:pPr>
            <a:r>
              <a:rPr sz="1400" b="0" i="0">
                <a:solidFill>
                  <a:srgbClr val="1F2933"/>
                </a:solidFill>
                <a:latin typeface="Calibri"/>
              </a:rPr>
              <a:t>•  Mechanism: the CORRECT image is the one showing a marked identity — a pride flag (in 141/169 items), a kippah; the trap is the plain, unmarked “default” person.</a:t>
            </a:r>
          </a:p>
          <a:p>
            <a:pPr>
              <a:spcAft>
                <a:spcPts val="600"/>
              </a:spcAft>
            </a:pPr>
            <a:r>
              <a:rPr sz="1400" b="0" i="0">
                <a:solidFill>
                  <a:srgbClr val="C44E52"/>
                </a:solidFill>
                <a:latin typeface="Calibri"/>
              </a:rPr>
              <a:t>•  On sexual-orientation items the judge picks that unmarked default ~75% of the time — i.e. it rejects the correct marked image.</a:t>
            </a:r>
          </a:p>
          <a:p>
            <a:pPr>
              <a:spcAft>
                <a:spcPts val="600"/>
              </a:spcAft>
            </a:pPr>
            <a:r>
              <a:rPr sz="1400" b="0" i="0">
                <a:solidFill>
                  <a:srgbClr val="1F2933"/>
                </a:solidFill>
                <a:latin typeface="Calibri"/>
              </a:rPr>
              <a:t>•  Religion &amp; nationality ≈ chance. The same effect inflates the Wealth headline (Wealth × sexual-orientation = .97).</a:t>
            </a:r>
          </a:p>
        </p:txBody>
      </p:sp>
      <p:sp>
        <p:nvSpPr>
          <p:cNvPr id="41" name="Rectangle 40"/>
          <p:cNvSpPr/>
          <p:nvPr/>
        </p:nvSpPr>
        <p:spPr>
          <a:xfrm>
            <a:off x="640080" y="5074920"/>
            <a:ext cx="10911840" cy="1143000"/>
          </a:xfrm>
          <a:prstGeom prst="rect">
            <a:avLst/>
          </a:prstGeom>
          <a:solidFill>
            <a:srgbClr val="F5F3F0"/>
          </a:solidFill>
          <a:ln w="12700">
            <a:solidFill>
              <a:srgbClr val="C44E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68680" y="5074920"/>
            <a:ext cx="10454640" cy="1143000"/>
          </a:xfrm>
          <a:prstGeom prst="rect">
            <a:avLst/>
          </a:prstGeom>
          <a:noFill/>
        </p:spPr>
        <p:txBody>
          <a:bodyPr wrap="square" lIns="0" tIns="0" rIns="0" bIns="0" anchor="ctr">
            <a:spAutoFit/>
          </a:bodyPr>
          <a:lstStyle/>
          <a:p>
            <a:r>
              <a:rPr sz="1300" b="1" i="0">
                <a:solidFill>
                  <a:srgbClr val="C44E52"/>
                </a:solidFill>
                <a:latin typeface="Calibri"/>
              </a:rPr>
              <a:t>Confound — salience vs identity: </a:t>
            </a:r>
            <a:r>
              <a:rPr sz="1300" b="0" i="0">
                <a:solidFill>
                  <a:srgbClr val="1F2933"/>
                </a:solidFill>
                <a:latin typeface="Calibri"/>
              </a:rPr>
              <a:t>the pride markers are visually loud, so we can’t yet tell “avoids the LGBTQ-coded image” from “avoids the busier image.”</a:t>
            </a:r>
          </a:p>
          <a:p>
            <a:pPr>
              <a:spcBef>
                <a:spcPts val="400"/>
              </a:spcBef>
            </a:pPr>
            <a:r>
              <a:rPr sz="1300" b="1" i="0">
                <a:solidFill>
                  <a:srgbClr val="C44E52"/>
                </a:solidFill>
                <a:latin typeface="Calibri"/>
              </a:rPr>
              <a:t>Exp2 fix: </a:t>
            </a:r>
            <a:r>
              <a:rPr sz="1300" b="0" i="0">
                <a:solidFill>
                  <a:srgbClr val="1F2933"/>
                </a:solidFill>
                <a:latin typeface="Calibri"/>
              </a:rPr>
              <a:t>picked_adv ~ socio_attr + subcategory + knob + lang + gender + (1|item) to disentangle.   </a:t>
            </a:r>
            <a:r>
              <a:rPr sz="1200" b="0" i="1">
                <a:solidFill>
                  <a:srgbClr val="7B8494"/>
                </a:solidFill>
                <a:latin typeface="Calibri"/>
              </a:rPr>
              <a:t>We measure the model’s bias, never endorse it — numbers only.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48400" y="292608"/>
            <a:ext cx="5486400" cy="274320"/>
          </a:xfrm>
          <a:prstGeom prst="rect">
            <a:avLst/>
          </a:prstGeom>
          <a:noFill/>
        </p:spPr>
        <p:txBody>
          <a:bodyPr wrap="square" lIns="0" tIns="0" rIns="0" bIns="0" anchor="t">
            <a:spAutoFit/>
          </a:bodyPr>
          <a:lstStyle/>
          <a:p>
            <a:pPr algn="r"/>
            <a:r>
              <a:rPr sz="900" b="0" i="0">
                <a:solidFill>
                  <a:srgbClr val="7B8494"/>
                </a:solidFill>
                <a:latin typeface="Calibri"/>
              </a:rPr>
              <a:t>Multilingual Prototypicality Bias  ·  Progress Report</a:t>
            </a:r>
          </a:p>
        </p:txBody>
      </p:sp>
      <p:sp>
        <p:nvSpPr>
          <p:cNvPr id="4" name="Rectangle 3"/>
          <p:cNvSpPr/>
          <p:nvPr/>
        </p:nvSpPr>
        <p:spPr>
          <a:xfrm>
            <a:off x="640080" y="566928"/>
            <a:ext cx="146304" cy="146304"/>
          </a:xfrm>
          <a:prstGeom prst="rect">
            <a:avLst/>
          </a:prstGeom>
          <a:solidFill>
            <a:srgbClr val="C44E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77824" y="548640"/>
            <a:ext cx="8229600" cy="274320"/>
          </a:xfrm>
          <a:prstGeom prst="rect">
            <a:avLst/>
          </a:prstGeom>
          <a:noFill/>
        </p:spPr>
        <p:txBody>
          <a:bodyPr wrap="square" lIns="0" tIns="0" rIns="0" bIns="0" anchor="t">
            <a:spAutoFit/>
          </a:bodyPr>
          <a:lstStyle/>
          <a:p>
            <a:r>
              <a:rPr sz="1100" b="1" i="0">
                <a:solidFill>
                  <a:srgbClr val="C44E52"/>
                </a:solidFill>
                <a:latin typeface="Calibri"/>
              </a:rPr>
              <a:t>BACKUP  ·  motivates Outlook step 3</a:t>
            </a:r>
          </a:p>
        </p:txBody>
      </p:sp>
      <p:sp>
        <p:nvSpPr>
          <p:cNvPr id="6" name="TextBox 5"/>
          <p:cNvSpPr txBox="1"/>
          <p:nvPr/>
        </p:nvSpPr>
        <p:spPr>
          <a:xfrm>
            <a:off x="640080" y="841248"/>
            <a:ext cx="10972800" cy="640080"/>
          </a:xfrm>
          <a:prstGeom prst="rect">
            <a:avLst/>
          </a:prstGeom>
          <a:noFill/>
        </p:spPr>
        <p:txBody>
          <a:bodyPr wrap="square" lIns="0" tIns="0" rIns="0" bIns="0" anchor="t">
            <a:spAutoFit/>
          </a:bodyPr>
          <a:lstStyle/>
          <a:p>
            <a:r>
              <a:rPr sz="3000" b="1" i="0">
                <a:solidFill>
                  <a:srgbClr val="1F2933"/>
                </a:solidFill>
                <a:latin typeface="Georgia"/>
              </a:rPr>
              <a:t>The one low-resource signal: object × Hindi</a:t>
            </a:r>
          </a:p>
        </p:txBody>
      </p:sp>
      <p:sp>
        <p:nvSpPr>
          <p:cNvPr id="7" name="Rectangle 6"/>
          <p:cNvSpPr/>
          <p:nvPr/>
        </p:nvSpPr>
        <p:spPr>
          <a:xfrm>
            <a:off x="640080" y="1828800"/>
            <a:ext cx="2377440" cy="54864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828800"/>
            <a:ext cx="2377440" cy="548640"/>
          </a:xfrm>
          <a:prstGeom prst="rect">
            <a:avLst/>
          </a:prstGeom>
          <a:noFill/>
        </p:spPr>
        <p:txBody>
          <a:bodyPr wrap="square" lIns="109728" tIns="0" rIns="0" bIns="0" anchor="ctr">
            <a:spAutoFit/>
          </a:bodyPr>
          <a:lstStyle/>
          <a:p>
            <a:pPr algn="l"/>
            <a:r>
              <a:rPr sz="1400" b="1" i="0">
                <a:solidFill>
                  <a:srgbClr val="FFFFFF"/>
                </a:solidFill>
                <a:latin typeface="Calibri"/>
              </a:rPr>
              <a:t>domain</a:t>
            </a:r>
          </a:p>
        </p:txBody>
      </p:sp>
      <p:sp>
        <p:nvSpPr>
          <p:cNvPr id="9" name="Rectangle 8"/>
          <p:cNvSpPr/>
          <p:nvPr/>
        </p:nvSpPr>
        <p:spPr>
          <a:xfrm>
            <a:off x="3017520" y="1828800"/>
            <a:ext cx="1371600" cy="54864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017520" y="1828800"/>
            <a:ext cx="1371600" cy="548640"/>
          </a:xfrm>
          <a:prstGeom prst="rect">
            <a:avLst/>
          </a:prstGeom>
          <a:noFill/>
        </p:spPr>
        <p:txBody>
          <a:bodyPr wrap="square" lIns="109728" tIns="0" rIns="0" bIns="0" anchor="ctr">
            <a:spAutoFit/>
          </a:bodyPr>
          <a:lstStyle/>
          <a:p>
            <a:pPr algn="ctr"/>
            <a:r>
              <a:rPr sz="1400" b="1" i="0">
                <a:solidFill>
                  <a:srgbClr val="FFFFFF"/>
                </a:solidFill>
                <a:latin typeface="Calibri"/>
              </a:rPr>
              <a:t>en</a:t>
            </a:r>
          </a:p>
        </p:txBody>
      </p:sp>
      <p:sp>
        <p:nvSpPr>
          <p:cNvPr id="11" name="Rectangle 10"/>
          <p:cNvSpPr/>
          <p:nvPr/>
        </p:nvSpPr>
        <p:spPr>
          <a:xfrm>
            <a:off x="4389120" y="1828800"/>
            <a:ext cx="1371600" cy="54864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389120" y="1828800"/>
            <a:ext cx="1371600" cy="548640"/>
          </a:xfrm>
          <a:prstGeom prst="rect">
            <a:avLst/>
          </a:prstGeom>
          <a:noFill/>
        </p:spPr>
        <p:txBody>
          <a:bodyPr wrap="square" lIns="109728" tIns="0" rIns="0" bIns="0" anchor="ctr">
            <a:spAutoFit/>
          </a:bodyPr>
          <a:lstStyle/>
          <a:p>
            <a:pPr algn="ctr"/>
            <a:r>
              <a:rPr sz="1400" b="1" i="0">
                <a:solidFill>
                  <a:srgbClr val="FFFFFF"/>
                </a:solidFill>
                <a:latin typeface="Calibri"/>
              </a:rPr>
              <a:t>zh</a:t>
            </a:r>
          </a:p>
        </p:txBody>
      </p:sp>
      <p:sp>
        <p:nvSpPr>
          <p:cNvPr id="13" name="Rectangle 12"/>
          <p:cNvSpPr/>
          <p:nvPr/>
        </p:nvSpPr>
        <p:spPr>
          <a:xfrm>
            <a:off x="5760720" y="1828800"/>
            <a:ext cx="1371600" cy="54864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760720" y="1828800"/>
            <a:ext cx="1371600" cy="548640"/>
          </a:xfrm>
          <a:prstGeom prst="rect">
            <a:avLst/>
          </a:prstGeom>
          <a:noFill/>
        </p:spPr>
        <p:txBody>
          <a:bodyPr wrap="square" lIns="109728" tIns="0" rIns="0" bIns="0" anchor="ctr">
            <a:spAutoFit/>
          </a:bodyPr>
          <a:lstStyle/>
          <a:p>
            <a:pPr algn="ctr"/>
            <a:r>
              <a:rPr sz="1400" b="1" i="0">
                <a:solidFill>
                  <a:srgbClr val="FFFFFF"/>
                </a:solidFill>
                <a:latin typeface="Calibri"/>
              </a:rPr>
              <a:t>ar</a:t>
            </a:r>
          </a:p>
        </p:txBody>
      </p:sp>
      <p:sp>
        <p:nvSpPr>
          <p:cNvPr id="15" name="Rectangle 14"/>
          <p:cNvSpPr/>
          <p:nvPr/>
        </p:nvSpPr>
        <p:spPr>
          <a:xfrm>
            <a:off x="7132320" y="1828800"/>
            <a:ext cx="1371600" cy="54864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132320" y="1828800"/>
            <a:ext cx="1371600" cy="548640"/>
          </a:xfrm>
          <a:prstGeom prst="rect">
            <a:avLst/>
          </a:prstGeom>
          <a:noFill/>
        </p:spPr>
        <p:txBody>
          <a:bodyPr wrap="square" lIns="109728" tIns="0" rIns="0" bIns="0" anchor="ctr">
            <a:spAutoFit/>
          </a:bodyPr>
          <a:lstStyle/>
          <a:p>
            <a:pPr algn="ctr"/>
            <a:r>
              <a:rPr sz="1400" b="1" i="0">
                <a:solidFill>
                  <a:srgbClr val="FFFFFF"/>
                </a:solidFill>
                <a:latin typeface="Calibri"/>
              </a:rPr>
              <a:t>hi</a:t>
            </a:r>
          </a:p>
        </p:txBody>
      </p:sp>
      <p:sp>
        <p:nvSpPr>
          <p:cNvPr id="17" name="Rectangle 16"/>
          <p:cNvSpPr/>
          <p:nvPr/>
        </p:nvSpPr>
        <p:spPr>
          <a:xfrm>
            <a:off x="640080" y="2377440"/>
            <a:ext cx="2377440" cy="548640"/>
          </a:xfrm>
          <a:prstGeom prst="rect">
            <a:avLst/>
          </a:prstGeom>
          <a:solidFill>
            <a:srgbClr val="FFFFFF"/>
          </a:solidFill>
          <a:ln w="9525">
            <a:solidFill>
              <a:srgbClr val="D9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 y="2377440"/>
            <a:ext cx="2377440" cy="548640"/>
          </a:xfrm>
          <a:prstGeom prst="rect">
            <a:avLst/>
          </a:prstGeom>
          <a:noFill/>
        </p:spPr>
        <p:txBody>
          <a:bodyPr wrap="square" lIns="109728" tIns="0" rIns="0" bIns="0" anchor="ctr">
            <a:spAutoFit/>
          </a:bodyPr>
          <a:lstStyle/>
          <a:p>
            <a:pPr algn="l"/>
            <a:r>
              <a:rPr sz="1400" b="1" i="0">
                <a:solidFill>
                  <a:srgbClr val="1F2933"/>
                </a:solidFill>
                <a:latin typeface="Calibri"/>
              </a:rPr>
              <a:t>animal</a:t>
            </a:r>
          </a:p>
        </p:txBody>
      </p:sp>
      <p:sp>
        <p:nvSpPr>
          <p:cNvPr id="19" name="Rectangle 18"/>
          <p:cNvSpPr/>
          <p:nvPr/>
        </p:nvSpPr>
        <p:spPr>
          <a:xfrm>
            <a:off x="3017520" y="2377440"/>
            <a:ext cx="1371600" cy="548640"/>
          </a:xfrm>
          <a:prstGeom prst="rect">
            <a:avLst/>
          </a:prstGeom>
          <a:solidFill>
            <a:srgbClr val="FFFFFF"/>
          </a:solidFill>
          <a:ln w="9525">
            <a:solidFill>
              <a:srgbClr val="D9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017520" y="2377440"/>
            <a:ext cx="1371600" cy="548640"/>
          </a:xfrm>
          <a:prstGeom prst="rect">
            <a:avLst/>
          </a:prstGeom>
          <a:noFill/>
        </p:spPr>
        <p:txBody>
          <a:bodyPr wrap="square" lIns="109728" tIns="0" rIns="0" bIns="0" anchor="ctr">
            <a:spAutoFit/>
          </a:bodyPr>
          <a:lstStyle/>
          <a:p>
            <a:pPr algn="ctr"/>
            <a:r>
              <a:rPr sz="1400" b="0" i="0">
                <a:solidFill>
                  <a:srgbClr val="1F2933"/>
                </a:solidFill>
                <a:latin typeface="Calibri"/>
              </a:rPr>
              <a:t>.523</a:t>
            </a:r>
          </a:p>
        </p:txBody>
      </p:sp>
      <p:sp>
        <p:nvSpPr>
          <p:cNvPr id="21" name="Rectangle 20"/>
          <p:cNvSpPr/>
          <p:nvPr/>
        </p:nvSpPr>
        <p:spPr>
          <a:xfrm>
            <a:off x="4389120" y="2377440"/>
            <a:ext cx="1371600" cy="548640"/>
          </a:xfrm>
          <a:prstGeom prst="rect">
            <a:avLst/>
          </a:prstGeom>
          <a:solidFill>
            <a:srgbClr val="FFFFFF"/>
          </a:solidFill>
          <a:ln w="9525">
            <a:solidFill>
              <a:srgbClr val="D9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389120" y="2377440"/>
            <a:ext cx="1371600" cy="548640"/>
          </a:xfrm>
          <a:prstGeom prst="rect">
            <a:avLst/>
          </a:prstGeom>
          <a:noFill/>
        </p:spPr>
        <p:txBody>
          <a:bodyPr wrap="square" lIns="109728" tIns="0" rIns="0" bIns="0" anchor="ctr">
            <a:spAutoFit/>
          </a:bodyPr>
          <a:lstStyle/>
          <a:p>
            <a:pPr algn="ctr"/>
            <a:r>
              <a:rPr sz="1400" b="0" i="0">
                <a:solidFill>
                  <a:srgbClr val="1F2933"/>
                </a:solidFill>
                <a:latin typeface="Calibri"/>
              </a:rPr>
              <a:t>.575</a:t>
            </a:r>
          </a:p>
        </p:txBody>
      </p:sp>
      <p:sp>
        <p:nvSpPr>
          <p:cNvPr id="23" name="Rectangle 22"/>
          <p:cNvSpPr/>
          <p:nvPr/>
        </p:nvSpPr>
        <p:spPr>
          <a:xfrm>
            <a:off x="5760720" y="2377440"/>
            <a:ext cx="1371600" cy="548640"/>
          </a:xfrm>
          <a:prstGeom prst="rect">
            <a:avLst/>
          </a:prstGeom>
          <a:solidFill>
            <a:srgbClr val="FFFFFF"/>
          </a:solidFill>
          <a:ln w="9525">
            <a:solidFill>
              <a:srgbClr val="D9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760720" y="2377440"/>
            <a:ext cx="1371600" cy="548640"/>
          </a:xfrm>
          <a:prstGeom prst="rect">
            <a:avLst/>
          </a:prstGeom>
          <a:noFill/>
        </p:spPr>
        <p:txBody>
          <a:bodyPr wrap="square" lIns="109728" tIns="0" rIns="0" bIns="0" anchor="ctr">
            <a:spAutoFit/>
          </a:bodyPr>
          <a:lstStyle/>
          <a:p>
            <a:pPr algn="ctr"/>
            <a:r>
              <a:rPr sz="1400" b="0" i="0">
                <a:solidFill>
                  <a:srgbClr val="1F2933"/>
                </a:solidFill>
                <a:latin typeface="Calibri"/>
              </a:rPr>
              <a:t>.570</a:t>
            </a:r>
          </a:p>
        </p:txBody>
      </p:sp>
      <p:sp>
        <p:nvSpPr>
          <p:cNvPr id="25" name="Rectangle 24"/>
          <p:cNvSpPr/>
          <p:nvPr/>
        </p:nvSpPr>
        <p:spPr>
          <a:xfrm>
            <a:off x="7132320" y="2377440"/>
            <a:ext cx="1371600" cy="548640"/>
          </a:xfrm>
          <a:prstGeom prst="rect">
            <a:avLst/>
          </a:prstGeom>
          <a:solidFill>
            <a:srgbClr val="FFFFFF"/>
          </a:solidFill>
          <a:ln w="9525">
            <a:solidFill>
              <a:srgbClr val="D9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132320" y="2377440"/>
            <a:ext cx="1371600" cy="548640"/>
          </a:xfrm>
          <a:prstGeom prst="rect">
            <a:avLst/>
          </a:prstGeom>
          <a:noFill/>
        </p:spPr>
        <p:txBody>
          <a:bodyPr wrap="square" lIns="109728" tIns="0" rIns="0" bIns="0" anchor="ctr">
            <a:spAutoFit/>
          </a:bodyPr>
          <a:lstStyle/>
          <a:p>
            <a:pPr algn="ctr"/>
            <a:r>
              <a:rPr sz="1400" b="0" i="0">
                <a:solidFill>
                  <a:srgbClr val="1F2933"/>
                </a:solidFill>
                <a:latin typeface="Calibri"/>
              </a:rPr>
              <a:t>.573</a:t>
            </a:r>
          </a:p>
        </p:txBody>
      </p:sp>
      <p:sp>
        <p:nvSpPr>
          <p:cNvPr id="27" name="Rectangle 26"/>
          <p:cNvSpPr/>
          <p:nvPr/>
        </p:nvSpPr>
        <p:spPr>
          <a:xfrm>
            <a:off x="640080" y="2926080"/>
            <a:ext cx="2377440" cy="548640"/>
          </a:xfrm>
          <a:prstGeom prst="rect">
            <a:avLst/>
          </a:prstGeom>
          <a:solidFill>
            <a:srgbClr val="FFFFFF"/>
          </a:solidFill>
          <a:ln w="9525">
            <a:solidFill>
              <a:srgbClr val="D9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 y="2926080"/>
            <a:ext cx="2377440" cy="548640"/>
          </a:xfrm>
          <a:prstGeom prst="rect">
            <a:avLst/>
          </a:prstGeom>
          <a:noFill/>
        </p:spPr>
        <p:txBody>
          <a:bodyPr wrap="square" lIns="109728" tIns="0" rIns="0" bIns="0" anchor="ctr">
            <a:spAutoFit/>
          </a:bodyPr>
          <a:lstStyle/>
          <a:p>
            <a:pPr algn="l"/>
            <a:r>
              <a:rPr sz="1400" b="1" i="0">
                <a:solidFill>
                  <a:srgbClr val="1F2933"/>
                </a:solidFill>
                <a:latin typeface="Calibri"/>
              </a:rPr>
              <a:t>demography</a:t>
            </a:r>
          </a:p>
        </p:txBody>
      </p:sp>
      <p:sp>
        <p:nvSpPr>
          <p:cNvPr id="29" name="Rectangle 28"/>
          <p:cNvSpPr/>
          <p:nvPr/>
        </p:nvSpPr>
        <p:spPr>
          <a:xfrm>
            <a:off x="3017520" y="2926080"/>
            <a:ext cx="1371600" cy="548640"/>
          </a:xfrm>
          <a:prstGeom prst="rect">
            <a:avLst/>
          </a:prstGeom>
          <a:solidFill>
            <a:srgbClr val="FFFFFF"/>
          </a:solidFill>
          <a:ln w="9525">
            <a:solidFill>
              <a:srgbClr val="D9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017520" y="2926080"/>
            <a:ext cx="1371600" cy="548640"/>
          </a:xfrm>
          <a:prstGeom prst="rect">
            <a:avLst/>
          </a:prstGeom>
          <a:noFill/>
        </p:spPr>
        <p:txBody>
          <a:bodyPr wrap="square" lIns="109728" tIns="0" rIns="0" bIns="0" anchor="ctr">
            <a:spAutoFit/>
          </a:bodyPr>
          <a:lstStyle/>
          <a:p>
            <a:pPr algn="ctr"/>
            <a:r>
              <a:rPr sz="1400" b="0" i="0">
                <a:solidFill>
                  <a:srgbClr val="1F2933"/>
                </a:solidFill>
                <a:latin typeface="Calibri"/>
              </a:rPr>
              <a:t>.560</a:t>
            </a:r>
          </a:p>
        </p:txBody>
      </p:sp>
      <p:sp>
        <p:nvSpPr>
          <p:cNvPr id="31" name="Rectangle 30"/>
          <p:cNvSpPr/>
          <p:nvPr/>
        </p:nvSpPr>
        <p:spPr>
          <a:xfrm>
            <a:off x="4389120" y="2926080"/>
            <a:ext cx="1371600" cy="548640"/>
          </a:xfrm>
          <a:prstGeom prst="rect">
            <a:avLst/>
          </a:prstGeom>
          <a:solidFill>
            <a:srgbClr val="FFFFFF"/>
          </a:solidFill>
          <a:ln w="9525">
            <a:solidFill>
              <a:srgbClr val="D9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389120" y="2926080"/>
            <a:ext cx="1371600" cy="548640"/>
          </a:xfrm>
          <a:prstGeom prst="rect">
            <a:avLst/>
          </a:prstGeom>
          <a:noFill/>
        </p:spPr>
        <p:txBody>
          <a:bodyPr wrap="square" lIns="109728" tIns="0" rIns="0" bIns="0" anchor="ctr">
            <a:spAutoFit/>
          </a:bodyPr>
          <a:lstStyle/>
          <a:p>
            <a:pPr algn="ctr"/>
            <a:r>
              <a:rPr sz="1400" b="0" i="0">
                <a:solidFill>
                  <a:srgbClr val="1F2933"/>
                </a:solidFill>
                <a:latin typeface="Calibri"/>
              </a:rPr>
              <a:t>.577</a:t>
            </a:r>
          </a:p>
        </p:txBody>
      </p:sp>
      <p:sp>
        <p:nvSpPr>
          <p:cNvPr id="33" name="Rectangle 32"/>
          <p:cNvSpPr/>
          <p:nvPr/>
        </p:nvSpPr>
        <p:spPr>
          <a:xfrm>
            <a:off x="5760720" y="2926080"/>
            <a:ext cx="1371600" cy="548640"/>
          </a:xfrm>
          <a:prstGeom prst="rect">
            <a:avLst/>
          </a:prstGeom>
          <a:solidFill>
            <a:srgbClr val="FFFFFF"/>
          </a:solidFill>
          <a:ln w="9525">
            <a:solidFill>
              <a:srgbClr val="D9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760720" y="2926080"/>
            <a:ext cx="1371600" cy="548640"/>
          </a:xfrm>
          <a:prstGeom prst="rect">
            <a:avLst/>
          </a:prstGeom>
          <a:noFill/>
        </p:spPr>
        <p:txBody>
          <a:bodyPr wrap="square" lIns="109728" tIns="0" rIns="0" bIns="0" anchor="ctr">
            <a:spAutoFit/>
          </a:bodyPr>
          <a:lstStyle/>
          <a:p>
            <a:pPr algn="ctr"/>
            <a:r>
              <a:rPr sz="1400" b="0" i="0">
                <a:solidFill>
                  <a:srgbClr val="1F2933"/>
                </a:solidFill>
                <a:latin typeface="Calibri"/>
              </a:rPr>
              <a:t>.573</a:t>
            </a:r>
          </a:p>
        </p:txBody>
      </p:sp>
      <p:sp>
        <p:nvSpPr>
          <p:cNvPr id="35" name="Rectangle 34"/>
          <p:cNvSpPr/>
          <p:nvPr/>
        </p:nvSpPr>
        <p:spPr>
          <a:xfrm>
            <a:off x="7132320" y="2926080"/>
            <a:ext cx="1371600" cy="548640"/>
          </a:xfrm>
          <a:prstGeom prst="rect">
            <a:avLst/>
          </a:prstGeom>
          <a:solidFill>
            <a:srgbClr val="FFFFFF"/>
          </a:solidFill>
          <a:ln w="9525">
            <a:solidFill>
              <a:srgbClr val="D9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132320" y="2926080"/>
            <a:ext cx="1371600" cy="548640"/>
          </a:xfrm>
          <a:prstGeom prst="rect">
            <a:avLst/>
          </a:prstGeom>
          <a:noFill/>
        </p:spPr>
        <p:txBody>
          <a:bodyPr wrap="square" lIns="109728" tIns="0" rIns="0" bIns="0" anchor="ctr">
            <a:spAutoFit/>
          </a:bodyPr>
          <a:lstStyle/>
          <a:p>
            <a:pPr algn="ctr"/>
            <a:r>
              <a:rPr sz="1400" b="0" i="0">
                <a:solidFill>
                  <a:srgbClr val="1F2933"/>
                </a:solidFill>
                <a:latin typeface="Calibri"/>
              </a:rPr>
              <a:t>.553</a:t>
            </a:r>
          </a:p>
        </p:txBody>
      </p:sp>
      <p:sp>
        <p:nvSpPr>
          <p:cNvPr id="37" name="Rectangle 36"/>
          <p:cNvSpPr/>
          <p:nvPr/>
        </p:nvSpPr>
        <p:spPr>
          <a:xfrm>
            <a:off x="640080" y="3474720"/>
            <a:ext cx="2377440" cy="548640"/>
          </a:xfrm>
          <a:prstGeom prst="rect">
            <a:avLst/>
          </a:prstGeom>
          <a:solidFill>
            <a:srgbClr val="FFFFFF"/>
          </a:solidFill>
          <a:ln w="9525">
            <a:solidFill>
              <a:srgbClr val="D9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40080" y="3474720"/>
            <a:ext cx="2377440" cy="548640"/>
          </a:xfrm>
          <a:prstGeom prst="rect">
            <a:avLst/>
          </a:prstGeom>
          <a:noFill/>
        </p:spPr>
        <p:txBody>
          <a:bodyPr wrap="square" lIns="109728" tIns="0" rIns="0" bIns="0" anchor="ctr">
            <a:spAutoFit/>
          </a:bodyPr>
          <a:lstStyle/>
          <a:p>
            <a:pPr algn="l"/>
            <a:r>
              <a:rPr sz="1400" b="1" i="0">
                <a:solidFill>
                  <a:srgbClr val="1F2933"/>
                </a:solidFill>
                <a:latin typeface="Calibri"/>
              </a:rPr>
              <a:t>object</a:t>
            </a:r>
          </a:p>
        </p:txBody>
      </p:sp>
      <p:sp>
        <p:nvSpPr>
          <p:cNvPr id="39" name="Rectangle 38"/>
          <p:cNvSpPr/>
          <p:nvPr/>
        </p:nvSpPr>
        <p:spPr>
          <a:xfrm>
            <a:off x="3017520" y="3474720"/>
            <a:ext cx="1371600" cy="548640"/>
          </a:xfrm>
          <a:prstGeom prst="rect">
            <a:avLst/>
          </a:prstGeom>
          <a:solidFill>
            <a:srgbClr val="FFFFFF"/>
          </a:solidFill>
          <a:ln w="9525">
            <a:solidFill>
              <a:srgbClr val="D9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017520" y="3474720"/>
            <a:ext cx="1371600" cy="548640"/>
          </a:xfrm>
          <a:prstGeom prst="rect">
            <a:avLst/>
          </a:prstGeom>
          <a:noFill/>
        </p:spPr>
        <p:txBody>
          <a:bodyPr wrap="square" lIns="109728" tIns="0" rIns="0" bIns="0" anchor="ctr">
            <a:spAutoFit/>
          </a:bodyPr>
          <a:lstStyle/>
          <a:p>
            <a:pPr algn="ctr"/>
            <a:r>
              <a:rPr sz="1400" b="0" i="0">
                <a:solidFill>
                  <a:srgbClr val="1F2933"/>
                </a:solidFill>
                <a:latin typeface="Calibri"/>
              </a:rPr>
              <a:t>.467</a:t>
            </a:r>
          </a:p>
        </p:txBody>
      </p:sp>
      <p:sp>
        <p:nvSpPr>
          <p:cNvPr id="41" name="Rectangle 40"/>
          <p:cNvSpPr/>
          <p:nvPr/>
        </p:nvSpPr>
        <p:spPr>
          <a:xfrm>
            <a:off x="4389120" y="3474720"/>
            <a:ext cx="1371600" cy="548640"/>
          </a:xfrm>
          <a:prstGeom prst="rect">
            <a:avLst/>
          </a:prstGeom>
          <a:solidFill>
            <a:srgbClr val="FFFFFF"/>
          </a:solidFill>
          <a:ln w="9525">
            <a:solidFill>
              <a:srgbClr val="D9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389120" y="3474720"/>
            <a:ext cx="1371600" cy="548640"/>
          </a:xfrm>
          <a:prstGeom prst="rect">
            <a:avLst/>
          </a:prstGeom>
          <a:noFill/>
        </p:spPr>
        <p:txBody>
          <a:bodyPr wrap="square" lIns="109728" tIns="0" rIns="0" bIns="0" anchor="ctr">
            <a:spAutoFit/>
          </a:bodyPr>
          <a:lstStyle/>
          <a:p>
            <a:pPr algn="ctr"/>
            <a:r>
              <a:rPr sz="1400" b="0" i="0">
                <a:solidFill>
                  <a:srgbClr val="1F2933"/>
                </a:solidFill>
                <a:latin typeface="Calibri"/>
              </a:rPr>
              <a:t>.470</a:t>
            </a:r>
          </a:p>
        </p:txBody>
      </p:sp>
      <p:sp>
        <p:nvSpPr>
          <p:cNvPr id="43" name="Rectangle 42"/>
          <p:cNvSpPr/>
          <p:nvPr/>
        </p:nvSpPr>
        <p:spPr>
          <a:xfrm>
            <a:off x="5760720" y="3474720"/>
            <a:ext cx="1371600" cy="548640"/>
          </a:xfrm>
          <a:prstGeom prst="rect">
            <a:avLst/>
          </a:prstGeom>
          <a:solidFill>
            <a:srgbClr val="FFFFFF"/>
          </a:solidFill>
          <a:ln w="9525">
            <a:solidFill>
              <a:srgbClr val="D9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760720" y="3474720"/>
            <a:ext cx="1371600" cy="548640"/>
          </a:xfrm>
          <a:prstGeom prst="rect">
            <a:avLst/>
          </a:prstGeom>
          <a:noFill/>
        </p:spPr>
        <p:txBody>
          <a:bodyPr wrap="square" lIns="109728" tIns="0" rIns="0" bIns="0" anchor="ctr">
            <a:spAutoFit/>
          </a:bodyPr>
          <a:lstStyle/>
          <a:p>
            <a:pPr algn="ctr"/>
            <a:r>
              <a:rPr sz="1400" b="0" i="0">
                <a:solidFill>
                  <a:srgbClr val="1F2933"/>
                </a:solidFill>
                <a:latin typeface="Calibri"/>
              </a:rPr>
              <a:t>.463</a:t>
            </a:r>
          </a:p>
        </p:txBody>
      </p:sp>
      <p:sp>
        <p:nvSpPr>
          <p:cNvPr id="45" name="Rectangle 44"/>
          <p:cNvSpPr/>
          <p:nvPr/>
        </p:nvSpPr>
        <p:spPr>
          <a:xfrm>
            <a:off x="7132320" y="3474720"/>
            <a:ext cx="1371600" cy="548640"/>
          </a:xfrm>
          <a:prstGeom prst="rect">
            <a:avLst/>
          </a:prstGeom>
          <a:solidFill>
            <a:srgbClr val="C44E52"/>
          </a:solidFill>
          <a:ln w="9525">
            <a:solidFill>
              <a:srgbClr val="D9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7132320" y="3474720"/>
            <a:ext cx="1371600" cy="548640"/>
          </a:xfrm>
          <a:prstGeom prst="rect">
            <a:avLst/>
          </a:prstGeom>
          <a:noFill/>
        </p:spPr>
        <p:txBody>
          <a:bodyPr wrap="square" lIns="109728" tIns="0" rIns="0" bIns="0" anchor="ctr">
            <a:spAutoFit/>
          </a:bodyPr>
          <a:lstStyle/>
          <a:p>
            <a:pPr algn="ctr"/>
            <a:r>
              <a:rPr sz="1400" b="1" i="0">
                <a:solidFill>
                  <a:srgbClr val="FFFFFF"/>
                </a:solidFill>
                <a:latin typeface="Calibri"/>
              </a:rPr>
              <a:t>.553</a:t>
            </a:r>
          </a:p>
        </p:txBody>
      </p:sp>
      <p:sp>
        <p:nvSpPr>
          <p:cNvPr id="47" name="TextBox 46"/>
          <p:cNvSpPr txBox="1"/>
          <p:nvPr/>
        </p:nvSpPr>
        <p:spPr>
          <a:xfrm>
            <a:off x="9052560" y="1828800"/>
            <a:ext cx="2499360" cy="2377440"/>
          </a:xfrm>
          <a:prstGeom prst="rect">
            <a:avLst/>
          </a:prstGeom>
          <a:noFill/>
        </p:spPr>
        <p:txBody>
          <a:bodyPr wrap="square" lIns="0" tIns="0" rIns="0" bIns="0" anchor="t">
            <a:spAutoFit/>
          </a:bodyPr>
          <a:lstStyle/>
          <a:p>
            <a:pPr>
              <a:spcAft>
                <a:spcPts val="600"/>
              </a:spcAft>
            </a:pPr>
            <a:r>
              <a:rPr sz="1500" b="0" i="0">
                <a:solidFill>
                  <a:srgbClr val="1F2933"/>
                </a:solidFill>
                <a:latin typeface="Calibri"/>
              </a:rPr>
              <a:t>•  On Objects, en/zh/ar all read .46–.47 (no bias) — but Hindi alone jumps to .553.</a:t>
            </a:r>
          </a:p>
          <a:p>
            <a:pPr>
              <a:spcAft>
                <a:spcPts val="600"/>
              </a:spcAft>
            </a:pPr>
            <a:r>
              <a:rPr sz="1500" b="0" i="0">
                <a:solidFill>
                  <a:srgbClr val="1F2933"/>
                </a:solidFill>
                <a:latin typeface="Calibri"/>
              </a:rPr>
              <a:t>•  It is the only cell where the low-resource language behaves differently.</a:t>
            </a:r>
          </a:p>
          <a:p>
            <a:pPr>
              <a:spcAft>
                <a:spcPts val="600"/>
              </a:spcAft>
            </a:pPr>
            <a:r>
              <a:rPr sz="1500" b="0" i="0">
                <a:solidFill>
                  <a:srgbClr val="4C72B0"/>
                </a:solidFill>
                <a:latin typeface="Calibri"/>
              </a:rPr>
              <a:t>•  Locally consistent with “low-resource = more biased” — the hypothesis Exp2 will test directly.</a:t>
            </a:r>
          </a:p>
        </p:txBody>
      </p:sp>
      <p:sp>
        <p:nvSpPr>
          <p:cNvPr id="48" name="Rectangle 47"/>
          <p:cNvSpPr/>
          <p:nvPr/>
        </p:nvSpPr>
        <p:spPr>
          <a:xfrm>
            <a:off x="640080" y="4526280"/>
            <a:ext cx="10911840" cy="914400"/>
          </a:xfrm>
          <a:prstGeom prst="rect">
            <a:avLst/>
          </a:prstGeom>
          <a:solidFill>
            <a:srgbClr val="F5F3F0"/>
          </a:solidFill>
          <a:ln w="12700">
            <a:solidFill>
              <a:srgbClr val="C44E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868680" y="4526280"/>
            <a:ext cx="10454640" cy="914400"/>
          </a:xfrm>
          <a:prstGeom prst="rect">
            <a:avLst/>
          </a:prstGeom>
          <a:noFill/>
        </p:spPr>
        <p:txBody>
          <a:bodyPr wrap="square" lIns="0" tIns="0" rIns="0" bIns="0" anchor="ctr">
            <a:spAutoFit/>
          </a:bodyPr>
          <a:lstStyle/>
          <a:p>
            <a:r>
              <a:rPr sz="1400" b="1" i="0">
                <a:solidFill>
                  <a:srgbClr val="1F2933"/>
                </a:solidFill>
                <a:latin typeface="Calibri"/>
              </a:rPr>
              <a:t>Do NOT over-claim: n = 300, 95% CI [.497, .609] still touches 0.50. One cell, one model, one seed — a lead to confirm, not a result.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48400" y="292608"/>
            <a:ext cx="5486400" cy="274320"/>
          </a:xfrm>
          <a:prstGeom prst="rect">
            <a:avLst/>
          </a:prstGeom>
          <a:noFill/>
        </p:spPr>
        <p:txBody>
          <a:bodyPr wrap="square" lIns="0" tIns="0" rIns="0" bIns="0" anchor="t">
            <a:spAutoFit/>
          </a:bodyPr>
          <a:lstStyle/>
          <a:p>
            <a:pPr algn="r"/>
            <a:r>
              <a:rPr sz="900" b="0" i="0">
                <a:solidFill>
                  <a:srgbClr val="7B8494"/>
                </a:solidFill>
                <a:latin typeface="Calibri"/>
              </a:rPr>
              <a:t>Multilingual Prototypicality Bias  ·  Progress Report</a:t>
            </a:r>
          </a:p>
        </p:txBody>
      </p:sp>
      <p:sp>
        <p:nvSpPr>
          <p:cNvPr id="4" name="Rectangle 3"/>
          <p:cNvSpPr/>
          <p:nvPr/>
        </p:nvSpPr>
        <p:spPr>
          <a:xfrm>
            <a:off x="640080" y="566928"/>
            <a:ext cx="146304" cy="146304"/>
          </a:xfrm>
          <a:prstGeom prst="rect">
            <a:avLst/>
          </a:prstGeom>
          <a:solidFill>
            <a:srgbClr val="C44E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77824" y="548640"/>
            <a:ext cx="8229600" cy="274320"/>
          </a:xfrm>
          <a:prstGeom prst="rect">
            <a:avLst/>
          </a:prstGeom>
          <a:noFill/>
        </p:spPr>
        <p:txBody>
          <a:bodyPr wrap="square" lIns="0" tIns="0" rIns="0" bIns="0" anchor="t">
            <a:spAutoFit/>
          </a:bodyPr>
          <a:lstStyle/>
          <a:p>
            <a:r>
              <a:rPr sz="1100" b="1" i="0">
                <a:solidFill>
                  <a:srgbClr val="C44E52"/>
                </a:solidFill>
                <a:latin typeface="Calibri"/>
              </a:rPr>
              <a:t>HONESTY  ·  add to Limitations</a:t>
            </a:r>
          </a:p>
        </p:txBody>
      </p:sp>
      <p:sp>
        <p:nvSpPr>
          <p:cNvPr id="6" name="TextBox 5"/>
          <p:cNvSpPr txBox="1"/>
          <p:nvPr/>
        </p:nvSpPr>
        <p:spPr>
          <a:xfrm>
            <a:off x="640080" y="841248"/>
            <a:ext cx="10972800" cy="640080"/>
          </a:xfrm>
          <a:prstGeom prst="rect">
            <a:avLst/>
          </a:prstGeom>
          <a:noFill/>
        </p:spPr>
        <p:txBody>
          <a:bodyPr wrap="square" lIns="0" tIns="0" rIns="0" bIns="0" anchor="t">
            <a:spAutoFit/>
          </a:bodyPr>
          <a:lstStyle/>
          <a:p>
            <a:r>
              <a:rPr sz="3000" b="1" i="0">
                <a:solidFill>
                  <a:srgbClr val="1F2933"/>
                </a:solidFill>
                <a:latin typeface="Georgia"/>
              </a:rPr>
              <a:t>Confounds we own &amp; how we handle the data</a:t>
            </a:r>
          </a:p>
        </p:txBody>
      </p:sp>
      <p:sp>
        <p:nvSpPr>
          <p:cNvPr id="7" name="Rectangle 6"/>
          <p:cNvSpPr/>
          <p:nvPr/>
        </p:nvSpPr>
        <p:spPr>
          <a:xfrm>
            <a:off x="640080" y="1874519"/>
            <a:ext cx="5029200" cy="3291840"/>
          </a:xfrm>
          <a:prstGeom prst="rect">
            <a:avLst/>
          </a:prstGeom>
          <a:solidFill>
            <a:srgbClr val="FFFFFF"/>
          </a:solidFill>
          <a:ln w="12700">
            <a:solidFill>
              <a:srgbClr val="D9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1874519"/>
            <a:ext cx="5029200" cy="50292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8680" y="1874519"/>
            <a:ext cx="5029200" cy="502920"/>
          </a:xfrm>
          <a:prstGeom prst="rect">
            <a:avLst/>
          </a:prstGeom>
          <a:noFill/>
        </p:spPr>
        <p:txBody>
          <a:bodyPr wrap="square" lIns="0" tIns="0" rIns="0" bIns="0" anchor="ctr">
            <a:spAutoFit/>
          </a:bodyPr>
          <a:lstStyle/>
          <a:p>
            <a:r>
              <a:rPr sz="1600" b="1" i="0">
                <a:solidFill>
                  <a:srgbClr val="FFFFFF"/>
                </a:solidFill>
                <a:latin typeface="Georgia"/>
              </a:rPr>
              <a:t>The adversarial-knob confound</a:t>
            </a:r>
          </a:p>
        </p:txBody>
      </p:sp>
      <p:sp>
        <p:nvSpPr>
          <p:cNvPr id="10" name="TextBox 9"/>
          <p:cNvSpPr txBox="1"/>
          <p:nvPr/>
        </p:nvSpPr>
        <p:spPr>
          <a:xfrm>
            <a:off x="868680" y="2560319"/>
            <a:ext cx="4572000" cy="2468880"/>
          </a:xfrm>
          <a:prstGeom prst="rect">
            <a:avLst/>
          </a:prstGeom>
          <a:noFill/>
        </p:spPr>
        <p:txBody>
          <a:bodyPr wrap="square" lIns="0" tIns="0" rIns="0" bIns="0" anchor="t">
            <a:spAutoFit/>
          </a:bodyPr>
          <a:lstStyle/>
          <a:p>
            <a:pPr>
              <a:spcAft>
                <a:spcPts val="600"/>
              </a:spcAft>
            </a:pPr>
            <a:r>
              <a:rPr sz="1400" b="0" i="0">
                <a:solidFill>
                  <a:srgbClr val="1F2933"/>
                </a:solidFill>
                <a:latin typeface="Calibri"/>
              </a:rPr>
              <a:t>•  The PA image is built by turning ONE visual knob: count, colour/tone, layout, spatial, or scale.</a:t>
            </a:r>
          </a:p>
          <a:p>
            <a:pPr>
              <a:spcAft>
                <a:spcPts val="600"/>
              </a:spcAft>
            </a:pPr>
            <a:r>
              <a:rPr sz="1400" b="0" i="0">
                <a:solidFill>
                  <a:srgbClr val="1F2933"/>
                </a:solidFill>
                <a:latin typeface="Calibri"/>
              </a:rPr>
              <a:t>•  So a wrong pick may track that low-level change, not 'prototypicality' per se.</a:t>
            </a:r>
          </a:p>
          <a:p>
            <a:pPr>
              <a:spcAft>
                <a:spcPts val="600"/>
              </a:spcAft>
            </a:pPr>
            <a:r>
              <a:rPr sz="1400" b="0" i="0">
                <a:solidFill>
                  <a:srgbClr val="4C72B0"/>
                </a:solidFill>
                <a:latin typeface="Calibri"/>
              </a:rPr>
              <a:t>•  We flag it openly; Exp2's mixed-effects model adds knob as a control term.</a:t>
            </a:r>
          </a:p>
        </p:txBody>
      </p:sp>
      <p:sp>
        <p:nvSpPr>
          <p:cNvPr id="11" name="Rectangle 10"/>
          <p:cNvSpPr/>
          <p:nvPr/>
        </p:nvSpPr>
        <p:spPr>
          <a:xfrm>
            <a:off x="6126480" y="1874519"/>
            <a:ext cx="5029200" cy="3291840"/>
          </a:xfrm>
          <a:prstGeom prst="rect">
            <a:avLst/>
          </a:prstGeom>
          <a:solidFill>
            <a:srgbClr val="FFFFFF"/>
          </a:solidFill>
          <a:ln w="12700">
            <a:solidFill>
              <a:srgbClr val="D9D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26480" y="1874519"/>
            <a:ext cx="5029200" cy="502920"/>
          </a:xfrm>
          <a:prstGeom prst="rect">
            <a:avLst/>
          </a:prstGeom>
          <a:solidFill>
            <a:srgbClr val="C44E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55080" y="1874519"/>
            <a:ext cx="5029200" cy="502920"/>
          </a:xfrm>
          <a:prstGeom prst="rect">
            <a:avLst/>
          </a:prstGeom>
          <a:noFill/>
        </p:spPr>
        <p:txBody>
          <a:bodyPr wrap="square" lIns="0" tIns="0" rIns="0" bIns="0" anchor="ctr">
            <a:spAutoFit/>
          </a:bodyPr>
          <a:lstStyle/>
          <a:p>
            <a:r>
              <a:rPr sz="1600" b="1" i="0">
                <a:solidFill>
                  <a:srgbClr val="FFFFFF"/>
                </a:solidFill>
                <a:latin typeface="Georgia"/>
              </a:rPr>
              <a:t>Handling the demography data</a:t>
            </a:r>
          </a:p>
        </p:txBody>
      </p:sp>
      <p:sp>
        <p:nvSpPr>
          <p:cNvPr id="14" name="TextBox 13"/>
          <p:cNvSpPr txBox="1"/>
          <p:nvPr/>
        </p:nvSpPr>
        <p:spPr>
          <a:xfrm>
            <a:off x="6355080" y="2560319"/>
            <a:ext cx="4572000" cy="2468880"/>
          </a:xfrm>
          <a:prstGeom prst="rect">
            <a:avLst/>
          </a:prstGeom>
          <a:noFill/>
        </p:spPr>
        <p:txBody>
          <a:bodyPr wrap="square" lIns="0" tIns="0" rIns="0" bIns="0" anchor="t">
            <a:spAutoFit/>
          </a:bodyPr>
          <a:lstStyle/>
          <a:p>
            <a:pPr>
              <a:spcAft>
                <a:spcPts val="600"/>
              </a:spcAft>
            </a:pPr>
            <a:r>
              <a:rPr sz="1400" b="0" i="0">
                <a:solidFill>
                  <a:srgbClr val="1F2933"/>
                </a:solidFill>
                <a:latin typeface="Calibri"/>
              </a:rPr>
              <a:t>•  500 demography pairs encode race / religion / orientation stereotypes — sensitive material.</a:t>
            </a:r>
          </a:p>
          <a:p>
            <a:pPr>
              <a:spcAft>
                <a:spcPts val="600"/>
              </a:spcAft>
            </a:pPr>
            <a:r>
              <a:rPr sz="1400" b="0" i="0">
                <a:solidFill>
                  <a:srgbClr val="1F2933"/>
                </a:solidFill>
                <a:latin typeface="Calibri"/>
              </a:rPr>
              <a:t>•  Public slides use only Animal / Object images; demography stays as labels &amp; numbers.</a:t>
            </a:r>
          </a:p>
          <a:p>
            <a:pPr>
              <a:spcAft>
                <a:spcPts val="600"/>
              </a:spcAft>
            </a:pPr>
            <a:r>
              <a:rPr sz="1400" b="0" i="0">
                <a:solidFill>
                  <a:srgbClr val="C44E52"/>
                </a:solidFill>
                <a:latin typeface="Calibri"/>
              </a:rPr>
              <a:t>•  We study the stereotype to measure it, never to endorse it — stated up front.</a:t>
            </a:r>
          </a:p>
        </p:txBody>
      </p:sp>
      <p:sp>
        <p:nvSpPr>
          <p:cNvPr id="15" name="TextBox 14"/>
          <p:cNvSpPr txBox="1"/>
          <p:nvPr/>
        </p:nvSpPr>
        <p:spPr>
          <a:xfrm>
            <a:off x="640080" y="5440679"/>
            <a:ext cx="10911840" cy="548640"/>
          </a:xfrm>
          <a:prstGeom prst="rect">
            <a:avLst/>
          </a:prstGeom>
          <a:noFill/>
        </p:spPr>
        <p:txBody>
          <a:bodyPr wrap="square" lIns="0" tIns="0" rIns="0" bIns="0" anchor="t">
            <a:spAutoFit/>
          </a:bodyPr>
          <a:lstStyle/>
          <a:p>
            <a:r>
              <a:rPr sz="1400" b="0" i="1">
                <a:solidFill>
                  <a:srgbClr val="7B8494"/>
                </a:solidFill>
                <a:latin typeface="Calibri"/>
              </a:rPr>
              <a:t>Naming these first turns the obvious QA attacks into points in our favour.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300</TotalTime>
  <Words>4242</Words>
  <Application>Microsoft Macintosh PowerPoint</Application>
  <PresentationFormat>宽屏</PresentationFormat>
  <Paragraphs>421</Paragraphs>
  <Slides>23</Slides>
  <Notes>23</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23</vt:i4>
      </vt:variant>
    </vt:vector>
  </HeadingPairs>
  <TitlesOfParts>
    <vt:vector size="27" baseType="lpstr">
      <vt:lpstr>Arial</vt:lpstr>
      <vt:lpstr>Calibri</vt:lpstr>
      <vt:lpstr>Georgia</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Multilingual Prototypicality Bias in MLLM Judges</dc:title>
  <dc:subject>PptxGenJS Presentation</dc:subject>
  <dc:creator>Xiaochuan Li</dc:creator>
  <cp:lastModifiedBy>a64123</cp:lastModifiedBy>
  <cp:revision>23</cp:revision>
  <dcterms:created xsi:type="dcterms:W3CDTF">2026-06-01T09:49:42Z</dcterms:created>
  <dcterms:modified xsi:type="dcterms:W3CDTF">2026-06-08T11:40:00Z</dcterms:modified>
</cp:coreProperties>
</file>